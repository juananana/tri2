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f7ebb6f26240bd" /><Relationship Type="http://schemas.openxmlformats.org/officeDocument/2006/relationships/extended-properties" Target="/docProps/app.xml" Id="Rf4dc037caae545cf" /><Relationship Type="http://schemas.openxmlformats.org/officeDocument/2006/relationships/officeDocument" Target="/ppt/presentation.xml" Id="R2cc96209dbc24f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cf5ec0dc634824"/>
  </p:sldMasterIdLst>
  <p:notesMasterIdLst>
    <p:notesMasterId xmlns:r="http://schemas.openxmlformats.org/officeDocument/2006/relationships" r:id="R9174e1d93a5c4c7d"/>
  </p:notesMasterIdLst>
  <p:sldIdLst>
    <p:sldId xmlns:r="http://schemas.openxmlformats.org/officeDocument/2006/relationships" id="256" r:id="R6fa2e179e887461e"/>
  </p:sldIdLst>
  <p:sldSz cx="15240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18c22022224b27" /><Relationship Type="http://schemas.openxmlformats.org/officeDocument/2006/relationships/slideMaster" Target="/ppt/slideMasters/slideMaster1.xml" Id="R80cf5ec0dc634824" /><Relationship Type="http://schemas.openxmlformats.org/officeDocument/2006/relationships/notesMaster" Target="/ppt/notesMasters/notesMaster1.xml" Id="R9174e1d93a5c4c7d" /><Relationship Type="http://schemas.openxmlformats.org/officeDocument/2006/relationships/presProps" Target="/ppt/presProps.xml" Id="R7e08377c1ca94036" /><Relationship Type="http://schemas.openxmlformats.org/officeDocument/2006/relationships/tableStyles" Target="/ppt/tableStyles.xml" Id="Rb91090fab96e4578" /><Relationship Type="http://schemas.openxmlformats.org/officeDocument/2006/relationships/slide" Target="/ppt/slides/slide1.xml" Id="R6fa2e179e88746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a9b799b9de45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ea5cb3eebe4a28" /><Relationship Type="http://schemas.openxmlformats.org/officeDocument/2006/relationships/notesMaster" Target="/ppt/notesMasters/notesMaster1.xml" Id="R477dcc70671a46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TRI Figure 2 reference: information inventory and visual density.</a:t>
            </a:r>
          </a:p>
          <a:p xmlns:a="http://schemas.openxmlformats.org/drawingml/2006/main">
            <a:r>
              <a:t>- Anonymous TRI manuscript: matched-pair variables, strict substitution denominator, probe inputs, and execution readout.</a:t>
            </a:r>
          </a:p>
          <a:p xmlns:a="http://schemas.openxmlformats.org/drawingml/2006/main">
            <a:r>
              <a:t>- User-provided strong-paper examples: composition references only; no scientific content copied.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c15e1d9a848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42c1834b3f4bbf" /><Relationship Type="http://schemas.openxmlformats.org/officeDocument/2006/relationships/slideLayout" Target="/ppt/slideLayouts/slideLayout1.xml" Id="R14afed464e4542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afed464e4542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ee32b3cd94901" /><Relationship Type="http://schemas.openxmlformats.org/officeDocument/2006/relationships/notesSlide" Target="/ppt/notesSlides/notesSlide1.xml" Id="Rb2eb36a4311e4d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4" name="stage-divider-ab">
            <a:extLst xmlns:a="http://schemas.openxmlformats.org/drawingml/2006/main">
              <a:ext uri="{FF2B5EF4-FFF2-40B4-BE49-F238E27FC236}">
                <a16:creationId xmlns:a16="http://schemas.microsoft.com/office/drawing/2014/main" id="{05D41464-98AA-4AA5-BE9B-E896E280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"/>
            <a:ext cx="952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2" name="stage-divider-bc">
            <a:extLst xmlns:a="http://schemas.openxmlformats.org/drawingml/2006/main">
              <a:ext uri="{FF2B5EF4-FFF2-40B4-BE49-F238E27FC236}">
                <a16:creationId xmlns:a16="http://schemas.microsoft.com/office/drawing/2014/main" id="{2BF5E66B-8F2A-4737-923A-2D7B6D68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952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3" name="phase-A">
            <a:extLst xmlns:a="http://schemas.openxmlformats.org/drawingml/2006/main">
              <a:ext uri="{FF2B5EF4-FFF2-40B4-BE49-F238E27FC236}">
                <a16:creationId xmlns:a16="http://schemas.microsoft.com/office/drawing/2014/main" id="{D303D37F-A2DC-4CA5-A716-772A179C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16193">
            <a:solidFill>
              <a:srgbClr val="2834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" name="phase-A-title">
            <a:extLst xmlns:a="http://schemas.openxmlformats.org/drawingml/2006/main">
              <a:ext uri="{FF2B5EF4-FFF2-40B4-BE49-F238E27FC236}">
                <a16:creationId xmlns:a16="http://schemas.microsoft.com/office/drawing/2014/main" id="{6879A718-DB9F-4DA9-9154-10C16CE3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"/>
            <a:ext cx="680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719"/>
                </a:solidFill>
              </a:defRPr>
            </a:pPr>
            <a:r>
              <a:rPr sz="1800" b="1" i="0">
                <a:solidFill>
                  <a:srgbClr val="111719"/>
                </a:solidFill>
              </a:rPr>
              <a:t>Construct the matched pair</a:t>
            </a:r>
          </a:p>
        </p:txBody>
      </p:sp>
      <p:sp>
        <p:nvSpPr>
          <p:cNvPr id="5" name="phase-B">
            <a:extLst xmlns:a="http://schemas.openxmlformats.org/drawingml/2006/main">
              <a:ext uri="{FF2B5EF4-FFF2-40B4-BE49-F238E27FC236}">
                <a16:creationId xmlns:a16="http://schemas.microsoft.com/office/drawing/2014/main" id="{BE14B6EC-F5D4-452D-A57A-E3F5DA5B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16193">
            <a:solidFill>
              <a:srgbClr val="6689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6" name="phase-B-title">
            <a:extLst xmlns:a="http://schemas.openxmlformats.org/drawingml/2006/main">
              <a:ext uri="{FF2B5EF4-FFF2-40B4-BE49-F238E27FC236}">
                <a16:creationId xmlns:a16="http://schemas.microsoft.com/office/drawing/2014/main" id="{34F5F138-73C2-47D2-9420-7BB086EB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719"/>
                </a:solidFill>
              </a:defRPr>
            </a:pPr>
            <a:r>
              <a:rPr sz="1800" b="1" i="0">
                <a:solidFill>
                  <a:srgbClr val="111719"/>
                </a:solidFill>
              </a:rPr>
              <a:t>Run the pair</a:t>
            </a:r>
          </a:p>
        </p:txBody>
      </p:sp>
      <p:sp>
        <p:nvSpPr>
          <p:cNvPr id="7" name="phase-C">
            <a:extLst xmlns:a="http://schemas.openxmlformats.org/drawingml/2006/main">
              <a:ext uri="{FF2B5EF4-FFF2-40B4-BE49-F238E27FC236}">
                <a16:creationId xmlns:a16="http://schemas.microsoft.com/office/drawing/2014/main" id="{68C85CC3-12B5-40BD-92F6-7A68A0A5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2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16193">
            <a:solidFill>
              <a:srgbClr val="2834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" name="phase-C-title">
            <a:extLst xmlns:a="http://schemas.openxmlformats.org/drawingml/2006/main">
              <a:ext uri="{FF2B5EF4-FFF2-40B4-BE49-F238E27FC236}">
                <a16:creationId xmlns:a16="http://schemas.microsoft.com/office/drawing/2014/main" id="{8DD6A878-BE8A-43D8-9955-DDFAD1BB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955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719"/>
                </a:solidFill>
              </a:defRPr>
            </a:pPr>
            <a:r>
              <a:rPr sz="1800" b="1" i="0">
                <a:solidFill>
                  <a:srgbClr val="111719"/>
                </a:solidFill>
              </a:rPr>
              <a:t>Read the evidence</a:t>
            </a:r>
          </a:p>
        </p:txBody>
      </p:sp>
      <p:sp>
        <p:nvSpPr>
          <p:cNvPr id="9" name="pair-contract">
            <a:extLst xmlns:a="http://schemas.openxmlformats.org/drawingml/2006/main">
              <a:ext uri="{FF2B5EF4-FFF2-40B4-BE49-F238E27FC236}">
                <a16:creationId xmlns:a16="http://schemas.microsoft.com/office/drawing/2014/main" id="{35E2F4C7-E227-4D5A-BD7D-5FBDDCC1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42950"/>
            <a:ext cx="7296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10478">
            <a:solidFill>
              <a:srgbClr val="B9C3C5"/>
            </a:solidFill>
            <a:prstDash val="solid"/>
          </a:ln>
        </p:spPr>
      </p:sp>
      <p:sp>
        <p:nvSpPr>
          <p:cNvPr id="10" name="fixed-label">
            <a:extLst xmlns:a="http://schemas.openxmlformats.org/drawingml/2006/main">
              <a:ext uri="{FF2B5EF4-FFF2-40B4-BE49-F238E27FC236}">
                <a16:creationId xmlns:a16="http://schemas.microsoft.com/office/drawing/2014/main" id="{878B0AC4-AB56-465F-B1B0-2AE7FC47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477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6899D"/>
                </a:solidFill>
              </a:defRPr>
            </a:pPr>
            <a:r>
              <a:rPr sz="900" b="1" i="0">
                <a:solidFill>
                  <a:srgbClr val="66899D"/>
                </a:solidFill>
              </a:rPr>
              <a:t>FIXED ACROSS BOTH ROWS</a:t>
            </a:r>
          </a:p>
        </p:txBody>
      </p:sp>
      <p:sp>
        <p:nvSpPr>
          <p:cNvPr id="11" name="fixed-items">
            <a:extLst xmlns:a="http://schemas.openxmlformats.org/drawingml/2006/main">
              <a:ext uri="{FF2B5EF4-FFF2-40B4-BE49-F238E27FC236}">
                <a16:creationId xmlns:a16="http://schemas.microsoft.com/office/drawing/2014/main" id="{AAC33B1E-3054-469B-858F-D1C10BEC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5850"/>
            <a:ext cx="6819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0343F"/>
                </a:solidFill>
              </a:defRPr>
            </a:pPr>
            <a:r>
              <a:rPr sz="1275" b="1" i="0">
                <a:solidFill>
                  <a:srgbClr val="30343F"/>
                </a:solidFill>
              </a:rPr>
              <a:t>S0, S1, q, action, schema, controller interface</a:t>
            </a:r>
          </a:p>
        </p:txBody>
      </p:sp>
      <p:sp>
        <p:nvSpPr>
          <p:cNvPr id="12" name="changed-label">
            <a:extLst xmlns:a="http://schemas.openxmlformats.org/drawingml/2006/main">
              <a:ext uri="{FF2B5EF4-FFF2-40B4-BE49-F238E27FC236}">
                <a16:creationId xmlns:a16="http://schemas.microsoft.com/office/drawing/2014/main" id="{532BB970-0B5D-43F1-9916-27E55B74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D7F7B"/>
                </a:solidFill>
              </a:defRPr>
            </a:pPr>
            <a:r>
              <a:rPr sz="900" b="1" i="0">
                <a:solidFill>
                  <a:srgbClr val="2D7F7B"/>
                </a:solidFill>
              </a:rPr>
              <a:t>ONLY CHANGE</a:t>
            </a:r>
          </a:p>
        </p:txBody>
      </p:sp>
      <p:sp>
        <p:nvSpPr>
          <p:cNvPr id="13" name="changed-items">
            <a:extLst xmlns:a="http://schemas.openxmlformats.org/drawingml/2006/main">
              <a:ext uri="{FF2B5EF4-FFF2-40B4-BE49-F238E27FC236}">
                <a16:creationId xmlns:a16="http://schemas.microsoft.com/office/drawing/2014/main" id="{B0C141DC-381D-4961-A524-21F2D242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D7F7B"/>
                </a:solidFill>
              </a:defRPr>
            </a:pPr>
            <a:r>
              <a:rPr sz="1275" b="1" i="0">
                <a:solidFill>
                  <a:srgbClr val="2D7F7B"/>
                </a:solidFill>
              </a:rPr>
              <a:t>instruction commitment timing</a:t>
            </a:r>
          </a:p>
        </p:txBody>
      </p:sp>
      <p:sp>
        <p:nvSpPr>
          <p:cNvPr id="14" name="transition">
            <a:extLst xmlns:a="http://schemas.openxmlformats.org/drawingml/2006/main">
              <a:ext uri="{FF2B5EF4-FFF2-40B4-BE49-F238E27FC236}">
                <a16:creationId xmlns:a16="http://schemas.microsoft.com/office/drawing/2014/main" id="{6F0968D3-5907-43DF-A5B3-DC29BB35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0970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0343F"/>
                </a:solidFill>
              </a:defRPr>
            </a:pPr>
            <a:r>
              <a:rPr sz="1200" b="1" i="0">
                <a:solidFill>
                  <a:srgbClr val="30343F"/>
                </a:solidFill>
              </a:rPr>
              <a:t>q(S0)=A   -&gt;   refresh   -&gt;   q(S1)=B</a:t>
            </a:r>
          </a:p>
        </p:txBody>
      </p:sp>
      <p:sp>
        <p:nvSpPr>
          <p:cNvPr id="15" name="old-target-valid">
            <a:extLst xmlns:a="http://schemas.openxmlformats.org/drawingml/2006/main">
              <a:ext uri="{FF2B5EF4-FFF2-40B4-BE49-F238E27FC236}">
                <a16:creationId xmlns:a16="http://schemas.microsoft.com/office/drawing/2014/main" id="{82F8E843-B02C-49F5-9716-E1C6E1C7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067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11430">
            <a:solidFill>
              <a:srgbClr val="66899D"/>
            </a:solidFill>
            <a:prstDash val="solid"/>
          </a:ln>
        </p:spPr>
      </p:sp>
      <p:sp>
        <p:nvSpPr>
          <p:cNvPr id="16" name="old-target-valid-text">
            <a:extLst xmlns:a="http://schemas.openxmlformats.org/drawingml/2006/main">
              <a:ext uri="{FF2B5EF4-FFF2-40B4-BE49-F238E27FC236}">
                <a16:creationId xmlns:a16="http://schemas.microsoft.com/office/drawing/2014/main" id="{C1666105-52DB-405D-9C3B-41E83533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24025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30343F"/>
                </a:solidFill>
              </a:defRPr>
            </a:pPr>
            <a:r>
              <a:rPr sz="900" b="0" i="1">
                <a:solidFill>
                  <a:srgbClr val="30343F"/>
                </a:solidFill>
              </a:rPr>
              <a:t>A still exists and remains action-valid in S1</a:t>
            </a:r>
          </a:p>
        </p:txBody>
      </p:sp>
      <p:sp>
        <p:nvSpPr>
          <p:cNvPr id="17" name="pair-field">
            <a:extLst xmlns:a="http://schemas.openxmlformats.org/drawingml/2006/main">
              <a:ext uri="{FF2B5EF4-FFF2-40B4-BE49-F238E27FC236}">
                <a16:creationId xmlns:a16="http://schemas.microsoft.com/office/drawing/2014/main" id="{4A965D2D-56C3-4CFB-A7CB-D55E89A2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09800"/>
            <a:ext cx="7296150" cy="5429250"/>
          </a:xfrm>
          <a:prstGeom xmlns:a="http://schemas.openxmlformats.org/drawingml/2006/main" prst="roundRect">
            <a:avLst>
              <a:gd name="adj" fmla="val 1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5"/>
            </a:solidFill>
            <a:prstDash val="solid"/>
          </a:ln>
        </p:spPr>
      </p:sp>
      <p:sp>
        <p:nvSpPr>
          <p:cNvPr id="18" name="pair-badge">
            <a:extLst xmlns:a="http://schemas.openxmlformats.org/drawingml/2006/main">
              <a:ext uri="{FF2B5EF4-FFF2-40B4-BE49-F238E27FC236}">
                <a16:creationId xmlns:a16="http://schemas.microsoft.com/office/drawing/2014/main" id="{040133FD-B631-43BD-9909-3A9BFE8B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57650"/>
            <a:ext cx="438150" cy="16764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9" name="pair-badge-text">
            <a:extLst xmlns:a="http://schemas.openxmlformats.org/drawingml/2006/main">
              <a:ext uri="{FF2B5EF4-FFF2-40B4-BE49-F238E27FC236}">
                <a16:creationId xmlns:a16="http://schemas.microsoft.com/office/drawing/2014/main" id="{DDD342CA-C8E9-4F78-B45F-8534A3E6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152900"/>
            <a:ext cx="285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M</a:t>
            </a:r>
          </a:p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A</a:t>
            </a:r>
          </a:p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T</a:t>
            </a:r>
          </a:p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</a:t>
            </a:r>
          </a:p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H</a:t>
            </a:r>
          </a:p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E</a:t>
            </a:r>
          </a:p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0" name="pair-link-top">
            <a:extLst xmlns:a="http://schemas.openxmlformats.org/drawingml/2006/main">
              <a:ext uri="{FF2B5EF4-FFF2-40B4-BE49-F238E27FC236}">
                <a16:creationId xmlns:a16="http://schemas.microsoft.com/office/drawing/2014/main" id="{55692567-E0A1-4653-9268-F89B1133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pair-link-bottom">
            <a:extLst xmlns:a="http://schemas.openxmlformats.org/drawingml/2006/main">
              <a:ext uri="{FF2B5EF4-FFF2-40B4-BE49-F238E27FC236}">
                <a16:creationId xmlns:a16="http://schemas.microsoft.com/office/drawing/2014/main" id="{5C1C66A6-64CB-4E5E-828D-5A9DB7E3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8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pair-link-stem">
            <a:extLst xmlns:a="http://schemas.openxmlformats.org/drawingml/2006/main">
              <a:ext uri="{FF2B5EF4-FFF2-40B4-BE49-F238E27FC236}">
                <a16:creationId xmlns:a16="http://schemas.microsoft.com/office/drawing/2014/main" id="{E1ED0AB9-35B4-4315-AE8F-00C17720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85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23" name="preserve-row-bg">
            <a:extLst xmlns:a="http://schemas.openxmlformats.org/drawingml/2006/main">
              <a:ext uri="{FF2B5EF4-FFF2-40B4-BE49-F238E27FC236}">
                <a16:creationId xmlns:a16="http://schemas.microsoft.com/office/drawing/2014/main" id="{5B8B1D8B-7A49-4ACB-B92F-1627A076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64008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E7E3"/>
          </a:solidFill>
          <a:ln xmlns:a="http://schemas.openxmlformats.org/drawingml/2006/main" w="14288">
            <a:solidFill>
              <a:srgbClr val="B94D49"/>
            </a:solidFill>
            <a:prstDash val="solid"/>
          </a:ln>
        </p:spPr>
      </p:sp>
      <p:sp>
        <p:nvSpPr>
          <p:cNvPr id="24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BAE4D3C0-AC05-4496-83F4-C57EF5CD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47950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B94D49"/>
            </a:solidFill>
            <a:prstDash val="solid"/>
          </a:ln>
        </p:spPr>
      </p:sp>
      <p:sp>
        <p:nvSpPr>
          <p:cNvPr id="25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30315414-8F5A-4468-9D79-7224C4F4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71775"/>
            <a:ext cx="3810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4D49"/>
            </a:solidFill>
            <a:prstDash val="solid"/>
          </a:ln>
        </p:spPr>
      </p:sp>
      <p:sp>
        <p:nvSpPr>
          <p:cNvPr id="26" name="preserve-lock-key">
            <a:extLst xmlns:a="http://schemas.openxmlformats.org/drawingml/2006/main">
              <a:ext uri="{FF2B5EF4-FFF2-40B4-BE49-F238E27FC236}">
                <a16:creationId xmlns:a16="http://schemas.microsoft.com/office/drawing/2014/main" id="{389AB575-182E-4731-9C1F-45D26326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27" name="preserve-title">
            <a:extLst xmlns:a="http://schemas.openxmlformats.org/drawingml/2006/main">
              <a:ext uri="{FF2B5EF4-FFF2-40B4-BE49-F238E27FC236}">
                <a16:creationId xmlns:a16="http://schemas.microsoft.com/office/drawing/2014/main" id="{8C31DD2E-AC7B-4413-AD7D-629EF586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590800"/>
            <a:ext cx="116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94D49"/>
                </a:solidFill>
              </a:defRPr>
            </a:pPr>
            <a:r>
              <a:rPr sz="1500" b="1" i="0">
                <a:solidFill>
                  <a:srgbClr val="B94D49"/>
                </a:solidFill>
              </a:rPr>
              <a:t>Preserve</a:t>
            </a:r>
          </a:p>
        </p:txBody>
      </p:sp>
      <p:sp>
        <p:nvSpPr>
          <p:cNvPr id="28" name="preserve-rule">
            <a:extLst xmlns:a="http://schemas.openxmlformats.org/drawingml/2006/main">
              <a:ext uri="{FF2B5EF4-FFF2-40B4-BE49-F238E27FC236}">
                <a16:creationId xmlns:a16="http://schemas.microsoft.com/office/drawing/2014/main" id="{70E260F9-A417-437C-AF79-3F0963CA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88607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94D49"/>
                </a:solidFill>
              </a:defRPr>
            </a:pPr>
            <a:r>
              <a:rPr sz="1050" b="1" i="0">
                <a:solidFill>
                  <a:srgbClr val="B94D49"/>
                </a:solidFill>
              </a:rPr>
              <a:t>bind A before refresh</a:t>
            </a:r>
          </a:p>
        </p:txBody>
      </p:sp>
      <p:sp>
        <p:nvSpPr>
          <p:cNvPr id="29" name="preserve-s0-state">
            <a:extLst xmlns:a="http://schemas.openxmlformats.org/drawingml/2006/main">
              <a:ext uri="{FF2B5EF4-FFF2-40B4-BE49-F238E27FC236}">
                <a16:creationId xmlns:a16="http://schemas.microsoft.com/office/drawing/2014/main" id="{68F26279-F1E6-4DEF-97C1-8BCF6562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051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8343A"/>
            </a:solidFill>
            <a:prstDash val="solid"/>
          </a:ln>
        </p:spPr>
      </p:sp>
      <p:sp>
        <p:nvSpPr>
          <p:cNvPr id="30" name="preserve-s0-other-0">
            <a:extLst xmlns:a="http://schemas.openxmlformats.org/drawingml/2006/main">
              <a:ext uri="{FF2B5EF4-FFF2-40B4-BE49-F238E27FC236}">
                <a16:creationId xmlns:a16="http://schemas.microsoft.com/office/drawing/2014/main" id="{E24FCB11-5FDB-41B7-B97F-85558A03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31" name="preserve-s0-other-1">
            <a:extLst xmlns:a="http://schemas.openxmlformats.org/drawingml/2006/main">
              <a:ext uri="{FF2B5EF4-FFF2-40B4-BE49-F238E27FC236}">
                <a16:creationId xmlns:a16="http://schemas.microsoft.com/office/drawing/2014/main" id="{6BE87E46-55F2-4AD8-82F6-E48CBBBD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67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32" name="preserve-s0-other-2">
            <a:extLst xmlns:a="http://schemas.openxmlformats.org/drawingml/2006/main">
              <a:ext uri="{FF2B5EF4-FFF2-40B4-BE49-F238E27FC236}">
                <a16:creationId xmlns:a16="http://schemas.microsoft.com/office/drawing/2014/main" id="{B8B0159E-AEEF-4A3B-B548-D267863B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95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33" name="preserve-s0-other-3">
            <a:extLst xmlns:a="http://schemas.openxmlformats.org/drawingml/2006/main">
              <a:ext uri="{FF2B5EF4-FFF2-40B4-BE49-F238E27FC236}">
                <a16:creationId xmlns:a16="http://schemas.microsoft.com/office/drawing/2014/main" id="{B622E627-D0AE-4857-8B31-8E273EA0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34" name="preserve-s0-a">
            <a:extLst xmlns:a="http://schemas.openxmlformats.org/drawingml/2006/main">
              <a:ext uri="{FF2B5EF4-FFF2-40B4-BE49-F238E27FC236}">
                <a16:creationId xmlns:a16="http://schemas.microsoft.com/office/drawing/2014/main" id="{226C7E33-C1DE-4727-8D04-ECD393B1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004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6193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5" name="preserve-s0-accent">
            <a:extLst xmlns:a="http://schemas.openxmlformats.org/drawingml/2006/main">
              <a:ext uri="{FF2B5EF4-FFF2-40B4-BE49-F238E27FC236}">
                <a16:creationId xmlns:a16="http://schemas.microsoft.com/office/drawing/2014/main" id="{504A56EF-03D1-4F75-87E6-219C6559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52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36" name="preserve-s0-label">
            <a:extLst xmlns:a="http://schemas.openxmlformats.org/drawingml/2006/main">
              <a:ext uri="{FF2B5EF4-FFF2-40B4-BE49-F238E27FC236}">
                <a16:creationId xmlns:a16="http://schemas.microsoft.com/office/drawing/2014/main" id="{5E43886D-0BC1-452A-BBEA-FE6F11AE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529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30343F"/>
                </a:solidFill>
              </a:defRPr>
            </a:pPr>
            <a:r>
              <a:rPr sz="1200" b="0" i="1">
                <a:solidFill>
                  <a:srgbClr val="30343F"/>
                </a:solidFill>
              </a:rPr>
              <a:t>S0   q(S0) = A</a:t>
            </a:r>
          </a:p>
        </p:txBody>
      </p:sp>
      <p:sp>
        <p:nvSpPr>
          <p:cNvPr id="37" name="preserve-bound">
            <a:extLst xmlns:a="http://schemas.openxmlformats.org/drawingml/2006/main">
              <a:ext uri="{FF2B5EF4-FFF2-40B4-BE49-F238E27FC236}">
                <a16:creationId xmlns:a16="http://schemas.microsoft.com/office/drawing/2014/main" id="{FCADE425-08DA-42FC-8B4D-3EE9D717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94D49"/>
                </a:solidFill>
              </a:defRPr>
            </a:pPr>
            <a:r>
              <a:rPr sz="975" b="1" i="0">
                <a:solidFill>
                  <a:srgbClr val="B94D49"/>
                </a:solidFill>
              </a:rPr>
              <a:t>BOUND A</a:t>
            </a:r>
          </a:p>
        </p:txBody>
      </p:sp>
      <p:sp>
        <p:nvSpPr>
          <p:cNvPr id="38" name="preserve-gate-anchor-face">
            <a:extLst xmlns:a="http://schemas.openxmlformats.org/drawingml/2006/main">
              <a:ext uri="{FF2B5EF4-FFF2-40B4-BE49-F238E27FC236}">
                <a16:creationId xmlns:a16="http://schemas.microsoft.com/office/drawing/2014/main" id="{1912C307-F3A9-4CAE-9EC5-B2880D1A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099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6899D"/>
            </a:solidFill>
            <a:prstDash val="solid"/>
          </a:ln>
        </p:spPr>
      </p:sp>
      <p:sp>
        <p:nvSpPr>
          <p:cNvPr id="39" name="preserve-gate-anchor-hand-v">
            <a:extLst xmlns:a="http://schemas.openxmlformats.org/drawingml/2006/main">
              <a:ext uri="{FF2B5EF4-FFF2-40B4-BE49-F238E27FC236}">
                <a16:creationId xmlns:a16="http://schemas.microsoft.com/office/drawing/2014/main" id="{1842AA62-4CA2-4384-AF84-4C88014A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759" y="3685413"/>
            <a:ext cx="19050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40" name="preserve-gate-anchor-hand-h">
            <a:extLst xmlns:a="http://schemas.openxmlformats.org/drawingml/2006/main">
              <a:ext uri="{FF2B5EF4-FFF2-40B4-BE49-F238E27FC236}">
                <a16:creationId xmlns:a16="http://schemas.microsoft.com/office/drawing/2014/main" id="{0131E3E3-7F91-4E84-A59D-51CEB82C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759" y="3815334"/>
            <a:ext cx="9639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41" name="preserve-gate-anchor-hub">
            <a:extLst xmlns:a="http://schemas.openxmlformats.org/drawingml/2006/main">
              <a:ext uri="{FF2B5EF4-FFF2-40B4-BE49-F238E27FC236}">
                <a16:creationId xmlns:a16="http://schemas.microsoft.com/office/drawing/2014/main" id="{24EC3778-F7B8-450D-85F3-F50FBA1B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804" y="3794379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42" name="preserve-s1-state">
            <a:extLst xmlns:a="http://schemas.openxmlformats.org/drawingml/2006/main">
              <a:ext uri="{FF2B5EF4-FFF2-40B4-BE49-F238E27FC236}">
                <a16:creationId xmlns:a16="http://schemas.microsoft.com/office/drawing/2014/main" id="{2A56D8E5-F28E-46BF-8ED0-8DFE41A2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051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8343A"/>
            </a:solidFill>
            <a:prstDash val="solid"/>
          </a:ln>
        </p:spPr>
      </p:sp>
      <p:sp>
        <p:nvSpPr>
          <p:cNvPr id="43" name="preserve-s1-other-0">
            <a:extLst xmlns:a="http://schemas.openxmlformats.org/drawingml/2006/main">
              <a:ext uri="{FF2B5EF4-FFF2-40B4-BE49-F238E27FC236}">
                <a16:creationId xmlns:a16="http://schemas.microsoft.com/office/drawing/2014/main" id="{FD7E5EE0-BA73-4E9D-8DA8-5EA175F4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44" name="preserve-s1-other-1">
            <a:extLst xmlns:a="http://schemas.openxmlformats.org/drawingml/2006/main">
              <a:ext uri="{FF2B5EF4-FFF2-40B4-BE49-F238E27FC236}">
                <a16:creationId xmlns:a16="http://schemas.microsoft.com/office/drawing/2014/main" id="{E66BBCDC-B642-4168-B8C9-0A2CD2BB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67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45" name="preserve-s1-other-2">
            <a:extLst xmlns:a="http://schemas.openxmlformats.org/drawingml/2006/main">
              <a:ext uri="{FF2B5EF4-FFF2-40B4-BE49-F238E27FC236}">
                <a16:creationId xmlns:a16="http://schemas.microsoft.com/office/drawing/2014/main" id="{9AB0C451-998C-4B99-A6A6-59D90990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95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46" name="preserve-s1-other-3">
            <a:extLst xmlns:a="http://schemas.openxmlformats.org/drawingml/2006/main">
              <a:ext uri="{FF2B5EF4-FFF2-40B4-BE49-F238E27FC236}">
                <a16:creationId xmlns:a16="http://schemas.microsoft.com/office/drawing/2014/main" id="{B20286EC-35B9-4B05-82B8-151D4F09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47" name="preserve-s1-a">
            <a:extLst xmlns:a="http://schemas.openxmlformats.org/drawingml/2006/main">
              <a:ext uri="{FF2B5EF4-FFF2-40B4-BE49-F238E27FC236}">
                <a16:creationId xmlns:a16="http://schemas.microsoft.com/office/drawing/2014/main" id="{845F3364-013D-49C3-A70A-B87C5428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004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6193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8" name="preserve-s1-b">
            <a:extLst xmlns:a="http://schemas.openxmlformats.org/drawingml/2006/main">
              <a:ext uri="{FF2B5EF4-FFF2-40B4-BE49-F238E27FC236}">
                <a16:creationId xmlns:a16="http://schemas.microsoft.com/office/drawing/2014/main" id="{F339FE6D-07A6-4EC7-B626-15CF5A0D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46710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6193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9" name="preserve-s1-accent">
            <a:extLst xmlns:a="http://schemas.openxmlformats.org/drawingml/2006/main">
              <a:ext uri="{FF2B5EF4-FFF2-40B4-BE49-F238E27FC236}">
                <a16:creationId xmlns:a16="http://schemas.microsoft.com/office/drawing/2014/main" id="{9A5B36D5-A190-49D7-995C-4673B5BE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52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50" name="preserve-s1-label">
            <a:extLst xmlns:a="http://schemas.openxmlformats.org/drawingml/2006/main">
              <a:ext uri="{FF2B5EF4-FFF2-40B4-BE49-F238E27FC236}">
                <a16:creationId xmlns:a16="http://schemas.microsoft.com/office/drawing/2014/main" id="{1E4F3138-8809-494C-9EE1-FC89213D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529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30343F"/>
                </a:solidFill>
              </a:defRPr>
            </a:pPr>
            <a:r>
              <a:rPr sz="1200" b="0" i="1">
                <a:solidFill>
                  <a:srgbClr val="30343F"/>
                </a:solidFill>
              </a:rPr>
              <a:t>S1   q(S1) = B</a:t>
            </a:r>
          </a:p>
        </p:txBody>
      </p:sp>
      <p:sp>
        <p:nvSpPr>
          <p:cNvPr id="51" name="preserve-target-outer">
            <a:extLst xmlns:a="http://schemas.openxmlformats.org/drawingml/2006/main">
              <a:ext uri="{FF2B5EF4-FFF2-40B4-BE49-F238E27FC236}">
                <a16:creationId xmlns:a16="http://schemas.microsoft.com/office/drawing/2014/main" id="{1A299507-E5BC-4369-A21F-CCCB4101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4D49"/>
                </a:solidFill>
              </a:defRPr>
            </a:pPr>
            <a:r>
              <a:rPr sz="1650" b="1">
                <a:solidFill>
                  <a:srgbClr val="B94D49"/>
                </a:solidFill>
              </a:rPr>
              <a:t>A</a:t>
            </a:r>
          </a:p>
        </p:txBody>
      </p:sp>
      <p:sp>
        <p:nvSpPr>
          <p:cNvPr id="52" name="preserve-target-h">
            <a:extLst xmlns:a="http://schemas.openxmlformats.org/drawingml/2006/main">
              <a:ext uri="{FF2B5EF4-FFF2-40B4-BE49-F238E27FC236}">
                <a16:creationId xmlns:a16="http://schemas.microsoft.com/office/drawing/2014/main" id="{5A73F0B4-8C78-4A1D-8C5E-CCA9B9CC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862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53" name="preserve-target-v">
            <a:extLst xmlns:a="http://schemas.openxmlformats.org/drawingml/2006/main">
              <a:ext uri="{FF2B5EF4-FFF2-40B4-BE49-F238E27FC236}">
                <a16:creationId xmlns:a16="http://schemas.microsoft.com/office/drawing/2014/main" id="{DB861E80-888B-49BA-8255-D34D5DB5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33775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54" name="preserve-target-label">
            <a:extLst xmlns:a="http://schemas.openxmlformats.org/drawingml/2006/main">
              <a:ext uri="{FF2B5EF4-FFF2-40B4-BE49-F238E27FC236}">
                <a16:creationId xmlns:a16="http://schemas.microsoft.com/office/drawing/2014/main" id="{44211551-D8DE-43A4-8992-DC3FB10B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0530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B94D49"/>
                </a:solidFill>
              </a:defRPr>
            </a:pPr>
            <a:r>
              <a:rPr sz="1125" b="1" i="0">
                <a:solidFill>
                  <a:srgbClr val="B94D49"/>
                </a:solidFill>
              </a:rPr>
              <a:t>execute on A</a:t>
            </a:r>
          </a:p>
        </p:txBody>
      </p:sp>
      <p:cxnSp>
        <p:nvCxnSpPr>
          <p:cNvPr id="238" name=""/>
          <p:cNvCxnSpPr>
            <a:stCxn xmlns:a="http://schemas.openxmlformats.org/drawingml/2006/main" id="29" idx="6"/>
            <a:endCxn xmlns:a="http://schemas.openxmlformats.org/drawingml/2006/main" id="38" idx="2"/>
          </p:cNvCxnSpPr>
          <p:nvPr/>
        </p:nvCxnSpPr>
        <p:spPr>
          <a:xfrm xmlns:a="http://schemas.openxmlformats.org/drawingml/2006/main" rot="5400000">
            <a:off x="3276600" y="3152775"/>
            <a:ext cx="19050" cy="13525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31433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39" name=""/>
          <p:cNvCxnSpPr>
            <a:stCxn xmlns:a="http://schemas.openxmlformats.org/drawingml/2006/main" id="38" idx="6"/>
            <a:endCxn xmlns:a="http://schemas.openxmlformats.org/drawingml/2006/main" id="42" idx="2"/>
          </p:cNvCxnSpPr>
          <p:nvPr/>
        </p:nvCxnSpPr>
        <p:spPr>
          <a:xfrm xmlns:a="http://schemas.openxmlformats.org/drawingml/2006/main" rot="16200000" flipH="1">
            <a:off x="4629150" y="3571875"/>
            <a:ext cx="19050" cy="5143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31433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40" name=""/>
          <p:cNvCxnSpPr>
            <a:stCxn xmlns:a="http://schemas.openxmlformats.org/drawingml/2006/main" id="42" idx="6"/>
            <a:endCxn xmlns:a="http://schemas.openxmlformats.org/drawingml/2006/main" id="51" idx="2"/>
          </p:cNvCxnSpPr>
          <p:nvPr/>
        </p:nvCxnSpPr>
        <p:spPr>
          <a:xfrm xmlns:a="http://schemas.openxmlformats.org/drawingml/2006/main" rot="16200000" flipH="1">
            <a:off x="6248400" y="3552825"/>
            <a:ext cx="57150" cy="6286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31433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8" name="preserve-spark-a">
            <a:extLst xmlns:a="http://schemas.openxmlformats.org/drawingml/2006/main">
              <a:ext uri="{FF2B5EF4-FFF2-40B4-BE49-F238E27FC236}">
                <a16:creationId xmlns:a16="http://schemas.microsoft.com/office/drawing/2014/main" id="{2A05EF33-4D40-40ED-B34E-6409B28E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57187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59" name="preserve-spark-b">
            <a:extLst xmlns:a="http://schemas.openxmlformats.org/drawingml/2006/main">
              <a:ext uri="{FF2B5EF4-FFF2-40B4-BE49-F238E27FC236}">
                <a16:creationId xmlns:a16="http://schemas.microsoft.com/office/drawing/2014/main" id="{BA7CACBB-C741-4EB5-9FF8-76B73635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9567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60" name="preserve-spark-c">
            <a:extLst xmlns:a="http://schemas.openxmlformats.org/drawingml/2006/main">
              <a:ext uri="{FF2B5EF4-FFF2-40B4-BE49-F238E27FC236}">
                <a16:creationId xmlns:a16="http://schemas.microsoft.com/office/drawing/2014/main" id="{10F30E1F-E8BE-4AD9-A03D-D793D7FD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099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61" name="reevaluate-row-bg">
            <a:extLst xmlns:a="http://schemas.openxmlformats.org/drawingml/2006/main">
              <a:ext uri="{FF2B5EF4-FFF2-40B4-BE49-F238E27FC236}">
                <a16:creationId xmlns:a16="http://schemas.microsoft.com/office/drawing/2014/main" id="{99BD7394-7771-44AB-B397-EDEA58C9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64008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14288">
            <a:solidFill>
              <a:srgbClr val="2D7F7B"/>
            </a:solidFill>
            <a:prstDash val="dash"/>
          </a:ln>
        </p:spPr>
      </p:sp>
      <p:sp>
        <p:nvSpPr>
          <p:cNvPr id="62" name="reevaluate-clock-face">
            <a:extLst xmlns:a="http://schemas.openxmlformats.org/drawingml/2006/main">
              <a:ext uri="{FF2B5EF4-FFF2-40B4-BE49-F238E27FC236}">
                <a16:creationId xmlns:a16="http://schemas.microsoft.com/office/drawing/2014/main" id="{5B19A6AA-97F4-4E11-9607-0D4F5897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162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F7B"/>
            </a:solidFill>
            <a:prstDash val="solid"/>
          </a:ln>
        </p:spPr>
      </p:sp>
      <p:sp>
        <p:nvSpPr>
          <p:cNvPr id="63" name="reevaluate-clock-hand-v">
            <a:extLst xmlns:a="http://schemas.openxmlformats.org/drawingml/2006/main">
              <a:ext uri="{FF2B5EF4-FFF2-40B4-BE49-F238E27FC236}">
                <a16:creationId xmlns:a16="http://schemas.microsoft.com/office/drawing/2014/main" id="{EB860929-49A2-4D64-94B7-F1668B91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549" y="5234559"/>
            <a:ext cx="1905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64" name="reevaluate-clock-hand-h">
            <a:extLst xmlns:a="http://schemas.openxmlformats.org/drawingml/2006/main">
              <a:ext uri="{FF2B5EF4-FFF2-40B4-BE49-F238E27FC236}">
                <a16:creationId xmlns:a16="http://schemas.microsoft.com/office/drawing/2014/main" id="{2C0671DC-3CD3-489C-96FD-1157E4F4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549" y="5358575"/>
            <a:ext cx="9201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65" name="reevaluate-clock-hub">
            <a:extLst xmlns:a="http://schemas.openxmlformats.org/drawingml/2006/main">
              <a:ext uri="{FF2B5EF4-FFF2-40B4-BE49-F238E27FC236}">
                <a16:creationId xmlns:a16="http://schemas.microsoft.com/office/drawing/2014/main" id="{0C51AC50-7613-402B-803A-0CD2638A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547" y="5338572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66" name="reevaluate-title">
            <a:extLst xmlns:a="http://schemas.openxmlformats.org/drawingml/2006/main">
              <a:ext uri="{FF2B5EF4-FFF2-40B4-BE49-F238E27FC236}">
                <a16:creationId xmlns:a16="http://schemas.microsoft.com/office/drawing/2014/main" id="{BBA46EA4-8899-461B-8D2C-CD04A9BB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10540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D7F7B"/>
                </a:solidFill>
              </a:defRPr>
            </a:pPr>
            <a:r>
              <a:rPr sz="1500" b="1" i="0">
                <a:solidFill>
                  <a:srgbClr val="2D7F7B"/>
                </a:solidFill>
              </a:rPr>
              <a:t>Reevaluate</a:t>
            </a:r>
          </a:p>
        </p:txBody>
      </p:sp>
      <p:sp>
        <p:nvSpPr>
          <p:cNvPr id="67" name="reevaluate-rule">
            <a:extLst xmlns:a="http://schemas.openxmlformats.org/drawingml/2006/main">
              <a:ext uri="{FF2B5EF4-FFF2-40B4-BE49-F238E27FC236}">
                <a16:creationId xmlns:a16="http://schemas.microsoft.com/office/drawing/2014/main" id="{EE894D8B-A7E0-4EEA-B7F4-AEDC8FC8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4006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D7F7B"/>
                </a:solidFill>
              </a:defRPr>
            </a:pPr>
            <a:r>
              <a:rPr sz="1050" b="1" i="0">
                <a:solidFill>
                  <a:srgbClr val="2D7F7B"/>
                </a:solidFill>
              </a:rPr>
              <a:t>defer q until after refresh</a:t>
            </a:r>
          </a:p>
        </p:txBody>
      </p:sp>
      <p:sp>
        <p:nvSpPr>
          <p:cNvPr id="68" name="reevaluate-s0-state">
            <a:extLst xmlns:a="http://schemas.openxmlformats.org/drawingml/2006/main">
              <a:ext uri="{FF2B5EF4-FFF2-40B4-BE49-F238E27FC236}">
                <a16:creationId xmlns:a16="http://schemas.microsoft.com/office/drawing/2014/main" id="{E0AC0862-1829-4EA9-A001-73E6EA81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8007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8343A"/>
            </a:solidFill>
            <a:prstDash val="solid"/>
          </a:ln>
        </p:spPr>
      </p:sp>
      <p:sp>
        <p:nvSpPr>
          <p:cNvPr id="69" name="reevaluate-s0-other-0">
            <a:extLst xmlns:a="http://schemas.openxmlformats.org/drawingml/2006/main">
              <a:ext uri="{FF2B5EF4-FFF2-40B4-BE49-F238E27FC236}">
                <a16:creationId xmlns:a16="http://schemas.microsoft.com/office/drawing/2014/main" id="{491C95BC-821D-4958-ADC5-AE7C3804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70" name="reevaluate-s0-other-1">
            <a:extLst xmlns:a="http://schemas.openxmlformats.org/drawingml/2006/main">
              <a:ext uri="{FF2B5EF4-FFF2-40B4-BE49-F238E27FC236}">
                <a16:creationId xmlns:a16="http://schemas.microsoft.com/office/drawing/2014/main" id="{7CB01A56-9F24-4EE1-ADF5-167C56D6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962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71" name="reevaluate-s0-other-2">
            <a:extLst xmlns:a="http://schemas.openxmlformats.org/drawingml/2006/main">
              <a:ext uri="{FF2B5EF4-FFF2-40B4-BE49-F238E27FC236}">
                <a16:creationId xmlns:a16="http://schemas.microsoft.com/office/drawing/2014/main" id="{7BE6EEEB-9DAE-498D-BCEB-EBD4CD9F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391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72" name="reevaluate-s0-other-3">
            <a:extLst xmlns:a="http://schemas.openxmlformats.org/drawingml/2006/main">
              <a:ext uri="{FF2B5EF4-FFF2-40B4-BE49-F238E27FC236}">
                <a16:creationId xmlns:a16="http://schemas.microsoft.com/office/drawing/2014/main" id="{57615411-5AE6-491F-B430-5F87E9E3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524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73" name="reevaluate-s0-a">
            <a:extLst xmlns:a="http://schemas.openxmlformats.org/drawingml/2006/main">
              <a:ext uri="{FF2B5EF4-FFF2-40B4-BE49-F238E27FC236}">
                <a16:creationId xmlns:a16="http://schemas.microsoft.com/office/drawing/2014/main" id="{E56356C3-78E8-4658-A104-9B87F475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960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6193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4" name="reevaluate-s0-accent">
            <a:extLst xmlns:a="http://schemas.openxmlformats.org/drawingml/2006/main">
              <a:ext uri="{FF2B5EF4-FFF2-40B4-BE49-F238E27FC236}">
                <a16:creationId xmlns:a16="http://schemas.microsoft.com/office/drawing/2014/main" id="{7D31B55B-5DCF-402A-9C22-E4494FB9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848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75" name="reevaluate-s0-label">
            <a:extLst xmlns:a="http://schemas.openxmlformats.org/drawingml/2006/main">
              <a:ext uri="{FF2B5EF4-FFF2-40B4-BE49-F238E27FC236}">
                <a16:creationId xmlns:a16="http://schemas.microsoft.com/office/drawing/2014/main" id="{79103BF8-84A3-49B9-82CD-2C8070E1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8484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30343F"/>
                </a:solidFill>
              </a:defRPr>
            </a:pPr>
            <a:r>
              <a:rPr sz="1200" b="0" i="1">
                <a:solidFill>
                  <a:srgbClr val="30343F"/>
                </a:solidFill>
              </a:rPr>
              <a:t>S0   q(S0) = A</a:t>
            </a:r>
          </a:p>
        </p:txBody>
      </p:sp>
      <p:sp>
        <p:nvSpPr>
          <p:cNvPr id="76" name="reevaluate-deferred">
            <a:extLst xmlns:a="http://schemas.openxmlformats.org/drawingml/2006/main">
              <a:ext uri="{FF2B5EF4-FFF2-40B4-BE49-F238E27FC236}">
                <a16:creationId xmlns:a16="http://schemas.microsoft.com/office/drawing/2014/main" id="{2CBA7A3F-001D-48D1-80BA-1DA0511F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769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7F7B"/>
                </a:solidFill>
              </a:defRPr>
            </a:pPr>
            <a:r>
              <a:rPr sz="975" b="1" i="0">
                <a:solidFill>
                  <a:srgbClr val="2D7F7B"/>
                </a:solidFill>
              </a:rPr>
              <a:t>DEFER q</a:t>
            </a:r>
          </a:p>
        </p:txBody>
      </p:sp>
      <p:sp>
        <p:nvSpPr>
          <p:cNvPr id="77" name="reevaluate-gate-anchor-face">
            <a:extLst xmlns:a="http://schemas.openxmlformats.org/drawingml/2006/main">
              <a:ext uri="{FF2B5EF4-FFF2-40B4-BE49-F238E27FC236}">
                <a16:creationId xmlns:a16="http://schemas.microsoft.com/office/drawing/2014/main" id="{8E3E2423-555A-4EFF-8743-BD7F8DB6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1055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6899D"/>
            </a:solidFill>
            <a:prstDash val="solid"/>
          </a:ln>
        </p:spPr>
      </p:sp>
      <p:sp>
        <p:nvSpPr>
          <p:cNvPr id="78" name="reevaluate-gate-anchor-hand-v">
            <a:extLst xmlns:a="http://schemas.openxmlformats.org/drawingml/2006/main">
              <a:ext uri="{FF2B5EF4-FFF2-40B4-BE49-F238E27FC236}">
                <a16:creationId xmlns:a16="http://schemas.microsoft.com/office/drawing/2014/main" id="{522A9033-A0E3-4864-A029-ADAF7363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759" y="6180963"/>
            <a:ext cx="19050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79" name="reevaluate-gate-anchor-hand-h">
            <a:extLst xmlns:a="http://schemas.openxmlformats.org/drawingml/2006/main">
              <a:ext uri="{FF2B5EF4-FFF2-40B4-BE49-F238E27FC236}">
                <a16:creationId xmlns:a16="http://schemas.microsoft.com/office/drawing/2014/main" id="{BE68E731-73DE-4991-B7B0-0ABC1EE9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759" y="6310884"/>
            <a:ext cx="9639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80" name="reevaluate-gate-anchor-hub">
            <a:extLst xmlns:a="http://schemas.openxmlformats.org/drawingml/2006/main">
              <a:ext uri="{FF2B5EF4-FFF2-40B4-BE49-F238E27FC236}">
                <a16:creationId xmlns:a16="http://schemas.microsoft.com/office/drawing/2014/main" id="{51F5E284-8AF5-4363-BB9D-49FA452A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804" y="6289929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81" name="reevaluate-s1-state">
            <a:extLst xmlns:a="http://schemas.openxmlformats.org/drawingml/2006/main">
              <a:ext uri="{FF2B5EF4-FFF2-40B4-BE49-F238E27FC236}">
                <a16:creationId xmlns:a16="http://schemas.microsoft.com/office/drawing/2014/main" id="{6DF90B8A-5A34-418D-A5F1-5A27A714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8007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8343A"/>
            </a:solidFill>
            <a:prstDash val="solid"/>
          </a:ln>
        </p:spPr>
      </p:sp>
      <p:sp>
        <p:nvSpPr>
          <p:cNvPr id="82" name="reevaluate-s1-other-0">
            <a:extLst xmlns:a="http://schemas.openxmlformats.org/drawingml/2006/main">
              <a:ext uri="{FF2B5EF4-FFF2-40B4-BE49-F238E27FC236}">
                <a16:creationId xmlns:a16="http://schemas.microsoft.com/office/drawing/2014/main" id="{C10DDD18-17FC-475D-A87D-30AB6FC2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83" name="reevaluate-s1-other-1">
            <a:extLst xmlns:a="http://schemas.openxmlformats.org/drawingml/2006/main">
              <a:ext uri="{FF2B5EF4-FFF2-40B4-BE49-F238E27FC236}">
                <a16:creationId xmlns:a16="http://schemas.microsoft.com/office/drawing/2014/main" id="{43586CB6-F32F-4C44-8977-97B6AA40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962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84" name="reevaluate-s1-other-2">
            <a:extLst xmlns:a="http://schemas.openxmlformats.org/drawingml/2006/main">
              <a:ext uri="{FF2B5EF4-FFF2-40B4-BE49-F238E27FC236}">
                <a16:creationId xmlns:a16="http://schemas.microsoft.com/office/drawing/2014/main" id="{F09F8035-7BA3-45D7-8795-AC3A0616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391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85" name="reevaluate-s1-other-3">
            <a:extLst xmlns:a="http://schemas.openxmlformats.org/drawingml/2006/main">
              <a:ext uri="{FF2B5EF4-FFF2-40B4-BE49-F238E27FC236}">
                <a16:creationId xmlns:a16="http://schemas.microsoft.com/office/drawing/2014/main" id="{ED23FAF3-91D2-47AF-9022-4770DEA1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524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69787E"/>
            </a:solidFill>
            <a:prstDash val="solid"/>
          </a:ln>
        </p:spPr>
      </p:sp>
      <p:sp>
        <p:nvSpPr>
          <p:cNvPr id="86" name="reevaluate-s1-a">
            <a:extLst xmlns:a="http://schemas.openxmlformats.org/drawingml/2006/main">
              <a:ext uri="{FF2B5EF4-FFF2-40B4-BE49-F238E27FC236}">
                <a16:creationId xmlns:a16="http://schemas.microsoft.com/office/drawing/2014/main" id="{635EB91F-675D-4168-9C61-7A18C574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2960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6193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7" name="reevaluate-s1-b">
            <a:extLst xmlns:a="http://schemas.openxmlformats.org/drawingml/2006/main">
              <a:ext uri="{FF2B5EF4-FFF2-40B4-BE49-F238E27FC236}">
                <a16:creationId xmlns:a16="http://schemas.microsoft.com/office/drawing/2014/main" id="{FCA168F1-95B7-480A-953A-CF53AB72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96265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6193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8" name="reevaluate-s1-accent">
            <a:extLst xmlns:a="http://schemas.openxmlformats.org/drawingml/2006/main">
              <a:ext uri="{FF2B5EF4-FFF2-40B4-BE49-F238E27FC236}">
                <a16:creationId xmlns:a16="http://schemas.microsoft.com/office/drawing/2014/main" id="{F69CD333-8D51-48FA-8988-2C72DE8B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848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89" name="reevaluate-s1-label">
            <a:extLst xmlns:a="http://schemas.openxmlformats.org/drawingml/2006/main">
              <a:ext uri="{FF2B5EF4-FFF2-40B4-BE49-F238E27FC236}">
                <a16:creationId xmlns:a16="http://schemas.microsoft.com/office/drawing/2014/main" id="{B9E55BC5-1B27-45F8-AECA-F6492B08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8484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30343F"/>
                </a:solidFill>
              </a:defRPr>
            </a:pPr>
            <a:r>
              <a:rPr sz="1200" b="0" i="1">
                <a:solidFill>
                  <a:srgbClr val="30343F"/>
                </a:solidFill>
              </a:rPr>
              <a:t>S1   q(S1) = B</a:t>
            </a:r>
          </a:p>
        </p:txBody>
      </p:sp>
      <p:sp>
        <p:nvSpPr>
          <p:cNvPr id="90" name="reevaluate-resolve">
            <a:extLst xmlns:a="http://schemas.openxmlformats.org/drawingml/2006/main">
              <a:ext uri="{FF2B5EF4-FFF2-40B4-BE49-F238E27FC236}">
                <a16:creationId xmlns:a16="http://schemas.microsoft.com/office/drawing/2014/main" id="{4B5E68A1-375F-4D48-B1F2-F90F9A17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6007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7F7B"/>
                </a:solidFill>
              </a:defRPr>
            </a:pPr>
            <a:r>
              <a:rPr sz="975" b="1" i="0">
                <a:solidFill>
                  <a:srgbClr val="2D7F7B"/>
                </a:solidFill>
              </a:rPr>
              <a:t>resolve q on S1</a:t>
            </a:r>
          </a:p>
        </p:txBody>
      </p:sp>
      <p:sp>
        <p:nvSpPr>
          <p:cNvPr id="91" name="reevaluate-target-outer">
            <a:extLst xmlns:a="http://schemas.openxmlformats.org/drawingml/2006/main">
              <a:ext uri="{FF2B5EF4-FFF2-40B4-BE49-F238E27FC236}">
                <a16:creationId xmlns:a16="http://schemas.microsoft.com/office/drawing/2014/main" id="{64ECE0CD-90B4-4BE9-AF7F-5947754B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115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7F7B"/>
                </a:solidFill>
              </a:defRPr>
            </a:pPr>
            <a:r>
              <a:rPr sz="1650" b="1">
                <a:solidFill>
                  <a:srgbClr val="2D7F7B"/>
                </a:solidFill>
              </a:rPr>
              <a:t>B</a:t>
            </a:r>
          </a:p>
        </p:txBody>
      </p:sp>
      <p:sp>
        <p:nvSpPr>
          <p:cNvPr id="92" name="reevaluate-target-h">
            <a:extLst xmlns:a="http://schemas.openxmlformats.org/drawingml/2006/main">
              <a:ext uri="{FF2B5EF4-FFF2-40B4-BE49-F238E27FC236}">
                <a16:creationId xmlns:a16="http://schemas.microsoft.com/office/drawing/2014/main" id="{9243241F-C1EB-4762-B9A5-002897DE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63817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93" name="reevaluate-target-v">
            <a:extLst xmlns:a="http://schemas.openxmlformats.org/drawingml/2006/main">
              <a:ext uri="{FF2B5EF4-FFF2-40B4-BE49-F238E27FC236}">
                <a16:creationId xmlns:a16="http://schemas.microsoft.com/office/drawing/2014/main" id="{76EADBC4-FFF0-48F6-BC67-D1D57E30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029325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94" name="reevaluate-target-label">
            <a:extLst xmlns:a="http://schemas.openxmlformats.org/drawingml/2006/main">
              <a:ext uri="{FF2B5EF4-FFF2-40B4-BE49-F238E27FC236}">
                <a16:creationId xmlns:a16="http://schemas.microsoft.com/office/drawing/2014/main" id="{86996AC4-B543-4C86-A3A1-772F4B5B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68008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D7F7B"/>
                </a:solidFill>
              </a:defRPr>
            </a:pPr>
            <a:r>
              <a:rPr sz="1125" b="1" i="0">
                <a:solidFill>
                  <a:srgbClr val="2D7F7B"/>
                </a:solidFill>
              </a:rPr>
              <a:t>execute on B</a:t>
            </a:r>
          </a:p>
        </p:txBody>
      </p:sp>
      <p:cxnSp>
        <p:nvCxnSpPr>
          <p:cNvPr id="278" name=""/>
          <p:cNvCxnSpPr>
            <a:stCxn xmlns:a="http://schemas.openxmlformats.org/drawingml/2006/main" id="68" idx="6"/>
            <a:endCxn xmlns:a="http://schemas.openxmlformats.org/drawingml/2006/main" id="77" idx="2"/>
          </p:cNvCxnSpPr>
          <p:nvPr/>
        </p:nvCxnSpPr>
        <p:spPr>
          <a:xfrm xmlns:a="http://schemas.openxmlformats.org/drawingml/2006/main" rot="5400000">
            <a:off x="3276600" y="5648325"/>
            <a:ext cx="19050" cy="13525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31433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9" name=""/>
          <p:cNvCxnSpPr>
            <a:stCxn xmlns:a="http://schemas.openxmlformats.org/drawingml/2006/main" id="77" idx="6"/>
            <a:endCxn xmlns:a="http://schemas.openxmlformats.org/drawingml/2006/main" id="81" idx="2"/>
          </p:cNvCxnSpPr>
          <p:nvPr/>
        </p:nvCxnSpPr>
        <p:spPr>
          <a:xfrm xmlns:a="http://schemas.openxmlformats.org/drawingml/2006/main" rot="16200000" flipH="1">
            <a:off x="4629150" y="6067425"/>
            <a:ext cx="19050" cy="5143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31433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80" name=""/>
          <p:cNvCxnSpPr>
            <a:stCxn xmlns:a="http://schemas.openxmlformats.org/drawingml/2006/main" id="81" idx="6"/>
            <a:endCxn xmlns:a="http://schemas.openxmlformats.org/drawingml/2006/main" id="91" idx="2"/>
          </p:cNvCxnSpPr>
          <p:nvPr/>
        </p:nvCxnSpPr>
        <p:spPr>
          <a:xfrm xmlns:a="http://schemas.openxmlformats.org/drawingml/2006/main" rot="16200000" flipH="1">
            <a:off x="6248400" y="6048375"/>
            <a:ext cx="57150" cy="6286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31433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98" name="reevaluate-spark-a">
            <a:extLst xmlns:a="http://schemas.openxmlformats.org/drawingml/2006/main">
              <a:ext uri="{FF2B5EF4-FFF2-40B4-BE49-F238E27FC236}">
                <a16:creationId xmlns:a16="http://schemas.microsoft.com/office/drawing/2014/main" id="{513A0E1B-7E12-44E2-816F-5BC8247A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06742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99" name="reevaluate-spark-b">
            <a:extLst xmlns:a="http://schemas.openxmlformats.org/drawingml/2006/main">
              <a:ext uri="{FF2B5EF4-FFF2-40B4-BE49-F238E27FC236}">
                <a16:creationId xmlns:a16="http://schemas.microsoft.com/office/drawing/2014/main" id="{AC7ACF5A-6774-4506-AC6F-95D6F16E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9912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100" name="reevaluate-spark-c">
            <a:extLst xmlns:a="http://schemas.openxmlformats.org/drawingml/2006/main">
              <a:ext uri="{FF2B5EF4-FFF2-40B4-BE49-F238E27FC236}">
                <a16:creationId xmlns:a16="http://schemas.microsoft.com/office/drawing/2014/main" id="{237E44E8-CB5F-4958-85DF-E029FD50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105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101" name="refresh-chip">
            <a:extLst xmlns:a="http://schemas.openxmlformats.org/drawingml/2006/main">
              <a:ext uri="{FF2B5EF4-FFF2-40B4-BE49-F238E27FC236}">
                <a16:creationId xmlns:a16="http://schemas.microsoft.com/office/drawing/2014/main" id="{EC0112FC-05DE-4834-A208-D83476C3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10478">
            <a:solidFill>
              <a:srgbClr val="66899D"/>
            </a:solidFill>
            <a:prstDash val="solid"/>
          </a:ln>
        </p:spPr>
      </p:sp>
      <p:sp>
        <p:nvSpPr>
          <p:cNvPr id="102" name="refresh-chip-text">
            <a:extLst xmlns:a="http://schemas.openxmlformats.org/drawingml/2006/main">
              <a:ext uri="{FF2B5EF4-FFF2-40B4-BE49-F238E27FC236}">
                <a16:creationId xmlns:a16="http://schemas.microsoft.com/office/drawing/2014/main" id="{574922B1-5569-4901-9610-37561499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14575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6899D"/>
                </a:solidFill>
              </a:defRPr>
            </a:pPr>
            <a:r>
              <a:rPr sz="975" b="1" i="0">
                <a:solidFill>
                  <a:srgbClr val="66899D"/>
                </a:solidFill>
              </a:rPr>
              <a:t>same refresh replayed in both rows</a:t>
            </a:r>
          </a:p>
        </p:txBody>
      </p:sp>
      <p:sp>
        <p:nvSpPr>
          <p:cNvPr id="103" name="legend-a">
            <a:extLst xmlns:a="http://schemas.openxmlformats.org/drawingml/2006/main">
              <a:ext uri="{FF2B5EF4-FFF2-40B4-BE49-F238E27FC236}">
                <a16:creationId xmlns:a16="http://schemas.microsoft.com/office/drawing/2014/main" id="{39BB4CE3-C799-48B5-A263-2B24B4F2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53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6193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4" name="legend-a-text">
            <a:extLst xmlns:a="http://schemas.openxmlformats.org/drawingml/2006/main">
              <a:ext uri="{FF2B5EF4-FFF2-40B4-BE49-F238E27FC236}">
                <a16:creationId xmlns:a16="http://schemas.microsoft.com/office/drawing/2014/main" id="{6A4714CB-9ED0-40E8-86D8-420788EF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24800"/>
            <a:ext cx="990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0343F"/>
                </a:solidFill>
              </a:defRPr>
            </a:pPr>
            <a:r>
              <a:rPr sz="975" b="0" i="0">
                <a:solidFill>
                  <a:srgbClr val="30343F"/>
                </a:solidFill>
              </a:rPr>
              <a:t>initial winner</a:t>
            </a:r>
          </a:p>
        </p:txBody>
      </p:sp>
      <p:sp>
        <p:nvSpPr>
          <p:cNvPr id="105" name="legend-b">
            <a:extLst xmlns:a="http://schemas.openxmlformats.org/drawingml/2006/main">
              <a:ext uri="{FF2B5EF4-FFF2-40B4-BE49-F238E27FC236}">
                <a16:creationId xmlns:a16="http://schemas.microsoft.com/office/drawing/2014/main" id="{14535230-F382-4383-ACCF-E53DB1F7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953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6193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6" name="legend-b-text">
            <a:extLst xmlns:a="http://schemas.openxmlformats.org/drawingml/2006/main">
              <a:ext uri="{FF2B5EF4-FFF2-40B4-BE49-F238E27FC236}">
                <a16:creationId xmlns:a16="http://schemas.microsoft.com/office/drawing/2014/main" id="{7720CAAC-CD62-4967-AB38-5F149703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92480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0343F"/>
                </a:solidFill>
              </a:defRPr>
            </a:pPr>
            <a:r>
              <a:rPr sz="975" b="0" i="0">
                <a:solidFill>
                  <a:srgbClr val="30343F"/>
                </a:solidFill>
              </a:rPr>
              <a:t>post-refresh winner</a:t>
            </a:r>
          </a:p>
        </p:txBody>
      </p:sp>
      <p:sp>
        <p:nvSpPr>
          <p:cNvPr id="107" name="pair-invariant">
            <a:extLst xmlns:a="http://schemas.openxmlformats.org/drawingml/2006/main">
              <a:ext uri="{FF2B5EF4-FFF2-40B4-BE49-F238E27FC236}">
                <a16:creationId xmlns:a16="http://schemas.microsoft.com/office/drawing/2014/main" id="{AB6B808E-5296-40AD-A9D1-B420267A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7848600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8343A"/>
                </a:solidFill>
              </a:defRPr>
            </a:pPr>
            <a:r>
              <a:rPr sz="1125" b="1" i="0">
                <a:solidFill>
                  <a:srgbClr val="28343A"/>
                </a:solidFill>
              </a:rPr>
              <a:t>One matched pair = same world transition and interface; only commitment timing changes.</a:t>
            </a:r>
          </a:p>
        </p:txBody>
      </p:sp>
      <p:sp>
        <p:nvSpPr>
          <p:cNvPr id="108" name="line-semantics">
            <a:extLst xmlns:a="http://schemas.openxmlformats.org/drawingml/2006/main">
              <a:ext uri="{FF2B5EF4-FFF2-40B4-BE49-F238E27FC236}">
                <a16:creationId xmlns:a16="http://schemas.microsoft.com/office/drawing/2014/main" id="{6B57A99C-D7E2-4557-9AF5-F03A2D65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83439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9787E"/>
                </a:solidFill>
              </a:defRPr>
            </a:pPr>
            <a:r>
              <a:rPr sz="975" b="0" i="0">
                <a:solidFill>
                  <a:srgbClr val="69787E"/>
                </a:solidFill>
              </a:rPr>
              <a:t>solid = Preserve     dashed = Reevaluate</a:t>
            </a:r>
          </a:p>
        </p:txBody>
      </p:sp>
      <p:sp>
        <p:nvSpPr>
          <p:cNvPr id="109" name="same-probe-chip">
            <a:extLst xmlns:a="http://schemas.openxmlformats.org/drawingml/2006/main">
              <a:ext uri="{FF2B5EF4-FFF2-40B4-BE49-F238E27FC236}">
                <a16:creationId xmlns:a16="http://schemas.microsoft.com/office/drawing/2014/main" id="{640178A9-D711-4114-B338-C2EC33DE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8105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11430">
            <a:solidFill>
              <a:srgbClr val="66899D"/>
            </a:solidFill>
            <a:prstDash val="solid"/>
          </a:ln>
        </p:spPr>
      </p:sp>
      <p:sp>
        <p:nvSpPr>
          <p:cNvPr id="110" name="same-probe-chip-text">
            <a:extLst xmlns:a="http://schemas.openxmlformats.org/drawingml/2006/main">
              <a:ext uri="{FF2B5EF4-FFF2-40B4-BE49-F238E27FC236}">
                <a16:creationId xmlns:a16="http://schemas.microsoft.com/office/drawing/2014/main" id="{ADB6D560-AFED-4F59-A108-AA1377FD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6775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0343F"/>
                </a:solidFill>
              </a:defRPr>
            </a:pPr>
            <a:r>
              <a:rPr sz="1275" b="1" i="0">
                <a:solidFill>
                  <a:srgbClr val="30343F"/>
                </a:solidFill>
              </a:rPr>
              <a:t>same controller + same interface</a:t>
            </a:r>
          </a:p>
        </p:txBody>
      </p:sp>
      <p:sp>
        <p:nvSpPr>
          <p:cNvPr id="111" name="two-runs">
            <a:extLst xmlns:a="http://schemas.openxmlformats.org/drawingml/2006/main">
              <a:ext uri="{FF2B5EF4-FFF2-40B4-BE49-F238E27FC236}">
                <a16:creationId xmlns:a16="http://schemas.microsoft.com/office/drawing/2014/main" id="{FEA12166-4BF6-4BAC-8AD5-F9620408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049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69787E"/>
                </a:solidFill>
              </a:defRPr>
            </a:pPr>
            <a:r>
              <a:rPr sz="1050" b="0" i="1">
                <a:solidFill>
                  <a:srgbClr val="69787E"/>
                </a:solidFill>
              </a:rPr>
              <a:t>two independent runs</a:t>
            </a:r>
          </a:p>
        </p:txBody>
      </p:sp>
      <p:sp>
        <p:nvSpPr>
          <p:cNvPr id="112" name="preserve-packet">
            <a:extLst xmlns:a="http://schemas.openxmlformats.org/drawingml/2006/main">
              <a:ext uri="{FF2B5EF4-FFF2-40B4-BE49-F238E27FC236}">
                <a16:creationId xmlns:a16="http://schemas.microsoft.com/office/drawing/2014/main" id="{8DBC516D-D2C9-4D9B-8A8A-218F3113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57450"/>
            <a:ext cx="933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E7E3"/>
          </a:solidFill>
          <a:ln xmlns:a="http://schemas.openxmlformats.org/drawingml/2006/main" w="14288">
            <a:solidFill>
              <a:srgbClr val="B94D49"/>
            </a:solidFill>
            <a:prstDash val="solid"/>
          </a:ln>
        </p:spPr>
      </p:sp>
      <p:sp>
        <p:nvSpPr>
          <p:cNvPr id="113" name="preserve-packet-text">
            <a:extLst xmlns:a="http://schemas.openxmlformats.org/drawingml/2006/main">
              <a:ext uri="{FF2B5EF4-FFF2-40B4-BE49-F238E27FC236}">
                <a16:creationId xmlns:a16="http://schemas.microsoft.com/office/drawing/2014/main" id="{E236B178-6B39-47D7-BB4E-200F3875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33650"/>
            <a:ext cx="819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94D49"/>
                </a:solidFill>
              </a:defRPr>
            </a:pPr>
            <a:r>
              <a:rPr sz="975" b="1" i="0">
                <a:solidFill>
                  <a:srgbClr val="B94D49"/>
                </a:solidFill>
              </a:rPr>
              <a:t>Preserve</a:t>
            </a:r>
          </a:p>
          <a:p xmlns:a="http://schemas.openxmlformats.org/drawingml/2006/main">
            <a:pPr algn="ctr">
              <a:defRPr sz="975" b="1" i="0">
                <a:solidFill>
                  <a:srgbClr val="B94D49"/>
                </a:solidFill>
              </a:defRPr>
            </a:pPr>
            <a:r>
              <a:rPr sz="975" b="1" i="0">
                <a:solidFill>
                  <a:srgbClr val="B94D49"/>
                </a:solidFill>
              </a:rPr>
              <a:t>row</a:t>
            </a:r>
          </a:p>
        </p:txBody>
      </p:sp>
      <p:sp>
        <p:nvSpPr>
          <p:cNvPr id="114" name="reevaluate-packet">
            <a:extLst xmlns:a="http://schemas.openxmlformats.org/drawingml/2006/main">
              <a:ext uri="{FF2B5EF4-FFF2-40B4-BE49-F238E27FC236}">
                <a16:creationId xmlns:a16="http://schemas.microsoft.com/office/drawing/2014/main" id="{1761448D-5884-4DE1-9EC3-FBE8C124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67325"/>
            <a:ext cx="933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14288">
            <a:solidFill>
              <a:srgbClr val="2D7F7B"/>
            </a:solidFill>
            <a:prstDash val="dash"/>
          </a:ln>
        </p:spPr>
      </p:sp>
      <p:sp>
        <p:nvSpPr>
          <p:cNvPr id="115" name="reevaluate-packet-text">
            <a:extLst xmlns:a="http://schemas.openxmlformats.org/drawingml/2006/main">
              <a:ext uri="{FF2B5EF4-FFF2-40B4-BE49-F238E27FC236}">
                <a16:creationId xmlns:a16="http://schemas.microsoft.com/office/drawing/2014/main" id="{8828C032-6D40-44CD-916E-74D4FB32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43525"/>
            <a:ext cx="819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D7F7B"/>
                </a:solidFill>
              </a:defRPr>
            </a:pPr>
            <a:r>
              <a:rPr sz="750" b="1" i="0">
                <a:solidFill>
                  <a:srgbClr val="2D7F7B"/>
                </a:solidFill>
              </a:rPr>
              <a:t>Reevaluate</a:t>
            </a:r>
          </a:p>
          <a:p xmlns:a="http://schemas.openxmlformats.org/drawingml/2006/main">
            <a:pPr algn="ctr">
              <a:defRPr sz="750" b="1" i="0">
                <a:solidFill>
                  <a:srgbClr val="2D7F7B"/>
                </a:solidFill>
              </a:defRPr>
            </a:pPr>
            <a:r>
              <a:rPr sz="750" b="1" i="0">
                <a:solidFill>
                  <a:srgbClr val="2D7F7B"/>
                </a:solidFill>
              </a:rPr>
              <a:t>row</a:t>
            </a:r>
          </a:p>
        </p:txBody>
      </p:sp>
      <p:sp>
        <p:nvSpPr>
          <p:cNvPr id="116" name="controller-probe">
            <a:extLst xmlns:a="http://schemas.openxmlformats.org/drawingml/2006/main">
              <a:ext uri="{FF2B5EF4-FFF2-40B4-BE49-F238E27FC236}">
                <a16:creationId xmlns:a16="http://schemas.microsoft.com/office/drawing/2014/main" id="{F0613366-A662-4179-8DA0-9D3E6D20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71700"/>
            <a:ext cx="1219200" cy="42100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17145">
            <a:solidFill>
              <a:srgbClr val="28343A"/>
            </a:solidFill>
            <a:prstDash val="solid"/>
          </a:ln>
        </p:spPr>
      </p:sp>
      <p:sp>
        <p:nvSpPr>
          <p:cNvPr id="117" name="probe-title">
            <a:extLst xmlns:a="http://schemas.openxmlformats.org/drawingml/2006/main">
              <a:ext uri="{FF2B5EF4-FFF2-40B4-BE49-F238E27FC236}">
                <a16:creationId xmlns:a16="http://schemas.microsoft.com/office/drawing/2014/main" id="{5B7EE755-C1F0-425F-99E5-B13772FF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0343F"/>
                </a:solidFill>
              </a:defRPr>
            </a:pPr>
            <a:r>
              <a:rPr sz="1275" b="1" i="0">
                <a:solidFill>
                  <a:srgbClr val="30343F"/>
                </a:solidFill>
              </a:rPr>
              <a:t>Controller</a:t>
            </a:r>
          </a:p>
          <a:p xmlns:a="http://schemas.openxmlformats.org/drawingml/2006/main">
            <a:pPr algn="ctr">
              <a:defRPr sz="1275" b="1" i="0">
                <a:solidFill>
                  <a:srgbClr val="30343F"/>
                </a:solidFill>
              </a:defRPr>
            </a:pPr>
            <a:r>
              <a:rPr sz="1275" b="1" i="0">
                <a:solidFill>
                  <a:srgbClr val="30343F"/>
                </a:solidFill>
              </a:rPr>
              <a:t>probe</a:t>
            </a:r>
          </a:p>
        </p:txBody>
      </p:sp>
      <p:sp>
        <p:nvSpPr>
          <p:cNvPr id="118" name="probe-eye-p">
            <a:extLst xmlns:a="http://schemas.openxmlformats.org/drawingml/2006/main">
              <a:ext uri="{FF2B5EF4-FFF2-40B4-BE49-F238E27FC236}">
                <a16:creationId xmlns:a16="http://schemas.microsoft.com/office/drawing/2014/main" id="{94D049DA-F5D5-43B9-92EE-489ECC12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432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9" name="probe-eye-r">
            <a:extLst xmlns:a="http://schemas.openxmlformats.org/drawingml/2006/main">
              <a:ext uri="{FF2B5EF4-FFF2-40B4-BE49-F238E27FC236}">
                <a16:creationId xmlns:a16="http://schemas.microsoft.com/office/drawing/2014/main" id="{061F63CB-05E9-4E45-8EAF-C33C096F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432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0" name="probe-blackbox">
            <a:extLst xmlns:a="http://schemas.openxmlformats.org/drawingml/2006/main">
              <a:ext uri="{FF2B5EF4-FFF2-40B4-BE49-F238E27FC236}">
                <a16:creationId xmlns:a16="http://schemas.microsoft.com/office/drawing/2014/main" id="{2FF1D30D-14C0-4DC8-A2E0-CF057F66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38550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9787E"/>
                </a:solidFill>
              </a:defRPr>
            </a:pPr>
            <a:r>
              <a:rPr sz="825" b="1" i="0">
                <a:solidFill>
                  <a:srgbClr val="69787E"/>
                </a:solidFill>
              </a:rPr>
              <a:t>BLACK BOX</a:t>
            </a:r>
          </a:p>
          <a:p xmlns:a="http://schemas.openxmlformats.org/drawingml/2006/main">
            <a:pPr algn="ctr">
              <a:defRPr sz="825" b="1" i="0">
                <a:solidFill>
                  <a:srgbClr val="69787E"/>
                </a:solidFill>
              </a:defRPr>
            </a:pPr>
            <a:r>
              <a:rPr sz="825" b="1" i="0">
                <a:solidFill>
                  <a:srgbClr val="69787E"/>
                </a:solidFill>
              </a:rPr>
              <a:t>internals unobserved</a:t>
            </a:r>
          </a:p>
        </p:txBody>
      </p:sp>
      <p:sp>
        <p:nvSpPr>
          <p:cNvPr id="121" name="probe-io">
            <a:extLst xmlns:a="http://schemas.openxmlformats.org/drawingml/2006/main">
              <a:ext uri="{FF2B5EF4-FFF2-40B4-BE49-F238E27FC236}">
                <a16:creationId xmlns:a16="http://schemas.microsoft.com/office/drawing/2014/main" id="{05292223-B4FE-463E-A701-AC928D31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495800"/>
            <a:ext cx="1047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0343F"/>
                </a:solidFill>
              </a:defRPr>
            </a:pPr>
            <a:r>
              <a:rPr sz="975" b="1" i="0">
                <a:solidFill>
                  <a:srgbClr val="30343F"/>
                </a:solidFill>
              </a:rPr>
              <a:t>instruction</a:t>
            </a:r>
          </a:p>
          <a:p xmlns:a="http://schemas.openxmlformats.org/drawingml/2006/main">
            <a:pPr algn="ctr">
              <a:defRPr sz="975" b="1" i="0">
                <a:solidFill>
                  <a:srgbClr val="30343F"/>
                </a:solidFill>
              </a:defRPr>
            </a:pPr>
            <a:r>
              <a:rPr sz="975" b="1" i="0">
                <a:solidFill>
                  <a:srgbClr val="30343F"/>
                </a:solidFill>
              </a:rPr>
              <a:t>+ history</a:t>
            </a:r>
          </a:p>
          <a:p xmlns:a="http://schemas.openxmlformats.org/drawingml/2006/main">
            <a:pPr algn="ctr">
              <a:defRPr sz="975" b="1" i="0">
                <a:solidFill>
                  <a:srgbClr val="30343F"/>
                </a:solidFill>
              </a:defRPr>
            </a:pPr>
            <a:r>
              <a:rPr sz="975" b="1" i="0">
                <a:solidFill>
                  <a:srgbClr val="30343F"/>
                </a:solidFill>
              </a:rPr>
              <a:t>+ observed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975" b="1" i="0">
                <a:solidFill>
                  <a:srgbClr val="30343F"/>
                </a:solidFill>
              </a:defRPr>
            </a:pPr>
            <a:r>
              <a:rPr sz="975" b="1" i="0">
                <a:solidFill>
                  <a:srgbClr val="30343F"/>
                </a:solidFill>
              </a:rPr>
              <a:t>-&gt; target ID</a:t>
            </a:r>
          </a:p>
        </p:txBody>
      </p:sp>
      <p:sp>
        <p:nvSpPr>
          <p:cNvPr id="122" name="tp">
            <a:extLst xmlns:a="http://schemas.openxmlformats.org/drawingml/2006/main">
              <a:ext uri="{FF2B5EF4-FFF2-40B4-BE49-F238E27FC236}">
                <a16:creationId xmlns:a16="http://schemas.microsoft.com/office/drawing/2014/main" id="{1C3ECE90-E1EE-4DA2-89D9-E4C3A15B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B94D49"/>
            </a:solidFill>
            <a:prstDash val="solid"/>
          </a:ln>
        </p:spPr>
      </p:sp>
      <p:sp>
        <p:nvSpPr>
          <p:cNvPr id="123" name="tp-text">
            <a:extLst xmlns:a="http://schemas.openxmlformats.org/drawingml/2006/main">
              <a:ext uri="{FF2B5EF4-FFF2-40B4-BE49-F238E27FC236}">
                <a16:creationId xmlns:a16="http://schemas.microsoft.com/office/drawing/2014/main" id="{249ED995-99B6-4BE3-BE55-601426B4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289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B94D49"/>
                </a:solidFill>
              </a:defRPr>
            </a:pPr>
            <a:r>
              <a:rPr sz="1125" b="1" i="1">
                <a:solidFill>
                  <a:srgbClr val="B94D49"/>
                </a:solidFill>
              </a:rPr>
              <a:t>T_P</a:t>
            </a:r>
          </a:p>
        </p:txBody>
      </p:sp>
      <p:sp>
        <p:nvSpPr>
          <p:cNvPr id="124" name="tr">
            <a:extLst xmlns:a="http://schemas.openxmlformats.org/drawingml/2006/main">
              <a:ext uri="{FF2B5EF4-FFF2-40B4-BE49-F238E27FC236}">
                <a16:creationId xmlns:a16="http://schemas.microsoft.com/office/drawing/2014/main" id="{C8073C39-73EC-4D42-93B8-01C6B69C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410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2D7F7B"/>
            </a:solidFill>
            <a:prstDash val="dash"/>
          </a:ln>
        </p:spPr>
      </p:sp>
      <p:sp>
        <p:nvSpPr>
          <p:cNvPr id="125" name="tr-text">
            <a:extLst xmlns:a="http://schemas.openxmlformats.org/drawingml/2006/main">
              <a:ext uri="{FF2B5EF4-FFF2-40B4-BE49-F238E27FC236}">
                <a16:creationId xmlns:a16="http://schemas.microsoft.com/office/drawing/2014/main" id="{34828093-5106-4121-A698-305B4928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4673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2D7F7B"/>
                </a:solidFill>
              </a:defRPr>
            </a:pPr>
            <a:r>
              <a:rPr sz="1125" b="1" i="1">
                <a:solidFill>
                  <a:srgbClr val="2D7F7B"/>
                </a:solidFill>
              </a:rPr>
              <a:t>T_R</a:t>
            </a:r>
          </a:p>
        </p:txBody>
      </p:sp>
      <p:sp>
        <p:nvSpPr>
          <p:cNvPr id="126" name="probe-p-in-anchor">
            <a:extLst xmlns:a="http://schemas.openxmlformats.org/drawingml/2006/main">
              <a:ext uri="{FF2B5EF4-FFF2-40B4-BE49-F238E27FC236}">
                <a16:creationId xmlns:a16="http://schemas.microsoft.com/office/drawing/2014/main" id="{FB3CC422-F442-493B-ADEA-75A5E9BB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7" name="probe-r-in-anchor">
            <a:extLst xmlns:a="http://schemas.openxmlformats.org/drawingml/2006/main">
              <a:ext uri="{FF2B5EF4-FFF2-40B4-BE49-F238E27FC236}">
                <a16:creationId xmlns:a16="http://schemas.microsoft.com/office/drawing/2014/main" id="{F7A70A08-0FF6-4D15-B682-49AC1F51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197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8" name="probe-p-out-anchor">
            <a:extLst xmlns:a="http://schemas.openxmlformats.org/drawingml/2006/main">
              <a:ext uri="{FF2B5EF4-FFF2-40B4-BE49-F238E27FC236}">
                <a16:creationId xmlns:a16="http://schemas.microsoft.com/office/drawing/2014/main" id="{3A25C5E5-77E7-4E92-9D20-11C0EA4A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194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9" name="probe-r-out-anchor">
            <a:extLst xmlns:a="http://schemas.openxmlformats.org/drawingml/2006/main">
              <a:ext uri="{FF2B5EF4-FFF2-40B4-BE49-F238E27FC236}">
                <a16:creationId xmlns:a16="http://schemas.microsoft.com/office/drawing/2014/main" id="{3A6E6988-45C5-4E8E-B306-04AF2ACF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197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3" name=""/>
          <p:cNvCxnSpPr>
            <a:stCxn xmlns:a="http://schemas.openxmlformats.org/drawingml/2006/main" id="112" idx="3"/>
            <a:endCxn xmlns:a="http://schemas.openxmlformats.org/drawingml/2006/main" id="126" idx="2"/>
          </p:cNvCxnSpPr>
          <p:nvPr/>
        </p:nvCxnSpPr>
        <p:spPr>
          <a:xfrm xmlns:a="http://schemas.openxmlformats.org/drawingml/2006/main" rot="5400000">
            <a:off x="8915400" y="2809875"/>
            <a:ext cx="9525" cy="666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14" name=""/>
          <p:cNvCxnSpPr>
            <a:stCxn xmlns:a="http://schemas.openxmlformats.org/drawingml/2006/main" id="128" idx="6"/>
            <a:endCxn xmlns:a="http://schemas.openxmlformats.org/drawingml/2006/main" id="122" idx="2"/>
          </p:cNvCxnSpPr>
          <p:nvPr/>
        </p:nvCxnSpPr>
        <p:spPr>
          <a:xfrm xmlns:a="http://schemas.openxmlformats.org/drawingml/2006/main" rot="16200000" flipH="1">
            <a:off x="10225088" y="2824163"/>
            <a:ext cx="9525" cy="381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15" name=""/>
          <p:cNvCxnSpPr>
            <a:stCxn xmlns:a="http://schemas.openxmlformats.org/drawingml/2006/main" id="114" idx="3"/>
            <a:endCxn xmlns:a="http://schemas.openxmlformats.org/drawingml/2006/main" id="127" idx="2"/>
          </p:cNvCxnSpPr>
          <p:nvPr/>
        </p:nvCxnSpPr>
        <p:spPr>
          <a:xfrm xmlns:a="http://schemas.openxmlformats.org/drawingml/2006/main" rot="5400000">
            <a:off x="8910638" y="5614988"/>
            <a:ext cx="19050" cy="666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316" name=""/>
          <p:cNvCxnSpPr>
            <a:stCxn xmlns:a="http://schemas.openxmlformats.org/drawingml/2006/main" id="129" idx="6"/>
            <a:endCxn xmlns:a="http://schemas.openxmlformats.org/drawingml/2006/main" id="124" idx="2"/>
          </p:cNvCxnSpPr>
          <p:nvPr/>
        </p:nvCxnSpPr>
        <p:spPr>
          <a:xfrm xmlns:a="http://schemas.openxmlformats.org/drawingml/2006/main" rot="16200000" flipH="1">
            <a:off x="10206038" y="5643563"/>
            <a:ext cx="47625" cy="381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34" name="probe-p-in-port">
            <a:extLst xmlns:a="http://schemas.openxmlformats.org/drawingml/2006/main">
              <a:ext uri="{FF2B5EF4-FFF2-40B4-BE49-F238E27FC236}">
                <a16:creationId xmlns:a16="http://schemas.microsoft.com/office/drawing/2014/main" id="{BD884D86-12E1-4078-95FA-09A80592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5" name="probe-r-in-port">
            <a:extLst xmlns:a="http://schemas.openxmlformats.org/drawingml/2006/main">
              <a:ext uri="{FF2B5EF4-FFF2-40B4-BE49-F238E27FC236}">
                <a16:creationId xmlns:a16="http://schemas.microsoft.com/office/drawing/2014/main" id="{79593781-9222-4767-8046-66A73939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572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6" name="probe-p-out-port">
            <a:extLst xmlns:a="http://schemas.openxmlformats.org/drawingml/2006/main">
              <a:ext uri="{FF2B5EF4-FFF2-40B4-BE49-F238E27FC236}">
                <a16:creationId xmlns:a16="http://schemas.microsoft.com/office/drawing/2014/main" id="{81DA82AC-3B65-45E9-86FF-2BC91749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7" name="probe-r-out-port">
            <a:extLst xmlns:a="http://schemas.openxmlformats.org/drawingml/2006/main">
              <a:ext uri="{FF2B5EF4-FFF2-40B4-BE49-F238E27FC236}">
                <a16:creationId xmlns:a16="http://schemas.microsoft.com/office/drawing/2014/main" id="{A3F287FC-80D0-4D0B-9F43-48D70DCD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572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8" name="tp-label">
            <a:extLst xmlns:a="http://schemas.openxmlformats.org/drawingml/2006/main">
              <a:ext uri="{FF2B5EF4-FFF2-40B4-BE49-F238E27FC236}">
                <a16:creationId xmlns:a16="http://schemas.microsoft.com/office/drawing/2014/main" id="{7E97E8AF-FCAF-44E6-A057-C56BEB36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623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30343F"/>
                </a:solidFill>
              </a:defRPr>
            </a:pPr>
            <a:r>
              <a:rPr sz="900" b="0" i="0">
                <a:solidFill>
                  <a:srgbClr val="30343F"/>
                </a:solidFill>
              </a:rPr>
              <a:t>final target</a:t>
            </a:r>
          </a:p>
        </p:txBody>
      </p:sp>
      <p:sp>
        <p:nvSpPr>
          <p:cNvPr id="139" name="tr-label">
            <a:extLst xmlns:a="http://schemas.openxmlformats.org/drawingml/2006/main">
              <a:ext uri="{FF2B5EF4-FFF2-40B4-BE49-F238E27FC236}">
                <a16:creationId xmlns:a16="http://schemas.microsoft.com/office/drawing/2014/main" id="{D69D670A-F6C1-4E1D-B5A5-811F6EC3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0007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30343F"/>
                </a:solidFill>
              </a:defRPr>
            </a:pPr>
            <a:r>
              <a:rPr sz="900" b="0" i="0">
                <a:solidFill>
                  <a:srgbClr val="30343F"/>
                </a:solidFill>
              </a:rPr>
              <a:t>final target</a:t>
            </a:r>
          </a:p>
        </p:txBody>
      </p:sp>
      <p:sp>
        <p:nvSpPr>
          <p:cNvPr id="140" name="withheld-strip">
            <a:extLst xmlns:a="http://schemas.openxmlformats.org/drawingml/2006/main">
              <a:ext uri="{FF2B5EF4-FFF2-40B4-BE49-F238E27FC236}">
                <a16:creationId xmlns:a16="http://schemas.microsoft.com/office/drawing/2014/main" id="{35026F2D-B11C-4FE8-9E01-28566112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724650"/>
            <a:ext cx="24765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3C5"/>
            </a:solidFill>
            <a:prstDash val="dash"/>
          </a:ln>
        </p:spPr>
      </p:sp>
      <p:sp>
        <p:nvSpPr>
          <p:cNvPr id="141" name="withheld-title">
            <a:extLst xmlns:a="http://schemas.openxmlformats.org/drawingml/2006/main">
              <a:ext uri="{FF2B5EF4-FFF2-40B4-BE49-F238E27FC236}">
                <a16:creationId xmlns:a16="http://schemas.microsoft.com/office/drawing/2014/main" id="{AE216D10-BFA1-49F8-8D39-D0EC4934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838950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0343F"/>
                </a:solidFill>
              </a:defRPr>
            </a:pPr>
            <a:r>
              <a:rPr sz="1200" b="1" i="0">
                <a:solidFill>
                  <a:srgbClr val="30343F"/>
                </a:solidFill>
              </a:rPr>
              <a:t>Withheld from the probe</a:t>
            </a:r>
          </a:p>
        </p:txBody>
      </p:sp>
      <p:sp>
        <p:nvSpPr>
          <p:cNvPr id="142" name="withheld-list">
            <a:extLst xmlns:a="http://schemas.openxmlformats.org/drawingml/2006/main">
              <a:ext uri="{FF2B5EF4-FFF2-40B4-BE49-F238E27FC236}">
                <a16:creationId xmlns:a16="http://schemas.microsoft.com/office/drawing/2014/main" id="{EAA24F02-A976-4D43-81D8-3E6B6C11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72009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94D49"/>
                </a:solidFill>
              </a:defRPr>
            </a:pPr>
            <a:r>
              <a:rPr sz="975" b="1" i="0">
                <a:solidFill>
                  <a:srgbClr val="B94D49"/>
                </a:solidFill>
              </a:rPr>
              <a:t>NO gold mode      NO gold target</a:t>
            </a:r>
          </a:p>
          <a:p xmlns:a="http://schemas.openxmlformats.org/drawingml/2006/main">
            <a:pPr algn="ctr">
              <a:defRPr sz="975" b="1" i="0">
                <a:solidFill>
                  <a:srgbClr val="B94D49"/>
                </a:solidFill>
              </a:defRPr>
            </a:pPr>
            <a:r>
              <a:rPr sz="975" b="1" i="0">
                <a:solidFill>
                  <a:srgbClr val="B94D49"/>
                </a:solidFill>
              </a:rPr>
              <a:t>NO normalized selector fields</a:t>
            </a:r>
          </a:p>
          <a:p xmlns:a="http://schemas.openxmlformats.org/drawingml/2006/main">
            <a:pPr algn="ctr">
              <a:defRPr sz="975" b="1" i="0">
                <a:solidFill>
                  <a:srgbClr val="B94D49"/>
                </a:solidFill>
              </a:defRPr>
            </a:pPr>
            <a:r>
              <a:rPr sz="975" b="1" i="0">
                <a:solidFill>
                  <a:srgbClr val="B94D49"/>
                </a:solidFill>
              </a:rPr>
              <a:t>NO generator-computed winner IDs</a:t>
            </a:r>
          </a:p>
        </p:txBody>
      </p:sp>
      <p:sp>
        <p:nvSpPr>
          <p:cNvPr id="143" name="observed-note">
            <a:extLst xmlns:a="http://schemas.openxmlformats.org/drawingml/2006/main">
              <a:ext uri="{FF2B5EF4-FFF2-40B4-BE49-F238E27FC236}">
                <a16:creationId xmlns:a16="http://schemas.microsoft.com/office/drawing/2014/main" id="{8C5C6E3F-3B70-4655-8940-9C3E07E6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8039100"/>
            <a:ext cx="217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69787E"/>
                </a:solidFill>
              </a:defRPr>
            </a:pPr>
            <a:r>
              <a:rPr sz="900" b="0" i="1">
                <a:solidFill>
                  <a:srgbClr val="69787E"/>
                </a:solidFill>
              </a:rPr>
              <a:t>Observed instruction, history, and state follow the tested interface.</a:t>
            </a:r>
          </a:p>
        </p:txBody>
      </p:sp>
      <p:sp>
        <p:nvSpPr>
          <p:cNvPr id="144" name="evidence-spine">
            <a:extLst xmlns:a="http://schemas.openxmlformats.org/drawingml/2006/main">
              <a:ext uri="{FF2B5EF4-FFF2-40B4-BE49-F238E27FC236}">
                <a16:creationId xmlns:a16="http://schemas.microsoft.com/office/drawing/2014/main" id="{C551DE34-F70B-48B6-9F02-3BCFCBC5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1047750"/>
            <a:ext cx="28575" cy="733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45" name="spine-tp-anchor">
            <a:extLst xmlns:a="http://schemas.openxmlformats.org/drawingml/2006/main">
              <a:ext uri="{FF2B5EF4-FFF2-40B4-BE49-F238E27FC236}">
                <a16:creationId xmlns:a16="http://schemas.microsoft.com/office/drawing/2014/main" id="{1762F141-A862-4D83-8C5D-406ECD4E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571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cxnSp>
        <p:nvCxnSpPr>
          <p:cNvPr id="329" name=""/>
          <p:cNvCxnSpPr>
            <a:stCxn xmlns:a="http://schemas.openxmlformats.org/drawingml/2006/main" id="122" idx="6"/>
            <a:endCxn xmlns:a="http://schemas.openxmlformats.org/drawingml/2006/main" id="145" idx="2"/>
          </p:cNvCxnSpPr>
          <p:nvPr/>
        </p:nvCxnSpPr>
        <p:spPr>
          <a:xfrm xmlns:a="http://schemas.openxmlformats.org/drawingml/2006/main" rot="5400000">
            <a:off x="10863263" y="2576513"/>
            <a:ext cx="209550" cy="3333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6670" cap="rnd">
            <a:solidFill>
              <a:srgbClr val="B94D4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" name="spine-tr-anchor">
            <a:extLst xmlns:a="http://schemas.openxmlformats.org/drawingml/2006/main">
              <a:ext uri="{FF2B5EF4-FFF2-40B4-BE49-F238E27FC236}">
                <a16:creationId xmlns:a16="http://schemas.microsoft.com/office/drawing/2014/main" id="{8C344BBA-4416-4F34-8D76-3E3098CC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410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cxnSp>
        <p:nvCxnSpPr>
          <p:cNvPr id="331" name=""/>
          <p:cNvCxnSpPr>
            <a:stCxn xmlns:a="http://schemas.openxmlformats.org/drawingml/2006/main" id="124" idx="6"/>
            <a:endCxn xmlns:a="http://schemas.openxmlformats.org/drawingml/2006/main" id="147" idx="2"/>
          </p:cNvCxnSpPr>
          <p:nvPr/>
        </p:nvCxnSpPr>
        <p:spPr>
          <a:xfrm xmlns:a="http://schemas.openxmlformats.org/drawingml/2006/main" rot="5400000">
            <a:off x="10863263" y="5414963"/>
            <a:ext cx="209550" cy="3333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6670" cap="rnd">
            <a:solidFill>
              <a:srgbClr val="2D7F7B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9" name="readout-1-num">
            <a:extLst xmlns:a="http://schemas.openxmlformats.org/drawingml/2006/main">
              <a:ext uri="{FF2B5EF4-FFF2-40B4-BE49-F238E27FC236}">
                <a16:creationId xmlns:a16="http://schemas.microsoft.com/office/drawing/2014/main" id="{E6F636EA-D516-4223-8D04-867CBABC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066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689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899D"/>
                </a:solidFill>
              </a:defRPr>
            </a:pPr>
            <a:r>
              <a:rPr sz="1200" b="1">
                <a:solidFill>
                  <a:srgbClr val="66899D"/>
                </a:solidFill>
              </a:rPr>
              <a:t>1</a:t>
            </a:r>
          </a:p>
        </p:txBody>
      </p:sp>
      <p:sp>
        <p:nvSpPr>
          <p:cNvPr id="150" name="pairacc-title">
            <a:extLst xmlns:a="http://schemas.openxmlformats.org/drawingml/2006/main">
              <a:ext uri="{FF2B5EF4-FFF2-40B4-BE49-F238E27FC236}">
                <a16:creationId xmlns:a16="http://schemas.microsoft.com/office/drawing/2014/main" id="{E55583BD-192F-4794-8AFB-C6F3471A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0001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0343F"/>
                </a:solidFill>
              </a:defRPr>
            </a:pPr>
            <a:r>
              <a:rPr sz="1650" b="1" i="0">
                <a:solidFill>
                  <a:srgbClr val="30343F"/>
                </a:solidFill>
              </a:rPr>
              <a:t>Pair accuracy (PairAcc)</a:t>
            </a:r>
          </a:p>
        </p:txBody>
      </p:sp>
      <p:sp>
        <p:nvSpPr>
          <p:cNvPr id="151" name="pairacc-unit">
            <a:extLst xmlns:a="http://schemas.openxmlformats.org/drawingml/2006/main">
              <a:ext uri="{FF2B5EF4-FFF2-40B4-BE49-F238E27FC236}">
                <a16:creationId xmlns:a16="http://schemas.microsoft.com/office/drawing/2014/main" id="{6BF2FEFB-FCDB-4492-9AA8-49466CC7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371600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9787E"/>
                </a:solidFill>
              </a:defRPr>
            </a:pPr>
            <a:r>
              <a:rPr sz="1050" b="0" i="0">
                <a:solidFill>
                  <a:srgbClr val="69787E"/>
                </a:solidFill>
              </a:rPr>
              <a:t>unit: one complete changed-winner pair</a:t>
            </a:r>
          </a:p>
        </p:txBody>
      </p:sp>
      <p:sp>
        <p:nvSpPr>
          <p:cNvPr id="152" name="pairacc-formula">
            <a:extLst xmlns:a="http://schemas.openxmlformats.org/drawingml/2006/main">
              <a:ext uri="{FF2B5EF4-FFF2-40B4-BE49-F238E27FC236}">
                <a16:creationId xmlns:a16="http://schemas.microsoft.com/office/drawing/2014/main" id="{6B66A2FD-FE64-4780-8E12-F576FC20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8097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13335">
            <a:solidFill>
              <a:srgbClr val="66899D"/>
            </a:solidFill>
            <a:prstDash val="solid"/>
          </a:ln>
        </p:spPr>
      </p:sp>
      <p:sp>
        <p:nvSpPr>
          <p:cNvPr id="153" name="pairacc-formula-text">
            <a:extLst xmlns:a="http://schemas.openxmlformats.org/drawingml/2006/main">
              <a:ext uri="{FF2B5EF4-FFF2-40B4-BE49-F238E27FC236}">
                <a16:creationId xmlns:a16="http://schemas.microsoft.com/office/drawing/2014/main" id="{88C6BFF8-F9E7-4A52-8351-5337894B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189547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30343F"/>
                </a:solidFill>
              </a:defRPr>
            </a:pPr>
            <a:r>
              <a:rPr sz="1425" b="1" i="1">
                <a:solidFill>
                  <a:srgbClr val="30343F"/>
                </a:solidFill>
              </a:rPr>
              <a:t>T_P = A     AND     T_R = B</a:t>
            </a:r>
          </a:p>
        </p:txBody>
      </p:sp>
      <p:sp>
        <p:nvSpPr>
          <p:cNvPr id="154" name="pairacc-denom">
            <a:extLst xmlns:a="http://schemas.openxmlformats.org/drawingml/2006/main">
              <a:ext uri="{FF2B5EF4-FFF2-40B4-BE49-F238E27FC236}">
                <a16:creationId xmlns:a16="http://schemas.microsoft.com/office/drawing/2014/main" id="{2A670341-CCA2-4034-AB13-8C7BDD3C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6574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0343F"/>
                </a:solidFill>
              </a:defRPr>
            </a:pPr>
            <a:r>
              <a:rPr sz="1050" b="0" i="0">
                <a:solidFill>
                  <a:srgbClr val="30343F"/>
                </a:solidFill>
              </a:rPr>
              <a:t>Denominator: all complete changed-winner pairs</a:t>
            </a:r>
          </a:p>
        </p:txBody>
      </p:sp>
      <p:sp>
        <p:nvSpPr>
          <p:cNvPr id="155" name="separator-c12">
            <a:extLst xmlns:a="http://schemas.openxmlformats.org/drawingml/2006/main">
              <a:ext uri="{FF2B5EF4-FFF2-40B4-BE49-F238E27FC236}">
                <a16:creationId xmlns:a16="http://schemas.microsoft.com/office/drawing/2014/main" id="{618B82D4-1E76-40DD-92AD-C43C6024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2194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56" name="readout-2-num">
            <a:extLst xmlns:a="http://schemas.openxmlformats.org/drawingml/2006/main">
              <a:ext uri="{FF2B5EF4-FFF2-40B4-BE49-F238E27FC236}">
                <a16:creationId xmlns:a16="http://schemas.microsoft.com/office/drawing/2014/main" id="{6EE2D170-7330-41B4-A974-607DC146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4D49"/>
                </a:solidFill>
              </a:defRPr>
            </a:pPr>
            <a:r>
              <a:rPr sz="1200" b="1">
                <a:solidFill>
                  <a:srgbClr val="B94D49"/>
                </a:solidFill>
              </a:rPr>
              <a:t>2</a:t>
            </a:r>
          </a:p>
        </p:txBody>
      </p:sp>
      <p:sp>
        <p:nvSpPr>
          <p:cNvPr id="157" name="sub-title">
            <a:extLst xmlns:a="http://schemas.openxmlformats.org/drawingml/2006/main">
              <a:ext uri="{FF2B5EF4-FFF2-40B4-BE49-F238E27FC236}">
                <a16:creationId xmlns:a16="http://schemas.microsoft.com/office/drawing/2014/main" id="{308FC771-4C43-4634-9D28-38AF972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099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0343F"/>
                </a:solidFill>
              </a:defRPr>
            </a:pPr>
            <a:r>
              <a:rPr sz="1575" b="1" i="0">
                <a:solidFill>
                  <a:srgbClr val="30343F"/>
                </a:solidFill>
              </a:rPr>
              <a:t>Conditional substitution</a:t>
            </a:r>
          </a:p>
        </p:txBody>
      </p:sp>
      <p:sp>
        <p:nvSpPr>
          <p:cNvPr id="158" name="sub-focus">
            <a:extLst xmlns:a="http://schemas.openxmlformats.org/drawingml/2006/main">
              <a:ext uri="{FF2B5EF4-FFF2-40B4-BE49-F238E27FC236}">
                <a16:creationId xmlns:a16="http://schemas.microsoft.com/office/drawing/2014/main" id="{E1FA622A-6BB2-4C26-8142-5C0B054B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78142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9787E"/>
                </a:solidFill>
              </a:defRPr>
            </a:pPr>
            <a:r>
              <a:rPr sz="1050" b="0" i="0">
                <a:solidFill>
                  <a:srgbClr val="69787E"/>
                </a:solidFill>
              </a:rPr>
              <a:t>replacement after a correct observable binding</a:t>
            </a:r>
          </a:p>
        </p:txBody>
      </p:sp>
      <p:sp>
        <p:nvSpPr>
          <p:cNvPr id="159" name="sub-a">
            <a:extLst xmlns:a="http://schemas.openxmlformats.org/drawingml/2006/main">
              <a:ext uri="{FF2B5EF4-FFF2-40B4-BE49-F238E27FC236}">
                <a16:creationId xmlns:a16="http://schemas.microsoft.com/office/drawing/2014/main" id="{36379AAC-938B-4BE9-BC27-F899C08F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305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6193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60" name="sub-clock-face">
            <a:extLst xmlns:a="http://schemas.openxmlformats.org/drawingml/2006/main">
              <a:ext uri="{FF2B5EF4-FFF2-40B4-BE49-F238E27FC236}">
                <a16:creationId xmlns:a16="http://schemas.microsoft.com/office/drawing/2014/main" id="{D067420F-1219-4507-BE97-17A80E27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4305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343A"/>
            </a:solidFill>
            <a:prstDash val="solid"/>
          </a:ln>
        </p:spPr>
      </p:sp>
      <p:sp>
        <p:nvSpPr>
          <p:cNvPr id="161" name="sub-clock-hand-v">
            <a:extLst xmlns:a="http://schemas.openxmlformats.org/drawingml/2006/main">
              <a:ext uri="{FF2B5EF4-FFF2-40B4-BE49-F238E27FC236}">
                <a16:creationId xmlns:a16="http://schemas.microsoft.com/office/drawing/2014/main" id="{901234FF-BF7B-44EA-BA83-3961B8B4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8575" y="4377309"/>
            <a:ext cx="1905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62" name="sub-clock-hand-h">
            <a:extLst xmlns:a="http://schemas.openxmlformats.org/drawingml/2006/main">
              <a:ext uri="{FF2B5EF4-FFF2-40B4-BE49-F238E27FC236}">
                <a16:creationId xmlns:a16="http://schemas.microsoft.com/office/drawing/2014/main" id="{FB4D948C-D93F-4428-AA6C-120F55BD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8575" y="4501325"/>
            <a:ext cx="9201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63" name="sub-clock-hub">
            <a:extLst xmlns:a="http://schemas.openxmlformats.org/drawingml/2006/main">
              <a:ext uri="{FF2B5EF4-FFF2-40B4-BE49-F238E27FC236}">
                <a16:creationId xmlns:a16="http://schemas.microsoft.com/office/drawing/2014/main" id="{488522F8-97D3-45F8-B033-80A18B8B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8572" y="4481322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64" name="sub-b">
            <a:extLst xmlns:a="http://schemas.openxmlformats.org/drawingml/2006/main">
              <a:ext uri="{FF2B5EF4-FFF2-40B4-BE49-F238E27FC236}">
                <a16:creationId xmlns:a16="http://schemas.microsoft.com/office/drawing/2014/main" id="{537B518F-8F51-4055-874A-6814E664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4305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6193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348" name=""/>
          <p:cNvCxnSpPr>
            <a:stCxn xmlns:a="http://schemas.openxmlformats.org/drawingml/2006/main" id="159" idx="6"/>
            <a:endCxn xmlns:a="http://schemas.openxmlformats.org/drawingml/2006/main" id="160" idx="2"/>
          </p:cNvCxnSpPr>
          <p:nvPr/>
        </p:nvCxnSpPr>
        <p:spPr>
          <a:xfrm xmlns:a="http://schemas.openxmlformats.org/drawingml/2006/main">
            <a:off x="12020550" y="45053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28343A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49" name=""/>
          <p:cNvCxnSpPr>
            <a:stCxn xmlns:a="http://schemas.openxmlformats.org/drawingml/2006/main" id="160" idx="6"/>
            <a:endCxn xmlns:a="http://schemas.openxmlformats.org/drawingml/2006/main" id="164" idx="2"/>
          </p:cNvCxnSpPr>
          <p:nvPr/>
        </p:nvCxnSpPr>
        <p:spPr>
          <a:xfrm xmlns:a="http://schemas.openxmlformats.org/drawingml/2006/main">
            <a:off x="13182600" y="45053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28343A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67" name="sub-labels">
            <a:extLst xmlns:a="http://schemas.openxmlformats.org/drawingml/2006/main">
              <a:ext uri="{FF2B5EF4-FFF2-40B4-BE49-F238E27FC236}">
                <a16:creationId xmlns:a16="http://schemas.microsoft.com/office/drawing/2014/main" id="{710FE1A5-2CAC-416D-B02C-C1AF7B89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762500"/>
            <a:ext cx="328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30343F"/>
                </a:solidFill>
              </a:defRPr>
            </a:pPr>
            <a:r>
              <a:rPr sz="900" b="0" i="0">
                <a:solidFill>
                  <a:srgbClr val="30343F"/>
                </a:solidFill>
              </a:rPr>
              <a:t>correct bind in S0                 refresh                 final target B</a:t>
            </a:r>
          </a:p>
        </p:txBody>
      </p:sp>
      <p:sp>
        <p:nvSpPr>
          <p:cNvPr id="168" name="sub-denom">
            <a:extLst xmlns:a="http://schemas.openxmlformats.org/drawingml/2006/main">
              <a:ext uri="{FF2B5EF4-FFF2-40B4-BE49-F238E27FC236}">
                <a16:creationId xmlns:a16="http://schemas.microsoft.com/office/drawing/2014/main" id="{3701E99F-15B0-4480-B3AE-131A4571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133975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30343F"/>
                </a:solidFill>
              </a:defRPr>
            </a:pPr>
            <a:r>
              <a:rPr sz="975" b="0" i="0">
                <a:solidFill>
                  <a:srgbClr val="30343F"/>
                </a:solidFill>
              </a:rPr>
              <a:t>Preserve denominator: correct binding + completed refresh + changed winner</a:t>
            </a:r>
          </a:p>
          <a:p xmlns:a="http://schemas.openxmlformats.org/drawingml/2006/main">
            <a:pPr algn="ctr">
              <a:defRPr sz="975" b="0" i="0">
                <a:solidFill>
                  <a:srgbClr val="30343F"/>
                </a:solidFill>
              </a:defRPr>
            </a:pPr>
            <a:r>
              <a:rPr sz="975" b="0" i="0">
                <a:solidFill>
                  <a:srgbClr val="30343F"/>
                </a:solidFill>
              </a:rPr>
              <a:t>+ surviving, action-valid A</a:t>
            </a:r>
          </a:p>
        </p:txBody>
      </p:sp>
      <p:sp>
        <p:nvSpPr>
          <p:cNvPr id="169" name="separator-c23">
            <a:extLst xmlns:a="http://schemas.openxmlformats.org/drawingml/2006/main">
              <a:ext uri="{FF2B5EF4-FFF2-40B4-BE49-F238E27FC236}">
                <a16:creationId xmlns:a16="http://schemas.microsoft.com/office/drawing/2014/main" id="{9BB0D2B5-8167-4A9F-BB8D-D8FF7642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9055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70" name="readout-3-num">
            <a:extLst xmlns:a="http://schemas.openxmlformats.org/drawingml/2006/main">
              <a:ext uri="{FF2B5EF4-FFF2-40B4-BE49-F238E27FC236}">
                <a16:creationId xmlns:a16="http://schemas.microsoft.com/office/drawing/2014/main" id="{778D91FB-E7EA-4FAC-9D76-4B6405BE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6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689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899D"/>
                </a:solidFill>
              </a:defRPr>
            </a:pPr>
            <a:r>
              <a:rPr sz="1200" b="1">
                <a:solidFill>
                  <a:srgbClr val="66899D"/>
                </a:solidFill>
              </a:rPr>
              <a:t>3</a:t>
            </a:r>
          </a:p>
        </p:txBody>
      </p:sp>
      <p:sp>
        <p:nvSpPr>
          <p:cNvPr id="171" name="exec-title">
            <a:extLst xmlns:a="http://schemas.openxmlformats.org/drawingml/2006/main">
              <a:ext uri="{FF2B5EF4-FFF2-40B4-BE49-F238E27FC236}">
                <a16:creationId xmlns:a16="http://schemas.microsoft.com/office/drawing/2014/main" id="{3FE9494E-2FDF-421B-B3D2-F5B6B95E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0960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0343F"/>
                </a:solidFill>
              </a:defRPr>
            </a:pPr>
            <a:r>
              <a:rPr sz="1575" b="1" i="0">
                <a:solidFill>
                  <a:srgbClr val="30343F"/>
                </a:solidFill>
              </a:rPr>
              <a:t>Execution subset</a:t>
            </a:r>
          </a:p>
        </p:txBody>
      </p:sp>
      <p:sp>
        <p:nvSpPr>
          <p:cNvPr id="172" name="exec-focus">
            <a:extLst xmlns:a="http://schemas.openxmlformats.org/drawingml/2006/main">
              <a:ext uri="{FF2B5EF4-FFF2-40B4-BE49-F238E27FC236}">
                <a16:creationId xmlns:a16="http://schemas.microsoft.com/office/drawing/2014/main" id="{394F6E98-8FB2-4EDE-B9A0-0150A853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6747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9787E"/>
                </a:solidFill>
              </a:defRPr>
            </a:pPr>
            <a:r>
              <a:rPr sz="1050" b="0" i="0">
                <a:solidFill>
                  <a:srgbClr val="69787E"/>
                </a:solidFill>
              </a:rPr>
              <a:t>selected target ID -&gt; tool write -&gt; state diff</a:t>
            </a:r>
          </a:p>
        </p:txBody>
      </p:sp>
      <p:sp>
        <p:nvSpPr>
          <p:cNvPr id="173" name="exec-id-outer">
            <a:extLst xmlns:a="http://schemas.openxmlformats.org/drawingml/2006/main">
              <a:ext uri="{FF2B5EF4-FFF2-40B4-BE49-F238E27FC236}">
                <a16:creationId xmlns:a16="http://schemas.microsoft.com/office/drawing/2014/main" id="{F87426CE-4467-46C4-846E-E4CF9627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7000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2834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343A"/>
                </a:solidFill>
              </a:defRPr>
            </a:pPr>
            <a:r>
              <a:rPr sz="1650" b="1">
                <a:solidFill>
                  <a:srgbClr val="28343A"/>
                </a:solidFill>
              </a:rPr>
              <a:t>ID</a:t>
            </a:r>
          </a:p>
        </p:txBody>
      </p:sp>
      <p:sp>
        <p:nvSpPr>
          <p:cNvPr id="174" name="exec-id-h">
            <a:extLst xmlns:a="http://schemas.openxmlformats.org/drawingml/2006/main">
              <a:ext uri="{FF2B5EF4-FFF2-40B4-BE49-F238E27FC236}">
                <a16:creationId xmlns:a16="http://schemas.microsoft.com/office/drawing/2014/main" id="{9BCA6697-61A2-4AA8-A8AF-2DEA968F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7267575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75" name="exec-id-v">
            <a:extLst xmlns:a="http://schemas.openxmlformats.org/drawingml/2006/main">
              <a:ext uri="{FF2B5EF4-FFF2-40B4-BE49-F238E27FC236}">
                <a16:creationId xmlns:a16="http://schemas.microsoft.com/office/drawing/2014/main" id="{05D48B64-0D1F-4102-91AC-1CAE7103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69151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76" name="exec-write">
            <a:extLst xmlns:a="http://schemas.openxmlformats.org/drawingml/2006/main">
              <a:ext uri="{FF2B5EF4-FFF2-40B4-BE49-F238E27FC236}">
                <a16:creationId xmlns:a16="http://schemas.microsoft.com/office/drawing/2014/main" id="{E4A4797C-D633-4B50-A9D8-BBA87E43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048500"/>
            <a:ext cx="819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13335">
            <a:solidFill>
              <a:srgbClr val="66899D"/>
            </a:solidFill>
            <a:prstDash val="solid"/>
          </a:ln>
        </p:spPr>
      </p:sp>
      <p:sp>
        <p:nvSpPr>
          <p:cNvPr id="177" name="exec-write-text">
            <a:extLst xmlns:a="http://schemas.openxmlformats.org/drawingml/2006/main">
              <a:ext uri="{FF2B5EF4-FFF2-40B4-BE49-F238E27FC236}">
                <a16:creationId xmlns:a16="http://schemas.microsoft.com/office/drawing/2014/main" id="{47EABC10-2FDC-46A4-83D4-A9D0FCBF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70866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0343F"/>
                </a:solidFill>
              </a:defRPr>
            </a:pPr>
            <a:r>
              <a:rPr sz="1050" b="1" i="0">
                <a:solidFill>
                  <a:srgbClr val="30343F"/>
                </a:solidFill>
              </a:rPr>
              <a:t>TOOL</a:t>
            </a:r>
          </a:p>
          <a:p xmlns:a="http://schemas.openxmlformats.org/drawingml/2006/main">
            <a:pPr algn="ctr">
              <a:defRPr sz="1050" b="1" i="0">
                <a:solidFill>
                  <a:srgbClr val="30343F"/>
                </a:solidFill>
              </a:defRPr>
            </a:pPr>
            <a:r>
              <a:rPr sz="1050" b="1" i="0">
                <a:solidFill>
                  <a:srgbClr val="30343F"/>
                </a:solidFill>
              </a:rPr>
              <a:t>WRITE</a:t>
            </a:r>
          </a:p>
        </p:txBody>
      </p:sp>
      <p:sp>
        <p:nvSpPr>
          <p:cNvPr id="178" name="exec-diff">
            <a:extLst xmlns:a="http://schemas.openxmlformats.org/drawingml/2006/main">
              <a:ext uri="{FF2B5EF4-FFF2-40B4-BE49-F238E27FC236}">
                <a16:creationId xmlns:a16="http://schemas.microsoft.com/office/drawing/2014/main" id="{214DD887-B45A-454E-9A39-89652B95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7048500"/>
            <a:ext cx="819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13335">
            <a:solidFill>
              <a:srgbClr val="2D7F7B"/>
            </a:solidFill>
            <a:prstDash val="solid"/>
          </a:ln>
        </p:spPr>
      </p:sp>
      <p:sp>
        <p:nvSpPr>
          <p:cNvPr id="179" name="exec-diff-text">
            <a:extLst xmlns:a="http://schemas.openxmlformats.org/drawingml/2006/main">
              <a:ext uri="{FF2B5EF4-FFF2-40B4-BE49-F238E27FC236}">
                <a16:creationId xmlns:a16="http://schemas.microsoft.com/office/drawing/2014/main" id="{36D8FD1D-D8A2-4645-A0A7-0220438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70866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D7F7B"/>
                </a:solidFill>
              </a:defRPr>
            </a:pPr>
            <a:r>
              <a:rPr sz="1050" b="1" i="0">
                <a:solidFill>
                  <a:srgbClr val="2D7F7B"/>
                </a:solidFill>
              </a:rPr>
              <a:t>STATE</a:t>
            </a:r>
          </a:p>
          <a:p xmlns:a="http://schemas.openxmlformats.org/drawingml/2006/main">
            <a:pPr algn="ctr">
              <a:defRPr sz="1050" b="1" i="0">
                <a:solidFill>
                  <a:srgbClr val="2D7F7B"/>
                </a:solidFill>
              </a:defRPr>
            </a:pPr>
            <a:r>
              <a:rPr sz="1050" b="1" i="0">
                <a:solidFill>
                  <a:srgbClr val="2D7F7B"/>
                </a:solidFill>
              </a:rPr>
              <a:t>DIFF</a:t>
            </a:r>
          </a:p>
        </p:txBody>
      </p:sp>
      <p:cxnSp>
        <p:nvCxnSpPr>
          <p:cNvPr id="363" name=""/>
          <p:cNvCxnSpPr>
            <a:stCxn xmlns:a="http://schemas.openxmlformats.org/drawingml/2006/main" id="173" idx="6"/>
            <a:endCxn xmlns:a="http://schemas.openxmlformats.org/drawingml/2006/main" id="176" idx="1"/>
          </p:cNvCxnSpPr>
          <p:nvPr/>
        </p:nvCxnSpPr>
        <p:spPr>
          <a:xfrm xmlns:a="http://schemas.openxmlformats.org/drawingml/2006/main">
            <a:off x="12125325" y="7277100"/>
            <a:ext cx="6381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5718" cap="rnd">
            <a:solidFill>
              <a:srgbClr val="66899D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64" name=""/>
          <p:cNvCxnSpPr>
            <a:stCxn xmlns:a="http://schemas.openxmlformats.org/drawingml/2006/main" id="176" idx="3"/>
            <a:endCxn xmlns:a="http://schemas.openxmlformats.org/drawingml/2006/main" id="178" idx="1"/>
          </p:cNvCxnSpPr>
          <p:nvPr/>
        </p:nvCxnSpPr>
        <p:spPr>
          <a:xfrm xmlns:a="http://schemas.openxmlformats.org/drawingml/2006/main">
            <a:off x="13582650" y="72866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 cap="rnd">
            <a:solidFill>
              <a:srgbClr val="66899D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2" name="exec-labels">
            <a:extLst xmlns:a="http://schemas.openxmlformats.org/drawingml/2006/main">
              <a:ext uri="{FF2B5EF4-FFF2-40B4-BE49-F238E27FC236}">
                <a16:creationId xmlns:a16="http://schemas.microsoft.com/office/drawing/2014/main" id="{E4BE7E48-B001-4EBA-BDE5-D473D04A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600950"/>
            <a:ext cx="3314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30343F"/>
                </a:solidFill>
              </a:defRPr>
            </a:pPr>
            <a:r>
              <a:rPr sz="900" b="0" i="0">
                <a:solidFill>
                  <a:srgbClr val="30343F"/>
                </a:solidFill>
              </a:rPr>
              <a:t>selected ID                 model-issued                 executed change</a:t>
            </a:r>
          </a:p>
        </p:txBody>
      </p:sp>
      <p:sp>
        <p:nvSpPr>
          <p:cNvPr id="183" name="exec-denom">
            <a:extLst xmlns:a="http://schemas.openxmlformats.org/drawingml/2006/main">
              <a:ext uri="{FF2B5EF4-FFF2-40B4-BE49-F238E27FC236}">
                <a16:creationId xmlns:a16="http://schemas.microsoft.com/office/drawing/2014/main" id="{708D2403-2A9E-4F3C-B0EF-12EA14ED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80200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30343F"/>
                </a:solidFill>
              </a:defRPr>
            </a:pPr>
            <a:r>
              <a:rPr sz="975" b="0" i="0">
                <a:solidFill>
                  <a:srgbClr val="30343F"/>
                </a:solidFill>
              </a:rPr>
              <a:t>Denominator: executed model-issued writes</a:t>
            </a:r>
          </a:p>
          <a:p xmlns:a="http://schemas.openxmlformats.org/drawingml/2006/main">
            <a:pPr algn="ctr">
              <a:defRPr sz="975" b="0" i="0">
                <a:solidFill>
                  <a:srgbClr val="30343F"/>
                </a:solidFill>
              </a:defRPr>
            </a:pPr>
            <a:r>
              <a:rPr sz="975" b="0" i="0">
                <a:solidFill>
                  <a:srgbClr val="30343F"/>
                </a:solidFill>
              </a:rPr>
              <a:t>(subset of all evaluation rows)</a:t>
            </a:r>
          </a:p>
        </p:txBody>
      </p:sp>
    </p:spTree>
    <p:extLst>
      <p:ext uri="{BB962C8B-B14F-4D97-AF65-F5344CB8AC3E}">
        <p14:creationId xmlns:p14="http://schemas.microsoft.com/office/powerpoint/2010/main" val="573290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2026-07-28T15:58:51.0650000Z</dcterms:created>
  <dcterms:modified xsi:type="dcterms:W3CDTF">2026-07-28T15:58:51.0650000Z</dcterms:modified>
</coreProperties>
</file>
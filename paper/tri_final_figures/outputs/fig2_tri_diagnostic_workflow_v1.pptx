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4b01173209441e" /><Relationship Type="http://schemas.openxmlformats.org/officeDocument/2006/relationships/extended-properties" Target="/docProps/app.xml" Id="Rbb84d9399bfc4dd2" /><Relationship Type="http://schemas.openxmlformats.org/officeDocument/2006/relationships/officeDocument" Target="/ppt/presentation.xml" Id="R111a5fdca9c349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73fa6e20ce4ede"/>
  </p:sldMasterIdLst>
  <p:notesMasterIdLst>
    <p:notesMasterId xmlns:r="http://schemas.openxmlformats.org/officeDocument/2006/relationships" r:id="R50560c8a69944337"/>
  </p:notesMasterIdLst>
  <p:sldIdLst>
    <p:sldId xmlns:r="http://schemas.openxmlformats.org/officeDocument/2006/relationships" id="256" r:id="R38516ee06fca4872"/>
  </p:sldIdLst>
  <p:sldSz cx="15240000" cy="7429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512957e4c9409c" /><Relationship Type="http://schemas.openxmlformats.org/officeDocument/2006/relationships/slideMaster" Target="/ppt/slideMasters/slideMaster1.xml" Id="R3873fa6e20ce4ede" /><Relationship Type="http://schemas.openxmlformats.org/officeDocument/2006/relationships/notesMaster" Target="/ppt/notesMasters/notesMaster1.xml" Id="R50560c8a69944337" /><Relationship Type="http://schemas.openxmlformats.org/officeDocument/2006/relationships/presProps" Target="/ppt/presProps.xml" Id="R82429816d4234682" /><Relationship Type="http://schemas.openxmlformats.org/officeDocument/2006/relationships/tableStyles" Target="/ppt/tableStyles.xml" Id="R5ca4ae36a79643ad" /><Relationship Type="http://schemas.openxmlformats.org/officeDocument/2006/relationships/slide" Target="/ppt/slides/slide1.xml" Id="R38516ee06fca48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f9d984ab0c47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c75f3359e64d44" /><Relationship Type="http://schemas.openxmlformats.org/officeDocument/2006/relationships/notesMaster" Target="/ppt/notesMasters/notesMaster1.xml" Id="R025163bece264b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manuscript: paper/AnonymousSubmission2027.tex, especially Diagnostic Construction, Measurements and Denominators, and Controller Probes.</a:t>
            </a:r>
          </a:p>
          <a:p xmlns:a="http://schemas.openxmlformats.org/drawingml/2006/main">
            <a:r>
              <a:t>- Internal visual references: draw_learning/*.pdf. Layout adapted at the level of hierarchy and reading order; no external artwork reused.</a:t>
            </a:r>
          </a:p>
          <a:p xmlns:a="http://schemas.openxmlformats.org/drawingml/2006/main">
            <a:r>
              <a:t>- User-supplied palette: #264a56, #407a7f, #248d82, #60aa84, #b4b87f, #eabc6b, #f1a464, #e56d4e.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502568a1f64c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e74edaf5354295" /><Relationship Type="http://schemas.openxmlformats.org/officeDocument/2006/relationships/slideLayout" Target="/ppt/slideLayouts/slideLayout1.xml" Id="R35da852027764a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da852027764a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3626e17a34211" /><Relationship Type="http://schemas.openxmlformats.org/officeDocument/2006/relationships/notesSlide" Target="/ppt/notesSlides/notesSlide1.xml" Id="R37c03bd51b3b44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flow-1">
            <a:extLst xmlns:a="http://schemas.openxmlformats.org/drawingml/2006/main">
              <a:ext uri="{FF2B5EF4-FFF2-40B4-BE49-F238E27FC236}">
                <a16:creationId xmlns:a16="http://schemas.microsoft.com/office/drawing/2014/main" id="{5E3F9F9A-F93A-497C-B735-7ABA3B7F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67050"/>
            <a:ext cx="552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B87F"/>
          </a:solidFill>
          <a:ln xmlns:a="http://schemas.openxmlformats.org/drawingml/2006/main" w="4763">
            <a:solidFill>
              <a:srgbClr val="B4B87F"/>
            </a:solidFill>
            <a:prstDash val="solid"/>
          </a:ln>
        </p:spPr>
      </p:sp>
      <p:sp>
        <p:nvSpPr>
          <p:cNvPr id="2" name="flow-2">
            <a:extLst xmlns:a="http://schemas.openxmlformats.org/drawingml/2006/main">
              <a:ext uri="{FF2B5EF4-FFF2-40B4-BE49-F238E27FC236}">
                <a16:creationId xmlns:a16="http://schemas.microsoft.com/office/drawing/2014/main" id="{3475A7E7-C000-4CC1-AF26-CD8EB9B6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67050"/>
            <a:ext cx="552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B87F"/>
          </a:solidFill>
          <a:ln xmlns:a="http://schemas.openxmlformats.org/drawingml/2006/main" w="4763">
            <a:solidFill>
              <a:srgbClr val="B4B87F"/>
            </a:solidFill>
            <a:prstDash val="solid"/>
          </a:ln>
        </p:spPr>
      </p:sp>
      <p:sp>
        <p:nvSpPr>
          <p:cNvPr id="3" name="flow-3">
            <a:extLst xmlns:a="http://schemas.openxmlformats.org/drawingml/2006/main">
              <a:ext uri="{FF2B5EF4-FFF2-40B4-BE49-F238E27FC236}">
                <a16:creationId xmlns:a16="http://schemas.microsoft.com/office/drawing/2014/main" id="{22F1C71A-305D-45B1-9627-A5CA6211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067050"/>
            <a:ext cx="476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B87F"/>
          </a:solidFill>
          <a:ln xmlns:a="http://schemas.openxmlformats.org/drawingml/2006/main" w="4763">
            <a:solidFill>
              <a:srgbClr val="B4B87F"/>
            </a:solidFill>
            <a:prstDash val="solid"/>
          </a:ln>
        </p:spPr>
      </p:sp>
      <p:sp>
        <p:nvSpPr>
          <p:cNvPr id="4" name="state-refresh">
            <a:extLst xmlns:a="http://schemas.openxmlformats.org/drawingml/2006/main">
              <a:ext uri="{FF2B5EF4-FFF2-40B4-BE49-F238E27FC236}">
                <a16:creationId xmlns:a16="http://schemas.microsoft.com/office/drawing/2014/main" id="{901B919C-3A32-40C7-9EE0-B354365E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33650"/>
            <a:ext cx="742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BC6B"/>
          </a:solidFill>
          <a:ln xmlns:a="http://schemas.openxmlformats.org/drawingml/2006/main" w="4763">
            <a:solidFill>
              <a:srgbClr val="EABC6B"/>
            </a:solidFill>
            <a:prstDash val="solid"/>
          </a:ln>
        </p:spPr>
      </p:sp>
      <p:sp>
        <p:nvSpPr>
          <p:cNvPr id="5" name="preserve-flow-1">
            <a:extLst xmlns:a="http://schemas.openxmlformats.org/drawingml/2006/main">
              <a:ext uri="{FF2B5EF4-FFF2-40B4-BE49-F238E27FC236}">
                <a16:creationId xmlns:a16="http://schemas.microsoft.com/office/drawing/2014/main" id="{A8C831C3-0557-4607-B81D-48EB6EBA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90775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D4E"/>
          </a:solidFill>
          <a:ln xmlns:a="http://schemas.openxmlformats.org/drawingml/2006/main" w="4763">
            <a:solidFill>
              <a:srgbClr val="E56D4E"/>
            </a:solidFill>
            <a:prstDash val="solid"/>
          </a:ln>
        </p:spPr>
      </p:sp>
      <p:sp>
        <p:nvSpPr>
          <p:cNvPr id="6" name="preserve-flow-2">
            <a:extLst xmlns:a="http://schemas.openxmlformats.org/drawingml/2006/main">
              <a:ext uri="{FF2B5EF4-FFF2-40B4-BE49-F238E27FC236}">
                <a16:creationId xmlns:a16="http://schemas.microsoft.com/office/drawing/2014/main" id="{EC733C7F-5095-4F1B-9ECF-63BB747F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90775"/>
            <a:ext cx="5810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D4E"/>
          </a:solidFill>
          <a:ln xmlns:a="http://schemas.openxmlformats.org/drawingml/2006/main" w="4763">
            <a:solidFill>
              <a:srgbClr val="E56D4E"/>
            </a:solidFill>
            <a:prstDash val="solid"/>
          </a:ln>
        </p:spPr>
      </p:sp>
      <p:sp>
        <p:nvSpPr>
          <p:cNvPr id="7" name="reeval-flow-1">
            <a:extLst xmlns:a="http://schemas.openxmlformats.org/drawingml/2006/main">
              <a:ext uri="{FF2B5EF4-FFF2-40B4-BE49-F238E27FC236}">
                <a16:creationId xmlns:a16="http://schemas.microsoft.com/office/drawing/2014/main" id="{815A0653-B76F-4D2A-BA38-A15A3F2D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4763">
            <a:solidFill>
              <a:srgbClr val="248D82"/>
            </a:solidFill>
            <a:prstDash val="solid"/>
          </a:ln>
        </p:spPr>
      </p:sp>
      <p:sp>
        <p:nvSpPr>
          <p:cNvPr id="8" name="reeval-flow-2">
            <a:extLst xmlns:a="http://schemas.openxmlformats.org/drawingml/2006/main">
              <a:ext uri="{FF2B5EF4-FFF2-40B4-BE49-F238E27FC236}">
                <a16:creationId xmlns:a16="http://schemas.microsoft.com/office/drawing/2014/main" id="{B1DBE77D-F52F-47AB-903F-F1FEE4D8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714750"/>
            <a:ext cx="5810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4763">
            <a:solidFill>
              <a:srgbClr val="248D82"/>
            </a:solidFill>
            <a:prstDash val="solid"/>
          </a:ln>
        </p:spPr>
      </p:sp>
      <p:sp>
        <p:nvSpPr>
          <p:cNvPr id="9" name="controller-output-p">
            <a:extLst xmlns:a="http://schemas.openxmlformats.org/drawingml/2006/main">
              <a:ext uri="{FF2B5EF4-FFF2-40B4-BE49-F238E27FC236}">
                <a16:creationId xmlns:a16="http://schemas.microsoft.com/office/drawing/2014/main" id="{A85B66EA-AEE9-48C9-B259-154C56FB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924300"/>
            <a:ext cx="428625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D4E"/>
          </a:solidFill>
          <a:ln xmlns:a="http://schemas.openxmlformats.org/drawingml/2006/main" w="4763">
            <a:solidFill>
              <a:srgbClr val="E56D4E"/>
            </a:solidFill>
            <a:prstDash val="solid"/>
          </a:ln>
        </p:spPr>
      </p:sp>
      <p:sp>
        <p:nvSpPr>
          <p:cNvPr id="10" name="controller-output-r">
            <a:extLst xmlns:a="http://schemas.openxmlformats.org/drawingml/2006/main">
              <a:ext uri="{FF2B5EF4-FFF2-40B4-BE49-F238E27FC236}">
                <a16:creationId xmlns:a16="http://schemas.microsoft.com/office/drawing/2014/main" id="{BC034239-DBB7-43C9-87AB-17DBD347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400550"/>
            <a:ext cx="428625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4763">
            <a:solidFill>
              <a:srgbClr val="248D82"/>
            </a:solidFill>
            <a:prstDash val="solid"/>
          </a:ln>
        </p:spPr>
      </p:sp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47EC4A7E-DB4B-4DE3-951D-DC72E7E5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440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TRI converts one controlled transition into a matched diagnostic</a:t>
            </a:r>
          </a:p>
        </p:txBody>
      </p:sp>
      <p:sp>
        <p:nvSpPr>
          <p:cNvPr id="12" name="subtitle">
            <a:extLst xmlns:a="http://schemas.openxmlformats.org/drawingml/2006/main">
              <a:ext uri="{FF2B5EF4-FFF2-40B4-BE49-F238E27FC236}">
                <a16:creationId xmlns:a16="http://schemas.microsoft.com/office/drawing/2014/main" id="{E35B2A29-7A3B-4403-ADE5-5C86E4CB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7225"/>
            <a:ext cx="1400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75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Hold the world fixed; vary only when the action target becomes committed.</a:t>
            </a:r>
          </a:p>
        </p:txBody>
      </p:sp>
      <p:sp>
        <p:nvSpPr>
          <p:cNvPr id="1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075620A-7190-42C1-AE70-3FACDC26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1440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64A56"/>
            </a:solidFill>
            <a:prstDash val="solid"/>
          </a:ln>
        </p:spPr>
      </p:sp>
      <p:sp>
        <p:nvSpPr>
          <p:cNvPr id="14" name="sep-1">
            <a:extLst xmlns:a="http://schemas.openxmlformats.org/drawingml/2006/main">
              <a:ext uri="{FF2B5EF4-FFF2-40B4-BE49-F238E27FC236}">
                <a16:creationId xmlns:a16="http://schemas.microsoft.com/office/drawing/2014/main" id="{4FFEAC1D-0D67-4CA5-BD87-8B614737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181100"/>
            <a:ext cx="0" cy="382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4B87F"/>
            </a:solidFill>
            <a:prstDash val="dash"/>
          </a:ln>
        </p:spPr>
      </p:sp>
      <p:sp>
        <p:nvSpPr>
          <p:cNvPr id="15" name="sep-2">
            <a:extLst xmlns:a="http://schemas.openxmlformats.org/drawingml/2006/main">
              <a:ext uri="{FF2B5EF4-FFF2-40B4-BE49-F238E27FC236}">
                <a16:creationId xmlns:a16="http://schemas.microsoft.com/office/drawing/2014/main" id="{821AF978-B40C-487B-81A2-99CCD893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181100"/>
            <a:ext cx="0" cy="382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4B87F"/>
            </a:solidFill>
            <a:prstDash val="dash"/>
          </a:ln>
        </p:spPr>
      </p:sp>
      <p:sp>
        <p:nvSpPr>
          <p:cNvPr id="16" name="sep-3">
            <a:extLst xmlns:a="http://schemas.openxmlformats.org/drawingml/2006/main">
              <a:ext uri="{FF2B5EF4-FFF2-40B4-BE49-F238E27FC236}">
                <a16:creationId xmlns:a16="http://schemas.microsoft.com/office/drawing/2014/main" id="{26C92619-A46C-4109-B122-10899FE8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1181100"/>
            <a:ext cx="0" cy="382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4B87F"/>
            </a:solidFill>
            <a:prstDash val="dash"/>
          </a:ln>
        </p:spPr>
      </p:sp>
      <p:sp>
        <p:nvSpPr>
          <p:cNvPr id="17" name="stage-1">
            <a:extLst xmlns:a="http://schemas.openxmlformats.org/drawingml/2006/main">
              <a:ext uri="{FF2B5EF4-FFF2-40B4-BE49-F238E27FC236}">
                <a16:creationId xmlns:a16="http://schemas.microsoft.com/office/drawing/2014/main" id="{9F587F9B-FCD5-4018-9BB1-27DD2385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2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4A56"/>
          </a:solidFill>
          <a:ln xmlns:a="http://schemas.openxmlformats.org/drawingml/2006/main" w="22860">
            <a:solidFill>
              <a:srgbClr val="264A56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2231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DFFCA94F-B61F-4E4F-ABCB-DD8C7D29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430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8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TASK SPECIFICATION</a:t>
            </a:r>
          </a:p>
        </p:txBody>
      </p:sp>
      <p:sp>
        <p:nvSpPr>
          <p:cNvPr id="19" name="stage-2">
            <a:extLst xmlns:a="http://schemas.openxmlformats.org/drawingml/2006/main">
              <a:ext uri="{FF2B5EF4-FFF2-40B4-BE49-F238E27FC236}">
                <a16:creationId xmlns:a16="http://schemas.microsoft.com/office/drawing/2014/main" id="{F603C176-9305-4B0D-9F01-0EF860F3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162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BC6B"/>
          </a:solidFill>
          <a:ln xmlns:a="http://schemas.openxmlformats.org/drawingml/2006/main" w="22860">
            <a:solidFill>
              <a:srgbClr val="EABC6B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2231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9D1A4E05-8B9E-465E-81A0-FDCAC7C0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14300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9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CONTROLLED TRANSITION</a:t>
            </a:r>
          </a:p>
        </p:txBody>
      </p:sp>
      <p:sp>
        <p:nvSpPr>
          <p:cNvPr id="21" name="stage-3">
            <a:extLst xmlns:a="http://schemas.openxmlformats.org/drawingml/2006/main">
              <a:ext uri="{FF2B5EF4-FFF2-40B4-BE49-F238E27FC236}">
                <a16:creationId xmlns:a16="http://schemas.microsoft.com/office/drawing/2014/main" id="{928C460C-3275-4C09-BD58-BA367402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162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2286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2231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6306649E-A9ED-46C1-9E43-57CB2F20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1430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MATCHED PAIR</a:t>
            </a:r>
          </a:p>
        </p:txBody>
      </p:sp>
      <p:sp>
        <p:nvSpPr>
          <p:cNvPr id="23" name="stage-4">
            <a:extLst xmlns:a="http://schemas.openxmlformats.org/drawingml/2006/main">
              <a:ext uri="{FF2B5EF4-FFF2-40B4-BE49-F238E27FC236}">
                <a16:creationId xmlns:a16="http://schemas.microsoft.com/office/drawing/2014/main" id="{FA93C195-F805-404D-BD85-7E76985E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1162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2286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2231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stage-label-4">
            <a:extLst xmlns:a="http://schemas.openxmlformats.org/drawingml/2006/main">
              <a:ext uri="{FF2B5EF4-FFF2-40B4-BE49-F238E27FC236}">
                <a16:creationId xmlns:a16="http://schemas.microsoft.com/office/drawing/2014/main" id="{D6162DEA-0E50-4AA8-8283-F58B7416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114300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SAME CONTROLLER</a:t>
            </a:r>
          </a:p>
        </p:txBody>
      </p:sp>
      <p:sp>
        <p:nvSpPr>
          <p:cNvPr id="25" name="entity-table-label">
            <a:extLst xmlns:a="http://schemas.openxmlformats.org/drawingml/2006/main">
              <a:ext uri="{FF2B5EF4-FFF2-40B4-BE49-F238E27FC236}">
                <a16:creationId xmlns:a16="http://schemas.microsoft.com/office/drawing/2014/main" id="{134ACBCB-D28C-4EDB-9160-DF4C5274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7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Entities and resolver</a:t>
            </a:r>
          </a:p>
        </p:txBody>
      </p:sp>
      <p:sp>
        <p:nvSpPr>
          <p:cNvPr id="26" name="entity-table-frame">
            <a:extLst xmlns:a="http://schemas.openxmlformats.org/drawingml/2006/main">
              <a:ext uri="{FF2B5EF4-FFF2-40B4-BE49-F238E27FC236}">
                <a16:creationId xmlns:a16="http://schemas.microsoft.com/office/drawing/2014/main" id="{92D9B62A-A6F7-43FC-A5DA-4B62DCC3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2514600" cy="11811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407A7F"/>
            </a:solidFill>
            <a:prstDash val="solid"/>
          </a:ln>
        </p:spPr>
      </p:sp>
      <p:sp>
        <p:nvSpPr>
          <p:cNvPr id="27" name="entity-table-header">
            <a:extLst xmlns:a="http://schemas.openxmlformats.org/drawingml/2006/main">
              <a:ext uri="{FF2B5EF4-FFF2-40B4-BE49-F238E27FC236}">
                <a16:creationId xmlns:a16="http://schemas.microsoft.com/office/drawing/2014/main" id="{A7A8F484-6A77-47CF-8E4D-12DFCAA9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0">
            <a:solidFill>
              <a:srgbClr val="407A7F"/>
            </a:solidFill>
            <a:prstDash val="solid"/>
          </a:ln>
        </p:spPr>
      </p:sp>
      <p:sp>
        <p:nvSpPr>
          <p:cNvPr id="28" name="entity-head-id">
            <a:extLst xmlns:a="http://schemas.openxmlformats.org/drawingml/2006/main">
              <a:ext uri="{FF2B5EF4-FFF2-40B4-BE49-F238E27FC236}">
                <a16:creationId xmlns:a16="http://schemas.microsoft.com/office/drawing/2014/main" id="{4FF52A85-931A-4CA0-B9C1-25B976B0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977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29" name="entity-head-s0">
            <a:extLst xmlns:a="http://schemas.openxmlformats.org/drawingml/2006/main">
              <a:ext uri="{FF2B5EF4-FFF2-40B4-BE49-F238E27FC236}">
                <a16:creationId xmlns:a16="http://schemas.microsoft.com/office/drawing/2014/main" id="{2A272305-7E67-4784-B421-6D189FFA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685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8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rank S0</a:t>
            </a:r>
          </a:p>
        </p:txBody>
      </p:sp>
      <p:sp>
        <p:nvSpPr>
          <p:cNvPr id="30" name="entity-head-s1">
            <a:extLst xmlns:a="http://schemas.openxmlformats.org/drawingml/2006/main">
              <a:ext uri="{FF2B5EF4-FFF2-40B4-BE49-F238E27FC236}">
                <a16:creationId xmlns:a16="http://schemas.microsoft.com/office/drawing/2014/main" id="{32EA9243-41AC-4867-8531-98963B39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09775"/>
            <a:ext cx="685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8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rank S1</a:t>
            </a:r>
          </a:p>
        </p:txBody>
      </p:sp>
      <p:sp>
        <p:nvSpPr>
          <p:cNvPr id="31" name="entity-head-valid">
            <a:extLst xmlns:a="http://schemas.openxmlformats.org/drawingml/2006/main">
              <a:ext uri="{FF2B5EF4-FFF2-40B4-BE49-F238E27FC236}">
                <a16:creationId xmlns:a16="http://schemas.microsoft.com/office/drawing/2014/main" id="{753ABA3D-6DE9-4900-BB89-1B8BB724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09775"/>
            <a:ext cx="514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</a:t>
            </a:r>
          </a:p>
        </p:txBody>
      </p:sp>
      <p:sp>
        <p:nvSpPr>
          <p:cNvPr id="32" name="entity-mid-1">
            <a:extLst xmlns:a="http://schemas.openxmlformats.org/drawingml/2006/main">
              <a:ext uri="{FF2B5EF4-FFF2-40B4-BE49-F238E27FC236}">
                <a16:creationId xmlns:a16="http://schemas.microsoft.com/office/drawing/2014/main" id="{412FA961-F062-4ACF-B888-FD35FEFA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0325"/>
            <a:ext cx="251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B4B87F"/>
            </a:solidFill>
            <a:prstDash val="solid"/>
          </a:ln>
        </p:spPr>
      </p:sp>
      <p:sp>
        <p:nvSpPr>
          <p:cNvPr id="33" name="entity-v-1">
            <a:extLst xmlns:a="http://schemas.openxmlformats.org/drawingml/2006/main">
              <a:ext uri="{FF2B5EF4-FFF2-40B4-BE49-F238E27FC236}">
                <a16:creationId xmlns:a16="http://schemas.microsoft.com/office/drawing/2014/main" id="{000D91C8-2E91-46C5-9094-84CCFA9E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0" cy="118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B4B87F"/>
            </a:solidFill>
            <a:prstDash val="solid"/>
          </a:ln>
        </p:spPr>
      </p:sp>
      <p:sp>
        <p:nvSpPr>
          <p:cNvPr id="34" name="entity-v-2">
            <a:extLst xmlns:a="http://schemas.openxmlformats.org/drawingml/2006/main">
              <a:ext uri="{FF2B5EF4-FFF2-40B4-BE49-F238E27FC236}">
                <a16:creationId xmlns:a16="http://schemas.microsoft.com/office/drawing/2014/main" id="{6A43D9E6-4937-40EE-ABFE-F6A73207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00250"/>
            <a:ext cx="0" cy="118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B4B87F"/>
            </a:solidFill>
            <a:prstDash val="solid"/>
          </a:ln>
        </p:spPr>
      </p:sp>
      <p:sp>
        <p:nvSpPr>
          <p:cNvPr id="35" name="entity-v-3">
            <a:extLst xmlns:a="http://schemas.openxmlformats.org/drawingml/2006/main">
              <a:ext uri="{FF2B5EF4-FFF2-40B4-BE49-F238E27FC236}">
                <a16:creationId xmlns:a16="http://schemas.microsoft.com/office/drawing/2014/main" id="{A16FE01D-88CF-4FA4-8905-5DC823A7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00250"/>
            <a:ext cx="0" cy="118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B4B87F"/>
            </a:solidFill>
            <a:prstDash val="solid"/>
          </a:ln>
        </p:spPr>
      </p:sp>
      <p:sp>
        <p:nvSpPr>
          <p:cNvPr id="36" name="entity-a">
            <a:extLst xmlns:a="http://schemas.openxmlformats.org/drawingml/2006/main">
              <a:ext uri="{FF2B5EF4-FFF2-40B4-BE49-F238E27FC236}">
                <a16:creationId xmlns:a16="http://schemas.microsoft.com/office/drawing/2014/main" id="{733838C0-C9B0-4905-8711-0F998E93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75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7" name="entity-a-s0">
            <a:extLst xmlns:a="http://schemas.openxmlformats.org/drawingml/2006/main">
              <a:ext uri="{FF2B5EF4-FFF2-40B4-BE49-F238E27FC236}">
                <a16:creationId xmlns:a16="http://schemas.microsoft.com/office/drawing/2014/main" id="{471914F9-2951-42B6-8EC0-EDF2F7FA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050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8" name="entity-a-s1">
            <a:extLst xmlns:a="http://schemas.openxmlformats.org/drawingml/2006/main">
              <a:ext uri="{FF2B5EF4-FFF2-40B4-BE49-F238E27FC236}">
                <a16:creationId xmlns:a16="http://schemas.microsoft.com/office/drawing/2014/main" id="{5E0B3858-CB41-4754-8003-17E52EB8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3050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00" b="0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9" name="entity-a-valid">
            <a:extLst xmlns:a="http://schemas.openxmlformats.org/drawingml/2006/main">
              <a:ext uri="{FF2B5EF4-FFF2-40B4-BE49-F238E27FC236}">
                <a16:creationId xmlns:a16="http://schemas.microsoft.com/office/drawing/2014/main" id="{5E2DEDB3-1FC4-4369-A50B-5F0B2B4D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050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650" b="1" i="0">
                <a:solidFill>
                  <a:srgbClr val="60AA8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60AA84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40" name="entity-b">
            <a:extLst xmlns:a="http://schemas.openxmlformats.org/drawingml/2006/main">
              <a:ext uri="{FF2B5EF4-FFF2-40B4-BE49-F238E27FC236}">
                <a16:creationId xmlns:a16="http://schemas.microsoft.com/office/drawing/2014/main" id="{9F2DD5D3-E785-46E8-86EA-7A3024A6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75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1" name="entity-b-s0">
            <a:extLst xmlns:a="http://schemas.openxmlformats.org/drawingml/2006/main">
              <a:ext uri="{FF2B5EF4-FFF2-40B4-BE49-F238E27FC236}">
                <a16:creationId xmlns:a16="http://schemas.microsoft.com/office/drawing/2014/main" id="{C37A89EB-EBC1-4454-8480-BF653FB5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479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00" b="0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2" name="entity-b-s1">
            <a:extLst xmlns:a="http://schemas.openxmlformats.org/drawingml/2006/main">
              <a:ext uri="{FF2B5EF4-FFF2-40B4-BE49-F238E27FC236}">
                <a16:creationId xmlns:a16="http://schemas.microsoft.com/office/drawing/2014/main" id="{F0D16D92-F30D-45CE-833F-3EFBF650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6479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3" name="entity-b-valid">
            <a:extLst xmlns:a="http://schemas.openxmlformats.org/drawingml/2006/main">
              <a:ext uri="{FF2B5EF4-FFF2-40B4-BE49-F238E27FC236}">
                <a16:creationId xmlns:a16="http://schemas.microsoft.com/office/drawing/2014/main" id="{6D481DEC-DA32-4192-BA42-95B0F92C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47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650" b="1" i="0">
                <a:solidFill>
                  <a:srgbClr val="60AA8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60AA84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44" name="selector">
            <a:extLst xmlns:a="http://schemas.openxmlformats.org/drawingml/2006/main">
              <a:ext uri="{FF2B5EF4-FFF2-40B4-BE49-F238E27FC236}">
                <a16:creationId xmlns:a16="http://schemas.microsoft.com/office/drawing/2014/main" id="{973D105E-E063-4503-8D38-9994AE80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72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selector q: highest-priority unread</a:t>
            </a:r>
          </a:p>
        </p:txBody>
      </p:sp>
      <p:sp>
        <p:nvSpPr>
          <p:cNvPr id="45" name="action">
            <a:extLst xmlns:a="http://schemas.openxmlformats.org/drawingml/2006/main">
              <a:ext uri="{FF2B5EF4-FFF2-40B4-BE49-F238E27FC236}">
                <a16:creationId xmlns:a16="http://schemas.microsoft.com/office/drawing/2014/main" id="{A326BEF9-7D66-49E7-A18C-C1FBD612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725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action a: reply(entity)</a:t>
            </a:r>
          </a:p>
        </p:txBody>
      </p:sp>
      <p:sp>
        <p:nvSpPr>
          <p:cNvPr id="46" name="precondition">
            <a:extLst xmlns:a="http://schemas.openxmlformats.org/drawingml/2006/main">
              <a:ext uri="{FF2B5EF4-FFF2-40B4-BE49-F238E27FC236}">
                <a16:creationId xmlns:a16="http://schemas.microsoft.com/office/drawing/2014/main" id="{D038710C-B341-414B-B94D-A0534A38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2647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50" b="0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precondition: old target remains actionable</a:t>
            </a:r>
          </a:p>
        </p:txBody>
      </p:sp>
      <p:sp>
        <p:nvSpPr>
          <p:cNvPr id="47" name="transition-note">
            <a:extLst xmlns:a="http://schemas.openxmlformats.org/drawingml/2006/main">
              <a:ext uri="{FF2B5EF4-FFF2-40B4-BE49-F238E27FC236}">
                <a16:creationId xmlns:a16="http://schemas.microsoft.com/office/drawing/2014/main" id="{75C66BCB-8ACF-48D8-AEC0-371000C9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657350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73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Same S0, S1, q, and action</a:t>
            </a:r>
          </a:p>
        </p:txBody>
      </p:sp>
      <p:sp>
        <p:nvSpPr>
          <p:cNvPr id="48" name="s0-frame">
            <a:extLst xmlns:a="http://schemas.openxmlformats.org/drawingml/2006/main">
              <a:ext uri="{FF2B5EF4-FFF2-40B4-BE49-F238E27FC236}">
                <a16:creationId xmlns:a16="http://schemas.microsoft.com/office/drawing/2014/main" id="{D252151E-DBAC-4CE7-8BCE-1B830250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14550"/>
            <a:ext cx="1162050" cy="13525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E56D4E"/>
            </a:solidFill>
            <a:prstDash val="solid"/>
          </a:ln>
        </p:spPr>
      </p:sp>
      <p:sp>
        <p:nvSpPr>
          <p:cNvPr id="49" name="s1-frame">
            <a:extLst xmlns:a="http://schemas.openxmlformats.org/drawingml/2006/main">
              <a:ext uri="{FF2B5EF4-FFF2-40B4-BE49-F238E27FC236}">
                <a16:creationId xmlns:a16="http://schemas.microsoft.com/office/drawing/2014/main" id="{1CBFC4F1-F3AA-4EF3-AAE3-D3AA590E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14550"/>
            <a:ext cx="1162050" cy="13525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48D82"/>
            </a:solidFill>
            <a:prstDash val="solid"/>
          </a:ln>
        </p:spPr>
      </p:sp>
      <p:sp>
        <p:nvSpPr>
          <p:cNvPr id="50" name="s0-title">
            <a:extLst xmlns:a="http://schemas.openxmlformats.org/drawingml/2006/main">
              <a:ext uri="{FF2B5EF4-FFF2-40B4-BE49-F238E27FC236}">
                <a16:creationId xmlns:a16="http://schemas.microsoft.com/office/drawing/2014/main" id="{62146680-CBCA-4A38-ADB0-7086B2AF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20980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93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65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S0  BEFORE</a:t>
            </a:r>
          </a:p>
        </p:txBody>
      </p:sp>
      <p:sp>
        <p:nvSpPr>
          <p:cNvPr id="51" name="s1-title">
            <a:extLst xmlns:a="http://schemas.openxmlformats.org/drawingml/2006/main">
              <a:ext uri="{FF2B5EF4-FFF2-40B4-BE49-F238E27FC236}">
                <a16:creationId xmlns:a16="http://schemas.microsoft.com/office/drawing/2014/main" id="{589E90E6-2AAA-4768-8F7F-C03DE145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20980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4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65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S1  AFTER</a:t>
            </a:r>
          </a:p>
        </p:txBody>
      </p:sp>
      <p:sp>
        <p:nvSpPr>
          <p:cNvPr id="52" name="s0-a">
            <a:extLst xmlns:a="http://schemas.openxmlformats.org/drawingml/2006/main">
              <a:ext uri="{FF2B5EF4-FFF2-40B4-BE49-F238E27FC236}">
                <a16:creationId xmlns:a16="http://schemas.microsoft.com/office/drawing/2014/main" id="{41CCD7E3-D5EB-4F0E-9FEF-AD512C5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717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3" name="s1-b">
            <a:extLst xmlns:a="http://schemas.openxmlformats.org/drawingml/2006/main">
              <a:ext uri="{FF2B5EF4-FFF2-40B4-BE49-F238E27FC236}">
                <a16:creationId xmlns:a16="http://schemas.microsoft.com/office/drawing/2014/main" id="{7F01AFAC-E483-4A47-807F-E57C678B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717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4" name="s0-winner">
            <a:extLst xmlns:a="http://schemas.openxmlformats.org/drawingml/2006/main">
              <a:ext uri="{FF2B5EF4-FFF2-40B4-BE49-F238E27FC236}">
                <a16:creationId xmlns:a16="http://schemas.microsoft.com/office/drawing/2014/main" id="{8D699351-5D99-4414-978E-EEEBA250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20992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winner</a:t>
            </a:r>
          </a:p>
        </p:txBody>
      </p:sp>
      <p:sp>
        <p:nvSpPr>
          <p:cNvPr id="55" name="s1-winner">
            <a:extLst xmlns:a="http://schemas.openxmlformats.org/drawingml/2006/main">
              <a:ext uri="{FF2B5EF4-FFF2-40B4-BE49-F238E27FC236}">
                <a16:creationId xmlns:a16="http://schemas.microsoft.com/office/drawing/2014/main" id="{3DF44E75-CB3C-4997-8350-9E6495B3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20992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winner</a:t>
            </a:r>
          </a:p>
        </p:txBody>
      </p:sp>
      <p:sp>
        <p:nvSpPr>
          <p:cNvPr id="56" name="refresh-label">
            <a:extLst xmlns:a="http://schemas.openxmlformats.org/drawingml/2006/main">
              <a:ext uri="{FF2B5EF4-FFF2-40B4-BE49-F238E27FC236}">
                <a16:creationId xmlns:a16="http://schemas.microsoft.com/office/drawing/2014/main" id="{DD152F20-F6AE-446C-991A-8CC906B9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3837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46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57" name="validity-band">
            <a:extLst xmlns:a="http://schemas.openxmlformats.org/drawingml/2006/main">
              <a:ext uri="{FF2B5EF4-FFF2-40B4-BE49-F238E27FC236}">
                <a16:creationId xmlns:a16="http://schemas.microsoft.com/office/drawing/2014/main" id="{ED88A7B1-BE7D-4962-A789-484A9712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14750"/>
            <a:ext cx="2705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0AA84"/>
            </a:solidFill>
            <a:prstDash val="solid"/>
          </a:ln>
        </p:spPr>
      </p:sp>
      <p:sp>
        <p:nvSpPr>
          <p:cNvPr id="58" name="validity-main">
            <a:extLst xmlns:a="http://schemas.openxmlformats.org/drawingml/2006/main">
              <a:ext uri="{FF2B5EF4-FFF2-40B4-BE49-F238E27FC236}">
                <a16:creationId xmlns:a16="http://schemas.microsoft.com/office/drawing/2014/main" id="{CAFD577D-CBA1-46E7-8503-E484E3F1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781425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55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65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A stays present and action-valid</a:t>
            </a:r>
          </a:p>
        </p:txBody>
      </p:sp>
      <p:sp>
        <p:nvSpPr>
          <p:cNvPr id="59" name="validity-sub">
            <a:extLst xmlns:a="http://schemas.openxmlformats.org/drawingml/2006/main">
              <a:ext uri="{FF2B5EF4-FFF2-40B4-BE49-F238E27FC236}">
                <a16:creationId xmlns:a16="http://schemas.microsoft.com/office/drawing/2014/main" id="{36C6D5C0-9E13-48DD-BC9C-1FF0C7D0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086225"/>
            <a:ext cx="2438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58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60AA8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0AA84"/>
                </a:solidFill>
                <a:latin typeface="Arial"/>
                <a:ea typeface="Arial"/>
                <a:cs typeface="Arial"/>
              </a:rPr>
              <a:t>Only the selector winner changes: A -&gt; B</a:t>
            </a:r>
          </a:p>
        </p:txBody>
      </p:sp>
      <p:sp>
        <p:nvSpPr>
          <p:cNvPr id="60" name="controlled-tag">
            <a:extLst xmlns:a="http://schemas.openxmlformats.org/drawingml/2006/main">
              <a:ext uri="{FF2B5EF4-FFF2-40B4-BE49-F238E27FC236}">
                <a16:creationId xmlns:a16="http://schemas.microsoft.com/office/drawing/2014/main" id="{7F60711D-38D9-4A8A-8315-ADA26C24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53390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75" b="0" i="1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407A7F"/>
                </a:solidFill>
                <a:latin typeface="Arial"/>
                <a:ea typeface="Arial"/>
                <a:cs typeface="Arial"/>
              </a:rPr>
              <a:t>controlled contrast</a:t>
            </a:r>
          </a:p>
        </p:txBody>
      </p:sp>
      <p:sp>
        <p:nvSpPr>
          <p:cNvPr id="61" name="pair-note">
            <a:extLst xmlns:a="http://schemas.openxmlformats.org/drawingml/2006/main">
              <a:ext uri="{FF2B5EF4-FFF2-40B4-BE49-F238E27FC236}">
                <a16:creationId xmlns:a16="http://schemas.microsoft.com/office/drawing/2014/main" id="{CEE41E82-8FFB-4867-896C-C37FD9BB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57350"/>
            <a:ext cx="3790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03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Instruction timing chooses the gold target</a:t>
            </a:r>
          </a:p>
        </p:txBody>
      </p:sp>
      <p:sp>
        <p:nvSpPr>
          <p:cNvPr id="62" name="preserve-lane">
            <a:extLst xmlns:a="http://schemas.openxmlformats.org/drawingml/2006/main">
              <a:ext uri="{FF2B5EF4-FFF2-40B4-BE49-F238E27FC236}">
                <a16:creationId xmlns:a16="http://schemas.microsoft.com/office/drawing/2014/main" id="{55278C96-AC01-443E-A704-D4AA17EF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38350"/>
            <a:ext cx="37909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E56D4E"/>
            </a:solidFill>
            <a:prstDash val="solid"/>
          </a:ln>
        </p:spPr>
      </p:sp>
      <p:sp>
        <p:nvSpPr>
          <p:cNvPr id="63" name="preserve-stripe">
            <a:extLst xmlns:a="http://schemas.openxmlformats.org/drawingml/2006/main">
              <a:ext uri="{FF2B5EF4-FFF2-40B4-BE49-F238E27FC236}">
                <a16:creationId xmlns:a16="http://schemas.microsoft.com/office/drawing/2014/main" id="{03DD1405-A885-4E39-9A7C-13A04B4C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38350"/>
            <a:ext cx="857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D4E"/>
          </a:solidFill>
          <a:ln xmlns:a="http://schemas.openxmlformats.org/drawingml/2006/main" w="0">
            <a:solidFill>
              <a:srgbClr val="E56D4E"/>
            </a:solidFill>
            <a:prstDash val="solid"/>
          </a:ln>
        </p:spPr>
      </p:sp>
      <p:sp>
        <p:nvSpPr>
          <p:cNvPr id="64" name="preserve-title">
            <a:extLst xmlns:a="http://schemas.openxmlformats.org/drawingml/2006/main">
              <a:ext uri="{FF2B5EF4-FFF2-40B4-BE49-F238E27FC236}">
                <a16:creationId xmlns:a16="http://schemas.microsoft.com/office/drawing/2014/main" id="{E8645AD8-3F01-4CE8-BC3F-9160F2ED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955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725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PRESERVE</a:t>
            </a:r>
          </a:p>
        </p:txBody>
      </p:sp>
      <p:sp>
        <p:nvSpPr>
          <p:cNvPr id="65" name="preserve-sub">
            <a:extLst xmlns:a="http://schemas.openxmlformats.org/drawingml/2006/main">
              <a:ext uri="{FF2B5EF4-FFF2-40B4-BE49-F238E27FC236}">
                <a16:creationId xmlns:a16="http://schemas.microsoft.com/office/drawing/2014/main" id="{81B80584-2109-44FF-873F-95BC1D11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717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bind before refresh</a:t>
            </a:r>
          </a:p>
        </p:txBody>
      </p:sp>
      <p:sp>
        <p:nvSpPr>
          <p:cNvPr id="66" name="preserve-q">
            <a:extLst xmlns:a="http://schemas.openxmlformats.org/drawingml/2006/main">
              <a:ext uri="{FF2B5EF4-FFF2-40B4-BE49-F238E27FC236}">
                <a16:creationId xmlns:a16="http://schemas.microsoft.com/office/drawing/2014/main" id="{2F1BE6DF-496E-44B0-A418-96FBE5D2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28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67" name="preserve-a">
            <a:extLst xmlns:a="http://schemas.openxmlformats.org/drawingml/2006/main">
              <a:ext uri="{FF2B5EF4-FFF2-40B4-BE49-F238E27FC236}">
                <a16:creationId xmlns:a16="http://schemas.microsoft.com/office/drawing/2014/main" id="{C1E17229-108B-4625-92EE-9F831F50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2002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8" name="preserve-eq">
            <a:extLst xmlns:a="http://schemas.openxmlformats.org/drawingml/2006/main">
              <a:ext uri="{FF2B5EF4-FFF2-40B4-BE49-F238E27FC236}">
                <a16:creationId xmlns:a16="http://schemas.microsoft.com/office/drawing/2014/main" id="{AA5C822E-9729-4D57-9C57-4C183347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813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q(S0)=A</a:t>
            </a:r>
          </a:p>
        </p:txBody>
      </p:sp>
      <p:sp>
        <p:nvSpPr>
          <p:cNvPr id="69" name="preserve-gold">
            <a:extLst xmlns:a="http://schemas.openxmlformats.org/drawingml/2006/main">
              <a:ext uri="{FF2B5EF4-FFF2-40B4-BE49-F238E27FC236}">
                <a16:creationId xmlns:a16="http://schemas.microsoft.com/office/drawing/2014/main" id="{AF258D95-9C52-4EDA-BBF2-FAB33927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7813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gold A</a:t>
            </a:r>
          </a:p>
        </p:txBody>
      </p:sp>
      <p:sp>
        <p:nvSpPr>
          <p:cNvPr id="70" name="reevaluate-lane">
            <a:extLst xmlns:a="http://schemas.openxmlformats.org/drawingml/2006/main">
              <a:ext uri="{FF2B5EF4-FFF2-40B4-BE49-F238E27FC236}">
                <a16:creationId xmlns:a16="http://schemas.microsoft.com/office/drawing/2014/main" id="{11121B2C-2F0C-4E2A-8AC9-17E31F0A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33750"/>
            <a:ext cx="37909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48D82"/>
            </a:solidFill>
            <a:prstDash val="solid"/>
          </a:ln>
        </p:spPr>
      </p:sp>
      <p:sp>
        <p:nvSpPr>
          <p:cNvPr id="71" name="reevaluate-stripe">
            <a:extLst xmlns:a="http://schemas.openxmlformats.org/drawingml/2006/main">
              <a:ext uri="{FF2B5EF4-FFF2-40B4-BE49-F238E27FC236}">
                <a16:creationId xmlns:a16="http://schemas.microsoft.com/office/drawing/2014/main" id="{7F051BFB-8A42-48B1-80F1-E3BC9D8E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33750"/>
            <a:ext cx="857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0">
            <a:solidFill>
              <a:srgbClr val="248D82"/>
            </a:solidFill>
            <a:prstDash val="solid"/>
          </a:ln>
        </p:spPr>
      </p:sp>
      <p:sp>
        <p:nvSpPr>
          <p:cNvPr id="72" name="reevaluate-title">
            <a:extLst xmlns:a="http://schemas.openxmlformats.org/drawingml/2006/main">
              <a:ext uri="{FF2B5EF4-FFF2-40B4-BE49-F238E27FC236}">
                <a16:creationId xmlns:a16="http://schemas.microsoft.com/office/drawing/2014/main" id="{A7B36CD2-C072-49D0-B8D6-FB64D36D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909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50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REEVALUATE</a:t>
            </a:r>
          </a:p>
        </p:txBody>
      </p:sp>
      <p:sp>
        <p:nvSpPr>
          <p:cNvPr id="73" name="reevaluate-sub">
            <a:extLst xmlns:a="http://schemas.openxmlformats.org/drawingml/2006/main">
              <a:ext uri="{FF2B5EF4-FFF2-40B4-BE49-F238E27FC236}">
                <a16:creationId xmlns:a16="http://schemas.microsoft.com/office/drawing/2014/main" id="{05088EA6-F402-4AB4-B7F5-C70C29EE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6712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defer until after refresh</a:t>
            </a:r>
          </a:p>
        </p:txBody>
      </p:sp>
      <p:sp>
        <p:nvSpPr>
          <p:cNvPr id="74" name="reevaluate-q">
            <a:extLst xmlns:a="http://schemas.openxmlformats.org/drawingml/2006/main">
              <a:ext uri="{FF2B5EF4-FFF2-40B4-BE49-F238E27FC236}">
                <a16:creationId xmlns:a16="http://schemas.microsoft.com/office/drawing/2014/main" id="{19841C46-7DCB-485A-A284-1DE0EAC7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528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75" name="reevaluate-b">
            <a:extLst xmlns:a="http://schemas.openxmlformats.org/drawingml/2006/main">
              <a:ext uri="{FF2B5EF4-FFF2-40B4-BE49-F238E27FC236}">
                <a16:creationId xmlns:a16="http://schemas.microsoft.com/office/drawing/2014/main" id="{3B1396EF-D6E2-4BE8-BA41-5DD17A1F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524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6" name="reevaluate-eq">
            <a:extLst xmlns:a="http://schemas.openxmlformats.org/drawingml/2006/main">
              <a:ext uri="{FF2B5EF4-FFF2-40B4-BE49-F238E27FC236}">
                <a16:creationId xmlns:a16="http://schemas.microsoft.com/office/drawing/2014/main" id="{C56F3E13-BE29-4336-AC07-96D4102C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052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q(S1)=B</a:t>
            </a:r>
          </a:p>
        </p:txBody>
      </p:sp>
      <p:sp>
        <p:nvSpPr>
          <p:cNvPr id="77" name="reevaluate-gold">
            <a:extLst xmlns:a="http://schemas.openxmlformats.org/drawingml/2006/main">
              <a:ext uri="{FF2B5EF4-FFF2-40B4-BE49-F238E27FC236}">
                <a16:creationId xmlns:a16="http://schemas.microsoft.com/office/drawing/2014/main" id="{23E41808-222A-4325-8B51-C37966DB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105275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gold B</a:t>
            </a:r>
          </a:p>
        </p:txBody>
      </p:sp>
      <p:sp>
        <p:nvSpPr>
          <p:cNvPr id="78" name="matched-foot">
            <a:extLst xmlns:a="http://schemas.openxmlformats.org/drawingml/2006/main">
              <a:ext uri="{FF2B5EF4-FFF2-40B4-BE49-F238E27FC236}">
                <a16:creationId xmlns:a16="http://schemas.microsoft.com/office/drawing/2014/main" id="{6CAB4AEB-A403-4ACA-854C-290A292F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72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1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75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Opposite golds; all task content is shared</a:t>
            </a:r>
          </a:p>
        </p:txBody>
      </p:sp>
      <p:sp>
        <p:nvSpPr>
          <p:cNvPr id="79" name="controller-note">
            <a:extLst xmlns:a="http://schemas.openxmlformats.org/drawingml/2006/main">
              <a:ext uri="{FF2B5EF4-FFF2-40B4-BE49-F238E27FC236}">
                <a16:creationId xmlns:a16="http://schemas.microsoft.com/office/drawing/2014/main" id="{4D93C110-744A-4776-AA4B-6893B73A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657350"/>
            <a:ext cx="274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72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Run both members under one interface</a:t>
            </a:r>
          </a:p>
        </p:txBody>
      </p:sp>
      <p:sp>
        <p:nvSpPr>
          <p:cNvPr id="80" name="controller-box">
            <a:extLst xmlns:a="http://schemas.openxmlformats.org/drawingml/2006/main">
              <a:ext uri="{FF2B5EF4-FFF2-40B4-BE49-F238E27FC236}">
                <a16:creationId xmlns:a16="http://schemas.microsoft.com/office/drawing/2014/main" id="{2520E113-4DAD-4FE8-A8AB-E3370922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343150"/>
            <a:ext cx="23622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407A7F"/>
            </a:solidFill>
            <a:prstDash val="solid"/>
          </a:ln>
        </p:spPr>
      </p:sp>
      <p:sp>
        <p:nvSpPr>
          <p:cNvPr id="81" name="controller-title">
            <a:extLst xmlns:a="http://schemas.openxmlformats.org/drawingml/2006/main">
              <a:ext uri="{FF2B5EF4-FFF2-40B4-BE49-F238E27FC236}">
                <a16:creationId xmlns:a16="http://schemas.microsoft.com/office/drawing/2014/main" id="{6C5B4A20-C43D-4CC8-99FE-9A51216A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4765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708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75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CONTROLLER PROBE</a:t>
            </a:r>
          </a:p>
        </p:txBody>
      </p:sp>
      <p:sp>
        <p:nvSpPr>
          <p:cNvPr id="82" name="controller-divider">
            <a:extLst xmlns:a="http://schemas.openxmlformats.org/drawingml/2006/main">
              <a:ext uri="{FF2B5EF4-FFF2-40B4-BE49-F238E27FC236}">
                <a16:creationId xmlns:a16="http://schemas.microsoft.com/office/drawing/2014/main" id="{8B125E0E-47A1-4F3D-9AD6-9BD4276F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876550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4B87F"/>
            </a:solidFill>
            <a:prstDash val="solid"/>
          </a:ln>
        </p:spPr>
      </p:sp>
      <p:sp>
        <p:nvSpPr>
          <p:cNvPr id="83" name="controller-input">
            <a:extLst xmlns:a="http://schemas.openxmlformats.org/drawingml/2006/main">
              <a:ext uri="{FF2B5EF4-FFF2-40B4-BE49-F238E27FC236}">
                <a16:creationId xmlns:a16="http://schemas.microsoft.com/office/drawing/2014/main" id="{95877DB1-7376-4BCC-8A6D-9702CCB8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97180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917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7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instruction + state history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7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-&gt; selected target ID</a:t>
            </a:r>
          </a:p>
        </p:txBody>
      </p:sp>
      <p:sp>
        <p:nvSpPr>
          <p:cNvPr id="84" name="tp-label">
            <a:extLst xmlns:a="http://schemas.openxmlformats.org/drawingml/2006/main">
              <a:ext uri="{FF2B5EF4-FFF2-40B4-BE49-F238E27FC236}">
                <a16:creationId xmlns:a16="http://schemas.microsoft.com/office/drawing/2014/main" id="{1002C961-8F11-410E-88BF-5F92313A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79095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1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00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Preserve output</a:t>
            </a:r>
          </a:p>
        </p:txBody>
      </p:sp>
      <p:sp>
        <p:nvSpPr>
          <p:cNvPr id="85" name="tp-node">
            <a:extLst xmlns:a="http://schemas.openxmlformats.org/drawingml/2006/main">
              <a:ext uri="{FF2B5EF4-FFF2-40B4-BE49-F238E27FC236}">
                <a16:creationId xmlns:a16="http://schemas.microsoft.com/office/drawing/2014/main" id="{C4B63CEF-73C3-433B-9B2C-8D97BDB2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4575" y="37338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T^P</a:t>
            </a:r>
          </a:p>
        </p:txBody>
      </p:sp>
      <p:sp>
        <p:nvSpPr>
          <p:cNvPr id="86" name="tr-label">
            <a:extLst xmlns:a="http://schemas.openxmlformats.org/drawingml/2006/main">
              <a:ext uri="{FF2B5EF4-FFF2-40B4-BE49-F238E27FC236}">
                <a16:creationId xmlns:a16="http://schemas.microsoft.com/office/drawing/2014/main" id="{796DA24D-5C9B-43E0-9DC4-6D530075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2672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1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00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Reevaluate output</a:t>
            </a:r>
          </a:p>
        </p:txBody>
      </p:sp>
      <p:sp>
        <p:nvSpPr>
          <p:cNvPr id="87" name="tr-node">
            <a:extLst xmlns:a="http://schemas.openxmlformats.org/drawingml/2006/main">
              <a:ext uri="{FF2B5EF4-FFF2-40B4-BE49-F238E27FC236}">
                <a16:creationId xmlns:a16="http://schemas.microsoft.com/office/drawing/2014/main" id="{C6EC6930-6DB0-4993-B082-A2BC190F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4575" y="4210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737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T^R</a:t>
            </a:r>
          </a:p>
        </p:txBody>
      </p:sp>
      <p:sp>
        <p:nvSpPr>
          <p:cNvPr id="88" name="controller-boundary">
            <a:extLst xmlns:a="http://schemas.openxmlformats.org/drawingml/2006/main">
              <a:ext uri="{FF2B5EF4-FFF2-40B4-BE49-F238E27FC236}">
                <a16:creationId xmlns:a16="http://schemas.microsoft.com/office/drawing/2014/main" id="{A3B069C7-4E56-4FCE-A27B-110C4F24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4762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0" i="1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425" b="0" i="1">
                <a:solidFill>
                  <a:srgbClr val="407A7F"/>
                </a:solidFill>
                <a:latin typeface="Arial"/>
                <a:ea typeface="Arial"/>
                <a:cs typeface="Arial"/>
              </a:rPr>
              <a:t>Probe the decision; do not assume an internal mechanism</a:t>
            </a:r>
          </a:p>
        </p:txBody>
      </p:sp>
      <p:sp>
        <p:nvSpPr>
          <p:cNvPr id="89" name="score-band-bg">
            <a:extLst xmlns:a="http://schemas.openxmlformats.org/drawingml/2006/main">
              <a:ext uri="{FF2B5EF4-FFF2-40B4-BE49-F238E27FC236}">
                <a16:creationId xmlns:a16="http://schemas.microsoft.com/office/drawing/2014/main" id="{FF165401-13B2-4541-AB7C-A014E1C7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19700"/>
            <a:ext cx="144018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64A56"/>
            </a:solidFill>
            <a:prstDash val="solid"/>
          </a:ln>
        </p:spPr>
      </p:sp>
      <p:sp>
        <p:nvSpPr>
          <p:cNvPr id="90" name="score-band-head">
            <a:extLst xmlns:a="http://schemas.openxmlformats.org/drawingml/2006/main">
              <a:ext uri="{FF2B5EF4-FFF2-40B4-BE49-F238E27FC236}">
                <a16:creationId xmlns:a16="http://schemas.microsoft.com/office/drawing/2014/main" id="{B77BA21F-63DD-41DB-9126-899B623E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19700"/>
            <a:ext cx="14401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A56"/>
          </a:solidFill>
          <a:ln xmlns:a="http://schemas.openxmlformats.org/drawingml/2006/main" w="0">
            <a:solidFill>
              <a:srgbClr val="264A56"/>
            </a:solidFill>
            <a:prstDash val="solid"/>
          </a:ln>
        </p:spPr>
      </p:sp>
      <p:sp>
        <p:nvSpPr>
          <p:cNvPr id="91" name="score-band-title">
            <a:extLst xmlns:a="http://schemas.openxmlformats.org/drawingml/2006/main">
              <a:ext uri="{FF2B5EF4-FFF2-40B4-BE49-F238E27FC236}">
                <a16:creationId xmlns:a16="http://schemas.microsoft.com/office/drawing/2014/main" id="{8E68A6AC-342B-4CCC-93BC-6EF09D74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7800"/>
            <a:ext cx="1403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SCORING: separate joint correctness, post-binding substitution, and executed consequence</a:t>
            </a:r>
          </a:p>
        </p:txBody>
      </p:sp>
      <p:sp>
        <p:nvSpPr>
          <p:cNvPr id="92" name="score-sep-1">
            <a:extLst xmlns:a="http://schemas.openxmlformats.org/drawingml/2006/main">
              <a:ext uri="{FF2B5EF4-FFF2-40B4-BE49-F238E27FC236}">
                <a16:creationId xmlns:a16="http://schemas.microsoft.com/office/drawing/2014/main" id="{609495B4-DC31-47DC-B840-86F0E0CA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19750"/>
            <a:ext cx="0" cy="1390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4B87F"/>
            </a:solidFill>
            <a:prstDash val="solid"/>
          </a:ln>
        </p:spPr>
      </p:sp>
      <p:sp>
        <p:nvSpPr>
          <p:cNvPr id="93" name="score-sep-2">
            <a:extLst xmlns:a="http://schemas.openxmlformats.org/drawingml/2006/main">
              <a:ext uri="{FF2B5EF4-FFF2-40B4-BE49-F238E27FC236}">
                <a16:creationId xmlns:a16="http://schemas.microsoft.com/office/drawing/2014/main" id="{13633683-55E2-45DD-B853-30804563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619750"/>
            <a:ext cx="0" cy="1390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4B87F"/>
            </a:solidFill>
            <a:prstDash val="solid"/>
          </a:ln>
        </p:spPr>
      </p:sp>
      <p:sp>
        <p:nvSpPr>
          <p:cNvPr id="94" name="metric-one">
            <a:extLst xmlns:a="http://schemas.openxmlformats.org/drawingml/2006/main">
              <a:ext uri="{FF2B5EF4-FFF2-40B4-BE49-F238E27FC236}">
                <a16:creationId xmlns:a16="http://schemas.microsoft.com/office/drawing/2014/main" id="{8BC2044B-A269-415F-A22B-AAC938FD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81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2286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5403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5" name="metric-one-title">
            <a:extLst xmlns:a="http://schemas.openxmlformats.org/drawingml/2006/main">
              <a:ext uri="{FF2B5EF4-FFF2-40B4-BE49-F238E27FC236}">
                <a16:creationId xmlns:a16="http://schemas.microsoft.com/office/drawing/2014/main" id="{9C32BB56-63BA-4BD1-8EED-32A2D6BE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340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CHANGED-WINNER PairAcc</a:t>
            </a:r>
          </a:p>
        </p:txBody>
      </p:sp>
      <p:sp>
        <p:nvSpPr>
          <p:cNvPr id="96" name="metric-one-formula">
            <a:extLst xmlns:a="http://schemas.openxmlformats.org/drawingml/2006/main">
              <a:ext uri="{FF2B5EF4-FFF2-40B4-BE49-F238E27FC236}">
                <a16:creationId xmlns:a16="http://schemas.microsoft.com/office/drawing/2014/main" id="{E4349617-5E2D-4FED-8C0D-BF423C7F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1 only if  T^P = A  AND  T^R = B</a:t>
            </a:r>
          </a:p>
        </p:txBody>
      </p:sp>
      <p:sp>
        <p:nvSpPr>
          <p:cNvPr id="97" name="metric-one-note">
            <a:extLst xmlns:a="http://schemas.openxmlformats.org/drawingml/2006/main">
              <a:ext uri="{FF2B5EF4-FFF2-40B4-BE49-F238E27FC236}">
                <a16:creationId xmlns:a16="http://schemas.microsoft.com/office/drawing/2014/main" id="{032CADA4-0585-4EF0-8C73-A50753F7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22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7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75" b="0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Rejects Always-Lock and Always-Reevaluate jointly</a:t>
            </a:r>
          </a:p>
        </p:txBody>
      </p:sp>
      <p:sp>
        <p:nvSpPr>
          <p:cNvPr id="98" name="metric-two">
            <a:extLst xmlns:a="http://schemas.openxmlformats.org/drawingml/2006/main">
              <a:ext uri="{FF2B5EF4-FFF2-40B4-BE49-F238E27FC236}">
                <a16:creationId xmlns:a16="http://schemas.microsoft.com/office/drawing/2014/main" id="{B59513F5-D7FF-401C-8607-C9C24943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781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A464"/>
          </a:solidFill>
          <a:ln xmlns:a="http://schemas.openxmlformats.org/drawingml/2006/main" w="22860">
            <a:solidFill>
              <a:srgbClr val="F1A464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5403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9" name="metric-two-title">
            <a:extLst xmlns:a="http://schemas.openxmlformats.org/drawingml/2006/main">
              <a:ext uri="{FF2B5EF4-FFF2-40B4-BE49-F238E27FC236}">
                <a16:creationId xmlns:a16="http://schemas.microsoft.com/office/drawing/2014/main" id="{21792C3C-8100-486C-8D37-7FBEED7C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7340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CONDITIONAL SUBSTITUTION</a:t>
            </a:r>
          </a:p>
        </p:txBody>
      </p:sp>
      <p:sp>
        <p:nvSpPr>
          <p:cNvPr id="100" name="metric-two-formula">
            <a:extLst xmlns:a="http://schemas.openxmlformats.org/drawingml/2006/main">
              <a:ext uri="{FF2B5EF4-FFF2-40B4-BE49-F238E27FC236}">
                <a16:creationId xmlns:a16="http://schemas.microsoft.com/office/drawing/2014/main" id="{079532D6-FB89-4E24-B793-E4BBF5AC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17220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4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725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Preserve: correct bind A  -&gt;  final target B</a:t>
            </a:r>
          </a:p>
        </p:txBody>
      </p:sp>
      <p:sp>
        <p:nvSpPr>
          <p:cNvPr id="101" name="metric-two-note">
            <a:extLst xmlns:a="http://schemas.openxmlformats.org/drawingml/2006/main">
              <a:ext uri="{FF2B5EF4-FFF2-40B4-BE49-F238E27FC236}">
                <a16:creationId xmlns:a16="http://schemas.microsoft.com/office/drawing/2014/main" id="{04F9571C-D949-4F08-97A3-856248DE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55320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75" b="0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Counts replacement only when A remains valid</a:t>
            </a:r>
          </a:p>
        </p:txBody>
      </p:sp>
      <p:sp>
        <p:nvSpPr>
          <p:cNvPr id="102" name="metric-three">
            <a:extLst xmlns:a="http://schemas.openxmlformats.org/drawingml/2006/main">
              <a:ext uri="{FF2B5EF4-FFF2-40B4-BE49-F238E27FC236}">
                <a16:creationId xmlns:a16="http://schemas.microsoft.com/office/drawing/2014/main" id="{CFB34182-F3CB-4087-973C-4B21D339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5781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A84"/>
          </a:solidFill>
          <a:ln xmlns:a="http://schemas.openxmlformats.org/drawingml/2006/main" w="22860">
            <a:solidFill>
              <a:srgbClr val="60AA84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5403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3" name="metric-three-title">
            <a:extLst xmlns:a="http://schemas.openxmlformats.org/drawingml/2006/main">
              <a:ext uri="{FF2B5EF4-FFF2-40B4-BE49-F238E27FC236}">
                <a16:creationId xmlns:a16="http://schemas.microsoft.com/office/drawing/2014/main" id="{1B505CCD-C140-4650-9F1F-05561679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7340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EXECUTED STATE DIFF</a:t>
            </a:r>
          </a:p>
        </p:txBody>
      </p:sp>
      <p:sp>
        <p:nvSpPr>
          <p:cNvPr id="104" name="metric-three-formula">
            <a:extLst xmlns:a="http://schemas.openxmlformats.org/drawingml/2006/main">
              <a:ext uri="{FF2B5EF4-FFF2-40B4-BE49-F238E27FC236}">
                <a16:creationId xmlns:a16="http://schemas.microsoft.com/office/drawing/2014/main" id="{84D5AFB1-CE8A-4DF0-8F3E-159FB1D4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1722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7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725" b="1" i="0">
                <a:solidFill>
                  <a:srgbClr val="60AA8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60AA84"/>
                </a:solidFill>
                <a:latin typeface="Arial"/>
                <a:ea typeface="Arial"/>
                <a:cs typeface="Arial"/>
              </a:rPr>
              <a:t>selected ID  -&gt;  model-issued write  -&gt;  final state</a:t>
            </a:r>
          </a:p>
        </p:txBody>
      </p:sp>
      <p:sp>
        <p:nvSpPr>
          <p:cNvPr id="105" name="metric-three-note">
            <a:extLst xmlns:a="http://schemas.openxmlformats.org/drawingml/2006/main">
              <a:ext uri="{FF2B5EF4-FFF2-40B4-BE49-F238E27FC236}">
                <a16:creationId xmlns:a16="http://schemas.microsoft.com/office/drawing/2014/main" id="{7B3AB1CC-FF03-49C6-BA39-12950A69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553200"/>
            <a:ext cx="422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0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75" b="0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Localizes which entity actually received the action</a:t>
            </a:r>
          </a:p>
        </p:txBody>
      </p:sp>
    </p:spTree>
    <p:extLst>
      <p:ext uri="{BB962C8B-B14F-4D97-AF65-F5344CB8AC3E}">
        <p14:creationId xmlns:p14="http://schemas.microsoft.com/office/powerpoint/2010/main" val="18871546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2026-07-28T08:41:11.9600000Z</dcterms:created>
  <dcterms:modified xsi:type="dcterms:W3CDTF">2026-07-28T08:41:11.9600000Z</dcterms:modified>
</coreProperties>
</file>
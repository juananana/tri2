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4a5aa6a34244e6" /><Relationship Type="http://schemas.openxmlformats.org/officeDocument/2006/relationships/extended-properties" Target="/docProps/app.xml" Id="R12c28924029a4e47" /><Relationship Type="http://schemas.openxmlformats.org/officeDocument/2006/relationships/officeDocument" Target="/ppt/presentation.xml" Id="Rfb6c3e28bc2047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e4ca978b5c4632"/>
  </p:sldMasterIdLst>
  <p:notesMasterIdLst>
    <p:notesMasterId xmlns:r="http://schemas.openxmlformats.org/officeDocument/2006/relationships" r:id="Rf93ffe365bc74710"/>
  </p:notesMasterIdLst>
  <p:sldIdLst>
    <p:sldId xmlns:r="http://schemas.openxmlformats.org/officeDocument/2006/relationships" id="256" r:id="R9535fd4dd35945e3"/>
  </p:sldIdLst>
  <p:sldSz cx="152400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8126539e8a46e6" /><Relationship Type="http://schemas.openxmlformats.org/officeDocument/2006/relationships/slideMaster" Target="/ppt/slideMasters/slideMaster1.xml" Id="Rcde4ca978b5c4632" /><Relationship Type="http://schemas.openxmlformats.org/officeDocument/2006/relationships/notesMaster" Target="/ppt/notesMasters/notesMaster1.xml" Id="Rf93ffe365bc74710" /><Relationship Type="http://schemas.openxmlformats.org/officeDocument/2006/relationships/presProps" Target="/ppt/presProps.xml" Id="R26aec20ea3204980" /><Relationship Type="http://schemas.openxmlformats.org/officeDocument/2006/relationships/tableStyles" Target="/ppt/tableStyles.xml" Id="R8898ba4a27404d8e" /><Relationship Type="http://schemas.openxmlformats.org/officeDocument/2006/relationships/slide" Target="/ppt/slides/slide1.xml" Id="R9535fd4dd35945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a40e6358fa4c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7fb044d56245c5" /><Relationship Type="http://schemas.openxmlformats.org/officeDocument/2006/relationships/notesMaster" Target="/ppt/notesMasters/notesMaster1.xml" Id="R946aa4c136874f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manuscript: paper/AnonymousSubmission2027.tex, especially Diagnostic Construction, Measurements and Denominators, and Controller Probes.</a:t>
            </a:r>
          </a:p>
          <a:p xmlns:a="http://schemas.openxmlformats.org/drawingml/2006/main">
            <a:r>
              <a:t>- Internal visual references: draw_learning/*.pdf. Layout adapted at the level of hierarchy and reading order; no external artwork reused.</a:t>
            </a:r>
          </a:p>
          <a:p xmlns:a="http://schemas.openxmlformats.org/drawingml/2006/main">
            <a:r>
              <a:t>- User-supplied palette: #264a56, #407a7f, #248d82, #60aa84, #b4b87f, #eabc6b, #f1a464, #e56d4e.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e95fa7a27e4f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766a0ad9834519" /><Relationship Type="http://schemas.openxmlformats.org/officeDocument/2006/relationships/slideLayout" Target="/ppt/slideLayouts/slideLayout1.xml" Id="Rd2c1fd0b120642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c1fd0b120642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39941ff664b47" /><Relationship Type="http://schemas.openxmlformats.org/officeDocument/2006/relationships/notesSlide" Target="/ppt/notesSlides/notesSlide1.xml" Id="Rd8d8d94f042a4f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flow-1">
            <a:extLst xmlns:a="http://schemas.openxmlformats.org/drawingml/2006/main">
              <a:ext uri="{FF2B5EF4-FFF2-40B4-BE49-F238E27FC236}">
                <a16:creationId xmlns:a16="http://schemas.microsoft.com/office/drawing/2014/main" id="{CCD42C09-FF8E-4774-9F8A-BD32F926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67050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4763">
            <a:solidFill>
              <a:srgbClr val="B4B87F"/>
            </a:solidFill>
            <a:prstDash val="solid"/>
          </a:ln>
        </p:spPr>
      </p:sp>
      <p:sp>
        <p:nvSpPr>
          <p:cNvPr id="2" name="flow-2">
            <a:extLst xmlns:a="http://schemas.openxmlformats.org/drawingml/2006/main">
              <a:ext uri="{FF2B5EF4-FFF2-40B4-BE49-F238E27FC236}">
                <a16:creationId xmlns:a16="http://schemas.microsoft.com/office/drawing/2014/main" id="{922C1FAF-0EA9-4A37-B180-54EB2200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67050"/>
            <a:ext cx="552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4763">
            <a:solidFill>
              <a:srgbClr val="B4B87F"/>
            </a:solidFill>
            <a:prstDash val="solid"/>
          </a:ln>
        </p:spPr>
      </p:sp>
      <p:sp>
        <p:nvSpPr>
          <p:cNvPr id="3" name="flow-3">
            <a:extLst xmlns:a="http://schemas.openxmlformats.org/drawingml/2006/main">
              <a:ext uri="{FF2B5EF4-FFF2-40B4-BE49-F238E27FC236}">
                <a16:creationId xmlns:a16="http://schemas.microsoft.com/office/drawing/2014/main" id="{0645193A-A6C4-427A-AF0A-C5FEAEEE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067050"/>
            <a:ext cx="4762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4763">
            <a:solidFill>
              <a:srgbClr val="B4B87F"/>
            </a:solidFill>
            <a:prstDash val="solid"/>
          </a:ln>
        </p:spPr>
      </p:sp>
      <p:sp>
        <p:nvSpPr>
          <p:cNvPr id="4" name="state-refresh">
            <a:extLst xmlns:a="http://schemas.openxmlformats.org/drawingml/2006/main">
              <a:ext uri="{FF2B5EF4-FFF2-40B4-BE49-F238E27FC236}">
                <a16:creationId xmlns:a16="http://schemas.microsoft.com/office/drawing/2014/main" id="{DF707CED-38C6-492A-8F8C-BC1F027D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33650"/>
            <a:ext cx="7429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4763">
            <a:solidFill>
              <a:srgbClr val="EABC6B"/>
            </a:solidFill>
            <a:prstDash val="solid"/>
          </a:ln>
        </p:spPr>
      </p:sp>
      <p:sp>
        <p:nvSpPr>
          <p:cNvPr id="5" name="preserve-flow-1">
            <a:extLst xmlns:a="http://schemas.openxmlformats.org/drawingml/2006/main">
              <a:ext uri="{FF2B5EF4-FFF2-40B4-BE49-F238E27FC236}">
                <a16:creationId xmlns:a16="http://schemas.microsoft.com/office/drawing/2014/main" id="{A91049D8-E82B-438F-B566-926FFF1D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90775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4763">
            <a:solidFill>
              <a:srgbClr val="E56D4E"/>
            </a:solidFill>
            <a:prstDash val="solid"/>
          </a:ln>
        </p:spPr>
      </p:sp>
      <p:sp>
        <p:nvSpPr>
          <p:cNvPr id="6" name="preserve-flow-2">
            <a:extLst xmlns:a="http://schemas.openxmlformats.org/drawingml/2006/main">
              <a:ext uri="{FF2B5EF4-FFF2-40B4-BE49-F238E27FC236}">
                <a16:creationId xmlns:a16="http://schemas.microsoft.com/office/drawing/2014/main" id="{2E1A58EE-B44F-4EAB-8EF1-1EEAA9E7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4763">
            <a:solidFill>
              <a:srgbClr val="E56D4E"/>
            </a:solidFill>
            <a:prstDash val="solid"/>
          </a:ln>
        </p:spPr>
      </p:sp>
      <p:sp>
        <p:nvSpPr>
          <p:cNvPr id="7" name="reeval-flow-1">
            <a:extLst xmlns:a="http://schemas.openxmlformats.org/drawingml/2006/main">
              <a:ext uri="{FF2B5EF4-FFF2-40B4-BE49-F238E27FC236}">
                <a16:creationId xmlns:a16="http://schemas.microsoft.com/office/drawing/2014/main" id="{D5F0AD1E-2026-4129-8674-54D9E2E1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14750"/>
            <a:ext cx="4000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4763">
            <a:solidFill>
              <a:srgbClr val="248D82"/>
            </a:solidFill>
            <a:prstDash val="solid"/>
          </a:ln>
        </p:spPr>
      </p:sp>
      <p:sp>
        <p:nvSpPr>
          <p:cNvPr id="8" name="reeval-flow-2">
            <a:extLst xmlns:a="http://schemas.openxmlformats.org/drawingml/2006/main">
              <a:ext uri="{FF2B5EF4-FFF2-40B4-BE49-F238E27FC236}">
                <a16:creationId xmlns:a16="http://schemas.microsoft.com/office/drawing/2014/main" id="{8C704F91-9667-497C-88F2-F4E78BFA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14750"/>
            <a:ext cx="5810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4763">
            <a:solidFill>
              <a:srgbClr val="248D82"/>
            </a:solidFill>
            <a:prstDash val="solid"/>
          </a:ln>
        </p:spPr>
      </p:sp>
      <p:sp>
        <p:nvSpPr>
          <p:cNvPr id="9" name="controller-output-p">
            <a:extLst xmlns:a="http://schemas.openxmlformats.org/drawingml/2006/main">
              <a:ext uri="{FF2B5EF4-FFF2-40B4-BE49-F238E27FC236}">
                <a16:creationId xmlns:a16="http://schemas.microsoft.com/office/drawing/2014/main" id="{4AD9B119-021A-4FCC-8167-78629A95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924300"/>
            <a:ext cx="4286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4763">
            <a:solidFill>
              <a:srgbClr val="E56D4E"/>
            </a:solidFill>
            <a:prstDash val="solid"/>
          </a:ln>
        </p:spPr>
      </p:sp>
      <p:sp>
        <p:nvSpPr>
          <p:cNvPr id="10" name="controller-output-r">
            <a:extLst xmlns:a="http://schemas.openxmlformats.org/drawingml/2006/main">
              <a:ext uri="{FF2B5EF4-FFF2-40B4-BE49-F238E27FC236}">
                <a16:creationId xmlns:a16="http://schemas.microsoft.com/office/drawing/2014/main" id="{20C44739-D569-4D64-A3DB-86FCBE3F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4400550"/>
            <a:ext cx="428625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4763">
            <a:solidFill>
              <a:srgbClr val="248D82"/>
            </a:solidFill>
            <a:prstDash val="solid"/>
          </a:ln>
        </p:spPr>
      </p:sp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78168598-D2FB-4E1E-BBA3-FB33C3D3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1440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TRI converts one controlled transition into a matched diagnostic</a:t>
            </a:r>
          </a:p>
        </p:txBody>
      </p:sp>
      <p:sp>
        <p:nvSpPr>
          <p:cNvPr id="12" name="subtitle">
            <a:extLst xmlns:a="http://schemas.openxmlformats.org/drawingml/2006/main">
              <a:ext uri="{FF2B5EF4-FFF2-40B4-BE49-F238E27FC236}">
                <a16:creationId xmlns:a16="http://schemas.microsoft.com/office/drawing/2014/main" id="{B5C80360-0736-49F3-8A68-734715F8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"/>
            <a:ext cx="1400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Hold the world fixed; vary only when the action target becomes committed.</a:t>
            </a:r>
          </a:p>
        </p:txBody>
      </p:sp>
      <p:sp>
        <p:nvSpPr>
          <p:cNvPr id="1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D784C2-B572-44CD-9021-F1B0F8A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440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264A56"/>
            </a:solidFill>
            <a:prstDash val="solid"/>
          </a:ln>
        </p:spPr>
      </p:sp>
      <p:sp>
        <p:nvSpPr>
          <p:cNvPr id="14" name="core-spotlight">
            <a:extLst xmlns:a="http://schemas.openxmlformats.org/drawingml/2006/main">
              <a:ext uri="{FF2B5EF4-FFF2-40B4-BE49-F238E27FC236}">
                <a16:creationId xmlns:a16="http://schemas.microsoft.com/office/drawing/2014/main" id="{F6C601A7-64EB-4D6C-9156-C510633C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104900"/>
            <a:ext cx="4533900" cy="39814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48D82">
              <a:alpha val="7000"/>
            </a:srgbClr>
          </a:solidFill>
          <a:ln xmlns:a="http://schemas.openxmlformats.org/drawingml/2006/main" w="20955">
            <a:solidFill>
              <a:srgbClr val="248D82">
                <a:alpha val="55000"/>
              </a:srgbClr>
            </a:solidFill>
            <a:prstDash val="solid"/>
          </a:ln>
        </p:spPr>
      </p:sp>
      <p:sp>
        <p:nvSpPr>
          <p:cNvPr id="15" name="sep-1">
            <a:extLst xmlns:a="http://schemas.openxmlformats.org/drawingml/2006/main">
              <a:ext uri="{FF2B5EF4-FFF2-40B4-BE49-F238E27FC236}">
                <a16:creationId xmlns:a16="http://schemas.microsoft.com/office/drawing/2014/main" id="{0C6806B0-1A23-435B-9388-6A98EE24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181100"/>
            <a:ext cx="0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dash"/>
          </a:ln>
        </p:spPr>
      </p:sp>
      <p:sp>
        <p:nvSpPr>
          <p:cNvPr id="16" name="sep-2">
            <a:extLst xmlns:a="http://schemas.openxmlformats.org/drawingml/2006/main">
              <a:ext uri="{FF2B5EF4-FFF2-40B4-BE49-F238E27FC236}">
                <a16:creationId xmlns:a16="http://schemas.microsoft.com/office/drawing/2014/main" id="{CC4CAD72-6B52-462A-983E-B949A629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181100"/>
            <a:ext cx="0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dash"/>
          </a:ln>
        </p:spPr>
      </p:sp>
      <p:sp>
        <p:nvSpPr>
          <p:cNvPr id="17" name="sep-3">
            <a:extLst xmlns:a="http://schemas.openxmlformats.org/drawingml/2006/main">
              <a:ext uri="{FF2B5EF4-FFF2-40B4-BE49-F238E27FC236}">
                <a16:creationId xmlns:a16="http://schemas.microsoft.com/office/drawing/2014/main" id="{644531D5-E4CF-428A-8345-E531A128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1181100"/>
            <a:ext cx="0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dash"/>
          </a:ln>
        </p:spPr>
      </p:sp>
      <p:sp>
        <p:nvSpPr>
          <p:cNvPr id="18" name="stage-1">
            <a:extLst xmlns:a="http://schemas.openxmlformats.org/drawingml/2006/main">
              <a:ext uri="{FF2B5EF4-FFF2-40B4-BE49-F238E27FC236}">
                <a16:creationId xmlns:a16="http://schemas.microsoft.com/office/drawing/2014/main" id="{C0C7C4B8-E35E-46F3-9CDD-B2B8DC97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6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22860">
            <a:solidFill>
              <a:srgbClr val="264A56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23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81637D9B-E2A8-4E7D-8C00-23DB8C6B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TASK SPECIFICATION</a:t>
            </a:r>
          </a:p>
        </p:txBody>
      </p:sp>
      <p:sp>
        <p:nvSpPr>
          <p:cNvPr id="20" name="stage-2">
            <a:extLst xmlns:a="http://schemas.openxmlformats.org/drawingml/2006/main">
              <a:ext uri="{FF2B5EF4-FFF2-40B4-BE49-F238E27FC236}">
                <a16:creationId xmlns:a16="http://schemas.microsoft.com/office/drawing/2014/main" id="{F44641BD-576C-4EEC-8B46-CE61A165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16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22860">
            <a:solidFill>
              <a:srgbClr val="EABC6B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23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E136D9DF-76F7-4DD0-9A66-F45E8F1E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1430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CONTROLLED TRANSITION</a:t>
            </a:r>
          </a:p>
        </p:txBody>
      </p:sp>
      <p:sp>
        <p:nvSpPr>
          <p:cNvPr id="22" name="stage-3-core-header">
            <a:extLst xmlns:a="http://schemas.openxmlformats.org/drawingml/2006/main">
              <a:ext uri="{FF2B5EF4-FFF2-40B4-BE49-F238E27FC236}">
                <a16:creationId xmlns:a16="http://schemas.microsoft.com/office/drawing/2014/main" id="{DB8DA89B-3C3A-4A1D-AE38-1980629F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143000"/>
            <a:ext cx="417195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23" name="stage-3-core-label">
            <a:extLst xmlns:a="http://schemas.openxmlformats.org/drawingml/2006/main">
              <a:ext uri="{FF2B5EF4-FFF2-40B4-BE49-F238E27FC236}">
                <a16:creationId xmlns:a16="http://schemas.microsoft.com/office/drawing/2014/main" id="{DD4F766E-414C-41F4-8288-7215A07B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81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3   MATCHED PAIR</a:t>
            </a:r>
          </a:p>
        </p:txBody>
      </p:sp>
      <p:sp>
        <p:nvSpPr>
          <p:cNvPr id="24" name="stage-3-pair-icon-q">
            <a:extLst xmlns:a="http://schemas.openxmlformats.org/drawingml/2006/main">
              <a:ext uri="{FF2B5EF4-FFF2-40B4-BE49-F238E27FC236}">
                <a16:creationId xmlns:a16="http://schemas.microsoft.com/office/drawing/2014/main" id="{34052CB2-9375-433C-9D6A-01C5310A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219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25" name="stage-3-pair-icon-trunk">
            <a:extLst xmlns:a="http://schemas.openxmlformats.org/drawingml/2006/main">
              <a:ext uri="{FF2B5EF4-FFF2-40B4-BE49-F238E27FC236}">
                <a16:creationId xmlns:a16="http://schemas.microsoft.com/office/drawing/2014/main" id="{ED776C35-BD8E-4F4E-83F5-1F7369DA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352550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26" name="stage-3-pair-icon-split">
            <a:extLst xmlns:a="http://schemas.openxmlformats.org/drawingml/2006/main">
              <a:ext uri="{FF2B5EF4-FFF2-40B4-BE49-F238E27FC236}">
                <a16:creationId xmlns:a16="http://schemas.microsoft.com/office/drawing/2014/main" id="{7AC6C3D6-5F15-4546-9FFD-EF924BFC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181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27" name="stage-3-pair-icon-branch-a">
            <a:extLst xmlns:a="http://schemas.openxmlformats.org/drawingml/2006/main">
              <a:ext uri="{FF2B5EF4-FFF2-40B4-BE49-F238E27FC236}">
                <a16:creationId xmlns:a16="http://schemas.microsoft.com/office/drawing/2014/main" id="{1C7E1686-C91C-480A-941D-10A772DC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181100"/>
            <a:ext cx="3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28" name="stage-3-pair-icon-branch-b">
            <a:extLst xmlns:a="http://schemas.openxmlformats.org/drawingml/2006/main">
              <a:ext uri="{FF2B5EF4-FFF2-40B4-BE49-F238E27FC236}">
                <a16:creationId xmlns:a16="http://schemas.microsoft.com/office/drawing/2014/main" id="{B145B686-3A19-487D-80BE-FA25306D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524000"/>
            <a:ext cx="3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FFFFFF"/>
            </a:solidFill>
            <a:prstDash val="solid"/>
          </a:ln>
        </p:spPr>
      </p:sp>
      <p:sp>
        <p:nvSpPr>
          <p:cNvPr id="29" name="stage-3-pair-icon-a">
            <a:extLst xmlns:a="http://schemas.openxmlformats.org/drawingml/2006/main">
              <a:ext uri="{FF2B5EF4-FFF2-40B4-BE49-F238E27FC236}">
                <a16:creationId xmlns:a16="http://schemas.microsoft.com/office/drawing/2014/main" id="{AC05598E-49DC-4B8E-919E-013BB288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066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0" name="stage-3-pair-icon-b">
            <a:extLst xmlns:a="http://schemas.openxmlformats.org/drawingml/2006/main">
              <a:ext uri="{FF2B5EF4-FFF2-40B4-BE49-F238E27FC236}">
                <a16:creationId xmlns:a16="http://schemas.microsoft.com/office/drawing/2014/main" id="{998CE285-B6D3-488F-A2A3-643AE6C5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1409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1" name="stage-4">
            <a:extLst xmlns:a="http://schemas.openxmlformats.org/drawingml/2006/main">
              <a:ext uri="{FF2B5EF4-FFF2-40B4-BE49-F238E27FC236}">
                <a16:creationId xmlns:a16="http://schemas.microsoft.com/office/drawing/2014/main" id="{BA1FA635-6E8F-47A7-9FD8-65D4FE0E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162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223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stage-label-4">
            <a:extLst xmlns:a="http://schemas.openxmlformats.org/drawingml/2006/main">
              <a:ext uri="{FF2B5EF4-FFF2-40B4-BE49-F238E27FC236}">
                <a16:creationId xmlns:a16="http://schemas.microsoft.com/office/drawing/2014/main" id="{49615F21-08B9-467D-B3F3-4DB3DC6C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11430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SAME CONTROLLER</a:t>
            </a:r>
          </a:p>
        </p:txBody>
      </p:sp>
      <p:sp>
        <p:nvSpPr>
          <p:cNvPr id="33" name="entity-table-label">
            <a:extLst xmlns:a="http://schemas.openxmlformats.org/drawingml/2006/main">
              <a:ext uri="{FF2B5EF4-FFF2-40B4-BE49-F238E27FC236}">
                <a16:creationId xmlns:a16="http://schemas.microsoft.com/office/drawing/2014/main" id="{E6FFB959-1BDB-4CEC-9D5E-50465B48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Entities + resolver</a:t>
            </a:r>
          </a:p>
        </p:txBody>
      </p:sp>
      <p:sp>
        <p:nvSpPr>
          <p:cNvPr id="34" name="task-spec-icon-paper">
            <a:extLst xmlns:a="http://schemas.openxmlformats.org/drawingml/2006/main">
              <a:ext uri="{FF2B5EF4-FFF2-40B4-BE49-F238E27FC236}">
                <a16:creationId xmlns:a16="http://schemas.microsoft.com/office/drawing/2014/main" id="{FC0A1E59-A395-422D-90C9-FCB278B8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19250"/>
            <a:ext cx="2857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35" name="task-spec-icon-clip">
            <a:extLst xmlns:a="http://schemas.openxmlformats.org/drawingml/2006/main">
              <a:ext uri="{FF2B5EF4-FFF2-40B4-BE49-F238E27FC236}">
                <a16:creationId xmlns:a16="http://schemas.microsoft.com/office/drawing/2014/main" id="{F5B7BC80-FB2E-4179-8F87-714AC84C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81150"/>
            <a:ext cx="13335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36" name="task-spec-icon-dot-1">
            <a:extLst xmlns:a="http://schemas.openxmlformats.org/drawingml/2006/main">
              <a:ext uri="{FF2B5EF4-FFF2-40B4-BE49-F238E27FC236}">
                <a16:creationId xmlns:a16="http://schemas.microsoft.com/office/drawing/2014/main" id="{334CCFF3-3940-4BA0-BBDF-114B8966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7192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task-spec-icon-dot-2">
            <a:extLst xmlns:a="http://schemas.openxmlformats.org/drawingml/2006/main">
              <a:ext uri="{FF2B5EF4-FFF2-40B4-BE49-F238E27FC236}">
                <a16:creationId xmlns:a16="http://schemas.microsoft.com/office/drawing/2014/main" id="{8AA45C6C-0CA3-4A9A-938F-C708EBA3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8" y="1833563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task-spec-icon-line-1">
            <a:extLst xmlns:a="http://schemas.openxmlformats.org/drawingml/2006/main">
              <a:ext uri="{FF2B5EF4-FFF2-40B4-BE49-F238E27FC236}">
                <a16:creationId xmlns:a16="http://schemas.microsoft.com/office/drawing/2014/main" id="{0CF4414A-C5D5-4BFA-BF4A-D4C0FAEE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430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07A7F"/>
            </a:solidFill>
            <a:prstDash val="solid"/>
          </a:ln>
        </p:spPr>
      </p:sp>
      <p:sp>
        <p:nvSpPr>
          <p:cNvPr id="39" name="task-spec-icon-line-2">
            <a:extLst xmlns:a="http://schemas.openxmlformats.org/drawingml/2006/main">
              <a:ext uri="{FF2B5EF4-FFF2-40B4-BE49-F238E27FC236}">
                <a16:creationId xmlns:a16="http://schemas.microsoft.com/office/drawing/2014/main" id="{96AEB1EF-D1B1-409E-B5C5-DB2CD80B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57375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407A7F"/>
            </a:solidFill>
            <a:prstDash val="solid"/>
          </a:ln>
        </p:spPr>
      </p:sp>
      <p:sp>
        <p:nvSpPr>
          <p:cNvPr id="40" name="entity-table-frame">
            <a:extLst xmlns:a="http://schemas.openxmlformats.org/drawingml/2006/main">
              <a:ext uri="{FF2B5EF4-FFF2-40B4-BE49-F238E27FC236}">
                <a16:creationId xmlns:a16="http://schemas.microsoft.com/office/drawing/2014/main" id="{E61612AD-7E12-48B9-AFB8-72DDDEB1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5146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407A7F">
              <a:alpha val="4000"/>
            </a:srgbClr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41" name="entity-table-header">
            <a:extLst xmlns:a="http://schemas.openxmlformats.org/drawingml/2006/main">
              <a:ext uri="{FF2B5EF4-FFF2-40B4-BE49-F238E27FC236}">
                <a16:creationId xmlns:a16="http://schemas.microsoft.com/office/drawing/2014/main" id="{63E793A1-7B32-487F-8853-D40AB787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2514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42" name="entity-head-id">
            <a:extLst xmlns:a="http://schemas.openxmlformats.org/drawingml/2006/main">
              <a:ext uri="{FF2B5EF4-FFF2-40B4-BE49-F238E27FC236}">
                <a16:creationId xmlns:a16="http://schemas.microsoft.com/office/drawing/2014/main" id="{B2354A9C-4DB1-4E56-9C44-5804419D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419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43" name="entity-head-s0">
            <a:extLst xmlns:a="http://schemas.openxmlformats.org/drawingml/2006/main">
              <a:ext uri="{FF2B5EF4-FFF2-40B4-BE49-F238E27FC236}">
                <a16:creationId xmlns:a16="http://schemas.microsoft.com/office/drawing/2014/main" id="{17F7BBAC-C915-489B-8CAD-19EA8E4D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685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 S0</a:t>
            </a:r>
          </a:p>
        </p:txBody>
      </p:sp>
      <p:sp>
        <p:nvSpPr>
          <p:cNvPr id="44" name="entity-head-s1">
            <a:extLst xmlns:a="http://schemas.openxmlformats.org/drawingml/2006/main">
              <a:ext uri="{FF2B5EF4-FFF2-40B4-BE49-F238E27FC236}">
                <a16:creationId xmlns:a16="http://schemas.microsoft.com/office/drawing/2014/main" id="{FCCA4862-D2F2-4134-ACE9-99D68E73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9775"/>
            <a:ext cx="685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 S1</a:t>
            </a:r>
          </a:p>
        </p:txBody>
      </p:sp>
      <p:sp>
        <p:nvSpPr>
          <p:cNvPr id="45" name="entity-head-valid">
            <a:extLst xmlns:a="http://schemas.openxmlformats.org/drawingml/2006/main">
              <a:ext uri="{FF2B5EF4-FFF2-40B4-BE49-F238E27FC236}">
                <a16:creationId xmlns:a16="http://schemas.microsoft.com/office/drawing/2014/main" id="{A9BE24D0-3DD6-48D4-ADBD-1A0AAA8A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9775"/>
            <a:ext cx="514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</a:t>
            </a:r>
          </a:p>
        </p:txBody>
      </p:sp>
      <p:sp>
        <p:nvSpPr>
          <p:cNvPr id="46" name="entity-mid-1">
            <a:extLst xmlns:a="http://schemas.openxmlformats.org/drawingml/2006/main">
              <a:ext uri="{FF2B5EF4-FFF2-40B4-BE49-F238E27FC236}">
                <a16:creationId xmlns:a16="http://schemas.microsoft.com/office/drawing/2014/main" id="{6723F82F-5390-42AC-80E0-505A9CCD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251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4B87F"/>
            </a:solidFill>
            <a:prstDash val="solid"/>
          </a:ln>
        </p:spPr>
      </p:sp>
      <p:sp>
        <p:nvSpPr>
          <p:cNvPr id="47" name="entity-v-1">
            <a:extLst xmlns:a="http://schemas.openxmlformats.org/drawingml/2006/main">
              <a:ext uri="{FF2B5EF4-FFF2-40B4-BE49-F238E27FC236}">
                <a16:creationId xmlns:a16="http://schemas.microsoft.com/office/drawing/2014/main" id="{77EF1020-5FAB-44CF-B3BC-0B3FCB68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4B87F"/>
            </a:solidFill>
            <a:prstDash val="solid"/>
          </a:ln>
        </p:spPr>
      </p:sp>
      <p:sp>
        <p:nvSpPr>
          <p:cNvPr id="48" name="entity-v-2">
            <a:extLst xmlns:a="http://schemas.openxmlformats.org/drawingml/2006/main">
              <a:ext uri="{FF2B5EF4-FFF2-40B4-BE49-F238E27FC236}">
                <a16:creationId xmlns:a16="http://schemas.microsoft.com/office/drawing/2014/main" id="{88231AA9-5D5C-466C-8F3C-83A6BCBD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4B87F"/>
            </a:solidFill>
            <a:prstDash val="solid"/>
          </a:ln>
        </p:spPr>
      </p:sp>
      <p:sp>
        <p:nvSpPr>
          <p:cNvPr id="49" name="entity-v-3">
            <a:extLst xmlns:a="http://schemas.openxmlformats.org/drawingml/2006/main">
              <a:ext uri="{FF2B5EF4-FFF2-40B4-BE49-F238E27FC236}">
                <a16:creationId xmlns:a16="http://schemas.microsoft.com/office/drawing/2014/main" id="{78518A64-49FF-4B65-86DE-6C64DC81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002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B4B87F"/>
            </a:solidFill>
            <a:prstDash val="solid"/>
          </a:ln>
        </p:spPr>
      </p:sp>
      <p:sp>
        <p:nvSpPr>
          <p:cNvPr id="50" name="entity-a">
            <a:extLst xmlns:a="http://schemas.openxmlformats.org/drawingml/2006/main">
              <a:ext uri="{FF2B5EF4-FFF2-40B4-BE49-F238E27FC236}">
                <a16:creationId xmlns:a16="http://schemas.microsoft.com/office/drawing/2014/main" id="{5148F6B2-B5DD-4FC5-AB4D-6529C3EC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1" name="entity-a-s0">
            <a:extLst xmlns:a="http://schemas.openxmlformats.org/drawingml/2006/main">
              <a:ext uri="{FF2B5EF4-FFF2-40B4-BE49-F238E27FC236}">
                <a16:creationId xmlns:a16="http://schemas.microsoft.com/office/drawing/2014/main" id="{10EDD1A9-8E1E-4215-BB72-AC131D5A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2" name="entity-a-s1">
            <a:extLst xmlns:a="http://schemas.openxmlformats.org/drawingml/2006/main">
              <a:ext uri="{FF2B5EF4-FFF2-40B4-BE49-F238E27FC236}">
                <a16:creationId xmlns:a16="http://schemas.microsoft.com/office/drawing/2014/main" id="{7378E286-F05B-4956-AC35-66D75F19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050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3" name="entity-a-valid">
            <a:extLst xmlns:a="http://schemas.openxmlformats.org/drawingml/2006/main">
              <a:ext uri="{FF2B5EF4-FFF2-40B4-BE49-F238E27FC236}">
                <a16:creationId xmlns:a16="http://schemas.microsoft.com/office/drawing/2014/main" id="{8E662D02-E8C7-4402-A142-07D2638C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05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4" name="entity-b">
            <a:extLst xmlns:a="http://schemas.openxmlformats.org/drawingml/2006/main">
              <a:ext uri="{FF2B5EF4-FFF2-40B4-BE49-F238E27FC236}">
                <a16:creationId xmlns:a16="http://schemas.microsoft.com/office/drawing/2014/main" id="{669C331A-7F7C-4284-A042-C230479C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7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5" name="entity-b-s0">
            <a:extLst xmlns:a="http://schemas.openxmlformats.org/drawingml/2006/main">
              <a:ext uri="{FF2B5EF4-FFF2-40B4-BE49-F238E27FC236}">
                <a16:creationId xmlns:a16="http://schemas.microsoft.com/office/drawing/2014/main" id="{569FE46F-D309-4465-8141-7539588C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47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6" name="entity-b-s1">
            <a:extLst xmlns:a="http://schemas.openxmlformats.org/drawingml/2006/main">
              <a:ext uri="{FF2B5EF4-FFF2-40B4-BE49-F238E27FC236}">
                <a16:creationId xmlns:a16="http://schemas.microsoft.com/office/drawing/2014/main" id="{5BE85FE6-0D7A-43EE-9D30-DB9EF58F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6479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7" name="entity-b-valid">
            <a:extLst xmlns:a="http://schemas.openxmlformats.org/drawingml/2006/main">
              <a:ext uri="{FF2B5EF4-FFF2-40B4-BE49-F238E27FC236}">
                <a16:creationId xmlns:a16="http://schemas.microsoft.com/office/drawing/2014/main" id="{37593A2E-AE82-4D1B-BA2E-E496B8A5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8" name="selector">
            <a:extLst xmlns:a="http://schemas.openxmlformats.org/drawingml/2006/main">
              <a:ext uri="{FF2B5EF4-FFF2-40B4-BE49-F238E27FC236}">
                <a16:creationId xmlns:a16="http://schemas.microsoft.com/office/drawing/2014/main" id="{B7A9CB0B-C50E-4651-B774-88890B37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2647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selector q: highest-priority unread</a:t>
            </a:r>
          </a:p>
        </p:txBody>
      </p:sp>
      <p:sp>
        <p:nvSpPr>
          <p:cNvPr id="59" name="action">
            <a:extLst xmlns:a="http://schemas.openxmlformats.org/drawingml/2006/main">
              <a:ext uri="{FF2B5EF4-FFF2-40B4-BE49-F238E27FC236}">
                <a16:creationId xmlns:a16="http://schemas.microsoft.com/office/drawing/2014/main" id="{E0D2D3A9-95D1-43ED-A7FE-7B6D7190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action a: reply(entity)</a:t>
            </a:r>
          </a:p>
        </p:txBody>
      </p:sp>
      <p:sp>
        <p:nvSpPr>
          <p:cNvPr id="60" name="precondition">
            <a:extLst xmlns:a="http://schemas.openxmlformats.org/drawingml/2006/main">
              <a:ext uri="{FF2B5EF4-FFF2-40B4-BE49-F238E27FC236}">
                <a16:creationId xmlns:a16="http://schemas.microsoft.com/office/drawing/2014/main" id="{DE7339C8-3C9F-4FF4-BBFA-95D41566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2647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precondition: old target remains actionable</a:t>
            </a:r>
          </a:p>
        </p:txBody>
      </p:sp>
      <p:sp>
        <p:nvSpPr>
          <p:cNvPr id="61" name="transition-note">
            <a:extLst xmlns:a="http://schemas.openxmlformats.org/drawingml/2006/main">
              <a:ext uri="{FF2B5EF4-FFF2-40B4-BE49-F238E27FC236}">
                <a16:creationId xmlns:a16="http://schemas.microsoft.com/office/drawing/2014/main" id="{31C1F6BA-3375-4534-B133-D50101A9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657350"/>
            <a:ext cx="2800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3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Same S0, S1, q, and action</a:t>
            </a:r>
          </a:p>
        </p:txBody>
      </p:sp>
      <p:sp>
        <p:nvSpPr>
          <p:cNvPr id="62" name="s0-frame">
            <a:extLst xmlns:a="http://schemas.openxmlformats.org/drawingml/2006/main">
              <a:ext uri="{FF2B5EF4-FFF2-40B4-BE49-F238E27FC236}">
                <a16:creationId xmlns:a16="http://schemas.microsoft.com/office/drawing/2014/main" id="{0FDC202B-9DCF-4CB6-9910-47A7273D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14550"/>
            <a:ext cx="1162050" cy="13525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E56D4E"/>
            </a:solidFill>
            <a:prstDash val="solid"/>
          </a:ln>
        </p:spPr>
      </p:sp>
      <p:sp>
        <p:nvSpPr>
          <p:cNvPr id="63" name="s1-frame">
            <a:extLst xmlns:a="http://schemas.openxmlformats.org/drawingml/2006/main">
              <a:ext uri="{FF2B5EF4-FFF2-40B4-BE49-F238E27FC236}">
                <a16:creationId xmlns:a16="http://schemas.microsoft.com/office/drawing/2014/main" id="{19F0C9E5-086B-4D60-9352-4076CADE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1162050" cy="13525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48D82"/>
            </a:solidFill>
            <a:prstDash val="solid"/>
          </a:ln>
        </p:spPr>
      </p:sp>
      <p:sp>
        <p:nvSpPr>
          <p:cNvPr id="64" name="s0-title">
            <a:extLst xmlns:a="http://schemas.openxmlformats.org/drawingml/2006/main">
              <a:ext uri="{FF2B5EF4-FFF2-40B4-BE49-F238E27FC236}">
                <a16:creationId xmlns:a16="http://schemas.microsoft.com/office/drawing/2014/main" id="{52C4CF3D-B8E0-46BF-9DDC-3EF72F5F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09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3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  BEFORE</a:t>
            </a:r>
          </a:p>
        </p:txBody>
      </p:sp>
      <p:sp>
        <p:nvSpPr>
          <p:cNvPr id="65" name="s1-title">
            <a:extLst xmlns:a="http://schemas.openxmlformats.org/drawingml/2006/main">
              <a:ext uri="{FF2B5EF4-FFF2-40B4-BE49-F238E27FC236}">
                <a16:creationId xmlns:a16="http://schemas.microsoft.com/office/drawing/2014/main" id="{769C8458-B692-4DF2-9B5B-BFD25303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09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4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S1  AFTER</a:t>
            </a:r>
          </a:p>
        </p:txBody>
      </p:sp>
      <p:sp>
        <p:nvSpPr>
          <p:cNvPr id="66" name="s0-a">
            <a:extLst xmlns:a="http://schemas.openxmlformats.org/drawingml/2006/main">
              <a:ext uri="{FF2B5EF4-FFF2-40B4-BE49-F238E27FC236}">
                <a16:creationId xmlns:a16="http://schemas.microsoft.com/office/drawing/2014/main" id="{4B0F4FAF-AC04-44FA-9D82-632ABA01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7" name="s1-b">
            <a:extLst xmlns:a="http://schemas.openxmlformats.org/drawingml/2006/main">
              <a:ext uri="{FF2B5EF4-FFF2-40B4-BE49-F238E27FC236}">
                <a16:creationId xmlns:a16="http://schemas.microsoft.com/office/drawing/2014/main" id="{260F5E90-8E7A-4100-88CF-DED1BD5A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717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8" name="s0-winner">
            <a:extLst xmlns:a="http://schemas.openxmlformats.org/drawingml/2006/main">
              <a:ext uri="{FF2B5EF4-FFF2-40B4-BE49-F238E27FC236}">
                <a16:creationId xmlns:a16="http://schemas.microsoft.com/office/drawing/2014/main" id="{9D6EB8F5-E310-4078-902B-9113E232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099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winner</a:t>
            </a:r>
          </a:p>
        </p:txBody>
      </p:sp>
      <p:sp>
        <p:nvSpPr>
          <p:cNvPr id="69" name="s1-winner">
            <a:extLst xmlns:a="http://schemas.openxmlformats.org/drawingml/2006/main">
              <a:ext uri="{FF2B5EF4-FFF2-40B4-BE49-F238E27FC236}">
                <a16:creationId xmlns:a16="http://schemas.microsoft.com/office/drawing/2014/main" id="{4F476F59-B14E-49CF-B328-D18AA155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099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winner</a:t>
            </a:r>
          </a:p>
        </p:txBody>
      </p:sp>
      <p:sp>
        <p:nvSpPr>
          <p:cNvPr id="70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6FE4F816-203B-4BB0-BAF4-6368632C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383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6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71" name="validity-band">
            <a:extLst xmlns:a="http://schemas.openxmlformats.org/drawingml/2006/main">
              <a:ext uri="{FF2B5EF4-FFF2-40B4-BE49-F238E27FC236}">
                <a16:creationId xmlns:a16="http://schemas.microsoft.com/office/drawing/2014/main" id="{F837AB82-4761-427E-81F8-DFD5FAC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14750"/>
            <a:ext cx="27051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0AA84">
              <a:alpha val="6000"/>
            </a:srgbClr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</p:sp>
      <p:sp>
        <p:nvSpPr>
          <p:cNvPr id="72" name="validity-main">
            <a:extLst xmlns:a="http://schemas.openxmlformats.org/drawingml/2006/main">
              <a:ext uri="{FF2B5EF4-FFF2-40B4-BE49-F238E27FC236}">
                <a16:creationId xmlns:a16="http://schemas.microsoft.com/office/drawing/2014/main" id="{E2A43E29-5836-4499-B3DA-5F470805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781425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55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A stays present and action-valid</a:t>
            </a:r>
          </a:p>
        </p:txBody>
      </p:sp>
      <p:sp>
        <p:nvSpPr>
          <p:cNvPr id="73" name="validity-sub">
            <a:extLst xmlns:a="http://schemas.openxmlformats.org/drawingml/2006/main">
              <a:ext uri="{FF2B5EF4-FFF2-40B4-BE49-F238E27FC236}">
                <a16:creationId xmlns:a16="http://schemas.microsoft.com/office/drawing/2014/main" id="{EED0CC13-0DDD-4A38-B7AE-1A9E8A28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086225"/>
            <a:ext cx="2438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58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Only the selector winner changes: A -&gt; B</a:t>
            </a:r>
          </a:p>
        </p:txBody>
      </p:sp>
      <p:sp>
        <p:nvSpPr>
          <p:cNvPr id="74" name="controlled-tag">
            <a:extLst xmlns:a="http://schemas.openxmlformats.org/drawingml/2006/main">
              <a:ext uri="{FF2B5EF4-FFF2-40B4-BE49-F238E27FC236}">
                <a16:creationId xmlns:a16="http://schemas.microsoft.com/office/drawing/2014/main" id="{DF39D5EC-F792-4CBF-95AE-836CDBC6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5339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75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controlled contrast</a:t>
            </a:r>
          </a:p>
        </p:txBody>
      </p:sp>
      <p:sp>
        <p:nvSpPr>
          <p:cNvPr id="75" name="pair-note">
            <a:extLst xmlns:a="http://schemas.openxmlformats.org/drawingml/2006/main">
              <a:ext uri="{FF2B5EF4-FFF2-40B4-BE49-F238E27FC236}">
                <a16:creationId xmlns:a16="http://schemas.microsoft.com/office/drawing/2014/main" id="{EC6F6128-075E-4E10-AB0C-087C99B6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57350"/>
            <a:ext cx="3790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0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Instruction timing chooses the gold target</a:t>
            </a:r>
          </a:p>
        </p:txBody>
      </p:sp>
      <p:sp>
        <p:nvSpPr>
          <p:cNvPr id="76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E86E2AA3-1509-40A2-A24B-2E19F561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3790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56D4E">
              <a:alpha val="5000"/>
            </a:srgbClr>
          </a:solidFill>
          <a:ln xmlns:a="http://schemas.openxmlformats.org/drawingml/2006/main" w="20955">
            <a:solidFill>
              <a:srgbClr val="E56D4E"/>
            </a:solidFill>
            <a:prstDash val="solid"/>
          </a:ln>
        </p:spPr>
      </p:sp>
      <p:sp>
        <p:nvSpPr>
          <p:cNvPr id="77" name="preserve-stripe">
            <a:extLst xmlns:a="http://schemas.openxmlformats.org/drawingml/2006/main">
              <a:ext uri="{FF2B5EF4-FFF2-40B4-BE49-F238E27FC236}">
                <a16:creationId xmlns:a16="http://schemas.microsoft.com/office/drawing/2014/main" id="{1B2844BC-9867-4FC7-B7C3-E41327FB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0">
            <a:solidFill>
              <a:srgbClr val="E56D4E"/>
            </a:solidFill>
            <a:prstDash val="solid"/>
          </a:ln>
        </p:spPr>
      </p:sp>
      <p:sp>
        <p:nvSpPr>
          <p:cNvPr id="78" name="preserve-title">
            <a:extLst xmlns:a="http://schemas.openxmlformats.org/drawingml/2006/main">
              <a:ext uri="{FF2B5EF4-FFF2-40B4-BE49-F238E27FC236}">
                <a16:creationId xmlns:a16="http://schemas.microsoft.com/office/drawing/2014/main" id="{D635CB48-9D19-4F7B-BC54-4CD1466C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79" name="preserve-sub">
            <a:extLst xmlns:a="http://schemas.openxmlformats.org/drawingml/2006/main">
              <a:ext uri="{FF2B5EF4-FFF2-40B4-BE49-F238E27FC236}">
                <a16:creationId xmlns:a16="http://schemas.microsoft.com/office/drawing/2014/main" id="{7C920223-681F-4447-A90C-27BB3297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717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bind before refresh</a:t>
            </a:r>
          </a:p>
        </p:txBody>
      </p:sp>
      <p:sp>
        <p:nvSpPr>
          <p:cNvPr id="80" name="preserve-q">
            <a:extLst xmlns:a="http://schemas.openxmlformats.org/drawingml/2006/main">
              <a:ext uri="{FF2B5EF4-FFF2-40B4-BE49-F238E27FC236}">
                <a16:creationId xmlns:a16="http://schemas.microsoft.com/office/drawing/2014/main" id="{09434F23-CD78-48BF-8A23-9B3B9352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28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81" name="preserve-a">
            <a:extLst xmlns:a="http://schemas.openxmlformats.org/drawingml/2006/main">
              <a:ext uri="{FF2B5EF4-FFF2-40B4-BE49-F238E27FC236}">
                <a16:creationId xmlns:a16="http://schemas.microsoft.com/office/drawing/2014/main" id="{F5B5420E-7F7D-4F08-839E-F33A7210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2002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2" name="preserve-eq">
            <a:extLst xmlns:a="http://schemas.openxmlformats.org/drawingml/2006/main">
              <a:ext uri="{FF2B5EF4-FFF2-40B4-BE49-F238E27FC236}">
                <a16:creationId xmlns:a16="http://schemas.microsoft.com/office/drawing/2014/main" id="{0C823BED-5319-4FAA-A894-CE1124A8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813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q(S0)=A</a:t>
            </a:r>
          </a:p>
        </p:txBody>
      </p:sp>
      <p:sp>
        <p:nvSpPr>
          <p:cNvPr id="83" name="preserve-gold">
            <a:extLst xmlns:a="http://schemas.openxmlformats.org/drawingml/2006/main">
              <a:ext uri="{FF2B5EF4-FFF2-40B4-BE49-F238E27FC236}">
                <a16:creationId xmlns:a16="http://schemas.microsoft.com/office/drawing/2014/main" id="{782231ED-7073-47CA-9E61-E794B99B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7813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gold A</a:t>
            </a:r>
          </a:p>
        </p:txBody>
      </p:sp>
      <p:sp>
        <p:nvSpPr>
          <p:cNvPr id="84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A0BEA66A-DC02-4429-814B-C0B47297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37909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48D82">
              <a:alpha val="5000"/>
            </a:srgbClr>
          </a:solidFill>
          <a:ln xmlns:a="http://schemas.openxmlformats.org/drawingml/2006/main" w="20955">
            <a:solidFill>
              <a:srgbClr val="248D82"/>
            </a:solidFill>
            <a:prstDash val="solid"/>
          </a:ln>
        </p:spPr>
      </p:sp>
      <p:sp>
        <p:nvSpPr>
          <p:cNvPr id="85" name="reevaluate-stripe">
            <a:extLst xmlns:a="http://schemas.openxmlformats.org/drawingml/2006/main">
              <a:ext uri="{FF2B5EF4-FFF2-40B4-BE49-F238E27FC236}">
                <a16:creationId xmlns:a16="http://schemas.microsoft.com/office/drawing/2014/main" id="{E2AD1D0C-57F3-4B24-89FA-641BA1FD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33750"/>
            <a:ext cx="857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86" name="reevaluate-title">
            <a:extLst xmlns:a="http://schemas.openxmlformats.org/drawingml/2006/main">
              <a:ext uri="{FF2B5EF4-FFF2-40B4-BE49-F238E27FC236}">
                <a16:creationId xmlns:a16="http://schemas.microsoft.com/office/drawing/2014/main" id="{E891B353-BAFD-420B-8C0E-EB5549C9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390900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87" name="reevaluate-sub">
            <a:extLst xmlns:a="http://schemas.openxmlformats.org/drawingml/2006/main">
              <a:ext uri="{FF2B5EF4-FFF2-40B4-BE49-F238E27FC236}">
                <a16:creationId xmlns:a16="http://schemas.microsoft.com/office/drawing/2014/main" id="{DE413BEE-DFF2-4755-BB94-A9D7B59F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6671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defer until after refresh</a:t>
            </a:r>
          </a:p>
        </p:txBody>
      </p:sp>
      <p:sp>
        <p:nvSpPr>
          <p:cNvPr id="88" name="reevaluate-q">
            <a:extLst xmlns:a="http://schemas.openxmlformats.org/drawingml/2006/main">
              <a:ext uri="{FF2B5EF4-FFF2-40B4-BE49-F238E27FC236}">
                <a16:creationId xmlns:a16="http://schemas.microsoft.com/office/drawing/2014/main" id="{DC5C520D-62E1-4AEB-8808-E7A1E9F2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5528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89" name="reevaluate-b">
            <a:extLst xmlns:a="http://schemas.openxmlformats.org/drawingml/2006/main">
              <a:ext uri="{FF2B5EF4-FFF2-40B4-BE49-F238E27FC236}">
                <a16:creationId xmlns:a16="http://schemas.microsoft.com/office/drawing/2014/main" id="{48592DB5-D6AD-4541-9BAA-D38A34C5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3524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0" name="reevaluate-eq">
            <a:extLst xmlns:a="http://schemas.openxmlformats.org/drawingml/2006/main">
              <a:ext uri="{FF2B5EF4-FFF2-40B4-BE49-F238E27FC236}">
                <a16:creationId xmlns:a16="http://schemas.microsoft.com/office/drawing/2014/main" id="{16BF9C2D-ABFF-49DB-BEFD-1A17E1EA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052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q(S1)=B</a:t>
            </a:r>
          </a:p>
        </p:txBody>
      </p:sp>
      <p:sp>
        <p:nvSpPr>
          <p:cNvPr id="91" name="reevaluate-gold">
            <a:extLst xmlns:a="http://schemas.openxmlformats.org/drawingml/2006/main">
              <a:ext uri="{FF2B5EF4-FFF2-40B4-BE49-F238E27FC236}">
                <a16:creationId xmlns:a16="http://schemas.microsoft.com/office/drawing/2014/main" id="{C16A0EE5-7ADF-45BD-AB26-E4FC4050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105275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gold B</a:t>
            </a:r>
          </a:p>
        </p:txBody>
      </p:sp>
      <p:sp>
        <p:nvSpPr>
          <p:cNvPr id="92" name="matched-foot">
            <a:extLst xmlns:a="http://schemas.openxmlformats.org/drawingml/2006/main">
              <a:ext uri="{FF2B5EF4-FFF2-40B4-BE49-F238E27FC236}">
                <a16:creationId xmlns:a16="http://schemas.microsoft.com/office/drawing/2014/main" id="{811F6649-95D9-4DB9-BC7B-D114AF56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72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Opposite golds; all task content is shared</a:t>
            </a:r>
          </a:p>
        </p:txBody>
      </p:sp>
      <p:sp>
        <p:nvSpPr>
          <p:cNvPr id="93" name="controller-note">
            <a:extLst xmlns:a="http://schemas.openxmlformats.org/drawingml/2006/main">
              <a:ext uri="{FF2B5EF4-FFF2-40B4-BE49-F238E27FC236}">
                <a16:creationId xmlns:a16="http://schemas.microsoft.com/office/drawing/2014/main" id="{0C1896FD-5DE8-41DE-9BCC-66C87F47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57350"/>
            <a:ext cx="2743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Run both members under one interface</a:t>
            </a:r>
          </a:p>
        </p:txBody>
      </p:sp>
      <p:sp>
        <p:nvSpPr>
          <p:cNvPr id="94" name="controller-box">
            <a:extLst xmlns:a="http://schemas.openxmlformats.org/drawingml/2006/main">
              <a:ext uri="{FF2B5EF4-FFF2-40B4-BE49-F238E27FC236}">
                <a16:creationId xmlns:a16="http://schemas.microsoft.com/office/drawing/2014/main" id="{25D73DFA-BDF4-414C-B5D7-7B45801E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266950"/>
            <a:ext cx="23622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407A7F">
              <a:alpha val="6000"/>
            </a:srgbClr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95" name="controller-robot-antenna">
            <a:extLst xmlns:a="http://schemas.openxmlformats.org/drawingml/2006/main">
              <a:ext uri="{FF2B5EF4-FFF2-40B4-BE49-F238E27FC236}">
                <a16:creationId xmlns:a16="http://schemas.microsoft.com/office/drawing/2014/main" id="{60FD460E-7E51-46D4-AE37-08363D9B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28600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96" name="controller-robot-antenna-tip">
            <a:extLst xmlns:a="http://schemas.openxmlformats.org/drawingml/2006/main">
              <a:ext uri="{FF2B5EF4-FFF2-40B4-BE49-F238E27FC236}">
                <a16:creationId xmlns:a16="http://schemas.microsoft.com/office/drawing/2014/main" id="{FE550464-BBB4-482E-99F4-22AC96DE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38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controller-robot-head">
            <a:extLst xmlns:a="http://schemas.openxmlformats.org/drawingml/2006/main">
              <a:ext uri="{FF2B5EF4-FFF2-40B4-BE49-F238E27FC236}">
                <a16:creationId xmlns:a16="http://schemas.microsoft.com/office/drawing/2014/main" id="{E4B7E428-F9A6-447D-83F8-F3D1D260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2381250"/>
            <a:ext cx="533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98" name="controller-robot-eye-1">
            <a:extLst xmlns:a="http://schemas.openxmlformats.org/drawingml/2006/main">
              <a:ext uri="{FF2B5EF4-FFF2-40B4-BE49-F238E27FC236}">
                <a16:creationId xmlns:a16="http://schemas.microsoft.com/office/drawing/2014/main" id="{CFAD6437-4999-4226-9CE7-4A970943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9263" y="25193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controller-robot-eye-2">
            <a:extLst xmlns:a="http://schemas.openxmlformats.org/drawingml/2006/main">
              <a:ext uri="{FF2B5EF4-FFF2-40B4-BE49-F238E27FC236}">
                <a16:creationId xmlns:a16="http://schemas.microsoft.com/office/drawing/2014/main" id="{A90245B4-A458-4761-B089-46327807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9763" y="25193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controller-robot-mouth">
            <a:extLst xmlns:a="http://schemas.openxmlformats.org/drawingml/2006/main">
              <a:ext uri="{FF2B5EF4-FFF2-40B4-BE49-F238E27FC236}">
                <a16:creationId xmlns:a16="http://schemas.microsoft.com/office/drawing/2014/main" id="{574C1366-BAB2-412B-B8A5-07ED545D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2676525"/>
            <a:ext cx="171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101" name="controller-title">
            <a:extLst xmlns:a="http://schemas.openxmlformats.org/drawingml/2006/main">
              <a:ext uri="{FF2B5EF4-FFF2-40B4-BE49-F238E27FC236}">
                <a16:creationId xmlns:a16="http://schemas.microsoft.com/office/drawing/2014/main" id="{66C68421-55FC-438E-9B35-95889105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80035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CONTROLLER PROBE</a:t>
            </a:r>
          </a:p>
        </p:txBody>
      </p:sp>
      <p:sp>
        <p:nvSpPr>
          <p:cNvPr id="102" name="controller-divider">
            <a:extLst xmlns:a="http://schemas.openxmlformats.org/drawingml/2006/main">
              <a:ext uri="{FF2B5EF4-FFF2-40B4-BE49-F238E27FC236}">
                <a16:creationId xmlns:a16="http://schemas.microsoft.com/office/drawing/2014/main" id="{5C50C993-BA05-43E2-B24F-3A7E130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12420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103" name="controller-input">
            <a:extLst xmlns:a="http://schemas.openxmlformats.org/drawingml/2006/main">
              <a:ext uri="{FF2B5EF4-FFF2-40B4-BE49-F238E27FC236}">
                <a16:creationId xmlns:a16="http://schemas.microsoft.com/office/drawing/2014/main" id="{29D23CE2-FBB5-465E-ABE1-3D660866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0992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13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instruction + state history  -&gt;  selected target ID</a:t>
            </a:r>
          </a:p>
        </p:txBody>
      </p:sp>
      <p:sp>
        <p:nvSpPr>
          <p:cNvPr id="104" name="tp-label">
            <a:extLst xmlns:a="http://schemas.openxmlformats.org/drawingml/2006/main">
              <a:ext uri="{FF2B5EF4-FFF2-40B4-BE49-F238E27FC236}">
                <a16:creationId xmlns:a16="http://schemas.microsoft.com/office/drawing/2014/main" id="{4306DEA5-CD58-4AA5-9140-9494FB6E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379095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1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 output</a:t>
            </a:r>
          </a:p>
        </p:txBody>
      </p:sp>
      <p:sp>
        <p:nvSpPr>
          <p:cNvPr id="105" name="tp-node">
            <a:extLst xmlns:a="http://schemas.openxmlformats.org/drawingml/2006/main">
              <a:ext uri="{FF2B5EF4-FFF2-40B4-BE49-F238E27FC236}">
                <a16:creationId xmlns:a16="http://schemas.microsoft.com/office/drawing/2014/main" id="{869A805B-29A8-4A96-891C-318F7EB6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37338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T_P</a:t>
            </a:r>
          </a:p>
        </p:txBody>
      </p:sp>
      <p:sp>
        <p:nvSpPr>
          <p:cNvPr id="106" name="tr-label">
            <a:extLst xmlns:a="http://schemas.openxmlformats.org/drawingml/2006/main">
              <a:ext uri="{FF2B5EF4-FFF2-40B4-BE49-F238E27FC236}">
                <a16:creationId xmlns:a16="http://schemas.microsoft.com/office/drawing/2014/main" id="{AAC51FF0-FE9A-46C5-8E9C-A8AF4413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42672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 output</a:t>
            </a:r>
          </a:p>
        </p:txBody>
      </p:sp>
      <p:sp>
        <p:nvSpPr>
          <p:cNvPr id="107" name="tr-node">
            <a:extLst xmlns:a="http://schemas.openxmlformats.org/drawingml/2006/main">
              <a:ext uri="{FF2B5EF4-FFF2-40B4-BE49-F238E27FC236}">
                <a16:creationId xmlns:a16="http://schemas.microsoft.com/office/drawing/2014/main" id="{E7B9B8F3-6CC7-4683-8658-2CB0C5CC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4575" y="42100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761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T_R</a:t>
            </a:r>
          </a:p>
        </p:txBody>
      </p:sp>
      <p:sp>
        <p:nvSpPr>
          <p:cNvPr id="108" name="controller-boundary">
            <a:extLst xmlns:a="http://schemas.openxmlformats.org/drawingml/2006/main">
              <a:ext uri="{FF2B5EF4-FFF2-40B4-BE49-F238E27FC236}">
                <a16:creationId xmlns:a16="http://schemas.microsoft.com/office/drawing/2014/main" id="{324DFC6F-CAA5-43EE-9EB6-A7C0438D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4762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92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425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Probe the decision; do not assume an internal mechanism</a:t>
            </a:r>
          </a:p>
        </p:txBody>
      </p:sp>
      <p:sp>
        <p:nvSpPr>
          <p:cNvPr id="109" name="score-band-bg">
            <a:extLst xmlns:a="http://schemas.openxmlformats.org/drawingml/2006/main">
              <a:ext uri="{FF2B5EF4-FFF2-40B4-BE49-F238E27FC236}">
                <a16:creationId xmlns:a16="http://schemas.microsoft.com/office/drawing/2014/main" id="{D434B615-A4AE-44E0-A6B4-6ADFF2AE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44018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64A56"/>
            </a:solidFill>
            <a:prstDash val="solid"/>
          </a:ln>
        </p:spPr>
      </p:sp>
      <p:sp>
        <p:nvSpPr>
          <p:cNvPr id="110" name="score-band-head">
            <a:extLst xmlns:a="http://schemas.openxmlformats.org/drawingml/2006/main">
              <a:ext uri="{FF2B5EF4-FFF2-40B4-BE49-F238E27FC236}">
                <a16:creationId xmlns:a16="http://schemas.microsoft.com/office/drawing/2014/main" id="{8D51C709-0533-41D5-84C8-8889D65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14401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0">
            <a:solidFill>
              <a:srgbClr val="264A56"/>
            </a:solidFill>
            <a:prstDash val="solid"/>
          </a:ln>
        </p:spPr>
      </p:sp>
      <p:sp>
        <p:nvSpPr>
          <p:cNvPr id="111" name="score-band-title">
            <a:extLst xmlns:a="http://schemas.openxmlformats.org/drawingml/2006/main">
              <a:ext uri="{FF2B5EF4-FFF2-40B4-BE49-F238E27FC236}">
                <a16:creationId xmlns:a16="http://schemas.microsoft.com/office/drawing/2014/main" id="{F9888AE8-950E-4575-8B87-616A4B59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403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SCORING: separate joint correctness, post-binding substitution, and executed consequence</a:t>
            </a:r>
          </a:p>
        </p:txBody>
      </p:sp>
      <p:sp>
        <p:nvSpPr>
          <p:cNvPr id="112" name="score-sep-1">
            <a:extLst xmlns:a="http://schemas.openxmlformats.org/drawingml/2006/main">
              <a:ext uri="{FF2B5EF4-FFF2-40B4-BE49-F238E27FC236}">
                <a16:creationId xmlns:a16="http://schemas.microsoft.com/office/drawing/2014/main" id="{95F43258-08C7-4A0B-8298-3607925A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1975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113" name="score-sep-2">
            <a:extLst xmlns:a="http://schemas.openxmlformats.org/drawingml/2006/main">
              <a:ext uri="{FF2B5EF4-FFF2-40B4-BE49-F238E27FC236}">
                <a16:creationId xmlns:a16="http://schemas.microsoft.com/office/drawing/2014/main" id="{0A8D5039-CC14-4930-AC53-3AD6B7EE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61975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114" name="metric-one">
            <a:extLst xmlns:a="http://schemas.openxmlformats.org/drawingml/2006/main">
              <a:ext uri="{FF2B5EF4-FFF2-40B4-BE49-F238E27FC236}">
                <a16:creationId xmlns:a16="http://schemas.microsoft.com/office/drawing/2014/main" id="{DC1C55C4-E7BC-4833-803D-4278491E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8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540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5" name="metric-one-title">
            <a:extLst xmlns:a="http://schemas.openxmlformats.org/drawingml/2006/main">
              <a:ext uri="{FF2B5EF4-FFF2-40B4-BE49-F238E27FC236}">
                <a16:creationId xmlns:a16="http://schemas.microsoft.com/office/drawing/2014/main" id="{F81FC632-A77C-46E2-9E78-3CF30722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CHANGED-WINNER PairAcc</a:t>
            </a:r>
          </a:p>
        </p:txBody>
      </p:sp>
      <p:sp>
        <p:nvSpPr>
          <p:cNvPr id="116" name="metric-one-formula">
            <a:extLst xmlns:a="http://schemas.openxmlformats.org/drawingml/2006/main">
              <a:ext uri="{FF2B5EF4-FFF2-40B4-BE49-F238E27FC236}">
                <a16:creationId xmlns:a16="http://schemas.microsoft.com/office/drawing/2014/main" id="{60EA18B7-E5A0-47F3-849C-98F1D40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 only if  T_P = A  AND  T_R = B</a:t>
            </a:r>
          </a:p>
        </p:txBody>
      </p:sp>
      <p:sp>
        <p:nvSpPr>
          <p:cNvPr id="117" name="metric-one-note">
            <a:extLst xmlns:a="http://schemas.openxmlformats.org/drawingml/2006/main">
              <a:ext uri="{FF2B5EF4-FFF2-40B4-BE49-F238E27FC236}">
                <a16:creationId xmlns:a16="http://schemas.microsoft.com/office/drawing/2014/main" id="{B3848176-D925-4CA1-BFB6-57E5A24A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Rejects Always-Lock and Always-Reevaluate jointly</a:t>
            </a:r>
          </a:p>
        </p:txBody>
      </p:sp>
      <p:sp>
        <p:nvSpPr>
          <p:cNvPr id="118" name="metric-two">
            <a:extLst xmlns:a="http://schemas.openxmlformats.org/drawingml/2006/main">
              <a:ext uri="{FF2B5EF4-FFF2-40B4-BE49-F238E27FC236}">
                <a16:creationId xmlns:a16="http://schemas.microsoft.com/office/drawing/2014/main" id="{C237AEB3-099D-4CA4-B135-CDE87042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78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A464"/>
          </a:solidFill>
          <a:ln xmlns:a="http://schemas.openxmlformats.org/drawingml/2006/main" w="22860">
            <a:solidFill>
              <a:srgbClr val="F1A46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540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9" name="metric-two-title">
            <a:extLst xmlns:a="http://schemas.openxmlformats.org/drawingml/2006/main">
              <a:ext uri="{FF2B5EF4-FFF2-40B4-BE49-F238E27FC236}">
                <a16:creationId xmlns:a16="http://schemas.microsoft.com/office/drawing/2014/main" id="{EB379AE9-6331-4290-AC26-42EBA9B0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340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CONDITIONAL SUBSTITUTION</a:t>
            </a:r>
          </a:p>
        </p:txBody>
      </p:sp>
      <p:sp>
        <p:nvSpPr>
          <p:cNvPr id="120" name="metric-two-formula">
            <a:extLst xmlns:a="http://schemas.openxmlformats.org/drawingml/2006/main">
              <a:ext uri="{FF2B5EF4-FFF2-40B4-BE49-F238E27FC236}">
                <a16:creationId xmlns:a16="http://schemas.microsoft.com/office/drawing/2014/main" id="{E183AF92-D920-4A6C-BCE4-402F68B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17220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Preserve: correct bind A  -&gt;  final target B</a:t>
            </a:r>
          </a:p>
        </p:txBody>
      </p:sp>
      <p:sp>
        <p:nvSpPr>
          <p:cNvPr id="121" name="metric-two-note">
            <a:extLst xmlns:a="http://schemas.openxmlformats.org/drawingml/2006/main">
              <a:ext uri="{FF2B5EF4-FFF2-40B4-BE49-F238E27FC236}">
                <a16:creationId xmlns:a16="http://schemas.microsoft.com/office/drawing/2014/main" id="{71636E85-5D25-449B-95AA-EBE5DF7E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55320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Counts replacement only when A remains valid</a:t>
            </a:r>
          </a:p>
        </p:txBody>
      </p:sp>
      <p:sp>
        <p:nvSpPr>
          <p:cNvPr id="122" name="metric-three">
            <a:extLst xmlns:a="http://schemas.openxmlformats.org/drawingml/2006/main">
              <a:ext uri="{FF2B5EF4-FFF2-40B4-BE49-F238E27FC236}">
                <a16:creationId xmlns:a16="http://schemas.microsoft.com/office/drawing/2014/main" id="{0FC27897-1344-472C-87D6-FF4F6627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57816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2286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540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3" name="metric-three-title">
            <a:extLst xmlns:a="http://schemas.openxmlformats.org/drawingml/2006/main">
              <a:ext uri="{FF2B5EF4-FFF2-40B4-BE49-F238E27FC236}">
                <a16:creationId xmlns:a16="http://schemas.microsoft.com/office/drawing/2014/main" id="{F8DB2CF9-EDA6-4C2A-B18F-2EEBB503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734050"/>
            <a:ext cx="3829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EXECUTED STATE DIFF</a:t>
            </a:r>
          </a:p>
        </p:txBody>
      </p:sp>
      <p:sp>
        <p:nvSpPr>
          <p:cNvPr id="124" name="metric-three-formula">
            <a:extLst xmlns:a="http://schemas.openxmlformats.org/drawingml/2006/main">
              <a:ext uri="{FF2B5EF4-FFF2-40B4-BE49-F238E27FC236}">
                <a16:creationId xmlns:a16="http://schemas.microsoft.com/office/drawing/2014/main" id="{5130EE7E-63DF-431B-872C-95743EDE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722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72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selected ID  -&gt;  model-issued write  -&gt;  final state</a:t>
            </a:r>
          </a:p>
        </p:txBody>
      </p:sp>
      <p:sp>
        <p:nvSpPr>
          <p:cNvPr id="125" name="metric-three-note">
            <a:extLst xmlns:a="http://schemas.openxmlformats.org/drawingml/2006/main">
              <a:ext uri="{FF2B5EF4-FFF2-40B4-BE49-F238E27FC236}">
                <a16:creationId xmlns:a16="http://schemas.microsoft.com/office/drawing/2014/main" id="{2CAEABB5-CF15-471D-A628-A5226CEE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5532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0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75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Localizes which entity actually received the action</a:t>
            </a:r>
          </a:p>
        </p:txBody>
      </p:sp>
    </p:spTree>
    <p:extLst>
      <p:ext uri="{BB962C8B-B14F-4D97-AF65-F5344CB8AC3E}">
        <p14:creationId xmlns:p14="http://schemas.microsoft.com/office/powerpoint/2010/main" val="512038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2026-07-28T08:57:03.5890000Z</dcterms:created>
  <dcterms:modified xsi:type="dcterms:W3CDTF">2026-07-28T08:57:03.5890000Z</dcterms:modified>
</coreProperties>
</file>
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0676ee8ec94ae4" /><Relationship Type="http://schemas.openxmlformats.org/officeDocument/2006/relationships/extended-properties" Target="/docProps/app.xml" Id="R41eeeb867a484e7d" /><Relationship Type="http://schemas.openxmlformats.org/officeDocument/2006/relationships/officeDocument" Target="/ppt/presentation.xml" Id="R2935c414bb0942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32d0c959cc48eb"/>
  </p:sldMasterIdLst>
  <p:notesMasterIdLst>
    <p:notesMasterId xmlns:r="http://schemas.openxmlformats.org/officeDocument/2006/relationships" r:id="R9a4dfe1e3fda407d"/>
  </p:notesMasterIdLst>
  <p:sldIdLst>
    <p:sldId xmlns:r="http://schemas.openxmlformats.org/officeDocument/2006/relationships" id="256" r:id="R055f4083e8974587"/>
  </p:sldIdLst>
  <p:sldSz cx="13335000" cy="476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b2bb1de74c4612" /><Relationship Type="http://schemas.openxmlformats.org/officeDocument/2006/relationships/slideMaster" Target="/ppt/slideMasters/slideMaster1.xml" Id="R0132d0c959cc48eb" /><Relationship Type="http://schemas.openxmlformats.org/officeDocument/2006/relationships/notesMaster" Target="/ppt/notesMasters/notesMaster1.xml" Id="R9a4dfe1e3fda407d" /><Relationship Type="http://schemas.openxmlformats.org/officeDocument/2006/relationships/presProps" Target="/ppt/presProps.xml" Id="R04c4e10901604ce3" /><Relationship Type="http://schemas.openxmlformats.org/officeDocument/2006/relationships/tableStyles" Target="/ppt/tableStyles.xml" Id="Rf748f98f9736443b" /><Relationship Type="http://schemas.openxmlformats.org/officeDocument/2006/relationships/slide" Target="/ppt/slides/slide1.xml" Id="R055f4083e89745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c377762dbf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d767f30d2844a9" /><Relationship Type="http://schemas.openxmlformats.org/officeDocument/2006/relationships/notesMaster" Target="/ppt/notesMasters/notesMaster1.xml" Id="R987b4992450345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 Figure 1: palette and heading family.</a:t>
            </a:r>
          </a:p>
          <a:p xmlns:a="http://schemas.openxmlformats.org/drawingml/2006/main">
            <a:r>
              <a:t>- draw_learning/01407-AAAI24.ZhaoA.pdf: large aligned regions.</a:t>
            </a:r>
          </a:p>
          <a:p xmlns:a="http://schemas.openxmlformats.org/drawingml/2006/main">
            <a:r>
              <a:t>- draw_learning/accept_ACL_4820_Revealing_Procedural_Reas.pdf: single-baseline method flow.</a:t>
            </a:r>
          </a:p>
          <a:p xmlns:a="http://schemas.openxmlformats.org/drawingml/2006/main">
            <a:r>
              <a:t>- draw_learning/26253-AAAI26.GuoZ-NLP.pdf: horizontal semantic bands.</a:t>
            </a:r>
          </a:p>
          <a:p xmlns:a="http://schemas.openxmlformats.org/drawingml/2006/main">
            <a:r>
              <a:t>- draw_learning/16627-AAAI26.WangZ-NLP.pdf: compact outcome rows.</a:t>
            </a:r>
          </a:p>
          <a:p xmlns:a="http://schemas.openxmlformats.org/drawingml/2006/main">
            <a:r>
              <a:t>- Anonymous TRI manuscript: all scientific labels and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be763f510744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f75455d4e34199" /><Relationship Type="http://schemas.openxmlformats.org/officeDocument/2006/relationships/slideLayout" Target="/ppt/slideLayouts/slideLayout1.xml" Id="R6d3970d876e947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3970d876e947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125121e6d4c81" /><Relationship Type="http://schemas.openxmlformats.org/officeDocument/2006/relationships/image" Target="/ppt/media/image.png" Id="Ra4027e91f1d1437d" /><Relationship Type="http://schemas.openxmlformats.org/officeDocument/2006/relationships/image" Target="/ppt/media/image.svg" Id="R5c309db91d0d4026" /><Relationship Type="http://schemas.openxmlformats.org/officeDocument/2006/relationships/image" Target="/ppt/media/image2.png" Id="R6b9dfa4cfdf6472b" /><Relationship Type="http://schemas.openxmlformats.org/officeDocument/2006/relationships/image" Target="/ppt/media/image2.svg" Id="Ra64dc6a0a72e43ad" /><Relationship Type="http://schemas.openxmlformats.org/officeDocument/2006/relationships/image" Target="/ppt/media/image3.png" Id="Rde00626b4d1e4319" /><Relationship Type="http://schemas.openxmlformats.org/officeDocument/2006/relationships/image" Target="/ppt/media/image3.svg" Id="Rb0a96004883743e5" /><Relationship Type="http://schemas.openxmlformats.org/officeDocument/2006/relationships/image" Target="/ppt/media/image4.png" Id="R8f3d36ef39314521" /><Relationship Type="http://schemas.openxmlformats.org/officeDocument/2006/relationships/image" Target="/ppt/media/image4.svg" Id="Rb529203148574225" /><Relationship Type="http://schemas.openxmlformats.org/officeDocument/2006/relationships/notesSlide" Target="/ppt/notesSlides/notesSlide1.xml" Id="Re27dd0af00914c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divider-ab">
            <a:extLst xmlns:a="http://schemas.openxmlformats.org/drawingml/2006/main">
              <a:ext uri="{FF2B5EF4-FFF2-40B4-BE49-F238E27FC236}">
                <a16:creationId xmlns:a16="http://schemas.microsoft.com/office/drawing/2014/main" id="{7BF0C8F9-207E-4990-B0A0-C0A46E05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2" name="divider-bc">
            <a:extLst xmlns:a="http://schemas.openxmlformats.org/drawingml/2006/main">
              <a:ext uri="{FF2B5EF4-FFF2-40B4-BE49-F238E27FC236}">
                <a16:creationId xmlns:a16="http://schemas.microsoft.com/office/drawing/2014/main" id="{2CA33DCA-1B68-434F-9535-3090ABDA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90500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3" name="phase-A">
            <a:extLst xmlns:a="http://schemas.openxmlformats.org/drawingml/2006/main">
              <a:ext uri="{FF2B5EF4-FFF2-40B4-BE49-F238E27FC236}">
                <a16:creationId xmlns:a16="http://schemas.microsoft.com/office/drawing/2014/main" id="{C3DAD574-319D-4367-B32E-21E3A2E3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13335">
            <a:solidFill>
              <a:srgbClr val="264A5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" name="phase-A-title">
            <a:extLst xmlns:a="http://schemas.openxmlformats.org/drawingml/2006/main">
              <a:ext uri="{FF2B5EF4-FFF2-40B4-BE49-F238E27FC236}">
                <a16:creationId xmlns:a16="http://schemas.microsoft.com/office/drawing/2014/main" id="{B3739B13-7B89-43D7-88DD-3A7C7FB1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691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0D0E"/>
                </a:solidFill>
              </a:defRPr>
            </a:pPr>
            <a:r>
              <a:rPr sz="1500" b="1" i="0">
                <a:solidFill>
                  <a:srgbClr val="0D0D0E"/>
                </a:solidFill>
              </a:rPr>
              <a:t>Construct the matched pair</a:t>
            </a:r>
          </a:p>
        </p:txBody>
      </p:sp>
      <p:sp>
        <p:nvSpPr>
          <p:cNvPr id="5" name="phase-B">
            <a:extLst xmlns:a="http://schemas.openxmlformats.org/drawingml/2006/main">
              <a:ext uri="{FF2B5EF4-FFF2-40B4-BE49-F238E27FC236}">
                <a16:creationId xmlns:a16="http://schemas.microsoft.com/office/drawing/2014/main" id="{A1990AD1-DB0C-41CB-9FF6-A1347B13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3335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" name="phase-B-title">
            <a:extLst xmlns:a="http://schemas.openxmlformats.org/drawingml/2006/main">
              <a:ext uri="{FF2B5EF4-FFF2-40B4-BE49-F238E27FC236}">
                <a16:creationId xmlns:a16="http://schemas.microsoft.com/office/drawing/2014/main" id="{07E029B7-F53C-4140-8DCF-8161D679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19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0D0E"/>
                </a:solidFill>
              </a:defRPr>
            </a:pPr>
            <a:r>
              <a:rPr sz="1500" b="1" i="0">
                <a:solidFill>
                  <a:srgbClr val="0D0D0E"/>
                </a:solidFill>
              </a:rPr>
              <a:t>Run the pair</a:t>
            </a:r>
          </a:p>
        </p:txBody>
      </p:sp>
      <p:sp>
        <p:nvSpPr>
          <p:cNvPr id="7" name="phase-C">
            <a:extLst xmlns:a="http://schemas.openxmlformats.org/drawingml/2006/main">
              <a:ext uri="{FF2B5EF4-FFF2-40B4-BE49-F238E27FC236}">
                <a16:creationId xmlns:a16="http://schemas.microsoft.com/office/drawing/2014/main" id="{089FF959-668E-460D-ADC8-9FFBB4A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13335">
            <a:solidFill>
              <a:srgbClr val="264A5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" name="phase-C-title">
            <a:extLst xmlns:a="http://schemas.openxmlformats.org/drawingml/2006/main">
              <a:ext uri="{FF2B5EF4-FFF2-40B4-BE49-F238E27FC236}">
                <a16:creationId xmlns:a16="http://schemas.microsoft.com/office/drawing/2014/main" id="{59D87EAB-AC83-49C9-AB6C-E360E73F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6192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0D0E"/>
                </a:solidFill>
              </a:defRPr>
            </a:pPr>
            <a:r>
              <a:rPr sz="1500" b="1" i="0">
                <a:solidFill>
                  <a:srgbClr val="0D0D0E"/>
                </a:solidFill>
              </a:rPr>
              <a:t>Readouts</a:t>
            </a:r>
          </a:p>
        </p:txBody>
      </p:sp>
      <p:sp>
        <p:nvSpPr>
          <p:cNvPr id="9" name="contract">
            <a:extLst xmlns:a="http://schemas.openxmlformats.org/drawingml/2006/main">
              <a:ext uri="{FF2B5EF4-FFF2-40B4-BE49-F238E27FC236}">
                <a16:creationId xmlns:a16="http://schemas.microsoft.com/office/drawing/2014/main" id="{F0653C4D-D513-4DED-8108-A95B930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"/>
            <a:ext cx="7143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27e91f1d1437d">
            <a:extLst>
              <a:ext uri="{96DAC541-7B7A-43D3-8B79-37D633B846F1}">
                <asvg:svgBlip xmlns:asvg="http://schemas.microsoft.com/office/drawing/2016/SVG/main" r:embed="R5c309db91d0d40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7715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fixed-label">
            <a:extLst xmlns:a="http://schemas.openxmlformats.org/drawingml/2006/main">
              <a:ext uri="{FF2B5EF4-FFF2-40B4-BE49-F238E27FC236}">
                <a16:creationId xmlns:a16="http://schemas.microsoft.com/office/drawing/2014/main" id="{F10C1DBB-36F9-4CDE-BDC6-466682E2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29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7A7F"/>
                </a:solidFill>
              </a:defRPr>
            </a:pPr>
            <a:r>
              <a:rPr sz="750" b="1" i="0">
                <a:solidFill>
                  <a:srgbClr val="407A7F"/>
                </a:solidFill>
              </a:rPr>
              <a:t>FIXED CONTRACT</a:t>
            </a:r>
          </a:p>
        </p:txBody>
      </p:sp>
      <p:sp>
        <p:nvSpPr>
          <p:cNvPr id="12" name="fixed-items">
            <a:extLst xmlns:a="http://schemas.openxmlformats.org/drawingml/2006/main">
              <a:ext uri="{FF2B5EF4-FFF2-40B4-BE49-F238E27FC236}">
                <a16:creationId xmlns:a16="http://schemas.microsoft.com/office/drawing/2014/main" id="{C229C186-BC93-456B-82FC-AFB0C98B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42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64A56"/>
                </a:solidFill>
              </a:defRPr>
            </a:pPr>
            <a:r>
              <a:rPr sz="900" b="1" i="0">
                <a:solidFill>
                  <a:srgbClr val="264A56"/>
                </a:solidFill>
              </a:rPr>
              <a:t>S0, S1, q, action, schema, I/O</a:t>
            </a:r>
          </a:p>
        </p:txBody>
      </p:sp>
      <p:sp>
        <p:nvSpPr>
          <p:cNvPr id="13" name="change-label">
            <a:extLst xmlns:a="http://schemas.openxmlformats.org/drawingml/2006/main">
              <a:ext uri="{FF2B5EF4-FFF2-40B4-BE49-F238E27FC236}">
                <a16:creationId xmlns:a16="http://schemas.microsoft.com/office/drawing/2014/main" id="{591A8986-F0F8-438C-A990-D4E063AF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7429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48D82"/>
                </a:solidFill>
              </a:defRPr>
            </a:pPr>
            <a:r>
              <a:rPr sz="750" b="1" i="0">
                <a:solidFill>
                  <a:srgbClr val="248D82"/>
                </a:solidFill>
              </a:rPr>
              <a:t>ONLY CHANGE</a:t>
            </a:r>
          </a:p>
        </p:txBody>
      </p:sp>
      <p:sp>
        <p:nvSpPr>
          <p:cNvPr id="14" name="change-items">
            <a:extLst xmlns:a="http://schemas.openxmlformats.org/drawingml/2006/main">
              <a:ext uri="{FF2B5EF4-FFF2-40B4-BE49-F238E27FC236}">
                <a16:creationId xmlns:a16="http://schemas.microsoft.com/office/drawing/2014/main" id="{E344CD5C-537D-4EC6-BA66-8B47F82D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7429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8D82"/>
                </a:solidFill>
              </a:defRPr>
            </a:pPr>
            <a:r>
              <a:rPr sz="825" b="1" i="0">
                <a:solidFill>
                  <a:srgbClr val="248D82"/>
                </a:solidFill>
              </a:rPr>
              <a:t>commit point</a:t>
            </a:r>
          </a:p>
        </p:txBody>
      </p:sp>
      <p:sp>
        <p:nvSpPr>
          <p:cNvPr id="15" name="preserve-rule">
            <a:extLst xmlns:a="http://schemas.openxmlformats.org/drawingml/2006/main">
              <a:ext uri="{FF2B5EF4-FFF2-40B4-BE49-F238E27FC236}">
                <a16:creationId xmlns:a16="http://schemas.microsoft.com/office/drawing/2014/main" id="{F2F4F636-043A-45DA-88CD-51A4B532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85875"/>
            <a:ext cx="714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sp>
        <p:nvSpPr>
          <p:cNvPr id="16" name="preserve-anchor">
            <a:extLst xmlns:a="http://schemas.openxmlformats.org/drawingml/2006/main">
              <a:ext uri="{FF2B5EF4-FFF2-40B4-BE49-F238E27FC236}">
                <a16:creationId xmlns:a16="http://schemas.microsoft.com/office/drawing/2014/main" id="{FA0474F2-633D-457A-B070-76393960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66925" cy="628650"/>
          </a:xfrm>
          <a:prstGeom xmlns:a="http://schemas.openxmlformats.org/drawingml/2006/main" prst="roundRect">
            <a:avLst>
              <a:gd name="adj" fmla="val 303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reserve-token">
            <a:extLst xmlns:a="http://schemas.openxmlformats.org/drawingml/2006/main">
              <a:ext uri="{FF2B5EF4-FFF2-40B4-BE49-F238E27FC236}">
                <a16:creationId xmlns:a16="http://schemas.microsoft.com/office/drawing/2014/main" id="{84EFB63D-8354-4444-8E05-4B1FE4E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13335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8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3BD63AB4-4046-4BED-8FC3-4CAD1CF9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001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12A36"/>
                </a:solidFill>
              </a:defRPr>
            </a:pPr>
            <a:r>
              <a:rPr sz="1200" b="1" i="0">
                <a:solidFill>
                  <a:srgbClr val="C12A36"/>
                </a:solidFill>
              </a:rPr>
              <a:t>PRESERVE</a:t>
            </a:r>
          </a:p>
        </p:txBody>
      </p:sp>
      <p:sp>
        <p:nvSpPr>
          <p:cNvPr id="19" name="preserve-body">
            <a:extLst xmlns:a="http://schemas.openxmlformats.org/drawingml/2006/main">
              <a:ext uri="{FF2B5EF4-FFF2-40B4-BE49-F238E27FC236}">
                <a16:creationId xmlns:a16="http://schemas.microsoft.com/office/drawing/2014/main" id="{5B768956-3623-4E69-87B0-C81FB950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12A36"/>
                </a:solidFill>
              </a:defRPr>
            </a:pPr>
            <a:r>
              <a:rPr sz="975" b="1" i="0">
                <a:solidFill>
                  <a:srgbClr val="C12A36"/>
                </a:solidFill>
              </a:rPr>
              <a:t>commit at S0</a:t>
            </a:r>
          </a:p>
        </p:txBody>
      </p:sp>
      <p:sp>
        <p:nvSpPr>
          <p:cNvPr id="20" name="bind-box">
            <a:extLst xmlns:a="http://schemas.openxmlformats.org/drawingml/2006/main">
              <a:ext uri="{FF2B5EF4-FFF2-40B4-BE49-F238E27FC236}">
                <a16:creationId xmlns:a16="http://schemas.microsoft.com/office/drawing/2014/main" id="{9F8837C8-F807-450C-9FCE-F13C79E7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382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12A36"/>
            </a:solidFill>
            <a:prstDash val="solid"/>
          </a:ln>
        </p:spPr>
      </p:sp>
      <p:sp>
        <p:nvSpPr>
          <p:cNvPr id="21" name="bind-text">
            <a:extLst xmlns:a="http://schemas.openxmlformats.org/drawingml/2006/main">
              <a:ext uri="{FF2B5EF4-FFF2-40B4-BE49-F238E27FC236}">
                <a16:creationId xmlns:a16="http://schemas.microsoft.com/office/drawing/2014/main" id="{89E0FB7D-A437-4D7B-98CA-AB12301E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859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12A36"/>
                </a:solidFill>
              </a:defRPr>
            </a:pPr>
            <a:r>
              <a:rPr sz="1050" b="1" i="0">
                <a:solidFill>
                  <a:srgbClr val="C12A36"/>
                </a:solidFill>
              </a:rPr>
              <a:t>bind q to A</a:t>
            </a:r>
          </a:p>
        </p:txBody>
      </p:sp>
      <p:sp>
        <p:nvSpPr>
          <p:cNvPr id="22" name="gold-a-box">
            <a:extLst xmlns:a="http://schemas.openxmlformats.org/drawingml/2006/main">
              <a:ext uri="{FF2B5EF4-FFF2-40B4-BE49-F238E27FC236}">
                <a16:creationId xmlns:a16="http://schemas.microsoft.com/office/drawing/2014/main" id="{535C576D-18BA-4FBE-8E03-4912A9DB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66850"/>
            <a:ext cx="7810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12A36"/>
            </a:solidFill>
            <a:prstDash val="solid"/>
          </a:ln>
        </p:spPr>
      </p:sp>
      <p:sp>
        <p:nvSpPr>
          <p:cNvPr id="23" name="gold-a-text">
            <a:extLst xmlns:a="http://schemas.openxmlformats.org/drawingml/2006/main">
              <a:ext uri="{FF2B5EF4-FFF2-40B4-BE49-F238E27FC236}">
                <a16:creationId xmlns:a16="http://schemas.microsoft.com/office/drawing/2014/main" id="{74C73123-9DC3-4A5F-88D7-0963705E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144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12A36"/>
                </a:solidFill>
              </a:defRPr>
            </a:pPr>
            <a:r>
              <a:rPr sz="975" b="1" i="0">
                <a:solidFill>
                  <a:srgbClr val="C12A36"/>
                </a:solidFill>
              </a:rPr>
              <a:t>gold A</a:t>
            </a:r>
          </a:p>
        </p:txBody>
      </p:sp>
      <p:cxnSp>
        <p:nvCxnSpPr>
          <p:cNvPr id="129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524125" y="1714500"/>
            <a:ext cx="3333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0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476750" y="17145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6" name="state-rule-top">
            <a:extLst xmlns:a="http://schemas.openxmlformats.org/drawingml/2006/main">
              <a:ext uri="{FF2B5EF4-FFF2-40B4-BE49-F238E27FC236}">
                <a16:creationId xmlns:a16="http://schemas.microsoft.com/office/drawing/2014/main" id="{329D7781-B840-4635-A8BE-C23F1A8C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86000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27" name="state-rule-bottom">
            <a:extLst xmlns:a="http://schemas.openxmlformats.org/drawingml/2006/main">
              <a:ext uri="{FF2B5EF4-FFF2-40B4-BE49-F238E27FC236}">
                <a16:creationId xmlns:a16="http://schemas.microsoft.com/office/drawing/2014/main" id="{BDE7A3A7-DAF4-4BE6-B56C-D2242E14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33750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28" name="shared-state-title">
            <a:extLst xmlns:a="http://schemas.openxmlformats.org/drawingml/2006/main">
              <a:ext uri="{FF2B5EF4-FFF2-40B4-BE49-F238E27FC236}">
                <a16:creationId xmlns:a16="http://schemas.microsoft.com/office/drawing/2014/main" id="{B3237A14-AA9C-4845-A958-646BFEAB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07A7F"/>
                </a:solidFill>
              </a:defRPr>
            </a:pPr>
            <a:r>
              <a:rPr sz="1125" b="1" i="0">
                <a:solidFill>
                  <a:srgbClr val="407A7F"/>
                </a:solidFill>
              </a:rPr>
              <a:t>SHARED STATE</a:t>
            </a:r>
          </a:p>
        </p:txBody>
      </p:sp>
      <p:sp>
        <p:nvSpPr>
          <p:cNvPr id="29" name="shared-state-note">
            <a:extLst xmlns:a="http://schemas.openxmlformats.org/drawingml/2006/main">
              <a:ext uri="{FF2B5EF4-FFF2-40B4-BE49-F238E27FC236}">
                <a16:creationId xmlns:a16="http://schemas.microsoft.com/office/drawing/2014/main" id="{1BD6CF4B-E77A-4637-BE64-4AEE8ACD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708084"/>
                </a:solidFill>
              </a:defRPr>
            </a:pPr>
            <a:r>
              <a:rPr sz="825" b="0" i="1">
                <a:solidFill>
                  <a:srgbClr val="708084"/>
                </a:solidFill>
              </a:rPr>
              <a:t>same transition</a:t>
            </a:r>
          </a:p>
        </p:txBody>
      </p:sp>
      <p:sp>
        <p:nvSpPr>
          <p:cNvPr id="30" name="state-s0">
            <a:extLst xmlns:a="http://schemas.openxmlformats.org/drawingml/2006/main">
              <a:ext uri="{FF2B5EF4-FFF2-40B4-BE49-F238E27FC236}">
                <a16:creationId xmlns:a16="http://schemas.microsoft.com/office/drawing/2014/main" id="{41E02A73-F138-46A5-B518-E2693B03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28875"/>
            <a:ext cx="1381125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sp>
        <p:nvSpPr>
          <p:cNvPr id="31" name="state-s0-label">
            <a:extLst xmlns:a="http://schemas.openxmlformats.org/drawingml/2006/main">
              <a:ext uri="{FF2B5EF4-FFF2-40B4-BE49-F238E27FC236}">
                <a16:creationId xmlns:a16="http://schemas.microsoft.com/office/drawing/2014/main" id="{B7A1C277-B9DA-48D3-8F27-0165595C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9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1">
                <a:solidFill>
                  <a:srgbClr val="264A56"/>
                </a:solidFill>
              </a:defRPr>
            </a:pPr>
            <a:r>
              <a:rPr sz="975" b="1" i="1">
                <a:solidFill>
                  <a:srgbClr val="264A56"/>
                </a:solidFill>
              </a:rPr>
              <a:t>S0</a:t>
            </a:r>
          </a:p>
        </p:txBody>
      </p:sp>
      <p:sp>
        <p:nvSpPr>
          <p:cNvPr id="32" name="state-s0-query">
            <a:extLst xmlns:a="http://schemas.openxmlformats.org/drawingml/2006/main">
              <a:ext uri="{FF2B5EF4-FFF2-40B4-BE49-F238E27FC236}">
                <a16:creationId xmlns:a16="http://schemas.microsoft.com/office/drawing/2014/main" id="{A4AED594-2EC9-4D1D-8AC9-DA5A60E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733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1">
                <a:solidFill>
                  <a:srgbClr val="3E4A4E"/>
                </a:solidFill>
              </a:defRPr>
            </a:pPr>
            <a:r>
              <a:rPr sz="825" b="0" i="1">
                <a:solidFill>
                  <a:srgbClr val="3E4A4E"/>
                </a:solidFill>
              </a:rPr>
              <a:t>q(S0)=A</a:t>
            </a:r>
          </a:p>
        </p:txBody>
      </p:sp>
      <p:sp>
        <p:nvSpPr>
          <p:cNvPr id="33" name="state-s0-rule">
            <a:extLst xmlns:a="http://schemas.openxmlformats.org/drawingml/2006/main">
              <a:ext uri="{FF2B5EF4-FFF2-40B4-BE49-F238E27FC236}">
                <a16:creationId xmlns:a16="http://schemas.microsoft.com/office/drawing/2014/main" id="{DDA976AF-3B5D-47CF-9479-F4BCF90B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71775"/>
            <a:ext cx="119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34" name="state-s0-winner-box">
            <a:extLst xmlns:a="http://schemas.openxmlformats.org/drawingml/2006/main">
              <a:ext uri="{FF2B5EF4-FFF2-40B4-BE49-F238E27FC236}">
                <a16:creationId xmlns:a16="http://schemas.microsoft.com/office/drawing/2014/main" id="{5CB841D3-BAC8-404E-8D16-893F7097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904875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8E9"/>
          </a:solidFill>
          <a:ln xmlns:a="http://schemas.openxmlformats.org/drawingml/2006/main" w="17145">
            <a:solidFill>
              <a:srgbClr val="C12A36"/>
            </a:solidFill>
            <a:prstDash val="solid"/>
          </a:ln>
        </p:spPr>
      </p:sp>
      <p:sp>
        <p:nvSpPr>
          <p:cNvPr id="35" name="state-s0-winner-text">
            <a:extLst xmlns:a="http://schemas.openxmlformats.org/drawingml/2006/main">
              <a:ext uri="{FF2B5EF4-FFF2-40B4-BE49-F238E27FC236}">
                <a16:creationId xmlns:a16="http://schemas.microsoft.com/office/drawing/2014/main" id="{037AAF4D-BF84-4776-9E53-1B8D86AC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886075"/>
            <a:ext cx="752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12A36"/>
                </a:solidFill>
              </a:defRPr>
            </a:pPr>
            <a:r>
              <a:rPr sz="825" b="1" i="0">
                <a:solidFill>
                  <a:srgbClr val="C12A36"/>
                </a:solidFill>
              </a:rPr>
              <a:t>A wins</a:t>
            </a:r>
          </a:p>
        </p:txBody>
      </p:sp>
      <p:sp>
        <p:nvSpPr>
          <p:cNvPr id="36" name="refresh">
            <a:extLst xmlns:a="http://schemas.openxmlformats.org/drawingml/2006/main">
              <a:ext uri="{FF2B5EF4-FFF2-40B4-BE49-F238E27FC236}">
                <a16:creationId xmlns:a16="http://schemas.microsoft.com/office/drawing/2014/main" id="{13A85733-98AA-4435-9A39-EF1F48E0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47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E"/>
          </a:solidFill>
          <a:ln xmlns:a="http://schemas.openxmlformats.org/drawingml/2006/main" w="19050">
            <a:solidFill>
              <a:srgbClr val="EABC6B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dfa4cfdf6472b">
            <a:extLst>
              <a:ext uri="{96DAC541-7B7A-43D3-8B79-37D633B846F1}">
                <asvg:svgBlip xmlns:asvg="http://schemas.microsoft.com/office/drawing/2016/SVG/main" r:embed="Ra64dc6a0a72e43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25527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8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05C0B445-D0E6-4CA1-9D67-15162A28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623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64A56"/>
                </a:solidFill>
              </a:defRPr>
            </a:pPr>
            <a:r>
              <a:rPr sz="750" b="1" i="0">
                <a:solidFill>
                  <a:srgbClr val="264A56"/>
                </a:solidFill>
              </a:rPr>
              <a:t>refresh</a:t>
            </a:r>
          </a:p>
        </p:txBody>
      </p:sp>
      <p:sp>
        <p:nvSpPr>
          <p:cNvPr id="39" name="state-s1">
            <a:extLst xmlns:a="http://schemas.openxmlformats.org/drawingml/2006/main">
              <a:ext uri="{FF2B5EF4-FFF2-40B4-BE49-F238E27FC236}">
                <a16:creationId xmlns:a16="http://schemas.microsoft.com/office/drawing/2014/main" id="{AC6B9E66-8691-48F4-BDED-1BB01B72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28875"/>
            <a:ext cx="18097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sp>
        <p:nvSpPr>
          <p:cNvPr id="40" name="state-s1-label">
            <a:extLst xmlns:a="http://schemas.openxmlformats.org/drawingml/2006/main">
              <a:ext uri="{FF2B5EF4-FFF2-40B4-BE49-F238E27FC236}">
                <a16:creationId xmlns:a16="http://schemas.microsoft.com/office/drawing/2014/main" id="{E15FF521-FF1E-4C10-8FBC-4ABC9298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9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1">
                <a:solidFill>
                  <a:srgbClr val="264A56"/>
                </a:solidFill>
              </a:defRPr>
            </a:pPr>
            <a:r>
              <a:rPr sz="975" b="1" i="1">
                <a:solidFill>
                  <a:srgbClr val="264A56"/>
                </a:solidFill>
              </a:rPr>
              <a:t>S1</a:t>
            </a:r>
          </a:p>
        </p:txBody>
      </p:sp>
      <p:sp>
        <p:nvSpPr>
          <p:cNvPr id="41" name="state-s1-query">
            <a:extLst xmlns:a="http://schemas.openxmlformats.org/drawingml/2006/main">
              <a:ext uri="{FF2B5EF4-FFF2-40B4-BE49-F238E27FC236}">
                <a16:creationId xmlns:a16="http://schemas.microsoft.com/office/drawing/2014/main" id="{751EF567-D73A-4B93-8BC5-98F65406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955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1">
                <a:solidFill>
                  <a:srgbClr val="3E4A4E"/>
                </a:solidFill>
              </a:defRPr>
            </a:pPr>
            <a:r>
              <a:rPr sz="825" b="0" i="1">
                <a:solidFill>
                  <a:srgbClr val="3E4A4E"/>
                </a:solidFill>
              </a:rPr>
              <a:t>q(S1)=B</a:t>
            </a:r>
          </a:p>
        </p:txBody>
      </p:sp>
      <p:sp>
        <p:nvSpPr>
          <p:cNvPr id="42" name="state-s1-rule">
            <a:extLst xmlns:a="http://schemas.openxmlformats.org/drawingml/2006/main">
              <a:ext uri="{FF2B5EF4-FFF2-40B4-BE49-F238E27FC236}">
                <a16:creationId xmlns:a16="http://schemas.microsoft.com/office/drawing/2014/main" id="{91C9925C-ACBB-41DB-8B38-3013386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717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43" name="state-s1-winner-box">
            <a:extLst xmlns:a="http://schemas.openxmlformats.org/drawingml/2006/main">
              <a:ext uri="{FF2B5EF4-FFF2-40B4-BE49-F238E27FC236}">
                <a16:creationId xmlns:a16="http://schemas.microsoft.com/office/drawing/2014/main" id="{22F2AC7D-AF3E-447C-9EC6-38170E8C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38450"/>
            <a:ext cx="7810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44" name="state-s1-winner-text">
            <a:extLst xmlns:a="http://schemas.openxmlformats.org/drawingml/2006/main">
              <a:ext uri="{FF2B5EF4-FFF2-40B4-BE49-F238E27FC236}">
                <a16:creationId xmlns:a16="http://schemas.microsoft.com/office/drawing/2014/main" id="{348F8C13-4122-4E5C-993E-000FCD99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8860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8D82"/>
                </a:solidFill>
              </a:defRPr>
            </a:pPr>
            <a:r>
              <a:rPr sz="825" b="1" i="0">
                <a:solidFill>
                  <a:srgbClr val="248D82"/>
                </a:solidFill>
              </a:rPr>
              <a:t>B wins</a:t>
            </a:r>
          </a:p>
        </p:txBody>
      </p:sp>
      <p:sp>
        <p:nvSpPr>
          <p:cNvPr id="45" name="state-s1-valid-box">
            <a:extLst xmlns:a="http://schemas.openxmlformats.org/drawingml/2006/main">
              <a:ext uri="{FF2B5EF4-FFF2-40B4-BE49-F238E27FC236}">
                <a16:creationId xmlns:a16="http://schemas.microsoft.com/office/drawing/2014/main" id="{84895792-8877-47EA-83A8-20CD3BAA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38450"/>
            <a:ext cx="7810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8E9"/>
          </a:solidFill>
          <a:ln xmlns:a="http://schemas.openxmlformats.org/drawingml/2006/main" w="17145">
            <a:solidFill>
              <a:srgbClr val="C12A36"/>
            </a:solidFill>
            <a:prstDash val="solid"/>
          </a:ln>
        </p:spPr>
      </p:sp>
      <p:sp>
        <p:nvSpPr>
          <p:cNvPr id="46" name="state-s1-valid-text">
            <a:extLst xmlns:a="http://schemas.openxmlformats.org/drawingml/2006/main">
              <a:ext uri="{FF2B5EF4-FFF2-40B4-BE49-F238E27FC236}">
                <a16:creationId xmlns:a16="http://schemas.microsoft.com/office/drawing/2014/main" id="{2D9FB02A-62F4-4869-928A-1456EA46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860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12A36"/>
                </a:solidFill>
              </a:defRPr>
            </a:pPr>
            <a:r>
              <a:rPr sz="825" b="1" i="0">
                <a:solidFill>
                  <a:srgbClr val="C12A36"/>
                </a:solidFill>
              </a:rPr>
              <a:t>A valid</a:t>
            </a:r>
          </a:p>
        </p:txBody>
      </p:sp>
      <p:cxnSp>
        <p:nvCxnSpPr>
          <p:cNvPr id="152" name=""/>
          <p:cNvCxnSpPr>
            <a:stCxn xmlns:a="http://schemas.openxmlformats.org/drawingml/2006/main" id="30" idx="3"/>
            <a:endCxn xmlns:a="http://schemas.openxmlformats.org/drawingml/2006/main" id="36" idx="2"/>
          </p:cNvCxnSpPr>
          <p:nvPr/>
        </p:nvCxnSpPr>
        <p:spPr>
          <a:xfrm xmlns:a="http://schemas.openxmlformats.org/drawingml/2006/main">
            <a:off x="3476625" y="2800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64A5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3" name=""/>
          <p:cNvCxnSpPr>
            <a:stCxn xmlns:a="http://schemas.openxmlformats.org/drawingml/2006/main" id="36" idx="6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4752975" y="28003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64A5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" name="reevaluate-rule">
            <a:extLst xmlns:a="http://schemas.openxmlformats.org/drawingml/2006/main">
              <a:ext uri="{FF2B5EF4-FFF2-40B4-BE49-F238E27FC236}">
                <a16:creationId xmlns:a16="http://schemas.microsoft.com/office/drawing/2014/main" id="{FAEBD371-49C5-4257-981E-B8983D7A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76625"/>
            <a:ext cx="714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dash"/>
          </a:ln>
        </p:spPr>
      </p:sp>
      <p:sp>
        <p:nvSpPr>
          <p:cNvPr id="50" name="reevaluate-anchor">
            <a:extLst xmlns:a="http://schemas.openxmlformats.org/drawingml/2006/main">
              <a:ext uri="{FF2B5EF4-FFF2-40B4-BE49-F238E27FC236}">
                <a16:creationId xmlns:a16="http://schemas.microsoft.com/office/drawing/2014/main" id="{3B874713-1109-43C4-8DF4-CCD47271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066925" cy="628650"/>
          </a:xfrm>
          <a:prstGeom xmlns:a="http://schemas.openxmlformats.org/drawingml/2006/main" prst="roundRect">
            <a:avLst>
              <a:gd name="adj" fmla="val 303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reevaluate-token">
            <a:extLst xmlns:a="http://schemas.openxmlformats.org/drawingml/2006/main">
              <a:ext uri="{FF2B5EF4-FFF2-40B4-BE49-F238E27FC236}">
                <a16:creationId xmlns:a16="http://schemas.microsoft.com/office/drawing/2014/main" id="{81E94554-6E43-4675-8FA8-EFEE3C53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3335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2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41C88E7C-774F-4E13-BFAD-3AB692EA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814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8D82"/>
                </a:solidFill>
              </a:defRPr>
            </a:pPr>
            <a:r>
              <a:rPr sz="1200" b="1" i="0">
                <a:solidFill>
                  <a:srgbClr val="248D82"/>
                </a:solidFill>
              </a:rPr>
              <a:t>REEVALUATE</a:t>
            </a:r>
          </a:p>
        </p:txBody>
      </p:sp>
      <p:sp>
        <p:nvSpPr>
          <p:cNvPr id="53" name="reevaluate-body">
            <a:extLst xmlns:a="http://schemas.openxmlformats.org/drawingml/2006/main">
              <a:ext uri="{FF2B5EF4-FFF2-40B4-BE49-F238E27FC236}">
                <a16:creationId xmlns:a16="http://schemas.microsoft.com/office/drawing/2014/main" id="{20FFCCE9-DE88-4384-8B92-371843F5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147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8D82"/>
                </a:solidFill>
              </a:defRPr>
            </a:pPr>
            <a:r>
              <a:rPr sz="975" b="1" i="0">
                <a:solidFill>
                  <a:srgbClr val="248D82"/>
                </a:solidFill>
              </a:rPr>
              <a:t>commit at S1</a:t>
            </a:r>
          </a:p>
        </p:txBody>
      </p:sp>
      <p:sp>
        <p:nvSpPr>
          <p:cNvPr id="54" name="resolve-box">
            <a:extLst xmlns:a="http://schemas.openxmlformats.org/drawingml/2006/main">
              <a:ext uri="{FF2B5EF4-FFF2-40B4-BE49-F238E27FC236}">
                <a16:creationId xmlns:a16="http://schemas.microsoft.com/office/drawing/2014/main" id="{163E7A17-4106-40DC-BD33-516DED4B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2902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8D82"/>
            </a:solidFill>
            <a:prstDash val="dash"/>
          </a:ln>
        </p:spPr>
      </p:sp>
      <p:sp>
        <p:nvSpPr>
          <p:cNvPr id="55" name="resolve-text">
            <a:extLst xmlns:a="http://schemas.openxmlformats.org/drawingml/2006/main">
              <a:ext uri="{FF2B5EF4-FFF2-40B4-BE49-F238E27FC236}">
                <a16:creationId xmlns:a16="http://schemas.microsoft.com/office/drawing/2014/main" id="{B48283DB-DCC5-4247-946E-D65B40F0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48D82"/>
                </a:solidFill>
              </a:defRPr>
            </a:pPr>
            <a:r>
              <a:rPr sz="1050" b="1" i="0">
                <a:solidFill>
                  <a:srgbClr val="248D82"/>
                </a:solidFill>
              </a:rPr>
              <a:t>resolve q to B</a:t>
            </a:r>
          </a:p>
        </p:txBody>
      </p:sp>
      <p:sp>
        <p:nvSpPr>
          <p:cNvPr id="56" name="gold-b-box">
            <a:extLst xmlns:a="http://schemas.openxmlformats.org/drawingml/2006/main">
              <a:ext uri="{FF2B5EF4-FFF2-40B4-BE49-F238E27FC236}">
                <a16:creationId xmlns:a16="http://schemas.microsoft.com/office/drawing/2014/main" id="{2C5D81B5-8203-4F43-87C4-67A73D39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7810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8D82"/>
            </a:solidFill>
            <a:prstDash val="dash"/>
          </a:ln>
        </p:spPr>
      </p:sp>
      <p:sp>
        <p:nvSpPr>
          <p:cNvPr id="57" name="gold-b-text">
            <a:extLst xmlns:a="http://schemas.openxmlformats.org/drawingml/2006/main">
              <a:ext uri="{FF2B5EF4-FFF2-40B4-BE49-F238E27FC236}">
                <a16:creationId xmlns:a16="http://schemas.microsoft.com/office/drawing/2014/main" id="{EA6EEEB6-DE09-4F5E-A677-440644C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052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48D82"/>
                </a:solidFill>
              </a:defRPr>
            </a:pPr>
            <a:r>
              <a:rPr sz="975" b="1" i="0">
                <a:solidFill>
                  <a:srgbClr val="248D82"/>
                </a:solidFill>
              </a:rPr>
              <a:t>gold B</a:t>
            </a:r>
          </a:p>
        </p:txBody>
      </p:sp>
      <p:cxnSp>
        <p:nvCxnSpPr>
          <p:cNvPr id="163" name=""/>
          <p:cNvCxnSpPr>
            <a:stCxn xmlns:a="http://schemas.openxmlformats.org/drawingml/2006/main" id="50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2524125" y="3905250"/>
            <a:ext cx="20478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64" name=""/>
          <p:cNvCxnSpPr>
            <a:stCxn xmlns:a="http://schemas.openxmlformats.org/drawingml/2006/main" id="54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6191250" y="39052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60" name="withheld">
            <a:extLst xmlns:a="http://schemas.openxmlformats.org/drawingml/2006/main">
              <a:ext uri="{FF2B5EF4-FFF2-40B4-BE49-F238E27FC236}">
                <a16:creationId xmlns:a16="http://schemas.microsoft.com/office/drawing/2014/main" id="{C591F42C-3D4D-46EB-AFCE-35E4B6CF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2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08084"/>
                </a:solidFill>
              </a:defRPr>
            </a:pPr>
            <a:r>
              <a:rPr sz="1050" b="1" i="0">
                <a:solidFill>
                  <a:srgbClr val="708084"/>
                </a:solidFill>
              </a:rPr>
              <a:t>GOLD WITHHELD</a:t>
            </a:r>
          </a:p>
        </p:txBody>
      </p:sp>
      <p:sp>
        <p:nvSpPr>
          <p:cNvPr id="61" name="withheld-rule">
            <a:extLst xmlns:a="http://schemas.openxmlformats.org/drawingml/2006/main">
              <a:ext uri="{FF2B5EF4-FFF2-40B4-BE49-F238E27FC236}">
                <a16:creationId xmlns:a16="http://schemas.microsoft.com/office/drawing/2014/main" id="{D98AE08C-5837-4C17-9924-B05F0367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62" name="p-run">
            <a:extLst xmlns:a="http://schemas.openxmlformats.org/drawingml/2006/main">
              <a:ext uri="{FF2B5EF4-FFF2-40B4-BE49-F238E27FC236}">
                <a16:creationId xmlns:a16="http://schemas.microsoft.com/office/drawing/2014/main" id="{DB3CA8E9-F8BE-408E-9FA5-FCF1931A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13335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3" name="r-run">
            <a:extLst xmlns:a="http://schemas.openxmlformats.org/drawingml/2006/main">
              <a:ext uri="{FF2B5EF4-FFF2-40B4-BE49-F238E27FC236}">
                <a16:creationId xmlns:a16="http://schemas.microsoft.com/office/drawing/2014/main" id="{7D8D97CC-BBC3-4103-82CD-D841BF7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3335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64" name="probe">
            <a:extLst xmlns:a="http://schemas.openxmlformats.org/drawingml/2006/main">
              <a:ext uri="{FF2B5EF4-FFF2-40B4-BE49-F238E27FC236}">
                <a16:creationId xmlns:a16="http://schemas.microsoft.com/office/drawing/2014/main" id="{CDFCEBDD-BEA5-4BB8-B75C-626F368D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1143000" cy="2095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0626b4d1e4319">
            <a:extLst>
              <a:ext uri="{96DAC541-7B7A-43D3-8B79-37D633B846F1}">
                <asvg:svgBlip xmlns:asvg="http://schemas.microsoft.com/office/drawing/2016/SVG/main" r:embed="Rb0a96004883743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16573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6" name="probe-title">
            <a:extLst xmlns:a="http://schemas.openxmlformats.org/drawingml/2006/main">
              <a:ext uri="{FF2B5EF4-FFF2-40B4-BE49-F238E27FC236}">
                <a16:creationId xmlns:a16="http://schemas.microsoft.com/office/drawing/2014/main" id="{7611A64F-9676-44DA-8562-C77C08D8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64A56"/>
                </a:solidFill>
              </a:defRPr>
            </a:pPr>
            <a:r>
              <a:rPr sz="825" b="1" i="0">
                <a:solidFill>
                  <a:srgbClr val="264A56"/>
                </a:solidFill>
              </a:rPr>
              <a:t>SAME PROBE</a:t>
            </a:r>
          </a:p>
        </p:txBody>
      </p:sp>
      <p:sp>
        <p:nvSpPr>
          <p:cNvPr id="67" name="probe-kind">
            <a:extLst xmlns:a="http://schemas.openxmlformats.org/drawingml/2006/main">
              <a:ext uri="{FF2B5EF4-FFF2-40B4-BE49-F238E27FC236}">
                <a16:creationId xmlns:a16="http://schemas.microsoft.com/office/drawing/2014/main" id="{09E8273E-639A-4C43-AB8A-F8189B92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708084"/>
                </a:solidFill>
              </a:defRPr>
            </a:pPr>
            <a:r>
              <a:rPr sz="750" b="0" i="1">
                <a:solidFill>
                  <a:srgbClr val="708084"/>
                </a:solidFill>
              </a:rPr>
              <a:t>opaque</a:t>
            </a:r>
          </a:p>
        </p:txBody>
      </p:sp>
      <p:sp>
        <p:nvSpPr>
          <p:cNvPr id="68" name="tp-box">
            <a:extLst xmlns:a="http://schemas.openxmlformats.org/drawingml/2006/main">
              <a:ext uri="{FF2B5EF4-FFF2-40B4-BE49-F238E27FC236}">
                <a16:creationId xmlns:a16="http://schemas.microsoft.com/office/drawing/2014/main" id="{418A11EC-E8AB-4509-9DB5-D20BDDB2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90700"/>
            <a:ext cx="523875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E8E9"/>
          </a:solidFill>
          <a:ln xmlns:a="http://schemas.openxmlformats.org/drawingml/2006/main" w="17145">
            <a:solidFill>
              <a:srgbClr val="C12A36"/>
            </a:solidFill>
            <a:prstDash val="solid"/>
          </a:ln>
        </p:spPr>
      </p:sp>
      <p:sp>
        <p:nvSpPr>
          <p:cNvPr id="69" name="tp-text">
            <a:extLst xmlns:a="http://schemas.openxmlformats.org/drawingml/2006/main">
              <a:ext uri="{FF2B5EF4-FFF2-40B4-BE49-F238E27FC236}">
                <a16:creationId xmlns:a16="http://schemas.microsoft.com/office/drawing/2014/main" id="{696B1019-39E6-4327-8E8B-CE56BED2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38325"/>
            <a:ext cx="371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12A36"/>
                </a:solidFill>
              </a:defRPr>
            </a:pPr>
            <a:r>
              <a:rPr sz="825" b="1" i="0">
                <a:solidFill>
                  <a:srgbClr val="C12A36"/>
                </a:solidFill>
              </a:rPr>
              <a:t>T_P</a:t>
            </a:r>
          </a:p>
        </p:txBody>
      </p:sp>
      <p:sp>
        <p:nvSpPr>
          <p:cNvPr id="70" name="tr-box">
            <a:extLst xmlns:a="http://schemas.openxmlformats.org/drawingml/2006/main">
              <a:ext uri="{FF2B5EF4-FFF2-40B4-BE49-F238E27FC236}">
                <a16:creationId xmlns:a16="http://schemas.microsoft.com/office/drawing/2014/main" id="{E70A61E2-6289-4312-9B7B-CC9CE589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38450"/>
            <a:ext cx="523875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17145">
            <a:solidFill>
              <a:srgbClr val="248D82"/>
            </a:solidFill>
            <a:prstDash val="dash"/>
          </a:ln>
        </p:spPr>
      </p:sp>
      <p:sp>
        <p:nvSpPr>
          <p:cNvPr id="71" name="tr-text">
            <a:extLst xmlns:a="http://schemas.openxmlformats.org/drawingml/2006/main">
              <a:ext uri="{FF2B5EF4-FFF2-40B4-BE49-F238E27FC236}">
                <a16:creationId xmlns:a16="http://schemas.microsoft.com/office/drawing/2014/main" id="{DACD5F2E-E948-4630-A93F-E14BDD09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86075"/>
            <a:ext cx="371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8D82"/>
                </a:solidFill>
              </a:defRPr>
            </a:pPr>
            <a:r>
              <a:rPr sz="825" b="1" i="0">
                <a:solidFill>
                  <a:srgbClr val="248D82"/>
                </a:solidFill>
              </a:rPr>
              <a:t>T_R</a:t>
            </a:r>
          </a:p>
        </p:txBody>
      </p:sp>
      <p:sp>
        <p:nvSpPr>
          <p:cNvPr id="72" name="probe-p-in">
            <a:extLst xmlns:a="http://schemas.openxmlformats.org/drawingml/2006/main">
              <a:ext uri="{FF2B5EF4-FFF2-40B4-BE49-F238E27FC236}">
                <a16:creationId xmlns:a16="http://schemas.microsoft.com/office/drawing/2014/main" id="{FC50CCAA-CBD7-49D9-A0AE-875E27D5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71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sp>
        <p:nvSpPr>
          <p:cNvPr id="73" name="probe-p-out">
            <a:extLst xmlns:a="http://schemas.openxmlformats.org/drawingml/2006/main">
              <a:ext uri="{FF2B5EF4-FFF2-40B4-BE49-F238E27FC236}">
                <a16:creationId xmlns:a16="http://schemas.microsoft.com/office/drawing/2014/main" id="{BD83C25B-FBBC-45EE-BAB8-6A87FFAE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71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sp>
        <p:nvSpPr>
          <p:cNvPr id="74" name="probe-r-in">
            <a:extLst xmlns:a="http://schemas.openxmlformats.org/drawingml/2006/main">
              <a:ext uri="{FF2B5EF4-FFF2-40B4-BE49-F238E27FC236}">
                <a16:creationId xmlns:a16="http://schemas.microsoft.com/office/drawing/2014/main" id="{EEE327A7-028E-424B-86DC-810D0342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19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sp>
        <p:nvSpPr>
          <p:cNvPr id="75" name="probe-r-out">
            <a:extLst xmlns:a="http://schemas.openxmlformats.org/drawingml/2006/main">
              <a:ext uri="{FF2B5EF4-FFF2-40B4-BE49-F238E27FC236}">
                <a16:creationId xmlns:a16="http://schemas.microsoft.com/office/drawing/2014/main" id="{B9180513-615C-4E3B-BE8C-D0F3A926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19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62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 flipH="1">
            <a:off x="8267700" y="200025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2" name=""/>
          <p:cNvCxnSpPr>
            <a:stCxn xmlns:a="http://schemas.openxmlformats.org/drawingml/2006/main" id="63" idx="6"/>
            <a:endCxn xmlns:a="http://schemas.openxmlformats.org/drawingml/2006/main" id="74" idx="2"/>
          </p:cNvCxnSpPr>
          <p:nvPr/>
        </p:nvCxnSpPr>
        <p:spPr>
          <a:xfrm xmlns:a="http://schemas.openxmlformats.org/drawingml/2006/main" flipH="1">
            <a:off x="8267700" y="304800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83" name=""/>
          <p:cNvCxnSpPr>
            <a:stCxn xmlns:a="http://schemas.openxmlformats.org/drawingml/2006/main" id="73" idx="6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9620250" y="200025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4" name=""/>
          <p:cNvCxnSpPr>
            <a:stCxn xmlns:a="http://schemas.openxmlformats.org/drawingml/2006/main" id="75" idx="6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9620250" y="304800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80" name="probe-note">
            <a:extLst xmlns:a="http://schemas.openxmlformats.org/drawingml/2006/main">
              <a:ext uri="{FF2B5EF4-FFF2-40B4-BE49-F238E27FC236}">
                <a16:creationId xmlns:a16="http://schemas.microsoft.com/office/drawing/2014/main" id="{A429B101-1BE5-4FDF-90EC-770E042C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10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708084"/>
                </a:solidFill>
              </a:defRPr>
            </a:pPr>
            <a:r>
              <a:rPr sz="825" b="0" i="1">
                <a:solidFill>
                  <a:srgbClr val="708084"/>
                </a:solidFill>
              </a:rPr>
              <a:t>same I/O; two independent runs</a:t>
            </a:r>
          </a:p>
        </p:txBody>
      </p:sp>
      <p:sp>
        <p:nvSpPr>
          <p:cNvPr id="81" name="pairacc-title">
            <a:extLst xmlns:a="http://schemas.openxmlformats.org/drawingml/2006/main">
              <a:ext uri="{FF2B5EF4-FFF2-40B4-BE49-F238E27FC236}">
                <a16:creationId xmlns:a16="http://schemas.microsoft.com/office/drawing/2014/main" id="{B06AA14A-1158-431E-A216-548EC246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43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D0D0E"/>
                </a:solidFill>
              </a:defRPr>
            </a:pPr>
            <a:r>
              <a:rPr sz="1200" b="1" i="0">
                <a:solidFill>
                  <a:srgbClr val="0D0D0E"/>
                </a:solidFill>
              </a:rPr>
              <a:t>PairAcc</a:t>
            </a:r>
          </a:p>
        </p:txBody>
      </p:sp>
      <p:sp>
        <p:nvSpPr>
          <p:cNvPr id="82" name="pairacc-formula-box">
            <a:extLst xmlns:a="http://schemas.openxmlformats.org/drawingml/2006/main">
              <a:ext uri="{FF2B5EF4-FFF2-40B4-BE49-F238E27FC236}">
                <a16:creationId xmlns:a16="http://schemas.microsoft.com/office/drawing/2014/main" id="{E7F5FA66-CF4F-4738-AE33-D36E9BFF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095375"/>
            <a:ext cx="23812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83" name="pairacc-formula-text">
            <a:extLst xmlns:a="http://schemas.openxmlformats.org/drawingml/2006/main">
              <a:ext uri="{FF2B5EF4-FFF2-40B4-BE49-F238E27FC236}">
                <a16:creationId xmlns:a16="http://schemas.microsoft.com/office/drawing/2014/main" id="{3DFDB581-9198-43CD-B539-13C12CBE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1430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07A7F"/>
                </a:solidFill>
              </a:defRPr>
            </a:pPr>
            <a:r>
              <a:rPr sz="1050" b="1" i="0">
                <a:solidFill>
                  <a:srgbClr val="407A7F"/>
                </a:solidFill>
              </a:rPr>
              <a:t>T_P=A  AND  T_R=B</a:t>
            </a:r>
          </a:p>
        </p:txBody>
      </p:sp>
      <p:sp>
        <p:nvSpPr>
          <p:cNvPr id="84" name="pairacc-slice">
            <a:extLst xmlns:a="http://schemas.openxmlformats.org/drawingml/2006/main">
              <a:ext uri="{FF2B5EF4-FFF2-40B4-BE49-F238E27FC236}">
                <a16:creationId xmlns:a16="http://schemas.microsoft.com/office/drawing/2014/main" id="{213042B3-FF0A-4640-862B-937044BD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0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708084"/>
                </a:solidFill>
              </a:defRPr>
            </a:pPr>
            <a:r>
              <a:rPr sz="825" b="0" i="0">
                <a:solidFill>
                  <a:srgbClr val="708084"/>
                </a:solidFill>
              </a:rPr>
              <a:t>complete pairs</a:t>
            </a:r>
          </a:p>
        </p:txBody>
      </p:sp>
      <p:sp>
        <p:nvSpPr>
          <p:cNvPr id="85" name="readout-sep-1">
            <a:extLst xmlns:a="http://schemas.openxmlformats.org/drawingml/2006/main">
              <a:ext uri="{FF2B5EF4-FFF2-40B4-BE49-F238E27FC236}">
                <a16:creationId xmlns:a16="http://schemas.microsoft.com/office/drawing/2014/main" id="{31145960-9372-4B87-96C2-ECCF88F4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52625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86" name="sub-title">
            <a:extLst xmlns:a="http://schemas.openxmlformats.org/drawingml/2006/main">
              <a:ext uri="{FF2B5EF4-FFF2-40B4-BE49-F238E27FC236}">
                <a16:creationId xmlns:a16="http://schemas.microsoft.com/office/drawing/2014/main" id="{B549FF57-8F5F-453A-AF92-0A38157F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76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D0D0E"/>
                </a:solidFill>
              </a:defRPr>
            </a:pPr>
            <a:r>
              <a:rPr sz="1125" b="1" i="0">
                <a:solidFill>
                  <a:srgbClr val="0D0D0E"/>
                </a:solidFill>
              </a:rPr>
              <a:t>Conditional substitution</a:t>
            </a:r>
          </a:p>
        </p:txBody>
      </p:sp>
      <p:sp>
        <p:nvSpPr>
          <p:cNvPr id="87" name="sub-a">
            <a:extLst xmlns:a="http://schemas.openxmlformats.org/drawingml/2006/main">
              <a:ext uri="{FF2B5EF4-FFF2-40B4-BE49-F238E27FC236}">
                <a16:creationId xmlns:a16="http://schemas.microsoft.com/office/drawing/2014/main" id="{45BEFF70-1772-463D-B84B-FB3B142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600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13335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8" name="sub-refresh-box">
            <a:extLst xmlns:a="http://schemas.openxmlformats.org/drawingml/2006/main">
              <a:ext uri="{FF2B5EF4-FFF2-40B4-BE49-F238E27FC236}">
                <a16:creationId xmlns:a16="http://schemas.microsoft.com/office/drawing/2014/main" id="{94BB3AFE-E392-4059-8583-6776109F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533650"/>
            <a:ext cx="952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sp>
        <p:nvSpPr>
          <p:cNvPr id="89" name="sub-refresh-text">
            <a:extLst xmlns:a="http://schemas.openxmlformats.org/drawingml/2006/main">
              <a:ext uri="{FF2B5EF4-FFF2-40B4-BE49-F238E27FC236}">
                <a16:creationId xmlns:a16="http://schemas.microsoft.com/office/drawing/2014/main" id="{9AD59FCC-C4E2-4218-BE8E-CAA056E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81275"/>
            <a:ext cx="80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64A56"/>
                </a:solidFill>
              </a:defRPr>
            </a:pPr>
            <a:r>
              <a:rPr sz="750" b="1" i="0">
                <a:solidFill>
                  <a:srgbClr val="264A56"/>
                </a:solidFill>
              </a:rPr>
              <a:t>refresh</a:t>
            </a:r>
          </a:p>
        </p:txBody>
      </p:sp>
      <p:sp>
        <p:nvSpPr>
          <p:cNvPr id="90" name="sub-b">
            <a:extLst xmlns:a="http://schemas.openxmlformats.org/drawingml/2006/main">
              <a:ext uri="{FF2B5EF4-FFF2-40B4-BE49-F238E27FC236}">
                <a16:creationId xmlns:a16="http://schemas.microsoft.com/office/drawing/2014/main" id="{0FAE9858-24A4-4274-8B16-74E66D0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600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3335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96" name=""/>
          <p:cNvCxnSpPr>
            <a:stCxn xmlns:a="http://schemas.openxmlformats.org/drawingml/2006/main" id="87" idx="6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10982325" y="27813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264A5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7" name=""/>
          <p:cNvCxnSpPr>
            <a:stCxn xmlns:a="http://schemas.openxmlformats.org/drawingml/2006/main" id="88" idx="3"/>
            <a:endCxn xmlns:a="http://schemas.openxmlformats.org/drawingml/2006/main" id="90" idx="2"/>
          </p:cNvCxnSpPr>
          <p:nvPr/>
        </p:nvCxnSpPr>
        <p:spPr>
          <a:xfrm xmlns:a="http://schemas.openxmlformats.org/drawingml/2006/main">
            <a:off x="12172950" y="27813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264A5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3" name="sub-slice">
            <a:extLst xmlns:a="http://schemas.openxmlformats.org/drawingml/2006/main">
              <a:ext uri="{FF2B5EF4-FFF2-40B4-BE49-F238E27FC236}">
                <a16:creationId xmlns:a16="http://schemas.microsoft.com/office/drawing/2014/main" id="{C9BA1B15-84F0-4C80-A6F2-4A3CEB4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708084"/>
                </a:solidFill>
              </a:defRPr>
            </a:pPr>
            <a:r>
              <a:rPr sz="825" b="0" i="0">
                <a:solidFill>
                  <a:srgbClr val="708084"/>
                </a:solidFill>
              </a:rPr>
              <a:t>eligible Preserve</a:t>
            </a:r>
          </a:p>
        </p:txBody>
      </p:sp>
      <p:sp>
        <p:nvSpPr>
          <p:cNvPr id="94" name="readout-sep-2">
            <a:extLst xmlns:a="http://schemas.openxmlformats.org/drawingml/2006/main">
              <a:ext uri="{FF2B5EF4-FFF2-40B4-BE49-F238E27FC236}">
                <a16:creationId xmlns:a16="http://schemas.microsoft.com/office/drawing/2014/main" id="{305CA76B-5B8D-4C88-97B9-C24AAD14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95" name="exec-title">
            <a:extLst xmlns:a="http://schemas.openxmlformats.org/drawingml/2006/main">
              <a:ext uri="{FF2B5EF4-FFF2-40B4-BE49-F238E27FC236}">
                <a16:creationId xmlns:a16="http://schemas.microsoft.com/office/drawing/2014/main" id="{C26A29CA-ABD7-4E3B-8798-FE7E1C66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0D0E"/>
                </a:solidFill>
              </a:defRPr>
            </a:pPr>
            <a:r>
              <a:rPr sz="1050" b="1" i="0">
                <a:solidFill>
                  <a:srgbClr val="0D0D0E"/>
                </a:solidFill>
              </a:rPr>
              <a:t>Execution subset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d36ef39314521">
            <a:extLst>
              <a:ext uri="{96DAC541-7B7A-43D3-8B79-37D633B846F1}">
                <asvg:svgBlip xmlns:asvg="http://schemas.microsoft.com/office/drawing/2016/SVG/main" r:embed="Rb5292031485742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668250" y="3505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7" name="exec-id-box">
            <a:extLst xmlns:a="http://schemas.openxmlformats.org/drawingml/2006/main">
              <a:ext uri="{FF2B5EF4-FFF2-40B4-BE49-F238E27FC236}">
                <a16:creationId xmlns:a16="http://schemas.microsoft.com/office/drawing/2014/main" id="{9B6F483F-361B-4346-930A-5499B5AD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43350"/>
            <a:ext cx="5524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sp>
        <p:nvSpPr>
          <p:cNvPr id="98" name="exec-id-text">
            <a:extLst xmlns:a="http://schemas.openxmlformats.org/drawingml/2006/main">
              <a:ext uri="{FF2B5EF4-FFF2-40B4-BE49-F238E27FC236}">
                <a16:creationId xmlns:a16="http://schemas.microsoft.com/office/drawing/2014/main" id="{3B47EFD6-3EE4-43EB-AAA0-725E7948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9909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64A56"/>
                </a:solidFill>
              </a:defRPr>
            </a:pPr>
            <a:r>
              <a:rPr sz="825" b="1" i="0">
                <a:solidFill>
                  <a:srgbClr val="264A56"/>
                </a:solidFill>
              </a:rPr>
              <a:t>ID</a:t>
            </a:r>
          </a:p>
        </p:txBody>
      </p:sp>
      <p:sp>
        <p:nvSpPr>
          <p:cNvPr id="99" name="exec-write-box">
            <a:extLst xmlns:a="http://schemas.openxmlformats.org/drawingml/2006/main">
              <a:ext uri="{FF2B5EF4-FFF2-40B4-BE49-F238E27FC236}">
                <a16:creationId xmlns:a16="http://schemas.microsoft.com/office/drawing/2014/main" id="{F6EE32A0-ADBA-46CA-9D51-722D27D0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943350"/>
            <a:ext cx="7429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100" name="exec-write-text">
            <a:extLst xmlns:a="http://schemas.openxmlformats.org/drawingml/2006/main">
              <a:ext uri="{FF2B5EF4-FFF2-40B4-BE49-F238E27FC236}">
                <a16:creationId xmlns:a16="http://schemas.microsoft.com/office/drawing/2014/main" id="{C1118C20-0146-4BE5-A53A-377C627C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9909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407A7F"/>
                </a:solidFill>
              </a:defRPr>
            </a:pPr>
            <a:r>
              <a:rPr sz="825" b="1" i="0">
                <a:solidFill>
                  <a:srgbClr val="407A7F"/>
                </a:solidFill>
              </a:rPr>
              <a:t>write</a:t>
            </a:r>
          </a:p>
        </p:txBody>
      </p:sp>
      <p:sp>
        <p:nvSpPr>
          <p:cNvPr id="101" name="exec-diff-box">
            <a:extLst xmlns:a="http://schemas.openxmlformats.org/drawingml/2006/main">
              <a:ext uri="{FF2B5EF4-FFF2-40B4-BE49-F238E27FC236}">
                <a16:creationId xmlns:a16="http://schemas.microsoft.com/office/drawing/2014/main" id="{BFD9432E-A551-4ECB-9622-6CB58DE0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943350"/>
            <a:ext cx="857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102" name="exec-diff-text">
            <a:extLst xmlns:a="http://schemas.openxmlformats.org/drawingml/2006/main">
              <a:ext uri="{FF2B5EF4-FFF2-40B4-BE49-F238E27FC236}">
                <a16:creationId xmlns:a16="http://schemas.microsoft.com/office/drawing/2014/main" id="{D4DA21DB-E5B1-4995-AECA-D322A2DA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99097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48D82"/>
                </a:solidFill>
              </a:defRPr>
            </a:pPr>
            <a:r>
              <a:rPr sz="750" b="1" i="0">
                <a:solidFill>
                  <a:srgbClr val="248D82"/>
                </a:solidFill>
              </a:rPr>
              <a:t>state diff</a:t>
            </a:r>
          </a:p>
        </p:txBody>
      </p:sp>
      <p:cxnSp>
        <p:nvCxnSpPr>
          <p:cNvPr id="208" name=""/>
          <p:cNvCxnSpPr>
            <a:stCxn xmlns:a="http://schemas.openxmlformats.org/drawingml/2006/main" id="97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11125200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407A7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9" name=""/>
          <p:cNvCxnSpPr>
            <a:stCxn xmlns:a="http://schemas.openxmlformats.org/drawingml/2006/main" id="99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1203007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407A7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5" name="exec-slice">
            <a:extLst xmlns:a="http://schemas.openxmlformats.org/drawingml/2006/main">
              <a:ext uri="{FF2B5EF4-FFF2-40B4-BE49-F238E27FC236}">
                <a16:creationId xmlns:a16="http://schemas.microsoft.com/office/drawing/2014/main" id="{A12C309B-06DB-41C0-8BCB-DED9EE96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708084"/>
                </a:solidFill>
              </a:defRPr>
            </a:pPr>
            <a:r>
              <a:rPr sz="825" b="0" i="0">
                <a:solidFill>
                  <a:srgbClr val="708084"/>
                </a:solidFill>
              </a:rPr>
              <a:t>executed writes</a:t>
            </a:r>
          </a:p>
        </p:txBody>
      </p:sp>
    </p:spTree>
    <p:extLst>
      <p:ext uri="{BB962C8B-B14F-4D97-AF65-F5344CB8AC3E}">
        <p14:creationId xmlns:p14="http://schemas.microsoft.com/office/powerpoint/2010/main" val="1409381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2026-07-29T01:25:01.5290000Z</dcterms:created>
  <dcterms:modified xsi:type="dcterms:W3CDTF">2026-07-29T01:25:01.5290000Z</dcterms:modified>
</coreProperties>
</file>
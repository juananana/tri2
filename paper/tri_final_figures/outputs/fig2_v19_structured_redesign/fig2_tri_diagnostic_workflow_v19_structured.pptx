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5104655644a24" /><Relationship Type="http://schemas.openxmlformats.org/officeDocument/2006/relationships/extended-properties" Target="/docProps/app.xml" Id="Rc2d134074bae4565" /><Relationship Type="http://schemas.openxmlformats.org/officeDocument/2006/relationships/officeDocument" Target="/ppt/presentation.xml" Id="R8fba940edc4d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22989bda64de2"/>
  </p:sldMasterIdLst>
  <p:notesMasterIdLst>
    <p:notesMasterId xmlns:r="http://schemas.openxmlformats.org/officeDocument/2006/relationships" r:id="R3c60794cbb1f47b5"/>
  </p:notesMasterIdLst>
  <p:sldIdLst>
    <p:sldId xmlns:r="http://schemas.openxmlformats.org/officeDocument/2006/relationships" id="256" r:id="R039828c8e3df4efe"/>
  </p:sldIdLst>
  <p:sldSz cx="13335000" cy="476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f5044f78d4daf" /><Relationship Type="http://schemas.openxmlformats.org/officeDocument/2006/relationships/slideMaster" Target="/ppt/slideMasters/slideMaster1.xml" Id="R36722989bda64de2" /><Relationship Type="http://schemas.openxmlformats.org/officeDocument/2006/relationships/notesMaster" Target="/ppt/notesMasters/notesMaster1.xml" Id="R3c60794cbb1f47b5" /><Relationship Type="http://schemas.openxmlformats.org/officeDocument/2006/relationships/presProps" Target="/ppt/presProps.xml" Id="Rf732697179e54c46" /><Relationship Type="http://schemas.openxmlformats.org/officeDocument/2006/relationships/tableStyles" Target="/ppt/tableStyles.xml" Id="R4bab961b83a846f6" /><Relationship Type="http://schemas.openxmlformats.org/officeDocument/2006/relationships/slide" Target="/ppt/slides/slide1.xml" Id="R039828c8e3df4e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66ad6450a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8a0e08d69b4fc4" /><Relationship Type="http://schemas.openxmlformats.org/officeDocument/2006/relationships/notesMaster" Target="/ppt/notesMasters/notesMaster1.xml" Id="R038fe6bb1b2a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 Figure 1: palette and heading family.</a:t>
            </a:r>
          </a:p>
          <a:p xmlns:a="http://schemas.openxmlformats.org/drawingml/2006/main">
            <a:r>
              <a:t>- draw_learning/01407-AAAI24.ZhaoA.pdf: large aligned regions.</a:t>
            </a:r>
          </a:p>
          <a:p xmlns:a="http://schemas.openxmlformats.org/drawingml/2006/main">
            <a:r>
              <a:t>- draw_learning/accept_ACL_4820_Revealing_Procedural_Reas.pdf: single-baseline method flow.</a:t>
            </a:r>
          </a:p>
          <a:p xmlns:a="http://schemas.openxmlformats.org/drawingml/2006/main">
            <a:r>
              <a:t>- draw_learning/26253-AAAI26.GuoZ-NLP.pdf: horizontal semantic bands.</a:t>
            </a:r>
          </a:p>
          <a:p xmlns:a="http://schemas.openxmlformats.org/drawingml/2006/main">
            <a:r>
              <a:t>- draw_learning/16627-AAAI26.WangZ-NLP.pdf: compact outcome rows.</a:t>
            </a:r>
          </a:p>
          <a:p xmlns:a="http://schemas.openxmlformats.org/drawingml/2006/main">
            <a:r>
              <a:t>- Anonymous TRI manuscript: all scientific labels and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cac9eb4a043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dc062257bf4eb7" /><Relationship Type="http://schemas.openxmlformats.org/officeDocument/2006/relationships/slideLayout" Target="/ppt/slideLayouts/slideLayout1.xml" Id="Rba06a8dee6fc42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06a8dee6fc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8d7da5d89443e" /><Relationship Type="http://schemas.openxmlformats.org/officeDocument/2006/relationships/image" Target="/ppt/media/image.png" Id="R5169bdf713d9490a" /><Relationship Type="http://schemas.openxmlformats.org/officeDocument/2006/relationships/image" Target="/ppt/media/image.svg" Id="Re82a119ddf8d407b" /><Relationship Type="http://schemas.openxmlformats.org/officeDocument/2006/relationships/image" Target="/ppt/media/image2.png" Id="R298662da5093440e" /><Relationship Type="http://schemas.openxmlformats.org/officeDocument/2006/relationships/image" Target="/ppt/media/image2.svg" Id="R762b8db72bde454a" /><Relationship Type="http://schemas.openxmlformats.org/officeDocument/2006/relationships/image" Target="/ppt/media/image3.png" Id="R11dfd649c37f4818" /><Relationship Type="http://schemas.openxmlformats.org/officeDocument/2006/relationships/image" Target="/ppt/media/image3.svg" Id="R1c60c42503204b62" /><Relationship Type="http://schemas.openxmlformats.org/officeDocument/2006/relationships/image" Target="/ppt/media/image4.png" Id="R0794142929254735" /><Relationship Type="http://schemas.openxmlformats.org/officeDocument/2006/relationships/image" Target="/ppt/media/image4.svg" Id="R347fc885d3b04630" /><Relationship Type="http://schemas.openxmlformats.org/officeDocument/2006/relationships/notesSlide" Target="/ppt/notesSlides/notesSlide1.xml" Id="R0ae17831231848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divider-ab">
            <a:extLst xmlns:a="http://schemas.openxmlformats.org/drawingml/2006/main">
              <a:ext uri="{FF2B5EF4-FFF2-40B4-BE49-F238E27FC236}">
                <a16:creationId xmlns:a16="http://schemas.microsoft.com/office/drawing/2014/main" id="{9FD8D75E-231C-4DB7-B13C-FC06674F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" name="divider-bc">
            <a:extLst xmlns:a="http://schemas.openxmlformats.org/drawingml/2006/main">
              <a:ext uri="{FF2B5EF4-FFF2-40B4-BE49-F238E27FC236}">
                <a16:creationId xmlns:a16="http://schemas.microsoft.com/office/drawing/2014/main" id="{3FC1F755-FAF6-4E31-B367-609B9978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0500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3" name="phase-A">
            <a:extLst xmlns:a="http://schemas.openxmlformats.org/drawingml/2006/main">
              <a:ext uri="{FF2B5EF4-FFF2-40B4-BE49-F238E27FC236}">
                <a16:creationId xmlns:a16="http://schemas.microsoft.com/office/drawing/2014/main" id="{5CCB96F8-B946-4666-A257-2BD9D82A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13335">
            <a:solidFill>
              <a:srgbClr val="264A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phase-A-title">
            <a:extLst xmlns:a="http://schemas.openxmlformats.org/drawingml/2006/main">
              <a:ext uri="{FF2B5EF4-FFF2-40B4-BE49-F238E27FC236}">
                <a16:creationId xmlns:a16="http://schemas.microsoft.com/office/drawing/2014/main" id="{D524DA68-DDAE-4C53-B8FE-0338FBE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691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Construct the matched pair</a:t>
            </a:r>
          </a:p>
        </p:txBody>
      </p:sp>
      <p:sp>
        <p:nvSpPr>
          <p:cNvPr id="5" name="phase-B">
            <a:extLst xmlns:a="http://schemas.openxmlformats.org/drawingml/2006/main">
              <a:ext uri="{FF2B5EF4-FFF2-40B4-BE49-F238E27FC236}">
                <a16:creationId xmlns:a16="http://schemas.microsoft.com/office/drawing/2014/main" id="{7EABAA61-5CC4-4572-A135-80C8411A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" name="phase-B-title">
            <a:extLst xmlns:a="http://schemas.openxmlformats.org/drawingml/2006/main">
              <a:ext uri="{FF2B5EF4-FFF2-40B4-BE49-F238E27FC236}">
                <a16:creationId xmlns:a16="http://schemas.microsoft.com/office/drawing/2014/main" id="{C77502BB-60C1-4B1E-87C8-7DE2C6AD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Run the pair</a:t>
            </a:r>
          </a:p>
        </p:txBody>
      </p:sp>
      <p:sp>
        <p:nvSpPr>
          <p:cNvPr id="7" name="phase-C">
            <a:extLst xmlns:a="http://schemas.openxmlformats.org/drawingml/2006/main">
              <a:ext uri="{FF2B5EF4-FFF2-40B4-BE49-F238E27FC236}">
                <a16:creationId xmlns:a16="http://schemas.microsoft.com/office/drawing/2014/main" id="{12DA2F95-F844-45A4-9758-A80C1E1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13335">
            <a:solidFill>
              <a:srgbClr val="264A5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phase-C-title">
            <a:extLst xmlns:a="http://schemas.openxmlformats.org/drawingml/2006/main">
              <a:ext uri="{FF2B5EF4-FFF2-40B4-BE49-F238E27FC236}">
                <a16:creationId xmlns:a16="http://schemas.microsoft.com/office/drawing/2014/main" id="{BDD73407-54D8-4272-804B-3E6AC9F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619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0D0E"/>
                </a:solidFill>
              </a:defRPr>
            </a:pPr>
            <a:r>
              <a:rPr sz="1500" b="1" i="0">
                <a:solidFill>
                  <a:srgbClr val="0D0D0E"/>
                </a:solidFill>
              </a:rPr>
              <a:t>Readouts</a:t>
            </a:r>
          </a:p>
        </p:txBody>
      </p:sp>
      <p:sp>
        <p:nvSpPr>
          <p:cNvPr id="9" name="contract">
            <a:extLst xmlns:a="http://schemas.openxmlformats.org/drawingml/2006/main">
              <a:ext uri="{FF2B5EF4-FFF2-40B4-BE49-F238E27FC236}">
                <a16:creationId xmlns:a16="http://schemas.microsoft.com/office/drawing/2014/main" id="{B9E41FE3-D018-49A7-AB7E-00377E5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"/>
            <a:ext cx="7143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9bdf713d9490a">
            <a:extLst>
              <a:ext uri="{96DAC541-7B7A-43D3-8B79-37D633B846F1}">
                <asvg:svgBlip xmlns:asvg="http://schemas.microsoft.com/office/drawing/2016/SVG/main" r:embed="Re82a119ddf8d40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" y="7715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fixed-label">
            <a:extLst xmlns:a="http://schemas.openxmlformats.org/drawingml/2006/main">
              <a:ext uri="{FF2B5EF4-FFF2-40B4-BE49-F238E27FC236}">
                <a16:creationId xmlns:a16="http://schemas.microsoft.com/office/drawing/2014/main" id="{C76A0946-B922-4A57-B986-9C59E589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7A7F"/>
                </a:solidFill>
              </a:defRPr>
            </a:pPr>
            <a:r>
              <a:rPr sz="750" b="1" i="0">
                <a:solidFill>
                  <a:srgbClr val="407A7F"/>
                </a:solidFill>
              </a:rPr>
              <a:t>FIXED CONTRACT</a:t>
            </a:r>
          </a:p>
        </p:txBody>
      </p:sp>
      <p:sp>
        <p:nvSpPr>
          <p:cNvPr id="12" name="fixed-items">
            <a:extLst xmlns:a="http://schemas.openxmlformats.org/drawingml/2006/main">
              <a:ext uri="{FF2B5EF4-FFF2-40B4-BE49-F238E27FC236}">
                <a16:creationId xmlns:a16="http://schemas.microsoft.com/office/drawing/2014/main" id="{807FE48D-99CA-410A-8F56-7033E63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64A56"/>
                </a:solidFill>
              </a:defRPr>
            </a:pPr>
            <a:r>
              <a:rPr sz="900" b="1" i="0">
                <a:solidFill>
                  <a:srgbClr val="264A56"/>
                </a:solidFill>
              </a:rPr>
              <a:t>S0, S1, q, action, schema, I/O</a:t>
            </a:r>
          </a:p>
        </p:txBody>
      </p:sp>
      <p:sp>
        <p:nvSpPr>
          <p:cNvPr id="13" name="change-label">
            <a:extLst xmlns:a="http://schemas.openxmlformats.org/drawingml/2006/main">
              <a:ext uri="{FF2B5EF4-FFF2-40B4-BE49-F238E27FC236}">
                <a16:creationId xmlns:a16="http://schemas.microsoft.com/office/drawing/2014/main" id="{F44A1C32-BCFB-46E4-9A51-D891C94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429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248D82"/>
                </a:solidFill>
              </a:defRPr>
            </a:pPr>
            <a:r>
              <a:rPr sz="750" b="1" i="0">
                <a:solidFill>
                  <a:srgbClr val="248D82"/>
                </a:solidFill>
              </a:rPr>
              <a:t>ONLY CHANGE</a:t>
            </a:r>
          </a:p>
        </p:txBody>
      </p:sp>
      <p:sp>
        <p:nvSpPr>
          <p:cNvPr id="14" name="change-items">
            <a:extLst xmlns:a="http://schemas.openxmlformats.org/drawingml/2006/main">
              <a:ext uri="{FF2B5EF4-FFF2-40B4-BE49-F238E27FC236}">
                <a16:creationId xmlns:a16="http://schemas.microsoft.com/office/drawing/2014/main" id="{F063B1CE-3B4F-4698-B50B-C1377B2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7429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commit point</a:t>
            </a:r>
          </a:p>
        </p:txBody>
      </p:sp>
      <p:sp>
        <p:nvSpPr>
          <p:cNvPr id="15" name="preserve-rule">
            <a:extLst xmlns:a="http://schemas.openxmlformats.org/drawingml/2006/main">
              <a:ext uri="{FF2B5EF4-FFF2-40B4-BE49-F238E27FC236}">
                <a16:creationId xmlns:a16="http://schemas.microsoft.com/office/drawing/2014/main" id="{F6F5B138-2D1E-46DA-BC37-F4CA85B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85875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16" name="preserve-anchor">
            <a:extLst xmlns:a="http://schemas.openxmlformats.org/drawingml/2006/main">
              <a:ext uri="{FF2B5EF4-FFF2-40B4-BE49-F238E27FC236}">
                <a16:creationId xmlns:a16="http://schemas.microsoft.com/office/drawing/2014/main" id="{D543304B-8F5C-458D-BE0C-5088247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66925" cy="6286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reserve-token">
            <a:extLst xmlns:a="http://schemas.openxmlformats.org/drawingml/2006/main">
              <a:ext uri="{FF2B5EF4-FFF2-40B4-BE49-F238E27FC236}">
                <a16:creationId xmlns:a16="http://schemas.microsoft.com/office/drawing/2014/main" id="{42A5CE42-EE55-4CA1-B363-CBD9C52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8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BAA0880A-8F52-4C03-8083-8DB56C3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00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12A36"/>
                </a:solidFill>
              </a:defRPr>
            </a:pPr>
            <a:r>
              <a:rPr sz="1200" b="1" i="0">
                <a:solidFill>
                  <a:srgbClr val="C12A36"/>
                </a:solidFill>
              </a:rPr>
              <a:t>PRESERVE</a:t>
            </a:r>
          </a:p>
        </p:txBody>
      </p:sp>
      <p:sp>
        <p:nvSpPr>
          <p:cNvPr id="19" name="preserve-body">
            <a:extLst xmlns:a="http://schemas.openxmlformats.org/drawingml/2006/main">
              <a:ext uri="{FF2B5EF4-FFF2-40B4-BE49-F238E27FC236}">
                <a16:creationId xmlns:a16="http://schemas.microsoft.com/office/drawing/2014/main" id="{11941BE7-AD8C-4CDA-9C1E-2D09CB6C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12A36"/>
                </a:solidFill>
              </a:defRPr>
            </a:pPr>
            <a:r>
              <a:rPr sz="975" b="1" i="0">
                <a:solidFill>
                  <a:srgbClr val="C12A36"/>
                </a:solidFill>
              </a:rPr>
              <a:t>commit at S0</a:t>
            </a:r>
          </a:p>
        </p:txBody>
      </p:sp>
      <p:sp>
        <p:nvSpPr>
          <p:cNvPr id="20" name="bind-box">
            <a:extLst xmlns:a="http://schemas.openxmlformats.org/drawingml/2006/main">
              <a:ext uri="{FF2B5EF4-FFF2-40B4-BE49-F238E27FC236}">
                <a16:creationId xmlns:a16="http://schemas.microsoft.com/office/drawing/2014/main" id="{1901262D-DA11-482A-8004-B49D4586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382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21" name="bind-text">
            <a:extLst xmlns:a="http://schemas.openxmlformats.org/drawingml/2006/main">
              <a:ext uri="{FF2B5EF4-FFF2-40B4-BE49-F238E27FC236}">
                <a16:creationId xmlns:a16="http://schemas.microsoft.com/office/drawing/2014/main" id="{11A15C84-FB76-4147-BDD2-FA349C9F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859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12A36"/>
                </a:solidFill>
              </a:defRPr>
            </a:pPr>
            <a:r>
              <a:rPr sz="1050" b="1" i="0">
                <a:solidFill>
                  <a:srgbClr val="C12A36"/>
                </a:solidFill>
              </a:rPr>
              <a:t>bind q to A</a:t>
            </a:r>
          </a:p>
        </p:txBody>
      </p:sp>
      <p:sp>
        <p:nvSpPr>
          <p:cNvPr id="22" name="gold-a-box">
            <a:extLst xmlns:a="http://schemas.openxmlformats.org/drawingml/2006/main">
              <a:ext uri="{FF2B5EF4-FFF2-40B4-BE49-F238E27FC236}">
                <a16:creationId xmlns:a16="http://schemas.microsoft.com/office/drawing/2014/main" id="{BDB22A88-F2CD-408C-841C-9D5A1C3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7810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23" name="gold-a-text">
            <a:extLst xmlns:a="http://schemas.openxmlformats.org/drawingml/2006/main">
              <a:ext uri="{FF2B5EF4-FFF2-40B4-BE49-F238E27FC236}">
                <a16:creationId xmlns:a16="http://schemas.microsoft.com/office/drawing/2014/main" id="{E985F42C-3E82-4BD2-B369-05128536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144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12A36"/>
                </a:solidFill>
              </a:defRPr>
            </a:pPr>
            <a:r>
              <a:rPr sz="975" b="1" i="0">
                <a:solidFill>
                  <a:srgbClr val="C12A36"/>
                </a:solidFill>
              </a:rPr>
              <a:t>gold A</a:t>
            </a:r>
          </a:p>
        </p:txBody>
      </p:sp>
      <p:cxnSp>
        <p:nvCxnSpPr>
          <p:cNvPr id="12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524125" y="1714500"/>
            <a:ext cx="3333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0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76750" y="17145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" name="state-rule-top">
            <a:extLst xmlns:a="http://schemas.openxmlformats.org/drawingml/2006/main">
              <a:ext uri="{FF2B5EF4-FFF2-40B4-BE49-F238E27FC236}">
                <a16:creationId xmlns:a16="http://schemas.microsoft.com/office/drawing/2014/main" id="{A846CFCF-86C6-4ED8-B45C-CE330781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0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7" name="state-rule-bottom">
            <a:extLst xmlns:a="http://schemas.openxmlformats.org/drawingml/2006/main">
              <a:ext uri="{FF2B5EF4-FFF2-40B4-BE49-F238E27FC236}">
                <a16:creationId xmlns:a16="http://schemas.microsoft.com/office/drawing/2014/main" id="{AE74956C-520B-4087-B286-AEE80BD7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0"/>
            <a:ext cx="714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28" name="shared-state-title">
            <a:extLst xmlns:a="http://schemas.openxmlformats.org/drawingml/2006/main">
              <a:ext uri="{FF2B5EF4-FFF2-40B4-BE49-F238E27FC236}">
                <a16:creationId xmlns:a16="http://schemas.microsoft.com/office/drawing/2014/main" id="{DEFB33F0-E11E-4867-89F1-2712EF6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7A7F"/>
                </a:solidFill>
              </a:defRPr>
            </a:pPr>
            <a:r>
              <a:rPr sz="1125" b="1" i="0">
                <a:solidFill>
                  <a:srgbClr val="407A7F"/>
                </a:solidFill>
              </a:rPr>
              <a:t>SHARED STATE</a:t>
            </a:r>
          </a:p>
        </p:txBody>
      </p:sp>
      <p:sp>
        <p:nvSpPr>
          <p:cNvPr id="29" name="shared-state-note">
            <a:extLst xmlns:a="http://schemas.openxmlformats.org/drawingml/2006/main">
              <a:ext uri="{FF2B5EF4-FFF2-40B4-BE49-F238E27FC236}">
                <a16:creationId xmlns:a16="http://schemas.microsoft.com/office/drawing/2014/main" id="{82EED459-6065-4FB6-B8F3-FE06E3D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08084"/>
                </a:solidFill>
              </a:defRPr>
            </a:pPr>
            <a:r>
              <a:rPr sz="825" b="0" i="1">
                <a:solidFill>
                  <a:srgbClr val="708084"/>
                </a:solidFill>
              </a:rPr>
              <a:t>same transition</a:t>
            </a:r>
          </a:p>
        </p:txBody>
      </p:sp>
      <p:sp>
        <p:nvSpPr>
          <p:cNvPr id="30" name="state-s0">
            <a:extLst xmlns:a="http://schemas.openxmlformats.org/drawingml/2006/main">
              <a:ext uri="{FF2B5EF4-FFF2-40B4-BE49-F238E27FC236}">
                <a16:creationId xmlns:a16="http://schemas.microsoft.com/office/drawing/2014/main" id="{E4543DF5-EB1B-418D-9795-49378211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381125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31" name="state-s0-label">
            <a:extLst xmlns:a="http://schemas.openxmlformats.org/drawingml/2006/main">
              <a:ext uri="{FF2B5EF4-FFF2-40B4-BE49-F238E27FC236}">
                <a16:creationId xmlns:a16="http://schemas.microsoft.com/office/drawing/2014/main" id="{6C7B80DB-B900-4AF3-A8E0-B42BB606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264A56"/>
                </a:solidFill>
              </a:defRPr>
            </a:pPr>
            <a:r>
              <a:rPr sz="975" b="1" i="1">
                <a:solidFill>
                  <a:srgbClr val="264A56"/>
                </a:solidFill>
              </a:rPr>
              <a:t>S0</a:t>
            </a:r>
          </a:p>
        </p:txBody>
      </p:sp>
      <p:sp>
        <p:nvSpPr>
          <p:cNvPr id="32" name="state-s0-query">
            <a:extLst xmlns:a="http://schemas.openxmlformats.org/drawingml/2006/main">
              <a:ext uri="{FF2B5EF4-FFF2-40B4-BE49-F238E27FC236}">
                <a16:creationId xmlns:a16="http://schemas.microsoft.com/office/drawing/2014/main" id="{00DAD286-4C34-4429-9CB3-4DBAD8D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733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1">
                <a:solidFill>
                  <a:srgbClr val="3E4A4E"/>
                </a:solidFill>
              </a:defRPr>
            </a:pPr>
            <a:r>
              <a:rPr sz="825" b="0" i="1">
                <a:solidFill>
                  <a:srgbClr val="3E4A4E"/>
                </a:solidFill>
              </a:rPr>
              <a:t>q(S0)=A</a:t>
            </a:r>
          </a:p>
        </p:txBody>
      </p:sp>
      <p:sp>
        <p:nvSpPr>
          <p:cNvPr id="33" name="state-s0-rule">
            <a:extLst xmlns:a="http://schemas.openxmlformats.org/drawingml/2006/main">
              <a:ext uri="{FF2B5EF4-FFF2-40B4-BE49-F238E27FC236}">
                <a16:creationId xmlns:a16="http://schemas.microsoft.com/office/drawing/2014/main" id="{44E7B675-4107-4879-8A21-95A1B58C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71775"/>
            <a:ext cx="119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34" name="state-s0-winner-box">
            <a:extLst xmlns:a="http://schemas.openxmlformats.org/drawingml/2006/main">
              <a:ext uri="{FF2B5EF4-FFF2-40B4-BE49-F238E27FC236}">
                <a16:creationId xmlns:a16="http://schemas.microsoft.com/office/drawing/2014/main" id="{77FDF9A1-BA11-4BAD-BDF2-7EFCB99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904875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35" name="state-s0-winner-text">
            <a:extLst xmlns:a="http://schemas.openxmlformats.org/drawingml/2006/main">
              <a:ext uri="{FF2B5EF4-FFF2-40B4-BE49-F238E27FC236}">
                <a16:creationId xmlns:a16="http://schemas.microsoft.com/office/drawing/2014/main" id="{DED5862A-DF24-4CB6-95B5-C132BD3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86075"/>
            <a:ext cx="752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A wins</a:t>
            </a:r>
          </a:p>
        </p:txBody>
      </p:sp>
      <p:sp>
        <p:nvSpPr>
          <p:cNvPr id="36" name="refresh">
            <a:extLst xmlns:a="http://schemas.openxmlformats.org/drawingml/2006/main">
              <a:ext uri="{FF2B5EF4-FFF2-40B4-BE49-F238E27FC236}">
                <a16:creationId xmlns:a16="http://schemas.microsoft.com/office/drawing/2014/main" id="{373AD4E5-3B1D-4847-A96B-76B9CF6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479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19050">
            <a:solidFill>
              <a:srgbClr val="EABC6B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662da5093440e">
            <a:extLst>
              <a:ext uri="{96DAC541-7B7A-43D3-8B79-37D633B846F1}">
                <asvg:svgBlip xmlns:asvg="http://schemas.microsoft.com/office/drawing/2016/SVG/main" r:embed="R762b8db72bde45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2552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8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09182B0F-0E3A-4C9C-AB83-760AC4D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62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4A56"/>
                </a:solidFill>
              </a:defRPr>
            </a:pPr>
            <a:r>
              <a:rPr sz="750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39" name="state-s1">
            <a:extLst xmlns:a="http://schemas.openxmlformats.org/drawingml/2006/main">
              <a:ext uri="{FF2B5EF4-FFF2-40B4-BE49-F238E27FC236}">
                <a16:creationId xmlns:a16="http://schemas.microsoft.com/office/drawing/2014/main" id="{AF591936-024D-4FA6-9840-96C6250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1809750" cy="7429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40" name="state-s1-label">
            <a:extLst xmlns:a="http://schemas.openxmlformats.org/drawingml/2006/main">
              <a:ext uri="{FF2B5EF4-FFF2-40B4-BE49-F238E27FC236}">
                <a16:creationId xmlns:a16="http://schemas.microsoft.com/office/drawing/2014/main" id="{5CCF42B0-3B71-44E7-99AF-52EDDC6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9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264A56"/>
                </a:solidFill>
              </a:defRPr>
            </a:pPr>
            <a:r>
              <a:rPr sz="975" b="1" i="1">
                <a:solidFill>
                  <a:srgbClr val="264A56"/>
                </a:solidFill>
              </a:rPr>
              <a:t>S1</a:t>
            </a:r>
          </a:p>
        </p:txBody>
      </p:sp>
      <p:sp>
        <p:nvSpPr>
          <p:cNvPr id="41" name="state-s1-query">
            <a:extLst xmlns:a="http://schemas.openxmlformats.org/drawingml/2006/main">
              <a:ext uri="{FF2B5EF4-FFF2-40B4-BE49-F238E27FC236}">
                <a16:creationId xmlns:a16="http://schemas.microsoft.com/office/drawing/2014/main" id="{B692E3A7-67E9-4B9A-B76C-B4FE6FE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95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1">
                <a:solidFill>
                  <a:srgbClr val="3E4A4E"/>
                </a:solidFill>
              </a:defRPr>
            </a:pPr>
            <a:r>
              <a:rPr sz="825" b="0" i="1">
                <a:solidFill>
                  <a:srgbClr val="3E4A4E"/>
                </a:solidFill>
              </a:rPr>
              <a:t>q(S1)=B</a:t>
            </a:r>
          </a:p>
        </p:txBody>
      </p:sp>
      <p:sp>
        <p:nvSpPr>
          <p:cNvPr id="42" name="state-s1-rule">
            <a:extLst xmlns:a="http://schemas.openxmlformats.org/drawingml/2006/main">
              <a:ext uri="{FF2B5EF4-FFF2-40B4-BE49-F238E27FC236}">
                <a16:creationId xmlns:a16="http://schemas.microsoft.com/office/drawing/2014/main" id="{288774B3-6DA4-4CEA-B66F-E2E200C6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717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43" name="state-s1-winner-box">
            <a:extLst xmlns:a="http://schemas.openxmlformats.org/drawingml/2006/main">
              <a:ext uri="{FF2B5EF4-FFF2-40B4-BE49-F238E27FC236}">
                <a16:creationId xmlns:a16="http://schemas.microsoft.com/office/drawing/2014/main" id="{5653C808-B267-4254-BAE2-CBE6BF7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8450"/>
            <a:ext cx="7810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44" name="state-s1-winner-text">
            <a:extLst xmlns:a="http://schemas.openxmlformats.org/drawingml/2006/main">
              <a:ext uri="{FF2B5EF4-FFF2-40B4-BE49-F238E27FC236}">
                <a16:creationId xmlns:a16="http://schemas.microsoft.com/office/drawing/2014/main" id="{2331AB06-81F7-4215-802C-7EA9C80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860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B wins</a:t>
            </a:r>
          </a:p>
        </p:txBody>
      </p:sp>
      <p:sp>
        <p:nvSpPr>
          <p:cNvPr id="45" name="state-s1-valid-box">
            <a:extLst xmlns:a="http://schemas.openxmlformats.org/drawingml/2006/main">
              <a:ext uri="{FF2B5EF4-FFF2-40B4-BE49-F238E27FC236}">
                <a16:creationId xmlns:a16="http://schemas.microsoft.com/office/drawing/2014/main" id="{48FDCD70-B771-4A93-BC5E-A8E0B8F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78105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46" name="state-s1-valid-text">
            <a:extLst xmlns:a="http://schemas.openxmlformats.org/drawingml/2006/main">
              <a:ext uri="{FF2B5EF4-FFF2-40B4-BE49-F238E27FC236}">
                <a16:creationId xmlns:a16="http://schemas.microsoft.com/office/drawing/2014/main" id="{85D2A8F4-9B77-4A2A-9ECF-104EB85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860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A valid</a:t>
            </a:r>
          </a:p>
        </p:txBody>
      </p:sp>
      <p:cxnSp>
        <p:nvCxnSpPr>
          <p:cNvPr id="152" name=""/>
          <p:cNvCxnSpPr>
            <a:stCxn xmlns:a="http://schemas.openxmlformats.org/drawingml/2006/main" id="30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3476625" y="2800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3" name=""/>
          <p:cNvCxnSpPr>
            <a:stCxn xmlns:a="http://schemas.openxmlformats.org/drawingml/2006/main" id="36" idx="6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752975" y="2800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" name="reevaluate-rule">
            <a:extLst xmlns:a="http://schemas.openxmlformats.org/drawingml/2006/main">
              <a:ext uri="{FF2B5EF4-FFF2-40B4-BE49-F238E27FC236}">
                <a16:creationId xmlns:a16="http://schemas.microsoft.com/office/drawing/2014/main" id="{9B976E54-9363-4443-BB19-3815293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76625"/>
            <a:ext cx="714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dash"/>
          </a:ln>
        </p:spPr>
      </p:sp>
      <p:sp>
        <p:nvSpPr>
          <p:cNvPr id="50" name="reevaluate-anchor">
            <a:extLst xmlns:a="http://schemas.openxmlformats.org/drawingml/2006/main">
              <a:ext uri="{FF2B5EF4-FFF2-40B4-BE49-F238E27FC236}">
                <a16:creationId xmlns:a16="http://schemas.microsoft.com/office/drawing/2014/main" id="{09DD557C-1DE4-4F43-B3BB-0F04FA2A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066925" cy="6286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reevaluate-token">
            <a:extLst xmlns:a="http://schemas.openxmlformats.org/drawingml/2006/main">
              <a:ext uri="{FF2B5EF4-FFF2-40B4-BE49-F238E27FC236}">
                <a16:creationId xmlns:a16="http://schemas.microsoft.com/office/drawing/2014/main" id="{48F6217D-EA46-4F70-993E-C8592AC2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2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AF93FB4E-7D25-499E-BC79-586B4C15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REEVALUATE</a:t>
            </a:r>
          </a:p>
        </p:txBody>
      </p:sp>
      <p:sp>
        <p:nvSpPr>
          <p:cNvPr id="53" name="reevaluate-body">
            <a:extLst xmlns:a="http://schemas.openxmlformats.org/drawingml/2006/main">
              <a:ext uri="{FF2B5EF4-FFF2-40B4-BE49-F238E27FC236}">
                <a16:creationId xmlns:a16="http://schemas.microsoft.com/office/drawing/2014/main" id="{B7E2C4F9-4BCB-492B-9799-0E0823D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8D82"/>
                </a:solidFill>
              </a:defRPr>
            </a:pPr>
            <a:r>
              <a:rPr sz="975" b="1" i="0">
                <a:solidFill>
                  <a:srgbClr val="248D82"/>
                </a:solidFill>
              </a:rPr>
              <a:t>commit at S1</a:t>
            </a:r>
          </a:p>
        </p:txBody>
      </p:sp>
      <p:sp>
        <p:nvSpPr>
          <p:cNvPr id="54" name="resolve-box">
            <a:extLst xmlns:a="http://schemas.openxmlformats.org/drawingml/2006/main">
              <a:ext uri="{FF2B5EF4-FFF2-40B4-BE49-F238E27FC236}">
                <a16:creationId xmlns:a16="http://schemas.microsoft.com/office/drawing/2014/main" id="{05E5968D-E91F-467F-846D-9375B3FF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290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55" name="resolve-text">
            <a:extLst xmlns:a="http://schemas.openxmlformats.org/drawingml/2006/main">
              <a:ext uri="{FF2B5EF4-FFF2-40B4-BE49-F238E27FC236}">
                <a16:creationId xmlns:a16="http://schemas.microsoft.com/office/drawing/2014/main" id="{D84B6443-6EC3-480D-9397-FC84855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48D82"/>
                </a:solidFill>
              </a:defRPr>
            </a:pPr>
            <a:r>
              <a:rPr sz="1050" b="1" i="0">
                <a:solidFill>
                  <a:srgbClr val="248D82"/>
                </a:solidFill>
              </a:rPr>
              <a:t>resolve q to B</a:t>
            </a:r>
          </a:p>
        </p:txBody>
      </p:sp>
      <p:sp>
        <p:nvSpPr>
          <p:cNvPr id="56" name="gold-b-box">
            <a:extLst xmlns:a="http://schemas.openxmlformats.org/drawingml/2006/main">
              <a:ext uri="{FF2B5EF4-FFF2-40B4-BE49-F238E27FC236}">
                <a16:creationId xmlns:a16="http://schemas.microsoft.com/office/drawing/2014/main" id="{DE6A259E-5EC7-4057-B50E-290196E7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7810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57" name="gold-b-text">
            <a:extLst xmlns:a="http://schemas.openxmlformats.org/drawingml/2006/main">
              <a:ext uri="{FF2B5EF4-FFF2-40B4-BE49-F238E27FC236}">
                <a16:creationId xmlns:a16="http://schemas.microsoft.com/office/drawing/2014/main" id="{6BC857B3-555D-4A3F-B592-6F7D71E7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05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48D82"/>
                </a:solidFill>
              </a:defRPr>
            </a:pPr>
            <a:r>
              <a:rPr sz="975" b="1" i="0">
                <a:solidFill>
                  <a:srgbClr val="248D82"/>
                </a:solidFill>
              </a:rPr>
              <a:t>gold B</a:t>
            </a:r>
          </a:p>
        </p:txBody>
      </p:sp>
      <p:cxnSp>
        <p:nvCxnSpPr>
          <p:cNvPr id="163" name="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2524125" y="3905250"/>
            <a:ext cx="20478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64" name=""/>
          <p:cNvCxnSpPr>
            <a:stCxn xmlns:a="http://schemas.openxmlformats.org/drawingml/2006/main" id="54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191250" y="39052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60" name="withheld">
            <a:extLst xmlns:a="http://schemas.openxmlformats.org/drawingml/2006/main">
              <a:ext uri="{FF2B5EF4-FFF2-40B4-BE49-F238E27FC236}">
                <a16:creationId xmlns:a16="http://schemas.microsoft.com/office/drawing/2014/main" id="{3B8CBE99-90AF-45A4-82A7-25F073EF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2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08084"/>
                </a:solidFill>
              </a:defRPr>
            </a:pPr>
            <a:r>
              <a:rPr sz="1050" b="1" i="0">
                <a:solidFill>
                  <a:srgbClr val="708084"/>
                </a:solidFill>
              </a:rPr>
              <a:t>GOLD WITHHELD</a:t>
            </a:r>
          </a:p>
        </p:txBody>
      </p:sp>
      <p:sp>
        <p:nvSpPr>
          <p:cNvPr id="61" name="withheld-rule">
            <a:extLst xmlns:a="http://schemas.openxmlformats.org/drawingml/2006/main">
              <a:ext uri="{FF2B5EF4-FFF2-40B4-BE49-F238E27FC236}">
                <a16:creationId xmlns:a16="http://schemas.microsoft.com/office/drawing/2014/main" id="{20400A5C-6DC6-4364-8740-1A2C767C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62" name="p-run">
            <a:extLst xmlns:a="http://schemas.openxmlformats.org/drawingml/2006/main">
              <a:ext uri="{FF2B5EF4-FFF2-40B4-BE49-F238E27FC236}">
                <a16:creationId xmlns:a16="http://schemas.microsoft.com/office/drawing/2014/main" id="{AF996DBD-EC6A-41C4-8F3E-67011BC3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3" name="r-run">
            <a:extLst xmlns:a="http://schemas.openxmlformats.org/drawingml/2006/main">
              <a:ext uri="{FF2B5EF4-FFF2-40B4-BE49-F238E27FC236}">
                <a16:creationId xmlns:a16="http://schemas.microsoft.com/office/drawing/2014/main" id="{CAB4BF0F-5DD7-4709-A9C3-AA47612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4" name="probe">
            <a:extLst xmlns:a="http://schemas.openxmlformats.org/drawingml/2006/main">
              <a:ext uri="{FF2B5EF4-FFF2-40B4-BE49-F238E27FC236}">
                <a16:creationId xmlns:a16="http://schemas.microsoft.com/office/drawing/2014/main" id="{69B1E09D-A8AB-4576-814E-C0F8EE4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1143000" cy="2095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fd649c37f4818">
            <a:extLst>
              <a:ext uri="{96DAC541-7B7A-43D3-8B79-37D633B846F1}">
                <asvg:svgBlip xmlns:asvg="http://schemas.microsoft.com/office/drawing/2016/SVG/main" r:embed="R1c60c42503204b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16573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6" name="probe-title">
            <a:extLst xmlns:a="http://schemas.openxmlformats.org/drawingml/2006/main">
              <a:ext uri="{FF2B5EF4-FFF2-40B4-BE49-F238E27FC236}">
                <a16:creationId xmlns:a16="http://schemas.microsoft.com/office/drawing/2014/main" id="{092C65DE-474B-4F5E-BAB1-A56691B9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64A56"/>
                </a:solidFill>
              </a:defRPr>
            </a:pPr>
            <a:r>
              <a:rPr sz="825" b="1" i="0">
                <a:solidFill>
                  <a:srgbClr val="264A56"/>
                </a:solidFill>
              </a:rPr>
              <a:t>SAME PROBE</a:t>
            </a:r>
          </a:p>
        </p:txBody>
      </p:sp>
      <p:sp>
        <p:nvSpPr>
          <p:cNvPr id="67" name="probe-kind">
            <a:extLst xmlns:a="http://schemas.openxmlformats.org/drawingml/2006/main">
              <a:ext uri="{FF2B5EF4-FFF2-40B4-BE49-F238E27FC236}">
                <a16:creationId xmlns:a16="http://schemas.microsoft.com/office/drawing/2014/main" id="{5CF5633C-2438-4D52-A98D-9DD96BE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708084"/>
                </a:solidFill>
              </a:defRPr>
            </a:pPr>
            <a:r>
              <a:rPr sz="750" b="0" i="1">
                <a:solidFill>
                  <a:srgbClr val="708084"/>
                </a:solidFill>
              </a:rPr>
              <a:t>opaque</a:t>
            </a:r>
          </a:p>
        </p:txBody>
      </p:sp>
      <p:sp>
        <p:nvSpPr>
          <p:cNvPr id="68" name="tp-box">
            <a:extLst xmlns:a="http://schemas.openxmlformats.org/drawingml/2006/main">
              <a:ext uri="{FF2B5EF4-FFF2-40B4-BE49-F238E27FC236}">
                <a16:creationId xmlns:a16="http://schemas.microsoft.com/office/drawing/2014/main" id="{491DAAA9-4909-470F-AAA1-CC55813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523875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8E9"/>
          </a:solidFill>
          <a:ln xmlns:a="http://schemas.openxmlformats.org/drawingml/2006/main" w="17145">
            <a:solidFill>
              <a:srgbClr val="C12A36"/>
            </a:solidFill>
            <a:prstDash val="solid"/>
          </a:ln>
        </p:spPr>
      </p:sp>
      <p:sp>
        <p:nvSpPr>
          <p:cNvPr id="69" name="tp-text">
            <a:extLst xmlns:a="http://schemas.openxmlformats.org/drawingml/2006/main">
              <a:ext uri="{FF2B5EF4-FFF2-40B4-BE49-F238E27FC236}">
                <a16:creationId xmlns:a16="http://schemas.microsoft.com/office/drawing/2014/main" id="{018C4BB8-35CF-4F54-8A5B-D375A6A3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38325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2A36"/>
                </a:solidFill>
              </a:defRPr>
            </a:pPr>
            <a:r>
              <a:rPr sz="825" b="1" i="0">
                <a:solidFill>
                  <a:srgbClr val="C12A36"/>
                </a:solidFill>
              </a:rPr>
              <a:t>T_P</a:t>
            </a:r>
          </a:p>
        </p:txBody>
      </p:sp>
      <p:sp>
        <p:nvSpPr>
          <p:cNvPr id="70" name="tr-box">
            <a:extLst xmlns:a="http://schemas.openxmlformats.org/drawingml/2006/main">
              <a:ext uri="{FF2B5EF4-FFF2-40B4-BE49-F238E27FC236}">
                <a16:creationId xmlns:a16="http://schemas.microsoft.com/office/drawing/2014/main" id="{1052CFAA-658D-4A3B-877C-CD23286F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38450"/>
            <a:ext cx="523875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dash"/>
          </a:ln>
        </p:spPr>
      </p:sp>
      <p:sp>
        <p:nvSpPr>
          <p:cNvPr id="71" name="tr-text">
            <a:extLst xmlns:a="http://schemas.openxmlformats.org/drawingml/2006/main">
              <a:ext uri="{FF2B5EF4-FFF2-40B4-BE49-F238E27FC236}">
                <a16:creationId xmlns:a16="http://schemas.microsoft.com/office/drawing/2014/main" id="{CCBF31EC-62DC-48CD-83A7-C199934B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86075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8D82"/>
                </a:solidFill>
              </a:defRPr>
            </a:pPr>
            <a:r>
              <a:rPr sz="825" b="1" i="0">
                <a:solidFill>
                  <a:srgbClr val="248D82"/>
                </a:solidFill>
              </a:rPr>
              <a:t>T_R</a:t>
            </a:r>
          </a:p>
        </p:txBody>
      </p:sp>
      <p:sp>
        <p:nvSpPr>
          <p:cNvPr id="72" name="probe-p-in">
            <a:extLst xmlns:a="http://schemas.openxmlformats.org/drawingml/2006/main">
              <a:ext uri="{FF2B5EF4-FFF2-40B4-BE49-F238E27FC236}">
                <a16:creationId xmlns:a16="http://schemas.microsoft.com/office/drawing/2014/main" id="{77EB7D3A-B556-4E77-B91A-A2B4827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71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73" name="probe-p-out">
            <a:extLst xmlns:a="http://schemas.openxmlformats.org/drawingml/2006/main">
              <a:ext uri="{FF2B5EF4-FFF2-40B4-BE49-F238E27FC236}">
                <a16:creationId xmlns:a16="http://schemas.microsoft.com/office/drawing/2014/main" id="{C42A19C1-3B32-496F-8C3A-72C85F1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0">
            <a:solidFill>
              <a:srgbClr val="C12A36"/>
            </a:solidFill>
            <a:prstDash val="solid"/>
          </a:ln>
        </p:spPr>
      </p:sp>
      <p:sp>
        <p:nvSpPr>
          <p:cNvPr id="74" name="probe-r-in">
            <a:extLst xmlns:a="http://schemas.openxmlformats.org/drawingml/2006/main">
              <a:ext uri="{FF2B5EF4-FFF2-40B4-BE49-F238E27FC236}">
                <a16:creationId xmlns:a16="http://schemas.microsoft.com/office/drawing/2014/main" id="{DEF8CBC6-08A6-43BF-BE0A-B9E3467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19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75" name="probe-r-out">
            <a:extLst xmlns:a="http://schemas.openxmlformats.org/drawingml/2006/main">
              <a:ext uri="{FF2B5EF4-FFF2-40B4-BE49-F238E27FC236}">
                <a16:creationId xmlns:a16="http://schemas.microsoft.com/office/drawing/2014/main" id="{D77C5692-A79F-4D50-8ECD-AB8F02BC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62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H="1">
            <a:off x="8267700" y="20002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2" name=""/>
          <p:cNvCxnSpPr>
            <a:stCxn xmlns:a="http://schemas.openxmlformats.org/drawingml/2006/main" id="63" idx="6"/>
            <a:endCxn xmlns:a="http://schemas.openxmlformats.org/drawingml/2006/main" id="74" idx="2"/>
          </p:cNvCxnSpPr>
          <p:nvPr/>
        </p:nvCxnSpPr>
        <p:spPr>
          <a:xfrm xmlns:a="http://schemas.openxmlformats.org/drawingml/2006/main" flipH="1">
            <a:off x="8267700" y="304800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83" name=""/>
          <p:cNvCxnSpPr>
            <a:stCxn xmlns:a="http://schemas.openxmlformats.org/drawingml/2006/main" id="73" idx="6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620250" y="20002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C12A3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4" name=""/>
          <p:cNvCxnSpPr>
            <a:stCxn xmlns:a="http://schemas.openxmlformats.org/drawingml/2006/main" id="75" idx="6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9620250" y="304800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 cap="rnd">
            <a:solidFill>
              <a:srgbClr val="248D8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0" name="probe-note">
            <a:extLst xmlns:a="http://schemas.openxmlformats.org/drawingml/2006/main">
              <a:ext uri="{FF2B5EF4-FFF2-40B4-BE49-F238E27FC236}">
                <a16:creationId xmlns:a16="http://schemas.microsoft.com/office/drawing/2014/main" id="{C7860338-2B2E-47E1-B724-9F49269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100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708084"/>
                </a:solidFill>
              </a:defRPr>
            </a:pPr>
            <a:r>
              <a:rPr sz="825" b="0" i="1">
                <a:solidFill>
                  <a:srgbClr val="708084"/>
                </a:solidFill>
              </a:rPr>
              <a:t>same I/O; two independent runs</a:t>
            </a:r>
          </a:p>
        </p:txBody>
      </p:sp>
      <p:sp>
        <p:nvSpPr>
          <p:cNvPr id="81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28A9F863-C820-4D53-8843-7E997B7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43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0D0E"/>
                </a:solidFill>
              </a:defRPr>
            </a:pPr>
            <a:r>
              <a:rPr sz="1200" b="1" i="0">
                <a:solidFill>
                  <a:srgbClr val="0D0D0E"/>
                </a:solidFill>
              </a:rPr>
              <a:t>PairAcc</a:t>
            </a:r>
          </a:p>
        </p:txBody>
      </p:sp>
      <p:sp>
        <p:nvSpPr>
          <p:cNvPr id="82" name="pairacc-formula-box">
            <a:extLst xmlns:a="http://schemas.openxmlformats.org/drawingml/2006/main">
              <a:ext uri="{FF2B5EF4-FFF2-40B4-BE49-F238E27FC236}">
                <a16:creationId xmlns:a16="http://schemas.microsoft.com/office/drawing/2014/main" id="{B17A2049-6DAC-42C9-866B-169ACDE0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95375"/>
            <a:ext cx="23812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83" name="pairacc-formula-text">
            <a:extLst xmlns:a="http://schemas.openxmlformats.org/drawingml/2006/main">
              <a:ext uri="{FF2B5EF4-FFF2-40B4-BE49-F238E27FC236}">
                <a16:creationId xmlns:a16="http://schemas.microsoft.com/office/drawing/2014/main" id="{35D073C2-EA6C-47EA-85EB-B17B38D3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430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07A7F"/>
                </a:solidFill>
              </a:defRPr>
            </a:pPr>
            <a:r>
              <a:rPr sz="1050" b="1" i="0">
                <a:solidFill>
                  <a:srgbClr val="407A7F"/>
                </a:solidFill>
              </a:rPr>
              <a:t>T_P=A  AND  T_R=B</a:t>
            </a:r>
          </a:p>
        </p:txBody>
      </p:sp>
      <p:sp>
        <p:nvSpPr>
          <p:cNvPr id="84" name="pairacc-slice">
            <a:extLst xmlns:a="http://schemas.openxmlformats.org/drawingml/2006/main">
              <a:ext uri="{FF2B5EF4-FFF2-40B4-BE49-F238E27FC236}">
                <a16:creationId xmlns:a16="http://schemas.microsoft.com/office/drawing/2014/main" id="{9C1BC595-33B7-4ACE-BB3A-988CDC6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complete pairs</a:t>
            </a:r>
          </a:p>
        </p:txBody>
      </p:sp>
      <p:sp>
        <p:nvSpPr>
          <p:cNvPr id="85" name="readout-sep-1">
            <a:extLst xmlns:a="http://schemas.openxmlformats.org/drawingml/2006/main">
              <a:ext uri="{FF2B5EF4-FFF2-40B4-BE49-F238E27FC236}">
                <a16:creationId xmlns:a16="http://schemas.microsoft.com/office/drawing/2014/main" id="{8A3B2648-0377-461D-A683-6ADFB436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526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86" name="sub-title">
            <a:extLst xmlns:a="http://schemas.openxmlformats.org/drawingml/2006/main">
              <a:ext uri="{FF2B5EF4-FFF2-40B4-BE49-F238E27FC236}">
                <a16:creationId xmlns:a16="http://schemas.microsoft.com/office/drawing/2014/main" id="{A77824EE-B674-4270-A716-2A4EABFF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D0D0E"/>
                </a:solidFill>
              </a:defRPr>
            </a:pPr>
            <a:r>
              <a:rPr sz="1125" b="1" i="0">
                <a:solidFill>
                  <a:srgbClr val="0D0D0E"/>
                </a:solidFill>
              </a:rPr>
              <a:t>Conditional substitution</a:t>
            </a:r>
          </a:p>
        </p:txBody>
      </p:sp>
      <p:sp>
        <p:nvSpPr>
          <p:cNvPr id="87" name="sub-a">
            <a:extLst xmlns:a="http://schemas.openxmlformats.org/drawingml/2006/main">
              <a:ext uri="{FF2B5EF4-FFF2-40B4-BE49-F238E27FC236}">
                <a16:creationId xmlns:a16="http://schemas.microsoft.com/office/drawing/2014/main" id="{46D6406D-577C-417F-9256-9DA3FAC0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2A36"/>
          </a:solidFill>
          <a:ln xmlns:a="http://schemas.openxmlformats.org/drawingml/2006/main" w="13335">
            <a:solidFill>
              <a:srgbClr val="C12A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8" name="sub-refresh-box">
            <a:extLst xmlns:a="http://schemas.openxmlformats.org/drawingml/2006/main">
              <a:ext uri="{FF2B5EF4-FFF2-40B4-BE49-F238E27FC236}">
                <a16:creationId xmlns:a16="http://schemas.microsoft.com/office/drawing/2014/main" id="{5280987B-9DD7-4ECD-8920-CE5B0C9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533650"/>
            <a:ext cx="952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89" name="sub-refresh-text">
            <a:extLst xmlns:a="http://schemas.openxmlformats.org/drawingml/2006/main">
              <a:ext uri="{FF2B5EF4-FFF2-40B4-BE49-F238E27FC236}">
                <a16:creationId xmlns:a16="http://schemas.microsoft.com/office/drawing/2014/main" id="{911FAC70-FFC7-4395-B752-8C559B2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81275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64A56"/>
                </a:solidFill>
              </a:defRPr>
            </a:pPr>
            <a:r>
              <a:rPr sz="750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90" name="sub-b">
            <a:extLst xmlns:a="http://schemas.openxmlformats.org/drawingml/2006/main">
              <a:ext uri="{FF2B5EF4-FFF2-40B4-BE49-F238E27FC236}">
                <a16:creationId xmlns:a16="http://schemas.microsoft.com/office/drawing/2014/main" id="{DF0E0045-1AAF-4C18-B78D-0D83963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3335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96" name=""/>
          <p:cNvCxnSpPr>
            <a:stCxn xmlns:a="http://schemas.openxmlformats.org/drawingml/2006/main" id="87" idx="6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0982325" y="27813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7" name=""/>
          <p:cNvCxnSpPr>
            <a:stCxn xmlns:a="http://schemas.openxmlformats.org/drawingml/2006/main" id="88" idx="3"/>
            <a:endCxn xmlns:a="http://schemas.openxmlformats.org/drawingml/2006/main" id="90" idx="2"/>
          </p:cNvCxnSpPr>
          <p:nvPr/>
        </p:nvCxnSpPr>
        <p:spPr>
          <a:xfrm xmlns:a="http://schemas.openxmlformats.org/drawingml/2006/main">
            <a:off x="12172950" y="27813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264A5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3" name="sub-slice">
            <a:extLst xmlns:a="http://schemas.openxmlformats.org/drawingml/2006/main">
              <a:ext uri="{FF2B5EF4-FFF2-40B4-BE49-F238E27FC236}">
                <a16:creationId xmlns:a16="http://schemas.microsoft.com/office/drawing/2014/main" id="{83E1FDE1-36EE-4DBF-9D75-99DDB651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eligible Preserve</a:t>
            </a:r>
          </a:p>
        </p:txBody>
      </p:sp>
      <p:sp>
        <p:nvSpPr>
          <p:cNvPr id="94" name="readout-sep-2">
            <a:extLst xmlns:a="http://schemas.openxmlformats.org/drawingml/2006/main">
              <a:ext uri="{FF2B5EF4-FFF2-40B4-BE49-F238E27FC236}">
                <a16:creationId xmlns:a16="http://schemas.microsoft.com/office/drawing/2014/main" id="{65A7DF78-2985-424A-B403-0D34F40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B8"/>
          </a:solidFill>
          <a:ln xmlns:a="http://schemas.openxmlformats.org/drawingml/2006/main" w="0">
            <a:solidFill>
              <a:srgbClr val="A9B6B8"/>
            </a:solidFill>
            <a:prstDash val="solid"/>
          </a:ln>
        </p:spPr>
      </p:sp>
      <p:sp>
        <p:nvSpPr>
          <p:cNvPr id="95" name="exec-title">
            <a:extLst xmlns:a="http://schemas.openxmlformats.org/drawingml/2006/main">
              <a:ext uri="{FF2B5EF4-FFF2-40B4-BE49-F238E27FC236}">
                <a16:creationId xmlns:a16="http://schemas.microsoft.com/office/drawing/2014/main" id="{0CCCB0DC-4DB8-4353-9422-5D1F295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0D0E"/>
                </a:solidFill>
              </a:defRPr>
            </a:pPr>
            <a:r>
              <a:rPr sz="1050" b="1" i="0">
                <a:solidFill>
                  <a:srgbClr val="0D0D0E"/>
                </a:solidFill>
              </a:rPr>
              <a:t>Execution subset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4142929254735">
            <a:extLst>
              <a:ext uri="{96DAC541-7B7A-43D3-8B79-37D633B846F1}">
                <asvg:svgBlip xmlns:asvg="http://schemas.microsoft.com/office/drawing/2016/SVG/main" r:embed="R347fc885d3b046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668250" y="35052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7" name="exec-id-box">
            <a:extLst xmlns:a="http://schemas.openxmlformats.org/drawingml/2006/main">
              <a:ext uri="{FF2B5EF4-FFF2-40B4-BE49-F238E27FC236}">
                <a16:creationId xmlns:a16="http://schemas.microsoft.com/office/drawing/2014/main" id="{5039DAB7-CDDB-415E-841A-15C0924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5524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98" name="exec-id-text">
            <a:extLst xmlns:a="http://schemas.openxmlformats.org/drawingml/2006/main">
              <a:ext uri="{FF2B5EF4-FFF2-40B4-BE49-F238E27FC236}">
                <a16:creationId xmlns:a16="http://schemas.microsoft.com/office/drawing/2014/main" id="{EDC7D5C8-6964-4DE5-8B50-5F8553A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990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64A56"/>
                </a:solidFill>
              </a:defRPr>
            </a:pPr>
            <a:r>
              <a:rPr sz="825" b="1" i="0">
                <a:solidFill>
                  <a:srgbClr val="264A56"/>
                </a:solidFill>
              </a:rPr>
              <a:t>ID</a:t>
            </a:r>
          </a:p>
        </p:txBody>
      </p:sp>
      <p:sp>
        <p:nvSpPr>
          <p:cNvPr id="99" name="exec-write-box">
            <a:extLst xmlns:a="http://schemas.openxmlformats.org/drawingml/2006/main">
              <a:ext uri="{FF2B5EF4-FFF2-40B4-BE49-F238E27FC236}">
                <a16:creationId xmlns:a16="http://schemas.microsoft.com/office/drawing/2014/main" id="{503277AC-9B06-46FB-A41E-91A155AA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943350"/>
            <a:ext cx="7429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100" name="exec-write-text">
            <a:extLst xmlns:a="http://schemas.openxmlformats.org/drawingml/2006/main">
              <a:ext uri="{FF2B5EF4-FFF2-40B4-BE49-F238E27FC236}">
                <a16:creationId xmlns:a16="http://schemas.microsoft.com/office/drawing/2014/main" id="{981407A3-2D03-4B78-8377-7B0381E0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9909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07A7F"/>
                </a:solidFill>
              </a:defRPr>
            </a:pPr>
            <a:r>
              <a:rPr sz="825" b="1" i="0">
                <a:solidFill>
                  <a:srgbClr val="407A7F"/>
                </a:solidFill>
              </a:rPr>
              <a:t>write</a:t>
            </a:r>
          </a:p>
        </p:txBody>
      </p:sp>
      <p:sp>
        <p:nvSpPr>
          <p:cNvPr id="101" name="exec-diff-box">
            <a:extLst xmlns:a="http://schemas.openxmlformats.org/drawingml/2006/main">
              <a:ext uri="{FF2B5EF4-FFF2-40B4-BE49-F238E27FC236}">
                <a16:creationId xmlns:a16="http://schemas.microsoft.com/office/drawing/2014/main" id="{55B3C44F-6604-4373-9B64-3FF7423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43350"/>
            <a:ext cx="857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CEFF0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02" name="exec-diff-text">
            <a:extLst xmlns:a="http://schemas.openxmlformats.org/drawingml/2006/main">
              <a:ext uri="{FF2B5EF4-FFF2-40B4-BE49-F238E27FC236}">
                <a16:creationId xmlns:a16="http://schemas.microsoft.com/office/drawing/2014/main" id="{3B5CA300-A52E-4F6A-A8C3-C2C0C29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9909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48D82"/>
                </a:solidFill>
              </a:defRPr>
            </a:pPr>
            <a:r>
              <a:rPr sz="750" b="1" i="0">
                <a:solidFill>
                  <a:srgbClr val="248D82"/>
                </a:solidFill>
              </a:rPr>
              <a:t>state diff</a:t>
            </a:r>
          </a:p>
        </p:txBody>
      </p:sp>
      <p:cxnSp>
        <p:nvCxnSpPr>
          <p:cNvPr id="208" name=""/>
          <p:cNvCxnSpPr>
            <a:stCxn xmlns:a="http://schemas.openxmlformats.org/drawingml/2006/main" id="97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11125200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07A7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9" name=""/>
          <p:cNvCxnSpPr>
            <a:stCxn xmlns:a="http://schemas.openxmlformats.org/drawingml/2006/main" id="99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2030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407A7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5" name="exec-slice">
            <a:extLst xmlns:a="http://schemas.openxmlformats.org/drawingml/2006/main">
              <a:ext uri="{FF2B5EF4-FFF2-40B4-BE49-F238E27FC236}">
                <a16:creationId xmlns:a16="http://schemas.microsoft.com/office/drawing/2014/main" id="{04E9DDDF-DE6C-4FA8-9D46-1844532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708084"/>
                </a:solidFill>
              </a:defRPr>
            </a:pPr>
            <a:r>
              <a:rPr sz="825" b="0" i="0">
                <a:solidFill>
                  <a:srgbClr val="708084"/>
                </a:solidFill>
              </a:rPr>
              <a:t>executed writes</a:t>
            </a:r>
          </a:p>
        </p:txBody>
      </p:sp>
    </p:spTree>
    <p:extLst>
      <p:ext uri="{BB962C8B-B14F-4D97-AF65-F5344CB8AC3E}">
        <p14:creationId xmlns:p14="http://schemas.microsoft.com/office/powerpoint/2010/main" val="50372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2026-07-29T01:26:30.1050000Z</dcterms:created>
  <dcterms:modified xsi:type="dcterms:W3CDTF">2026-07-29T01:26:30.1050000Z</dcterms:modified>
</coreProperties>
</file>
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4b76523c2143b6" /><Relationship Type="http://schemas.openxmlformats.org/officeDocument/2006/relationships/extended-properties" Target="/docProps/app.xml" Id="Ra0011bd7dcaa49d4" /><Relationship Type="http://schemas.openxmlformats.org/officeDocument/2006/relationships/officeDocument" Target="/ppt/presentation.xml" Id="R462ed3c46fa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1314ea75c4ba1"/>
  </p:sldMasterIdLst>
  <p:notesMasterIdLst>
    <p:notesMasterId xmlns:r="http://schemas.openxmlformats.org/officeDocument/2006/relationships" r:id="Re4314f0da8da47c9"/>
  </p:notesMasterIdLst>
  <p:sldIdLst>
    <p:sldId xmlns:r="http://schemas.openxmlformats.org/officeDocument/2006/relationships" id="256" r:id="R4a951e5c4c7b4dd9"/>
  </p:sldIdLst>
  <p:sldSz cx="91440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fffc376da4c2c" /><Relationship Type="http://schemas.openxmlformats.org/officeDocument/2006/relationships/slideMaster" Target="/ppt/slideMasters/slideMaster1.xml" Id="Rd051314ea75c4ba1" /><Relationship Type="http://schemas.openxmlformats.org/officeDocument/2006/relationships/notesMaster" Target="/ppt/notesMasters/notesMaster1.xml" Id="Re4314f0da8da47c9" /><Relationship Type="http://schemas.openxmlformats.org/officeDocument/2006/relationships/presProps" Target="/ppt/presProps.xml" Id="Rc3729ef579cf4e4a" /><Relationship Type="http://schemas.openxmlformats.org/officeDocument/2006/relationships/tableStyles" Target="/ppt/tableStyles.xml" Id="Rc473225d8b86439b" /><Relationship Type="http://schemas.openxmlformats.org/officeDocument/2006/relationships/slide" Target="/ppt/slides/slide1.xml" Id="R4a951e5c4c7b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1233f61ae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643205fa2422c" /><Relationship Type="http://schemas.openxmlformats.org/officeDocument/2006/relationships/notesMaster" Target="/ppt/notesMasters/notesMaster1.xml" Id="Reec91b6c5eb8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 Figure 1: title/subtitle hierarchy, tropical-forest palette, central refresh lens, and bottom explanatory band.</a:t>
            </a:r>
          </a:p>
          <a:p xmlns:a="http://schemas.openxmlformats.org/drawingml/2006/main">
            <a:r>
              <a:t>- Anonymous TRI manuscript and AGENTS.md: matched-pair semantics, fixed variables, information boundary, and readout definitions.</a:t>
            </a:r>
          </a:p>
          <a:p xmlns:a="http://schemas.openxmlformats.org/drawingml/2006/main">
            <a:r>
              <a:t>- Lucide Icons (ISC): Layers3, TimerReset, LockKeyhole, Hourglass, RefreshCcw, CircleCheck, EyeOff, ScanSearch, BadgeCheck, Route, DatabaseZap.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b19f8039e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accae7f4bc4bb4" /><Relationship Type="http://schemas.openxmlformats.org/officeDocument/2006/relationships/slideLayout" Target="/ppt/slideLayouts/slideLayout1.xml" Id="Rcc1d856642cc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1d856642cc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6ef29525644a1" /><Relationship Type="http://schemas.openxmlformats.org/officeDocument/2006/relationships/image" Target="/ppt/media/image.png" Id="R5c97a2cc8cb44522" /><Relationship Type="http://schemas.openxmlformats.org/officeDocument/2006/relationships/image" Target="/ppt/media/image.svg" Id="R530263d7decd4c81" /><Relationship Type="http://schemas.openxmlformats.org/officeDocument/2006/relationships/image" Target="/ppt/media/image2.png" Id="R8aecf0c95a864a8b" /><Relationship Type="http://schemas.openxmlformats.org/officeDocument/2006/relationships/image" Target="/ppt/media/image2.svg" Id="Rffd3f0d1841143c2" /><Relationship Type="http://schemas.openxmlformats.org/officeDocument/2006/relationships/image" Target="/ppt/media/image3.png" Id="R0279bc3ea7a84026" /><Relationship Type="http://schemas.openxmlformats.org/officeDocument/2006/relationships/image" Target="/ppt/media/image3.svg" Id="Rbd4a036d42d046ce" /><Relationship Type="http://schemas.openxmlformats.org/officeDocument/2006/relationships/image" Target="/ppt/media/image4.png" Id="Rfbda8b05991144a0" /><Relationship Type="http://schemas.openxmlformats.org/officeDocument/2006/relationships/image" Target="/ppt/media/image4.svg" Id="R56407ce28f454970" /><Relationship Type="http://schemas.openxmlformats.org/officeDocument/2006/relationships/image" Target="/ppt/media/image5.png" Id="R515e5bb1f84a46a7" /><Relationship Type="http://schemas.openxmlformats.org/officeDocument/2006/relationships/image" Target="/ppt/media/image5.svg" Id="R9f29c3b4d10a49df" /><Relationship Type="http://schemas.openxmlformats.org/officeDocument/2006/relationships/image" Target="/ppt/media/image6.png" Id="R827f482fdae94ecd" /><Relationship Type="http://schemas.openxmlformats.org/officeDocument/2006/relationships/image" Target="/ppt/media/image6.svg" Id="R916cb7ef43334b4b" /><Relationship Type="http://schemas.openxmlformats.org/officeDocument/2006/relationships/image" Target="/ppt/media/image7.png" Id="Rb2034aa053ab47a9" /><Relationship Type="http://schemas.openxmlformats.org/officeDocument/2006/relationships/image" Target="/ppt/media/image7.svg" Id="Rf60c15eb9c9b4571" /><Relationship Type="http://schemas.openxmlformats.org/officeDocument/2006/relationships/image" Target="/ppt/media/image8.png" Id="R009b3915edc14b22" /><Relationship Type="http://schemas.openxmlformats.org/officeDocument/2006/relationships/image" Target="/ppt/media/image8.svg" Id="R87a7acf7fc7548cd" /><Relationship Type="http://schemas.openxmlformats.org/officeDocument/2006/relationships/image" Target="/ppt/media/image9.png" Id="Rb067d98912ed4f2d" /><Relationship Type="http://schemas.openxmlformats.org/officeDocument/2006/relationships/image" Target="/ppt/media/image9.svg" Id="Rcb05e03082264ead" /><Relationship Type="http://schemas.openxmlformats.org/officeDocument/2006/relationships/image" Target="/ppt/media/image10.png" Id="Rcf8fb3d7289540fd" /><Relationship Type="http://schemas.openxmlformats.org/officeDocument/2006/relationships/image" Target="/ppt/media/image10.svg" Id="Rabd6aa95a1874bed" /><Relationship Type="http://schemas.openxmlformats.org/officeDocument/2006/relationships/image" Target="/ppt/media/image11.png" Id="Rfff2647d65fc479b" /><Relationship Type="http://schemas.openxmlformats.org/officeDocument/2006/relationships/image" Target="/ppt/media/image11.svg" Id="Rc2494c736337463e" /><Relationship Type="http://schemas.openxmlformats.org/officeDocument/2006/relationships/notesSlide" Target="/ppt/notesSlides/notesSlide1.xml" Id="Rf77f2d7e33e44c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C64E0FDE-CC24-47DC-A7FB-D568980C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6200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D0D0E"/>
                </a:solidFill>
              </a:defRPr>
            </a:pPr>
            <a:r>
              <a:rPr sz="2025" b="1" i="0">
                <a:solidFill>
                  <a:srgbClr val="0D0D0E"/>
                </a:solidFill>
              </a:rPr>
              <a:t>One transition, two valid commitments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418552-8624-4259-9ED6-E9973CEF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86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1">
                <a:solidFill>
                  <a:srgbClr val="407A7F"/>
                </a:solidFill>
              </a:defRPr>
            </a:pPr>
            <a:r>
              <a:rPr sz="1200" b="1" i="1">
                <a:solidFill>
                  <a:srgbClr val="407A7F"/>
                </a:solidFill>
              </a:rPr>
              <a:t>TRI turns resolution timing into a matched diagnostic.</a:t>
            </a:r>
          </a:p>
        </p:txBody>
      </p:sp>
      <p:sp>
        <p:nvSpPr>
          <p:cNvPr id="3" name="scene-wash">
            <a:extLst xmlns:a="http://schemas.openxmlformats.org/drawingml/2006/main">
              <a:ext uri="{FF2B5EF4-FFF2-40B4-BE49-F238E27FC236}">
                <a16:creationId xmlns:a16="http://schemas.microsoft.com/office/drawing/2014/main" id="{5929B1A3-CBB8-4E26-8BC5-6B3C17D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52475"/>
            <a:ext cx="88582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7a2cc8cb44522">
            <a:extLst>
              <a:ext uri="{96DAC541-7B7A-43D3-8B79-37D633B846F1}">
                <asvg:svgBlip xmlns:asvg="http://schemas.microsoft.com/office/drawing/2016/SVG/main" r:embed="R530263d7decd4c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225" y="8286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" name="fixed">
            <a:extLst xmlns:a="http://schemas.openxmlformats.org/drawingml/2006/main">
              <a:ext uri="{FF2B5EF4-FFF2-40B4-BE49-F238E27FC236}">
                <a16:creationId xmlns:a16="http://schemas.microsoft.com/office/drawing/2014/main" id="{15FC0BEE-C61B-4708-A18E-B48D2DD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FIXED: S0, S1, q, action, schema, I/O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cf0c95a864a8b">
            <a:extLst>
              <a:ext uri="{96DAC541-7B7A-43D3-8B79-37D633B846F1}">
                <asvg:svgBlip xmlns:asvg="http://schemas.microsoft.com/office/drawing/2016/SVG/main" r:embed="Rffd3f0d1841143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8286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iming">
            <a:extLst xmlns:a="http://schemas.openxmlformats.org/drawingml/2006/main">
              <a:ext uri="{FF2B5EF4-FFF2-40B4-BE49-F238E27FC236}">
                <a16:creationId xmlns:a16="http://schemas.microsoft.com/office/drawing/2014/main" id="{57380468-E78B-40D3-B194-A4D77B5B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8D82"/>
                </a:solidFill>
              </a:defRPr>
            </a:pPr>
            <a:r>
              <a:rPr sz="1125" b="1" i="0">
                <a:solidFill>
                  <a:srgbClr val="248D82"/>
                </a:solidFill>
              </a:rPr>
              <a:t>ONLY COMMITMENT TIME CHANGES</a:t>
            </a:r>
          </a:p>
        </p:txBody>
      </p:sp>
      <p:sp>
        <p:nvSpPr>
          <p:cNvPr id="8" name="preserve-row">
            <a:extLst xmlns:a="http://schemas.openxmlformats.org/drawingml/2006/main">
              <a:ext uri="{FF2B5EF4-FFF2-40B4-BE49-F238E27FC236}">
                <a16:creationId xmlns:a16="http://schemas.microsoft.com/office/drawing/2014/main" id="{A0D0732F-E6D6-4CA3-836B-BD4B086E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19200"/>
            <a:ext cx="192405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eserve-accent">
            <a:extLst xmlns:a="http://schemas.openxmlformats.org/drawingml/2006/main">
              <a:ext uri="{FF2B5EF4-FFF2-40B4-BE49-F238E27FC236}">
                <a16:creationId xmlns:a16="http://schemas.microsoft.com/office/drawing/2014/main" id="{8E67AF5A-8AD9-432D-9B14-73FA4A2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9540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10" name="preserve-token">
            <a:extLst xmlns:a="http://schemas.openxmlformats.org/drawingml/2006/main">
              <a:ext uri="{FF2B5EF4-FFF2-40B4-BE49-F238E27FC236}">
                <a16:creationId xmlns:a16="http://schemas.microsoft.com/office/drawing/2014/main" id="{8E880358-0841-48B9-8697-BA5AE18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362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1430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1" name="preserve-icon-ring">
            <a:extLst xmlns:a="http://schemas.openxmlformats.org/drawingml/2006/main">
              <a:ext uri="{FF2B5EF4-FFF2-40B4-BE49-F238E27FC236}">
                <a16:creationId xmlns:a16="http://schemas.microsoft.com/office/drawing/2014/main" id="{DDF731B1-9B18-4C6F-A8E2-2BD80490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12A36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9bc3ea7a84026">
            <a:extLst>
              <a:ext uri="{96DAC541-7B7A-43D3-8B79-37D633B846F1}">
                <asvg:svgBlip xmlns:asvg="http://schemas.microsoft.com/office/drawing/2016/SVG/main" r:embed="Rbd4a036d42d046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" y="14097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3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92A66103-C343-461A-8DA9-0241F2A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2573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12A36"/>
                </a:solidFill>
              </a:defRPr>
            </a:pPr>
            <a:r>
              <a:rPr sz="1275" b="1" i="0">
                <a:solidFill>
                  <a:srgbClr val="C12A36"/>
                </a:solidFill>
              </a:rPr>
              <a:t>Preserve</a:t>
            </a:r>
          </a:p>
        </p:txBody>
      </p:sp>
      <p:sp>
        <p:nvSpPr>
          <p:cNvPr id="14" name="preserve-body">
            <a:extLst xmlns:a="http://schemas.openxmlformats.org/drawingml/2006/main">
              <a:ext uri="{FF2B5EF4-FFF2-40B4-BE49-F238E27FC236}">
                <a16:creationId xmlns:a16="http://schemas.microsoft.com/office/drawing/2014/main" id="{5E816860-1C1C-4C16-B3EE-F9E403D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954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12A36"/>
                </a:solidFill>
              </a:defRPr>
            </a:pPr>
            <a:r>
              <a:rPr sz="1125" b="1" i="0">
                <a:solidFill>
                  <a:srgbClr val="C12A36"/>
                </a:solidFill>
              </a:rPr>
              <a:t>bind A pre-refresh</a:t>
            </a:r>
          </a:p>
        </p:txBody>
      </p:sp>
      <p:sp>
        <p:nvSpPr>
          <p:cNvPr id="15" name="reevaluate-row">
            <a:extLst xmlns:a="http://schemas.openxmlformats.org/drawingml/2006/main">
              <a:ext uri="{FF2B5EF4-FFF2-40B4-BE49-F238E27FC236}">
                <a16:creationId xmlns:a16="http://schemas.microsoft.com/office/drawing/2014/main" id="{85C43A2E-9352-49A5-BAEC-681D5014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105025"/>
            <a:ext cx="192405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evaluate-accent">
            <a:extLst xmlns:a="http://schemas.openxmlformats.org/drawingml/2006/main">
              <a:ext uri="{FF2B5EF4-FFF2-40B4-BE49-F238E27FC236}">
                <a16:creationId xmlns:a16="http://schemas.microsoft.com/office/drawing/2014/main" id="{2BC2FAEF-8A2F-4BB9-B02F-6FC747F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181225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17" name="reevaluate-token">
            <a:extLst xmlns:a="http://schemas.openxmlformats.org/drawingml/2006/main">
              <a:ext uri="{FF2B5EF4-FFF2-40B4-BE49-F238E27FC236}">
                <a16:creationId xmlns:a16="http://schemas.microsoft.com/office/drawing/2014/main" id="{09FF4475-53CC-4F03-B2F3-7E314F1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247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143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8" name="reevaluate-icon-ring">
            <a:extLst xmlns:a="http://schemas.openxmlformats.org/drawingml/2006/main">
              <a:ext uri="{FF2B5EF4-FFF2-40B4-BE49-F238E27FC236}">
                <a16:creationId xmlns:a16="http://schemas.microsoft.com/office/drawing/2014/main" id="{4DB1D70F-67C0-4FAA-9EA5-1A3ED9D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8D82"/>
            </a:solidFill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a8b05991144a0">
            <a:extLst>
              <a:ext uri="{96DAC541-7B7A-43D3-8B79-37D633B846F1}">
                <asvg:svgBlip xmlns:asvg="http://schemas.microsoft.com/office/drawing/2016/SVG/main" r:embed="R56407ce28f4549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" y="229552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0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C39FF473-A59F-4A6B-9D94-B37ED4D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431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48D82"/>
                </a:solidFill>
              </a:defRPr>
            </a:pPr>
            <a:r>
              <a:rPr sz="1275" b="1" i="0">
                <a:solidFill>
                  <a:srgbClr val="248D82"/>
                </a:solidFill>
              </a:rPr>
              <a:t>Reevaluate</a:t>
            </a:r>
          </a:p>
        </p:txBody>
      </p:sp>
      <p:sp>
        <p:nvSpPr>
          <p:cNvPr id="21" name="reevaluate-body">
            <a:extLst xmlns:a="http://schemas.openxmlformats.org/drawingml/2006/main">
              <a:ext uri="{FF2B5EF4-FFF2-40B4-BE49-F238E27FC236}">
                <a16:creationId xmlns:a16="http://schemas.microsoft.com/office/drawing/2014/main" id="{CEEC33AF-E3CF-4931-AD52-DB73CA38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8D82"/>
                </a:solidFill>
              </a:defRPr>
            </a:pPr>
            <a:r>
              <a:rPr sz="1125" b="1" i="0">
                <a:solidFill>
                  <a:srgbClr val="248D82"/>
                </a:solidFill>
              </a:rPr>
              <a:t>resolve q post-refresh</a:t>
            </a:r>
          </a:p>
        </p:txBody>
      </p:sp>
      <p:sp>
        <p:nvSpPr>
          <p:cNvPr id="22" name="pair-label">
            <a:extLst xmlns:a="http://schemas.openxmlformats.org/drawingml/2006/main">
              <a:ext uri="{FF2B5EF4-FFF2-40B4-BE49-F238E27FC236}">
                <a16:creationId xmlns:a16="http://schemas.microsoft.com/office/drawing/2014/main" id="{3116F8BB-714D-44E0-BDCC-B76A564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MATCHED TASK PAIR</a:t>
            </a:r>
          </a:p>
        </p:txBody>
      </p:sp>
      <p:sp>
        <p:nvSpPr>
          <p:cNvPr id="23" name="s0-outer">
            <a:extLst xmlns:a="http://schemas.openxmlformats.org/drawingml/2006/main">
              <a:ext uri="{FF2B5EF4-FFF2-40B4-BE49-F238E27FC236}">
                <a16:creationId xmlns:a16="http://schemas.microsoft.com/office/drawing/2014/main" id="{6070E8DA-C193-4F83-BB79-93D4E8A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239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24" name="s0-candidate-0">
            <a:extLst xmlns:a="http://schemas.openxmlformats.org/drawingml/2006/main">
              <a:ext uri="{FF2B5EF4-FFF2-40B4-BE49-F238E27FC236}">
                <a16:creationId xmlns:a16="http://schemas.microsoft.com/office/drawing/2014/main" id="{5A2B04F1-764D-4137-82EE-10FBB583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24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25" name="s0-candidate-1">
            <a:extLst xmlns:a="http://schemas.openxmlformats.org/drawingml/2006/main">
              <a:ext uri="{FF2B5EF4-FFF2-40B4-BE49-F238E27FC236}">
                <a16:creationId xmlns:a16="http://schemas.microsoft.com/office/drawing/2014/main" id="{FE6858A8-5F1D-47DA-97EE-B50AF5A0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9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26" name="s0-candidate-2">
            <a:extLst xmlns:a="http://schemas.openxmlformats.org/drawingml/2006/main">
              <a:ext uri="{FF2B5EF4-FFF2-40B4-BE49-F238E27FC236}">
                <a16:creationId xmlns:a16="http://schemas.microsoft.com/office/drawing/2014/main" id="{9B63E986-8D09-4EA0-AE0C-F936D27F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485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27" name="s0-candidate-3">
            <a:extLst xmlns:a="http://schemas.openxmlformats.org/drawingml/2006/main">
              <a:ext uri="{FF2B5EF4-FFF2-40B4-BE49-F238E27FC236}">
                <a16:creationId xmlns:a16="http://schemas.microsoft.com/office/drawing/2014/main" id="{1345FC41-84ED-48B5-9B55-58D11993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90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28" name="s0-A">
            <a:extLst xmlns:a="http://schemas.openxmlformats.org/drawingml/2006/main">
              <a:ext uri="{FF2B5EF4-FFF2-40B4-BE49-F238E27FC236}">
                <a16:creationId xmlns:a16="http://schemas.microsoft.com/office/drawing/2014/main" id="{B7B1737F-7424-45C2-92AB-0720DED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62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1430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refresh">
            <a:extLst xmlns:a="http://schemas.openxmlformats.org/drawingml/2006/main">
              <a:ext uri="{FF2B5EF4-FFF2-40B4-BE49-F238E27FC236}">
                <a16:creationId xmlns:a16="http://schemas.microsoft.com/office/drawing/2014/main" id="{289935F6-47AE-425B-BBAB-83D1CF7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22860">
            <a:solidFill>
              <a:srgbClr val="EABC6B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e5bb1f84a46a7">
            <a:extLst>
              <a:ext uri="{96DAC541-7B7A-43D3-8B79-37D633B846F1}">
                <asvg:svgBlip xmlns:asvg="http://schemas.microsoft.com/office/drawing/2016/SVG/main" r:embed="R9f29c3b4d10a49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57625" y="17049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1" name="s1-outer">
            <a:extLst xmlns:a="http://schemas.openxmlformats.org/drawingml/2006/main">
              <a:ext uri="{FF2B5EF4-FFF2-40B4-BE49-F238E27FC236}">
                <a16:creationId xmlns:a16="http://schemas.microsoft.com/office/drawing/2014/main" id="{071C45CB-A3EA-4A98-B1B3-BCD0811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239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32" name="s1-candidate-0">
            <a:extLst xmlns:a="http://schemas.openxmlformats.org/drawingml/2006/main">
              <a:ext uri="{FF2B5EF4-FFF2-40B4-BE49-F238E27FC236}">
                <a16:creationId xmlns:a16="http://schemas.microsoft.com/office/drawing/2014/main" id="{6455B9CF-19D5-4076-A7C3-B1906E31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33" name="s1-candidate-1">
            <a:extLst xmlns:a="http://schemas.openxmlformats.org/drawingml/2006/main">
              <a:ext uri="{FF2B5EF4-FFF2-40B4-BE49-F238E27FC236}">
                <a16:creationId xmlns:a16="http://schemas.microsoft.com/office/drawing/2014/main" id="{1439C6EE-A526-42ED-9CEC-65D983F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09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34" name="s1-candidate-2">
            <a:extLst xmlns:a="http://schemas.openxmlformats.org/drawingml/2006/main">
              <a:ext uri="{FF2B5EF4-FFF2-40B4-BE49-F238E27FC236}">
                <a16:creationId xmlns:a16="http://schemas.microsoft.com/office/drawing/2014/main" id="{815503DA-26D2-4F37-82D0-241DB985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476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7620">
            <a:solidFill>
              <a:srgbClr val="708084"/>
            </a:solidFill>
            <a:prstDash val="solid"/>
          </a:ln>
        </p:spPr>
      </p:sp>
      <p:sp>
        <p:nvSpPr>
          <p:cNvPr id="35" name="s1-A">
            <a:extLst xmlns:a="http://schemas.openxmlformats.org/drawingml/2006/main">
              <a:ext uri="{FF2B5EF4-FFF2-40B4-BE49-F238E27FC236}">
                <a16:creationId xmlns:a16="http://schemas.microsoft.com/office/drawing/2014/main" id="{5F5E5DF6-F9E4-422B-99EB-DED8960E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62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1430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6" name="s1-B">
            <a:extLst xmlns:a="http://schemas.openxmlformats.org/drawingml/2006/main">
              <a:ext uri="{FF2B5EF4-FFF2-40B4-BE49-F238E27FC236}">
                <a16:creationId xmlns:a16="http://schemas.microsoft.com/office/drawing/2014/main" id="{C3002DA5-C9E9-4A24-B719-9AAFA3E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143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38" name=""/>
          <p:cNvCxnSpPr>
            <a:stCxn xmlns:a="http://schemas.openxmlformats.org/drawingml/2006/main" id="23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3314700" y="1838325"/>
            <a:ext cx="400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9" name=""/>
          <p:cNvCxnSpPr>
            <a:stCxn xmlns:a="http://schemas.openxmlformats.org/drawingml/2006/main" id="29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4286250" y="1838325"/>
            <a:ext cx="419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9" name="s0-label">
            <a:extLst xmlns:a="http://schemas.openxmlformats.org/drawingml/2006/main">
              <a:ext uri="{FF2B5EF4-FFF2-40B4-BE49-F238E27FC236}">
                <a16:creationId xmlns:a16="http://schemas.microsoft.com/office/drawing/2014/main" id="{78AEDD38-2F8F-4AA8-ADDD-76DE985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95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3E4A4E"/>
                </a:solidFill>
              </a:defRPr>
            </a:pPr>
            <a:r>
              <a:rPr sz="1200" b="1" i="1">
                <a:solidFill>
                  <a:srgbClr val="3E4A4E"/>
                </a:solidFill>
              </a:rPr>
              <a:t>S0</a:t>
            </a:r>
          </a:p>
        </p:txBody>
      </p:sp>
      <p:sp>
        <p:nvSpPr>
          <p:cNvPr id="40" name="s0-winner">
            <a:extLst xmlns:a="http://schemas.openxmlformats.org/drawingml/2006/main">
              <a:ext uri="{FF2B5EF4-FFF2-40B4-BE49-F238E27FC236}">
                <a16:creationId xmlns:a16="http://schemas.microsoft.com/office/drawing/2014/main" id="{FA315DDE-FCD5-4AEE-B3DD-28910779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86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3E4A4E"/>
                </a:solidFill>
              </a:defRPr>
            </a:pPr>
            <a:r>
              <a:rPr sz="1125" b="0" i="1">
                <a:solidFill>
                  <a:srgbClr val="3E4A4E"/>
                </a:solidFill>
              </a:rPr>
              <a:t>q(S0)=A</a:t>
            </a:r>
          </a:p>
        </p:txBody>
      </p:sp>
      <p:sp>
        <p:nvSpPr>
          <p:cNvPr id="41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5D19F93C-4324-4824-9924-A532F2C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43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42" name="s1-label">
            <a:extLst xmlns:a="http://schemas.openxmlformats.org/drawingml/2006/main">
              <a:ext uri="{FF2B5EF4-FFF2-40B4-BE49-F238E27FC236}">
                <a16:creationId xmlns:a16="http://schemas.microsoft.com/office/drawing/2014/main" id="{CA7348DA-8657-48BF-947C-BC21AB2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95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3E4A4E"/>
                </a:solidFill>
              </a:defRPr>
            </a:pPr>
            <a:r>
              <a:rPr sz="1200" b="1" i="1">
                <a:solidFill>
                  <a:srgbClr val="3E4A4E"/>
                </a:solidFill>
              </a:rPr>
              <a:t>S1</a:t>
            </a:r>
          </a:p>
        </p:txBody>
      </p:sp>
      <p:sp>
        <p:nvSpPr>
          <p:cNvPr id="43" name="s1-winner">
            <a:extLst xmlns:a="http://schemas.openxmlformats.org/drawingml/2006/main">
              <a:ext uri="{FF2B5EF4-FFF2-40B4-BE49-F238E27FC236}">
                <a16:creationId xmlns:a16="http://schemas.microsoft.com/office/drawing/2014/main" id="{FD1237E9-2F85-479B-9B24-68CCA01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86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3E4A4E"/>
                </a:solidFill>
              </a:defRPr>
            </a:pPr>
            <a:r>
              <a:rPr sz="1125" b="0" i="1">
                <a:solidFill>
                  <a:srgbClr val="3E4A4E"/>
                </a:solidFill>
              </a:rPr>
              <a:t>q(S1)=B</a:t>
            </a:r>
          </a:p>
        </p:txBody>
      </p:sp>
      <p:sp>
        <p:nvSpPr>
          <p:cNvPr id="44" name="bound">
            <a:extLst xmlns:a="http://schemas.openxmlformats.org/drawingml/2006/main">
              <a:ext uri="{FF2B5EF4-FFF2-40B4-BE49-F238E27FC236}">
                <a16:creationId xmlns:a16="http://schemas.microsoft.com/office/drawing/2014/main" id="{BBD405B8-B311-43EA-82FD-29CF93B6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066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12A36"/>
                </a:solidFill>
              </a:defRPr>
            </a:pPr>
            <a:r>
              <a:rPr sz="1125" b="1" i="0">
                <a:solidFill>
                  <a:srgbClr val="C12A36"/>
                </a:solidFill>
              </a:rPr>
              <a:t>BIND A</a:t>
            </a:r>
          </a:p>
        </p:txBody>
      </p:sp>
      <p:sp>
        <p:nvSpPr>
          <p:cNvPr id="45" name="defer">
            <a:extLst xmlns:a="http://schemas.openxmlformats.org/drawingml/2006/main">
              <a:ext uri="{FF2B5EF4-FFF2-40B4-BE49-F238E27FC236}">
                <a16:creationId xmlns:a16="http://schemas.microsoft.com/office/drawing/2014/main" id="{D0B31EED-72E6-4091-9918-76685B6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8D82"/>
                </a:solidFill>
              </a:defRPr>
            </a:pPr>
            <a:r>
              <a:rPr sz="1125" b="1" i="0">
                <a:solidFill>
                  <a:srgbClr val="248D82"/>
                </a:solidFill>
              </a:rPr>
              <a:t>DEFER q</a:t>
            </a:r>
          </a:p>
        </p:txBody>
      </p:sp>
      <p:sp>
        <p:nvSpPr>
          <p:cNvPr id="46" name="target-a-outer">
            <a:extLst xmlns:a="http://schemas.openxmlformats.org/drawingml/2006/main">
              <a:ext uri="{FF2B5EF4-FFF2-40B4-BE49-F238E27FC236}">
                <a16:creationId xmlns:a16="http://schemas.microsoft.com/office/drawing/2014/main" id="{27AB408F-7EEE-4B03-9BEC-CD5FE238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52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12A36"/>
                </a:solidFill>
              </a:defRPr>
            </a:pPr>
            <a:r>
              <a:rPr sz="1275" b="1" i="0">
                <a:solidFill>
                  <a:srgbClr val="C12A36"/>
                </a:solidFill>
              </a:rPr>
              <a:t>A</a:t>
            </a:r>
          </a:p>
        </p:txBody>
      </p:sp>
      <p:sp>
        <p:nvSpPr>
          <p:cNvPr id="47" name="target-a-h">
            <a:extLst xmlns:a="http://schemas.openxmlformats.org/drawingml/2006/main">
              <a:ext uri="{FF2B5EF4-FFF2-40B4-BE49-F238E27FC236}">
                <a16:creationId xmlns:a16="http://schemas.microsoft.com/office/drawing/2014/main" id="{DCD891AB-B7E2-4D31-8F48-7DC0C9C4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239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48" name="target-a-v">
            <a:extLst xmlns:a="http://schemas.openxmlformats.org/drawingml/2006/main">
              <a:ext uri="{FF2B5EF4-FFF2-40B4-BE49-F238E27FC236}">
                <a16:creationId xmlns:a16="http://schemas.microsoft.com/office/drawing/2014/main" id="{3E4FED93-4A45-46ED-884D-224A92E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1442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49" name="target-b-outer">
            <a:extLst xmlns:a="http://schemas.openxmlformats.org/drawingml/2006/main">
              <a:ext uri="{FF2B5EF4-FFF2-40B4-BE49-F238E27FC236}">
                <a16:creationId xmlns:a16="http://schemas.microsoft.com/office/drawing/2014/main" id="{0A705A88-F1B9-4178-ACF1-1625AD8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48D82"/>
                </a:solidFill>
              </a:defRPr>
            </a:pPr>
            <a:r>
              <a:rPr sz="1275" b="1" i="0">
                <a:solidFill>
                  <a:srgbClr val="248D82"/>
                </a:solidFill>
              </a:rPr>
              <a:t>B</a:t>
            </a:r>
          </a:p>
        </p:txBody>
      </p:sp>
      <p:sp>
        <p:nvSpPr>
          <p:cNvPr id="50" name="target-b-h">
            <a:extLst xmlns:a="http://schemas.openxmlformats.org/drawingml/2006/main">
              <a:ext uri="{FF2B5EF4-FFF2-40B4-BE49-F238E27FC236}">
                <a16:creationId xmlns:a16="http://schemas.microsoft.com/office/drawing/2014/main" id="{B8C50736-9451-41ED-B451-D1C1FFCE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717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51" name="target-b-v">
            <a:extLst xmlns:a="http://schemas.openxmlformats.org/drawingml/2006/main">
              <a:ext uri="{FF2B5EF4-FFF2-40B4-BE49-F238E27FC236}">
                <a16:creationId xmlns:a16="http://schemas.microsoft.com/office/drawing/2014/main" id="{F0A7AE4D-1957-4C25-93E0-3621ABD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6217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cxnSp>
        <p:nvCxnSpPr>
          <p:cNvPr id="153" name=""/>
          <p:cNvCxnSpPr>
            <a:stCxn xmlns:a="http://schemas.openxmlformats.org/drawingml/2006/main" id="4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rot="16200000" flipH="1">
            <a:off x="2628900" y="1504950"/>
            <a:ext cx="666750" cy="247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" name="preserve-track">
            <a:extLst xmlns:a="http://schemas.openxmlformats.org/drawingml/2006/main">
              <a:ext uri="{FF2B5EF4-FFF2-40B4-BE49-F238E27FC236}">
                <a16:creationId xmlns:a16="http://schemas.microsoft.com/office/drawing/2014/main" id="{34B62E35-8F92-4962-8AE6-B971BCD3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47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cxnSp>
        <p:nvCxnSpPr>
          <p:cNvPr id="155" name=""/>
          <p:cNvCxnSpPr>
            <a:stCxn xmlns:a="http://schemas.openxmlformats.org/drawingml/2006/main" id="28" idx="0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3086100" y="1262063"/>
            <a:ext cx="990600" cy="700088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C12A3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"/>
          <p:cNvCxnSpPr>
            <a:stCxn xmlns:a="http://schemas.openxmlformats.org/drawingml/2006/main" id="53" idx="6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105275" y="1262063"/>
            <a:ext cx="1400175" cy="700088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6" name="preserve-exit">
            <a:extLst xmlns:a="http://schemas.openxmlformats.org/drawingml/2006/main">
              <a:ext uri="{FF2B5EF4-FFF2-40B4-BE49-F238E27FC236}">
                <a16:creationId xmlns:a16="http://schemas.microsoft.com/office/drawing/2014/main" id="{A5FC83D7-2EDE-4266-94C2-509CB34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62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35" idx="6"/>
            <a:endCxn xmlns:a="http://schemas.openxmlformats.org/drawingml/2006/main" id="56" idx="2"/>
          </p:cNvCxnSpPr>
          <p:nvPr/>
        </p:nvCxnSpPr>
        <p:spPr>
          <a:xfrm xmlns:a="http://schemas.openxmlformats.org/drawingml/2006/main" flipV="1">
            <a:off x="5648325" y="1976438"/>
            <a:ext cx="209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C12A3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"/>
          <p:cNvCxnSpPr>
            <a:stCxn xmlns:a="http://schemas.openxmlformats.org/drawingml/2006/main" id="56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5886450" y="1333500"/>
            <a:ext cx="20955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0" name=""/>
          <p:cNvCxnSpPr>
            <a:stCxn xmlns:a="http://schemas.openxmlformats.org/drawingml/2006/main" id="45" idx="0"/>
            <a:endCxn xmlns:a="http://schemas.openxmlformats.org/drawingml/2006/main" id="29" idx="4"/>
          </p:cNvCxnSpPr>
          <p:nvPr/>
        </p:nvCxnSpPr>
        <p:spPr>
          <a:xfrm xmlns:a="http://schemas.openxmlformats.org/drawingml/2006/main" rot="5400000">
            <a:off x="3752850" y="2286000"/>
            <a:ext cx="40005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61" name=""/>
          <p:cNvCxnSpPr>
            <a:stCxn xmlns:a="http://schemas.openxmlformats.org/drawingml/2006/main" id="29" idx="4"/>
            <a:endCxn xmlns:a="http://schemas.openxmlformats.org/drawingml/2006/main" id="36" idx="4"/>
          </p:cNvCxnSpPr>
          <p:nvPr/>
        </p:nvCxnSpPr>
        <p:spPr>
          <a:xfrm xmlns:a="http://schemas.openxmlformats.org/drawingml/2006/main" rot="5400000">
            <a:off x="4619625" y="1247775"/>
            <a:ext cx="266700" cy="1504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1" name="reevaluate-exit">
            <a:extLst xmlns:a="http://schemas.openxmlformats.org/drawingml/2006/main">
              <a:ext uri="{FF2B5EF4-FFF2-40B4-BE49-F238E27FC236}">
                <a16:creationId xmlns:a16="http://schemas.microsoft.com/office/drawing/2014/main" id="{A65745FA-20DB-4060-A449-2E036CC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81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cxnSp>
        <p:nvCxnSpPr>
          <p:cNvPr id="163" name=""/>
          <p:cNvCxnSpPr>
            <a:stCxn xmlns:a="http://schemas.openxmlformats.org/drawingml/2006/main" id="36" idx="6"/>
            <a:endCxn xmlns:a="http://schemas.openxmlformats.org/drawingml/2006/main" id="61" idx="2"/>
          </p:cNvCxnSpPr>
          <p:nvPr/>
        </p:nvCxnSpPr>
        <p:spPr>
          <a:xfrm xmlns:a="http://schemas.openxmlformats.org/drawingml/2006/main" flipV="1">
            <a:off x="5648325" y="1595438"/>
            <a:ext cx="209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8D8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4" name=""/>
          <p:cNvCxnSpPr>
            <a:stCxn xmlns:a="http://schemas.openxmlformats.org/drawingml/2006/main" id="61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5886450" y="1595438"/>
            <a:ext cx="20955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4" name="target-a-label">
            <a:extLst xmlns:a="http://schemas.openxmlformats.org/drawingml/2006/main">
              <a:ext uri="{FF2B5EF4-FFF2-40B4-BE49-F238E27FC236}">
                <a16:creationId xmlns:a16="http://schemas.microsoft.com/office/drawing/2014/main" id="{63CD6DC7-E42C-4DF5-AF40-F61206F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9620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12A36"/>
                </a:solidFill>
              </a:defRPr>
            </a:pPr>
            <a:r>
              <a:rPr sz="1125" b="1" i="0">
                <a:solidFill>
                  <a:srgbClr val="C12A36"/>
                </a:solidFill>
              </a:rPr>
              <a:t>gold A</a:t>
            </a:r>
          </a:p>
        </p:txBody>
      </p:sp>
      <p:sp>
        <p:nvSpPr>
          <p:cNvPr id="65" name="target-b-label">
            <a:extLst xmlns:a="http://schemas.openxmlformats.org/drawingml/2006/main">
              <a:ext uri="{FF2B5EF4-FFF2-40B4-BE49-F238E27FC236}">
                <a16:creationId xmlns:a16="http://schemas.microsoft.com/office/drawing/2014/main" id="{9646797C-FE07-4B89-9D4E-63F80C2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908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8D82"/>
                </a:solidFill>
              </a:defRPr>
            </a:pPr>
            <a:r>
              <a:rPr sz="1125" b="1" i="0">
                <a:solidFill>
                  <a:srgbClr val="248D82"/>
                </a:solidFill>
              </a:rPr>
              <a:t>gold B</a:t>
            </a:r>
          </a:p>
        </p:txBody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f482fdae94ecd">
            <a:extLst>
              <a:ext uri="{96DAC541-7B7A-43D3-8B79-37D633B846F1}">
                <asvg:svgBlip xmlns:asvg="http://schemas.microsoft.com/office/drawing/2016/SVG/main" r:embed="R916cb7ef43334b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14875" y="26860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7" name="valid">
            <a:extLst xmlns:a="http://schemas.openxmlformats.org/drawingml/2006/main">
              <a:ext uri="{FF2B5EF4-FFF2-40B4-BE49-F238E27FC236}">
                <a16:creationId xmlns:a16="http://schemas.microsoft.com/office/drawing/2014/main" id="{FBAF3834-ADC5-46BD-9AB2-FA014A62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574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C12A36"/>
                </a:solidFill>
              </a:defRPr>
            </a:pPr>
            <a:r>
              <a:rPr sz="1125" b="1" i="1">
                <a:solidFill>
                  <a:srgbClr val="C12A36"/>
                </a:solidFill>
              </a:rPr>
              <a:t>A still valid</a:t>
            </a:r>
          </a:p>
        </p:txBody>
      </p:sp>
      <p:sp>
        <p:nvSpPr>
          <p:cNvPr id="68" name="gold-screen">
            <a:extLst xmlns:a="http://schemas.openxmlformats.org/drawingml/2006/main">
              <a:ext uri="{FF2B5EF4-FFF2-40B4-BE49-F238E27FC236}">
                <a16:creationId xmlns:a16="http://schemas.microsoft.com/office/drawing/2014/main" id="{EAB3FA56-F75F-4654-91A0-1F9A875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14425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dash"/>
          </a:ln>
        </p:spPr>
      </p:sp>
      <p:sp>
        <p:nvSpPr>
          <p:cNvPr id="69" name="eye-bg">
            <a:extLst xmlns:a="http://schemas.openxmlformats.org/drawingml/2006/main">
              <a:ext uri="{FF2B5EF4-FFF2-40B4-BE49-F238E27FC236}">
                <a16:creationId xmlns:a16="http://schemas.microsoft.com/office/drawing/2014/main" id="{F5F808C4-BA23-4171-AC69-F92CDCB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752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9B6B8"/>
            </a:solidFill>
            <a:prstDash val="solid"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34aa053ab47a9">
            <a:extLst>
              <a:ext uri="{96DAC541-7B7A-43D3-8B79-37D633B846F1}">
                <asvg:svgBlip xmlns:asvg="http://schemas.microsoft.com/office/drawing/2016/SVG/main" r:embed="Rf60c15eb9c9b45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38925" y="18097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71" name="withheld">
            <a:extLst xmlns:a="http://schemas.openxmlformats.org/drawingml/2006/main">
              <a:ext uri="{FF2B5EF4-FFF2-40B4-BE49-F238E27FC236}">
                <a16:creationId xmlns:a16="http://schemas.microsoft.com/office/drawing/2014/main" id="{EE78D34C-D0C4-4C89-80AE-9565496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08084"/>
                </a:solidFill>
              </a:defRPr>
            </a:pPr>
            <a:r>
              <a:rPr sz="1125" b="1" i="0">
                <a:solidFill>
                  <a:srgbClr val="708084"/>
                </a:solidFill>
              </a:rPr>
              <a:t>NO GOLD INPUT</a:t>
            </a:r>
          </a:p>
        </p:txBody>
      </p:sp>
      <p:sp>
        <p:nvSpPr>
          <p:cNvPr id="72" name="probe-heading">
            <a:extLst xmlns:a="http://schemas.openxmlformats.org/drawingml/2006/main">
              <a:ext uri="{FF2B5EF4-FFF2-40B4-BE49-F238E27FC236}">
                <a16:creationId xmlns:a16="http://schemas.microsoft.com/office/drawing/2014/main" id="{EF8AE76C-64ED-4BCA-8B5D-E5A4C414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0287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SAME PROBE</a:t>
            </a:r>
          </a:p>
        </p:txBody>
      </p:sp>
      <p:sp>
        <p:nvSpPr>
          <p:cNvPr id="73" name="probe-p">
            <a:extLst xmlns:a="http://schemas.openxmlformats.org/drawingml/2006/main">
              <a:ext uri="{FF2B5EF4-FFF2-40B4-BE49-F238E27FC236}">
                <a16:creationId xmlns:a16="http://schemas.microsoft.com/office/drawing/2014/main" id="{85897E4A-8912-4E24-AE0B-1FF6C8A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0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1430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4" name="probe-r">
            <a:extLst xmlns:a="http://schemas.openxmlformats.org/drawingml/2006/main">
              <a:ext uri="{FF2B5EF4-FFF2-40B4-BE49-F238E27FC236}">
                <a16:creationId xmlns:a16="http://schemas.microsoft.com/office/drawing/2014/main" id="{C3E318A4-1132-4D05-8F80-4ADEEF7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143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5" name="probe">
            <a:extLst xmlns:a="http://schemas.openxmlformats.org/drawingml/2006/main">
              <a:ext uri="{FF2B5EF4-FFF2-40B4-BE49-F238E27FC236}">
                <a16:creationId xmlns:a16="http://schemas.microsoft.com/office/drawing/2014/main" id="{E81B90CC-CF44-4E44-94FB-36C12AB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04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76" name="probe-inner">
            <a:extLst xmlns:a="http://schemas.openxmlformats.org/drawingml/2006/main">
              <a:ext uri="{FF2B5EF4-FFF2-40B4-BE49-F238E27FC236}">
                <a16:creationId xmlns:a16="http://schemas.microsoft.com/office/drawing/2014/main" id="{DF99017D-4A22-49F0-A415-0F873042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19225"/>
            <a:ext cx="8001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7A7F"/>
            </a:solidFill>
            <a:prstDash val="solid"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b3915edc14b22">
            <a:extLst>
              <a:ext uri="{96DAC541-7B7A-43D3-8B79-37D633B846F1}">
                <asvg:svgBlip xmlns:asvg="http://schemas.microsoft.com/office/drawing/2016/SVG/main" r:embed="R87a7acf7fc7548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72375" y="1533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8" name="probe-title">
            <a:extLst xmlns:a="http://schemas.openxmlformats.org/drawingml/2006/main">
              <a:ext uri="{FF2B5EF4-FFF2-40B4-BE49-F238E27FC236}">
                <a16:creationId xmlns:a16="http://schemas.microsoft.com/office/drawing/2014/main" id="{D50FA9CB-93F3-49C9-B151-DCF7C4C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28800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D0D0E"/>
                </a:solidFill>
              </a:defRPr>
            </a:pPr>
            <a:r>
              <a:rPr sz="1275" b="1" i="0">
                <a:solidFill>
                  <a:srgbClr val="0D0D0E"/>
                </a:solidFill>
              </a:rPr>
              <a:t>Probe</a:t>
            </a:r>
          </a:p>
        </p:txBody>
      </p:sp>
      <p:sp>
        <p:nvSpPr>
          <p:cNvPr id="79" name="probe-kind">
            <a:extLst xmlns:a="http://schemas.openxmlformats.org/drawingml/2006/main">
              <a:ext uri="{FF2B5EF4-FFF2-40B4-BE49-F238E27FC236}">
                <a16:creationId xmlns:a16="http://schemas.microsoft.com/office/drawing/2014/main" id="{C9DD775D-FB11-45CE-A4C9-D04E7B8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57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08084"/>
                </a:solidFill>
              </a:defRPr>
            </a:pPr>
            <a:r>
              <a:rPr sz="1125" b="1" i="0">
                <a:solidFill>
                  <a:srgbClr val="708084"/>
                </a:solidFill>
              </a:rPr>
              <a:t>opaque</a:t>
            </a:r>
          </a:p>
        </p:txBody>
      </p:sp>
      <p:sp>
        <p:nvSpPr>
          <p:cNvPr id="80" name="tp">
            <a:extLst xmlns:a="http://schemas.openxmlformats.org/drawingml/2006/main">
              <a:ext uri="{FF2B5EF4-FFF2-40B4-BE49-F238E27FC236}">
                <a16:creationId xmlns:a16="http://schemas.microsoft.com/office/drawing/2014/main" id="{CF12465D-531C-46BC-AA67-F8FB7C28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419225"/>
            <a:ext cx="609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4288">
            <a:solidFill>
              <a:srgbClr val="C12A36"/>
            </a:solidFill>
            <a:prstDash val="solid"/>
          </a:ln>
        </p:spPr>
      </p:sp>
      <p:sp>
        <p:nvSpPr>
          <p:cNvPr id="81" name="tp-text">
            <a:extLst xmlns:a="http://schemas.openxmlformats.org/drawingml/2006/main">
              <a:ext uri="{FF2B5EF4-FFF2-40B4-BE49-F238E27FC236}">
                <a16:creationId xmlns:a16="http://schemas.microsoft.com/office/drawing/2014/main" id="{5D66EEDF-98A4-4350-A4E2-2CA3154B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C12A36"/>
                </a:solidFill>
              </a:defRPr>
            </a:pPr>
            <a:r>
              <a:rPr sz="1125" b="1" i="1">
                <a:solidFill>
                  <a:srgbClr val="C12A36"/>
                </a:solidFill>
              </a:rPr>
              <a:t>T_P</a:t>
            </a:r>
          </a:p>
        </p:txBody>
      </p:sp>
      <p:sp>
        <p:nvSpPr>
          <p:cNvPr id="82" name="tr">
            <a:extLst xmlns:a="http://schemas.openxmlformats.org/drawingml/2006/main">
              <a:ext uri="{FF2B5EF4-FFF2-40B4-BE49-F238E27FC236}">
                <a16:creationId xmlns:a16="http://schemas.microsoft.com/office/drawing/2014/main" id="{55832625-4D0B-4D73-842A-B8CC4F7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33600"/>
            <a:ext cx="609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4288">
            <a:solidFill>
              <a:srgbClr val="248D82"/>
            </a:solidFill>
            <a:prstDash val="dash"/>
          </a:ln>
        </p:spPr>
      </p:sp>
      <p:sp>
        <p:nvSpPr>
          <p:cNvPr id="83" name="tr-text">
            <a:extLst xmlns:a="http://schemas.openxmlformats.org/drawingml/2006/main">
              <a:ext uri="{FF2B5EF4-FFF2-40B4-BE49-F238E27FC236}">
                <a16:creationId xmlns:a16="http://schemas.microsoft.com/office/drawing/2014/main" id="{3AB8BC27-D604-437E-B60A-870EE2D2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248D82"/>
                </a:solidFill>
              </a:defRPr>
            </a:pPr>
            <a:r>
              <a:rPr sz="1125" b="1" i="1">
                <a:solidFill>
                  <a:srgbClr val="248D82"/>
                </a:solidFill>
              </a:rPr>
              <a:t>T_R</a:t>
            </a:r>
          </a:p>
        </p:txBody>
      </p:sp>
      <p:cxnSp>
        <p:nvCxnSpPr>
          <p:cNvPr id="185" name=""/>
          <p:cNvCxnSpPr>
            <a:stCxn xmlns:a="http://schemas.openxmlformats.org/drawingml/2006/main" id="73" idx="6"/>
            <a:endCxn xmlns:a="http://schemas.openxmlformats.org/drawingml/2006/main" id="75" idx="2"/>
          </p:cNvCxnSpPr>
          <p:nvPr/>
        </p:nvCxnSpPr>
        <p:spPr>
          <a:xfrm xmlns:a="http://schemas.openxmlformats.org/drawingml/2006/main" rot="16200000" flipH="1">
            <a:off x="7067550" y="1666875"/>
            <a:ext cx="266700" cy="38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"/>
          <p:cNvCxnSpPr>
            <a:stCxn xmlns:a="http://schemas.openxmlformats.org/drawingml/2006/main" id="74" idx="6"/>
            <a:endCxn xmlns:a="http://schemas.openxmlformats.org/drawingml/2006/main" id="75" idx="2"/>
          </p:cNvCxnSpPr>
          <p:nvPr/>
        </p:nvCxnSpPr>
        <p:spPr>
          <a:xfrm xmlns:a="http://schemas.openxmlformats.org/drawingml/2006/main" rot="5400000">
            <a:off x="6962775" y="2038350"/>
            <a:ext cx="476250" cy="381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87" name=""/>
          <p:cNvCxnSpPr>
            <a:stCxn xmlns:a="http://schemas.openxmlformats.org/drawingml/2006/main" id="75" idx="6"/>
            <a:endCxn xmlns:a="http://schemas.openxmlformats.org/drawingml/2006/main" id="80" idx="1"/>
          </p:cNvCxnSpPr>
          <p:nvPr/>
        </p:nvCxnSpPr>
        <p:spPr>
          <a:xfrm xmlns:a="http://schemas.openxmlformats.org/drawingml/2006/main" rot="5400000">
            <a:off x="8162925" y="1666875"/>
            <a:ext cx="238125" cy="666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8" name=""/>
          <p:cNvCxnSpPr>
            <a:stCxn xmlns:a="http://schemas.openxmlformats.org/drawingml/2006/main" id="75" idx="6"/>
            <a:endCxn xmlns:a="http://schemas.openxmlformats.org/drawingml/2006/main" id="82" idx="1"/>
          </p:cNvCxnSpPr>
          <p:nvPr/>
        </p:nvCxnSpPr>
        <p:spPr>
          <a:xfrm xmlns:a="http://schemas.openxmlformats.org/drawingml/2006/main" rot="16200000" flipH="1">
            <a:off x="8043863" y="2024063"/>
            <a:ext cx="476250" cy="666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8" name="probe-input">
            <a:extLst xmlns:a="http://schemas.openxmlformats.org/drawingml/2006/main">
              <a:ext uri="{FF2B5EF4-FFF2-40B4-BE49-F238E27FC236}">
                <a16:creationId xmlns:a16="http://schemas.microsoft.com/office/drawing/2014/main" id="{F074C737-965C-4A14-9854-6CF21BBF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same inputs</a:t>
            </a:r>
          </a:p>
        </p:txBody>
      </p:sp>
      <p:sp>
        <p:nvSpPr>
          <p:cNvPr id="89" name="readout-rule">
            <a:extLst xmlns:a="http://schemas.openxmlformats.org/drawingml/2006/main">
              <a:ext uri="{FF2B5EF4-FFF2-40B4-BE49-F238E27FC236}">
                <a16:creationId xmlns:a16="http://schemas.microsoft.com/office/drawing/2014/main" id="{14E1D53C-F082-41FA-B44C-96FCAFE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683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90" name="readout-band-title">
            <a:extLst xmlns:a="http://schemas.openxmlformats.org/drawingml/2006/main">
              <a:ext uri="{FF2B5EF4-FFF2-40B4-BE49-F238E27FC236}">
                <a16:creationId xmlns:a16="http://schemas.microsoft.com/office/drawing/2014/main" id="{17407A84-1DFE-4690-8664-ABC31FF8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86075"/>
            <a:ext cx="1847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07A7F"/>
                </a:solidFill>
              </a:defRPr>
            </a:pPr>
            <a:r>
              <a:rPr sz="1125" b="1" i="0">
                <a:solidFill>
                  <a:srgbClr val="407A7F"/>
                </a:solidFill>
              </a:rPr>
              <a:t>OBSERVABLE READOUTS</a:t>
            </a:r>
          </a:p>
        </p:txBody>
      </p:sp>
      <p:sp>
        <p:nvSpPr>
          <p:cNvPr id="91" name="readout-sep-1">
            <a:extLst xmlns:a="http://schemas.openxmlformats.org/drawingml/2006/main">
              <a:ext uri="{FF2B5EF4-FFF2-40B4-BE49-F238E27FC236}">
                <a16:creationId xmlns:a16="http://schemas.microsoft.com/office/drawing/2014/main" id="{F2CA6711-DCC2-4ED4-8975-79CA5D0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5277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92" name="readout-sep-2">
            <a:extLst xmlns:a="http://schemas.openxmlformats.org/drawingml/2006/main">
              <a:ext uri="{FF2B5EF4-FFF2-40B4-BE49-F238E27FC236}">
                <a16:creationId xmlns:a16="http://schemas.microsoft.com/office/drawing/2014/main" id="{821E5A3D-5ADF-4154-91FC-8A85EE5E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5277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7d98912ed4f2d">
            <a:extLst>
              <a:ext uri="{96DAC541-7B7A-43D3-8B79-37D633B846F1}">
                <asvg:svgBlip xmlns:asvg="http://schemas.microsoft.com/office/drawing/2016/SVG/main" r:embed="Rcb05e03082264e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3850" y="32194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4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30566041-1E15-42A2-BCBE-74B9626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D0D0E"/>
                </a:solidFill>
              </a:defRPr>
            </a:pPr>
            <a:r>
              <a:rPr sz="1425" b="1" i="0">
                <a:solidFill>
                  <a:srgbClr val="0D0D0E"/>
                </a:solidFill>
              </a:rPr>
              <a:t>PairAcc</a:t>
            </a:r>
          </a:p>
        </p:txBody>
      </p:sp>
      <p:sp>
        <p:nvSpPr>
          <p:cNvPr id="95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2CB17229-9498-470E-8A15-21E00C4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1">
                <a:solidFill>
                  <a:srgbClr val="264A56"/>
                </a:solidFill>
              </a:defRPr>
            </a:pPr>
            <a:r>
              <a:rPr sz="1200" b="1" i="1">
                <a:solidFill>
                  <a:srgbClr val="264A56"/>
                </a:solidFill>
              </a:rPr>
              <a:t>P -&gt; A  AND  R -&gt; B</a:t>
            </a:r>
          </a:p>
        </p:txBody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fb3d7289540fd">
            <a:extLst>
              <a:ext uri="{96DAC541-7B7A-43D3-8B79-37D633B846F1}">
                <asvg:svgBlip xmlns:asvg="http://schemas.microsoft.com/office/drawing/2016/SVG/main" r:embed="Rabd6aa95a187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57550" y="32194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7" name="sub-title">
            <a:extLst xmlns:a="http://schemas.openxmlformats.org/drawingml/2006/main">
              <a:ext uri="{FF2B5EF4-FFF2-40B4-BE49-F238E27FC236}">
                <a16:creationId xmlns:a16="http://schemas.microsoft.com/office/drawing/2014/main" id="{DF5DBAB7-18AD-4A44-8AC8-B3C1D00C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527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D0D0E"/>
                </a:solidFill>
              </a:defRPr>
            </a:pPr>
            <a:r>
              <a:rPr sz="1350" b="1" i="0">
                <a:solidFill>
                  <a:srgbClr val="0D0D0E"/>
                </a:solidFill>
              </a:rPr>
              <a:t>Conditional substitution</a:t>
            </a:r>
          </a:p>
        </p:txBody>
      </p:sp>
      <p:sp>
        <p:nvSpPr>
          <p:cNvPr id="98" name="sub-flow">
            <a:extLst xmlns:a="http://schemas.openxmlformats.org/drawingml/2006/main">
              <a:ext uri="{FF2B5EF4-FFF2-40B4-BE49-F238E27FC236}">
                <a16:creationId xmlns:a16="http://schemas.microsoft.com/office/drawing/2014/main" id="{9A08091F-8535-4FD1-8D36-792399C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A bound  -&gt;  refresh  -&gt;  B final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2647d65fc479b">
            <a:extLst>
              <a:ext uri="{96DAC541-7B7A-43D3-8B79-37D633B846F1}">
                <asvg:svgBlip xmlns:asvg="http://schemas.microsoft.com/office/drawing/2016/SVG/main" r:embed="Rc2494c73633746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32194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0" name="exec-title">
            <a:extLst xmlns:a="http://schemas.openxmlformats.org/drawingml/2006/main">
              <a:ext uri="{FF2B5EF4-FFF2-40B4-BE49-F238E27FC236}">
                <a16:creationId xmlns:a16="http://schemas.microsoft.com/office/drawing/2014/main" id="{2BFD8144-1152-4C6D-90E0-6756DF2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527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D0D0E"/>
                </a:solidFill>
              </a:defRPr>
            </a:pPr>
            <a:r>
              <a:rPr sz="1350" b="1" i="0">
                <a:solidFill>
                  <a:srgbClr val="0D0D0E"/>
                </a:solidFill>
              </a:rPr>
              <a:t>Execution subset</a:t>
            </a:r>
          </a:p>
        </p:txBody>
      </p:sp>
      <p:sp>
        <p:nvSpPr>
          <p:cNvPr id="101" name="exec-flow">
            <a:extLst xmlns:a="http://schemas.openxmlformats.org/drawingml/2006/main">
              <a:ext uri="{FF2B5EF4-FFF2-40B4-BE49-F238E27FC236}">
                <a16:creationId xmlns:a16="http://schemas.microsoft.com/office/drawing/2014/main" id="{1A8905C0-BB84-4A15-B5B3-B25BACBA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4A56"/>
                </a:solidFill>
              </a:defRPr>
            </a:pPr>
            <a:r>
              <a:rPr sz="1125" b="1" i="0">
                <a:solidFill>
                  <a:srgbClr val="264A56"/>
                </a:solidFill>
              </a:rPr>
              <a:t>ID -&gt; write -&gt; state diff</a:t>
            </a:r>
          </a:p>
        </p:txBody>
      </p:sp>
    </p:spTree>
    <p:extLst>
      <p:ext uri="{BB962C8B-B14F-4D97-AF65-F5344CB8AC3E}">
        <p14:creationId xmlns:p14="http://schemas.microsoft.com/office/powerpoint/2010/main" val="1447821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2026-07-28T23:13:52.4300000Z</dcterms:created>
  <dcterms:modified xsi:type="dcterms:W3CDTF">2026-07-28T23:13:52.4300000Z</dcterms:modified>
</coreProperties>
</file>
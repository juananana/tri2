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913507c9554dd5" /><Relationship Type="http://schemas.openxmlformats.org/officeDocument/2006/relationships/extended-properties" Target="/docProps/app.xml" Id="R16601f7b21134840" /><Relationship Type="http://schemas.openxmlformats.org/officeDocument/2006/relationships/officeDocument" Target="/ppt/presentation.xml" Id="R2b509e8ea1f9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c90c0a0fb44c4a"/>
  </p:sldMasterIdLst>
  <p:notesMasterIdLst>
    <p:notesMasterId xmlns:r="http://schemas.openxmlformats.org/officeDocument/2006/relationships" r:id="Re34adea2703649ef"/>
  </p:notesMasterIdLst>
  <p:sldIdLst>
    <p:sldId xmlns:r="http://schemas.openxmlformats.org/officeDocument/2006/relationships" id="256" r:id="R868c32ce31804789"/>
  </p:sldIdLst>
  <p:sldSz cx="12192000" cy="3333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0aeb0425134782" /><Relationship Type="http://schemas.openxmlformats.org/officeDocument/2006/relationships/slideMaster" Target="/ppt/slideMasters/slideMaster1.xml" Id="R1cc90c0a0fb44c4a" /><Relationship Type="http://schemas.openxmlformats.org/officeDocument/2006/relationships/notesMaster" Target="/ppt/notesMasters/notesMaster1.xml" Id="Re34adea2703649ef" /><Relationship Type="http://schemas.openxmlformats.org/officeDocument/2006/relationships/presProps" Target="/ppt/presProps.xml" Id="R85310f422cac403d" /><Relationship Type="http://schemas.openxmlformats.org/officeDocument/2006/relationships/tableStyles" Target="/ppt/tableStyles.xml" Id="Rcc44ca674d374637" /><Relationship Type="http://schemas.openxmlformats.org/officeDocument/2006/relationships/slide" Target="/ppt/slides/slide1.xml" Id="R868c32ce318047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e781f41701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4850d8fee54a01" /><Relationship Type="http://schemas.openxmlformats.org/officeDocument/2006/relationships/notesMaster" Target="/ppt/notesMasters/notesMaster1.xml" Id="Rb120b548a21e4c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Anonymous TRI manuscript: matched-pair construction, strict estimands, withheld fields, and execution trace.</a:t>
            </a:r>
          </a:p>
          <a:p xmlns:a="http://schemas.openxmlformats.org/drawingml/2006/main">
            <a:r>
              <a:t>- User-provided strong-paper examples: composition references only; no scientific content copied.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f758cbc3a47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642bb28e4b4c52" /><Relationship Type="http://schemas.openxmlformats.org/officeDocument/2006/relationships/slideLayout" Target="/ppt/slideLayouts/slideLayout1.xml" Id="R8e0c343ac44440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0c343ac44440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4d64d8794493d" /><Relationship Type="http://schemas.openxmlformats.org/officeDocument/2006/relationships/notesSlide" Target="/ppt/notesSlides/notesSlide1.xml" Id="R3fea7443129649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divider-ab">
            <a:extLst xmlns:a="http://schemas.openxmlformats.org/drawingml/2006/main">
              <a:ext uri="{FF2B5EF4-FFF2-40B4-BE49-F238E27FC236}">
                <a16:creationId xmlns:a16="http://schemas.microsoft.com/office/drawing/2014/main" id="{3BF92F27-26DF-4E03-AB04-C5AF19A0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1430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2" name="divider-bc">
            <a:extLst xmlns:a="http://schemas.openxmlformats.org/drawingml/2006/main">
              <a:ext uri="{FF2B5EF4-FFF2-40B4-BE49-F238E27FC236}">
                <a16:creationId xmlns:a16="http://schemas.microsoft.com/office/drawing/2014/main" id="{F45D2E07-BEF9-42E4-A46E-6FF39431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1430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3" name="phase-A">
            <a:extLst xmlns:a="http://schemas.openxmlformats.org/drawingml/2006/main">
              <a:ext uri="{FF2B5EF4-FFF2-40B4-BE49-F238E27FC236}">
                <a16:creationId xmlns:a16="http://schemas.microsoft.com/office/drawing/2014/main" id="{13455F8E-464B-4669-88C3-820208D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95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15240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" name="phase-A-title">
            <a:extLst xmlns:a="http://schemas.openxmlformats.org/drawingml/2006/main">
              <a:ext uri="{FF2B5EF4-FFF2-40B4-BE49-F238E27FC236}">
                <a16:creationId xmlns:a16="http://schemas.microsoft.com/office/drawing/2014/main" id="{7F0C31B0-1DEA-47FE-902A-5EB0D226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6200"/>
            <a:ext cx="576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719"/>
                </a:solidFill>
              </a:defRPr>
            </a:pPr>
            <a:r>
              <a:rPr sz="1500" b="1" i="0">
                <a:solidFill>
                  <a:srgbClr val="111719"/>
                </a:solidFill>
              </a:rPr>
              <a:t>Construct the matched pair</a:t>
            </a:r>
          </a:p>
        </p:txBody>
      </p:sp>
      <p:sp>
        <p:nvSpPr>
          <p:cNvPr id="5" name="phase-B">
            <a:extLst xmlns:a="http://schemas.openxmlformats.org/drawingml/2006/main">
              <a:ext uri="{FF2B5EF4-FFF2-40B4-BE49-F238E27FC236}">
                <a16:creationId xmlns:a16="http://schemas.microsoft.com/office/drawing/2014/main" id="{01E63461-54E2-4C69-A594-57D0F764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95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15240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" name="phase-B-title">
            <a:extLst xmlns:a="http://schemas.openxmlformats.org/drawingml/2006/main">
              <a:ext uri="{FF2B5EF4-FFF2-40B4-BE49-F238E27FC236}">
                <a16:creationId xmlns:a16="http://schemas.microsoft.com/office/drawing/2014/main" id="{925C8604-BE43-4B6B-8D70-CFEFFD7D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762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719"/>
                </a:solidFill>
              </a:defRPr>
            </a:pPr>
            <a:r>
              <a:rPr sz="1500" b="1" i="0">
                <a:solidFill>
                  <a:srgbClr val="111719"/>
                </a:solidFill>
              </a:rPr>
              <a:t>Run the pair</a:t>
            </a:r>
          </a:p>
        </p:txBody>
      </p:sp>
      <p:sp>
        <p:nvSpPr>
          <p:cNvPr id="7" name="phase-C">
            <a:extLst xmlns:a="http://schemas.openxmlformats.org/drawingml/2006/main">
              <a:ext uri="{FF2B5EF4-FFF2-40B4-BE49-F238E27FC236}">
                <a16:creationId xmlns:a16="http://schemas.microsoft.com/office/drawing/2014/main" id="{E9B57BD1-2159-4690-B1E0-EF1AF919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5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15240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" name="phase-C-title">
            <a:extLst xmlns:a="http://schemas.openxmlformats.org/drawingml/2006/main">
              <a:ext uri="{FF2B5EF4-FFF2-40B4-BE49-F238E27FC236}">
                <a16:creationId xmlns:a16="http://schemas.microsoft.com/office/drawing/2014/main" id="{44585E9D-0381-4194-9F2A-AF11E1A4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6200"/>
            <a:ext cx="2676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719"/>
                </a:solidFill>
              </a:defRPr>
            </a:pPr>
            <a:r>
              <a:rPr sz="1500" b="1" i="0">
                <a:solidFill>
                  <a:srgbClr val="111719"/>
                </a:solidFill>
              </a:rPr>
              <a:t>Observable readouts</a:t>
            </a:r>
          </a:p>
        </p:txBody>
      </p:sp>
      <p:sp>
        <p:nvSpPr>
          <p:cNvPr id="9" name="pair-contract">
            <a:extLst xmlns:a="http://schemas.openxmlformats.org/drawingml/2006/main">
              <a:ext uri="{FF2B5EF4-FFF2-40B4-BE49-F238E27FC236}">
                <a16:creationId xmlns:a16="http://schemas.microsoft.com/office/drawing/2014/main" id="{81AC1C59-B5BA-4F16-9815-3F2D2C46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57200"/>
            <a:ext cx="609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9525">
            <a:solidFill>
              <a:srgbClr val="B9C3C5"/>
            </a:solidFill>
            <a:prstDash val="solid"/>
          </a:ln>
        </p:spPr>
      </p:sp>
      <p:sp>
        <p:nvSpPr>
          <p:cNvPr id="10" name="fixed-label">
            <a:extLst xmlns:a="http://schemas.openxmlformats.org/drawingml/2006/main">
              <a:ext uri="{FF2B5EF4-FFF2-40B4-BE49-F238E27FC236}">
                <a16:creationId xmlns:a16="http://schemas.microsoft.com/office/drawing/2014/main" id="{09319CCF-4767-4ACF-8569-C04815B7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43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899D"/>
                </a:solidFill>
              </a:defRPr>
            </a:pPr>
            <a:r>
              <a:rPr sz="825" b="1" i="0">
                <a:solidFill>
                  <a:srgbClr val="66899D"/>
                </a:solidFill>
              </a:rPr>
              <a:t>FIXED</a:t>
            </a:r>
          </a:p>
        </p:txBody>
      </p:sp>
      <p:sp>
        <p:nvSpPr>
          <p:cNvPr id="11" name="fixed-items">
            <a:extLst xmlns:a="http://schemas.openxmlformats.org/drawingml/2006/main">
              <a:ext uri="{FF2B5EF4-FFF2-40B4-BE49-F238E27FC236}">
                <a16:creationId xmlns:a16="http://schemas.microsoft.com/office/drawing/2014/main" id="{63716216-D5D9-4ACB-994B-0015F59A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343F"/>
                </a:solidFill>
              </a:defRPr>
            </a:pPr>
            <a:r>
              <a:rPr sz="975" b="1" i="0">
                <a:solidFill>
                  <a:srgbClr val="30343F"/>
                </a:solidFill>
              </a:rPr>
              <a:t>S0, S1, q, action, schema, controller interface</a:t>
            </a:r>
          </a:p>
        </p:txBody>
      </p:sp>
      <p:sp>
        <p:nvSpPr>
          <p:cNvPr id="12" name="change-label">
            <a:extLst xmlns:a="http://schemas.openxmlformats.org/drawingml/2006/main">
              <a:ext uri="{FF2B5EF4-FFF2-40B4-BE49-F238E27FC236}">
                <a16:creationId xmlns:a16="http://schemas.microsoft.com/office/drawing/2014/main" id="{8B1824D1-2DAA-4686-8259-234F318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715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ONLY CHANGE</a:t>
            </a:r>
          </a:p>
        </p:txBody>
      </p:sp>
      <p:sp>
        <p:nvSpPr>
          <p:cNvPr id="13" name="change-items">
            <a:extLst xmlns:a="http://schemas.openxmlformats.org/drawingml/2006/main">
              <a:ext uri="{FF2B5EF4-FFF2-40B4-BE49-F238E27FC236}">
                <a16:creationId xmlns:a16="http://schemas.microsoft.com/office/drawing/2014/main" id="{B3109112-FF98-4855-9B82-CF714E2F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62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D7F7B"/>
                </a:solidFill>
              </a:defRPr>
            </a:pPr>
            <a:r>
              <a:rPr sz="1125" b="1" i="0">
                <a:solidFill>
                  <a:srgbClr val="2D7F7B"/>
                </a:solidFill>
              </a:rPr>
              <a:t>commitment timing</a:t>
            </a:r>
          </a:p>
        </p:txBody>
      </p:sp>
      <p:sp>
        <p:nvSpPr>
          <p:cNvPr id="14" name="transition">
            <a:extLst xmlns:a="http://schemas.openxmlformats.org/drawingml/2006/main">
              <a:ext uri="{FF2B5EF4-FFF2-40B4-BE49-F238E27FC236}">
                <a16:creationId xmlns:a16="http://schemas.microsoft.com/office/drawing/2014/main" id="{6592CC32-FA18-442F-B509-7DDC1278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239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0343F"/>
                </a:solidFill>
              </a:defRPr>
            </a:pPr>
            <a:r>
              <a:rPr sz="1125" b="1" i="0">
                <a:solidFill>
                  <a:srgbClr val="30343F"/>
                </a:solidFill>
              </a:rPr>
              <a:t>q(S0)=A  -&gt;  refresh  -&gt;  q(S1)=B</a:t>
            </a:r>
          </a:p>
        </p:txBody>
      </p:sp>
      <p:sp>
        <p:nvSpPr>
          <p:cNvPr id="15" name="valid-pill">
            <a:extLst xmlns:a="http://schemas.openxmlformats.org/drawingml/2006/main">
              <a:ext uri="{FF2B5EF4-FFF2-40B4-BE49-F238E27FC236}">
                <a16:creationId xmlns:a16="http://schemas.microsoft.com/office/drawing/2014/main" id="{6B00B7EE-D5E7-4931-B94F-42864B73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923925"/>
            <a:ext cx="21717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9525">
            <a:solidFill>
              <a:srgbClr val="66899D"/>
            </a:solidFill>
            <a:prstDash val="solid"/>
          </a:ln>
        </p:spPr>
      </p:sp>
      <p:sp>
        <p:nvSpPr>
          <p:cNvPr id="16" name="valid-text">
            <a:extLst xmlns:a="http://schemas.openxmlformats.org/drawingml/2006/main">
              <a:ext uri="{FF2B5EF4-FFF2-40B4-BE49-F238E27FC236}">
                <a16:creationId xmlns:a16="http://schemas.microsoft.com/office/drawing/2014/main" id="{45BBCFA8-8382-4FCE-9D72-CD00DE2C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933450"/>
            <a:ext cx="2038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A remains present and action-valid in S1</a:t>
            </a:r>
          </a:p>
        </p:txBody>
      </p:sp>
      <p:sp>
        <p:nvSpPr>
          <p:cNvPr id="17" name="pair-frame">
            <a:extLst xmlns:a="http://schemas.openxmlformats.org/drawingml/2006/main">
              <a:ext uri="{FF2B5EF4-FFF2-40B4-BE49-F238E27FC236}">
                <a16:creationId xmlns:a16="http://schemas.microsoft.com/office/drawing/2014/main" id="{930CBA65-2598-4209-A479-178AF424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219200"/>
            <a:ext cx="609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3C5"/>
            </a:solidFill>
            <a:prstDash val="solid"/>
          </a:ln>
        </p:spPr>
      </p:sp>
      <p:sp>
        <p:nvSpPr>
          <p:cNvPr id="18" name="pair-badge">
            <a:extLst xmlns:a="http://schemas.openxmlformats.org/drawingml/2006/main">
              <a:ext uri="{FF2B5EF4-FFF2-40B4-BE49-F238E27FC236}">
                <a16:creationId xmlns:a16="http://schemas.microsoft.com/office/drawing/2014/main" id="{706E3850-6386-4D3A-9AE4-3010AEE0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676400"/>
            <a:ext cx="304800" cy="10572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9" name="pair-badge-text">
            <a:extLst xmlns:a="http://schemas.openxmlformats.org/drawingml/2006/main">
              <a:ext uri="{FF2B5EF4-FFF2-40B4-BE49-F238E27FC236}">
                <a16:creationId xmlns:a16="http://schemas.microsoft.com/office/drawing/2014/main" id="{6A2B1366-C69C-48BF-998C-2FB1177F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724025"/>
            <a:ext cx="190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M</a:t>
            </a:r>
          </a:p>
          <a:p xmlns:a="http://schemas.openxmlformats.org/drawingml/2006/main">
            <a:pPr algn="ctr"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A</a:t>
            </a:r>
          </a:p>
          <a:p xmlns:a="http://schemas.openxmlformats.org/drawingml/2006/main">
            <a:pPr algn="ctr"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T</a:t>
            </a:r>
          </a:p>
          <a:p xmlns:a="http://schemas.openxmlformats.org/drawingml/2006/main">
            <a:pPr algn="ctr"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C</a:t>
            </a:r>
          </a:p>
          <a:p xmlns:a="http://schemas.openxmlformats.org/drawingml/2006/main">
            <a:pPr algn="ctr"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H</a:t>
            </a:r>
          </a:p>
          <a:p xmlns:a="http://schemas.openxmlformats.org/drawingml/2006/main">
            <a:pPr algn="ctr"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E</a:t>
            </a:r>
          </a:p>
          <a:p xmlns:a="http://schemas.openxmlformats.org/drawingml/2006/main">
            <a:pPr algn="ctr"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0" name="refresh-tab">
            <a:extLst xmlns:a="http://schemas.openxmlformats.org/drawingml/2006/main">
              <a:ext uri="{FF2B5EF4-FFF2-40B4-BE49-F238E27FC236}">
                <a16:creationId xmlns:a16="http://schemas.microsoft.com/office/drawing/2014/main" id="{1E460882-FCFF-46B9-8FE1-B89BE9A1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143000"/>
            <a:ext cx="1238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9525">
            <a:solidFill>
              <a:srgbClr val="66899D"/>
            </a:solidFill>
            <a:prstDash val="solid"/>
          </a:ln>
        </p:spPr>
      </p:sp>
      <p:sp>
        <p:nvSpPr>
          <p:cNvPr id="21" name="refresh-tab-text">
            <a:extLst xmlns:a="http://schemas.openxmlformats.org/drawingml/2006/main">
              <a:ext uri="{FF2B5EF4-FFF2-40B4-BE49-F238E27FC236}">
                <a16:creationId xmlns:a16="http://schemas.microsoft.com/office/drawing/2014/main" id="{A718A58E-24F3-4C00-8294-B53A4A24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525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6899D"/>
                </a:solidFill>
              </a:defRPr>
            </a:pPr>
            <a:r>
              <a:rPr sz="750" b="1" i="0">
                <a:solidFill>
                  <a:srgbClr val="66899D"/>
                </a:solidFill>
              </a:rPr>
              <a:t>same refresh in both rows</a:t>
            </a:r>
          </a:p>
        </p:txBody>
      </p:sp>
      <p:sp>
        <p:nvSpPr>
          <p:cNvPr id="22" name="preserve-lane">
            <a:extLst xmlns:a="http://schemas.openxmlformats.org/drawingml/2006/main">
              <a:ext uri="{FF2B5EF4-FFF2-40B4-BE49-F238E27FC236}">
                <a16:creationId xmlns:a16="http://schemas.microsoft.com/office/drawing/2014/main" id="{B7C26F3A-022A-4AED-B4A8-231FAC71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43025"/>
            <a:ext cx="54864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7E7E3"/>
          </a:solidFill>
          <a:ln xmlns:a="http://schemas.openxmlformats.org/drawingml/2006/main" w="13335">
            <a:solidFill>
              <a:srgbClr val="B94D49"/>
            </a:solidFill>
            <a:prstDash val="solid"/>
          </a:ln>
        </p:spPr>
      </p:sp>
      <p:sp>
        <p:nvSpPr>
          <p:cNvPr id="23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0CC74232-1C42-4D64-A32C-17CC2FEF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D49"/>
            </a:solidFill>
            <a:prstDash val="solid"/>
          </a:ln>
        </p:spPr>
      </p:sp>
      <p:sp>
        <p:nvSpPr>
          <p:cNvPr id="24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2B92C9D1-75A7-42B5-9009-F1A31F2A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667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4D49"/>
            </a:solidFill>
            <a:prstDash val="solid"/>
          </a:ln>
        </p:spPr>
      </p:sp>
      <p:sp>
        <p:nvSpPr>
          <p:cNvPr id="25" name="preserve-lock-key">
            <a:extLst xmlns:a="http://schemas.openxmlformats.org/drawingml/2006/main">
              <a:ext uri="{FF2B5EF4-FFF2-40B4-BE49-F238E27FC236}">
                <a16:creationId xmlns:a16="http://schemas.microsoft.com/office/drawing/2014/main" id="{ADD37606-4F43-4844-8ECC-615F985B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26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8C7C424E-B470-456C-8590-B4C67DD6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001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94D49"/>
                </a:solidFill>
              </a:defRPr>
            </a:pPr>
            <a:r>
              <a:rPr sz="1200" b="1" i="0">
                <a:solidFill>
                  <a:srgbClr val="B94D49"/>
                </a:solidFill>
              </a:rPr>
              <a:t>Preserve</a:t>
            </a:r>
          </a:p>
        </p:txBody>
      </p:sp>
      <p:sp>
        <p:nvSpPr>
          <p:cNvPr id="27" name="preserve-rule">
            <a:extLst xmlns:a="http://schemas.openxmlformats.org/drawingml/2006/main">
              <a:ext uri="{FF2B5EF4-FFF2-40B4-BE49-F238E27FC236}">
                <a16:creationId xmlns:a16="http://schemas.microsoft.com/office/drawing/2014/main" id="{8570F976-16EF-4173-B708-03ED9412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097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94D49"/>
                </a:solidFill>
              </a:defRPr>
            </a:pPr>
            <a:r>
              <a:rPr sz="900" b="1" i="0">
                <a:solidFill>
                  <a:srgbClr val="B94D49"/>
                </a:solidFill>
              </a:rPr>
              <a:t>bind A before refresh</a:t>
            </a:r>
          </a:p>
        </p:txBody>
      </p:sp>
      <p:sp>
        <p:nvSpPr>
          <p:cNvPr id="28" name="p-s0-state">
            <a:extLst xmlns:a="http://schemas.openxmlformats.org/drawingml/2006/main">
              <a:ext uri="{FF2B5EF4-FFF2-40B4-BE49-F238E27FC236}">
                <a16:creationId xmlns:a16="http://schemas.microsoft.com/office/drawing/2014/main" id="{E9B6DBE4-B542-4EC5-A9F8-A09151A8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76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29" name="p-s0-other-0">
            <a:extLst xmlns:a="http://schemas.openxmlformats.org/drawingml/2006/main">
              <a:ext uri="{FF2B5EF4-FFF2-40B4-BE49-F238E27FC236}">
                <a16:creationId xmlns:a16="http://schemas.microsoft.com/office/drawing/2014/main" id="{5A25C23C-66C6-46C9-B9C9-43E4409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0" name="p-s0-other-1">
            <a:extLst xmlns:a="http://schemas.openxmlformats.org/drawingml/2006/main">
              <a:ext uri="{FF2B5EF4-FFF2-40B4-BE49-F238E27FC236}">
                <a16:creationId xmlns:a16="http://schemas.microsoft.com/office/drawing/2014/main" id="{F2998880-A9A3-4FE2-81D3-64D3633E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562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1" name="p-s0-other-2">
            <a:extLst xmlns:a="http://schemas.openxmlformats.org/drawingml/2006/main">
              <a:ext uri="{FF2B5EF4-FFF2-40B4-BE49-F238E27FC236}">
                <a16:creationId xmlns:a16="http://schemas.microsoft.com/office/drawing/2014/main" id="{C3C2F1A4-58A6-4FBA-B94E-F2F97F0A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7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2" name="p-s0-other-3">
            <a:extLst xmlns:a="http://schemas.openxmlformats.org/drawingml/2006/main">
              <a:ext uri="{FF2B5EF4-FFF2-40B4-BE49-F238E27FC236}">
                <a16:creationId xmlns:a16="http://schemas.microsoft.com/office/drawing/2014/main" id="{7BD3C924-86DD-437D-8FB8-DBF80758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33" name="p-s0-a">
            <a:extLst xmlns:a="http://schemas.openxmlformats.org/drawingml/2006/main">
              <a:ext uri="{FF2B5EF4-FFF2-40B4-BE49-F238E27FC236}">
                <a16:creationId xmlns:a16="http://schemas.microsoft.com/office/drawing/2014/main" id="{28E9F71A-2CBB-4671-B1B7-BD15F9D9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24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4" name="p-clock-face">
            <a:extLst xmlns:a="http://schemas.openxmlformats.org/drawingml/2006/main">
              <a:ext uri="{FF2B5EF4-FFF2-40B4-BE49-F238E27FC236}">
                <a16:creationId xmlns:a16="http://schemas.microsoft.com/office/drawing/2014/main" id="{8F6EFA03-D1A9-4D2E-ABC6-0E7AB7C4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6899D"/>
            </a:solidFill>
            <a:prstDash val="solid"/>
          </a:ln>
        </p:spPr>
      </p:sp>
      <p:sp>
        <p:nvSpPr>
          <p:cNvPr id="35" name="p-clock-hand-v">
            <a:extLst xmlns:a="http://schemas.openxmlformats.org/drawingml/2006/main">
              <a:ext uri="{FF2B5EF4-FFF2-40B4-BE49-F238E27FC236}">
                <a16:creationId xmlns:a16="http://schemas.microsoft.com/office/drawing/2014/main" id="{502A3B01-0D5C-468D-B4F9-08E0E999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37" y="1639443"/>
            <a:ext cx="19050" cy="103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36" name="p-clock-hand-h">
            <a:extLst xmlns:a="http://schemas.openxmlformats.org/drawingml/2006/main">
              <a:ext uri="{FF2B5EF4-FFF2-40B4-BE49-F238E27FC236}">
                <a16:creationId xmlns:a16="http://schemas.microsoft.com/office/drawing/2014/main" id="{3F0A95C6-8033-4CA7-9E23-E7D4868B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37" y="1739837"/>
            <a:ext cx="7124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37" name="p-clock-hub">
            <a:extLst xmlns:a="http://schemas.openxmlformats.org/drawingml/2006/main">
              <a:ext uri="{FF2B5EF4-FFF2-40B4-BE49-F238E27FC236}">
                <a16:creationId xmlns:a16="http://schemas.microsoft.com/office/drawing/2014/main" id="{73E891B6-9EE7-491F-9FC6-EFA4F266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006" y="1720406"/>
            <a:ext cx="45339" cy="4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38" name="p-s1-state">
            <a:extLst xmlns:a="http://schemas.openxmlformats.org/drawingml/2006/main">
              <a:ext uri="{FF2B5EF4-FFF2-40B4-BE49-F238E27FC236}">
                <a16:creationId xmlns:a16="http://schemas.microsoft.com/office/drawing/2014/main" id="{3FAF487C-EC41-4F3F-A80F-CB207C71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76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39" name="p-s1-other-0">
            <a:extLst xmlns:a="http://schemas.openxmlformats.org/drawingml/2006/main">
              <a:ext uri="{FF2B5EF4-FFF2-40B4-BE49-F238E27FC236}">
                <a16:creationId xmlns:a16="http://schemas.microsoft.com/office/drawing/2014/main" id="{91ACD8B3-6E32-4DE6-8FA2-90BCA64E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0" name="p-s1-other-1">
            <a:extLst xmlns:a="http://schemas.openxmlformats.org/drawingml/2006/main">
              <a:ext uri="{FF2B5EF4-FFF2-40B4-BE49-F238E27FC236}">
                <a16:creationId xmlns:a16="http://schemas.microsoft.com/office/drawing/2014/main" id="{D623A874-EF50-48BC-9FD8-E3916062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62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1" name="p-s1-other-2">
            <a:extLst xmlns:a="http://schemas.openxmlformats.org/drawingml/2006/main">
              <a:ext uri="{FF2B5EF4-FFF2-40B4-BE49-F238E27FC236}">
                <a16:creationId xmlns:a16="http://schemas.microsoft.com/office/drawing/2014/main" id="{95E403B1-BDC5-4B3B-8980-F6C24A5F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7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2" name="p-s1-other-3">
            <a:extLst xmlns:a="http://schemas.openxmlformats.org/drawingml/2006/main">
              <a:ext uri="{FF2B5EF4-FFF2-40B4-BE49-F238E27FC236}">
                <a16:creationId xmlns:a16="http://schemas.microsoft.com/office/drawing/2014/main" id="{0551B916-245B-4360-B5BD-6D3378C7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43" name="p-s1-a">
            <a:extLst xmlns:a="http://schemas.openxmlformats.org/drawingml/2006/main">
              <a:ext uri="{FF2B5EF4-FFF2-40B4-BE49-F238E27FC236}">
                <a16:creationId xmlns:a16="http://schemas.microsoft.com/office/drawing/2014/main" id="{2D4A5D03-C36E-48D1-A6C7-20F698F8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24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4" name="p-s1-b">
            <a:extLst xmlns:a="http://schemas.openxmlformats.org/drawingml/2006/main">
              <a:ext uri="{FF2B5EF4-FFF2-40B4-BE49-F238E27FC236}">
                <a16:creationId xmlns:a16="http://schemas.microsoft.com/office/drawing/2014/main" id="{3ED80B40-2DD2-4E4C-B97A-01E03BB2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52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5" name="p-target-circle">
            <a:extLst xmlns:a="http://schemas.openxmlformats.org/drawingml/2006/main">
              <a:ext uri="{FF2B5EF4-FFF2-40B4-BE49-F238E27FC236}">
                <a16:creationId xmlns:a16="http://schemas.microsoft.com/office/drawing/2014/main" id="{EAAF602C-B3BF-400E-A97E-02D82920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43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4D49"/>
                </a:solidFill>
              </a:defRPr>
            </a:pPr>
            <a:r>
              <a:rPr sz="1350" b="1">
                <a:solidFill>
                  <a:srgbClr val="B94D49"/>
                </a:solidFill>
              </a:rPr>
              <a:t>A</a:t>
            </a:r>
          </a:p>
        </p:txBody>
      </p:sp>
      <p:sp>
        <p:nvSpPr>
          <p:cNvPr id="46" name="p-target-h">
            <a:extLst xmlns:a="http://schemas.openxmlformats.org/drawingml/2006/main">
              <a:ext uri="{FF2B5EF4-FFF2-40B4-BE49-F238E27FC236}">
                <a16:creationId xmlns:a16="http://schemas.microsoft.com/office/drawing/2014/main" id="{6DA3A3BE-C136-4961-AA9F-52FF0487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335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47" name="p-target-v">
            <a:extLst xmlns:a="http://schemas.openxmlformats.org/drawingml/2006/main">
              <a:ext uri="{FF2B5EF4-FFF2-40B4-BE49-F238E27FC236}">
                <a16:creationId xmlns:a16="http://schemas.microsoft.com/office/drawing/2014/main" id="{B7DE5D8C-4689-41E4-93D9-C125F322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95425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cxnSp>
        <p:nvCxnSpPr>
          <p:cNvPr id="201" name=""/>
          <p:cNvCxnSpPr>
            <a:stCxn xmlns:a="http://schemas.openxmlformats.org/drawingml/2006/main" id="28" idx="6"/>
            <a:endCxn xmlns:a="http://schemas.openxmlformats.org/drawingml/2006/main" id="34" idx="2"/>
          </p:cNvCxnSpPr>
          <p:nvPr/>
        </p:nvCxnSpPr>
        <p:spPr>
          <a:xfrm xmlns:a="http://schemas.openxmlformats.org/drawingml/2006/main">
            <a:off x="3048000" y="1743075"/>
            <a:ext cx="66675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2" name=""/>
          <p:cNvCxnSpPr>
            <a:stCxn xmlns:a="http://schemas.openxmlformats.org/drawingml/2006/main" id="34" idx="6"/>
            <a:endCxn xmlns:a="http://schemas.openxmlformats.org/drawingml/2006/main" id="38" idx="2"/>
          </p:cNvCxnSpPr>
          <p:nvPr/>
        </p:nvCxnSpPr>
        <p:spPr>
          <a:xfrm xmlns:a="http://schemas.openxmlformats.org/drawingml/2006/main">
            <a:off x="4038600" y="1743075"/>
            <a:ext cx="41910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3" name=""/>
          <p:cNvCxnSpPr>
            <a:stCxn xmlns:a="http://schemas.openxmlformats.org/drawingml/2006/main" id="38" idx="6"/>
            <a:endCxn xmlns:a="http://schemas.openxmlformats.org/drawingml/2006/main" id="45" idx="2"/>
          </p:cNvCxnSpPr>
          <p:nvPr/>
        </p:nvCxnSpPr>
        <p:spPr>
          <a:xfrm xmlns:a="http://schemas.openxmlformats.org/drawingml/2006/main">
            <a:off x="4991100" y="1743075"/>
            <a:ext cx="53340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1" name="p-s0-label">
            <a:extLst xmlns:a="http://schemas.openxmlformats.org/drawingml/2006/main">
              <a:ext uri="{FF2B5EF4-FFF2-40B4-BE49-F238E27FC236}">
                <a16:creationId xmlns:a16="http://schemas.microsoft.com/office/drawing/2014/main" id="{518F2FF7-15FE-41AC-8D3E-BE7B2DC5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812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S0  q(S0)=A</a:t>
            </a:r>
          </a:p>
        </p:txBody>
      </p:sp>
      <p:sp>
        <p:nvSpPr>
          <p:cNvPr id="52" name="p-bound">
            <a:extLst xmlns:a="http://schemas.openxmlformats.org/drawingml/2006/main">
              <a:ext uri="{FF2B5EF4-FFF2-40B4-BE49-F238E27FC236}">
                <a16:creationId xmlns:a16="http://schemas.microsoft.com/office/drawing/2014/main" id="{F16E20B1-1CC1-49F8-B4E9-0A8CDCBE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40017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94D49"/>
                </a:solidFill>
              </a:defRPr>
            </a:pPr>
            <a:r>
              <a:rPr sz="750" b="1" i="0">
                <a:solidFill>
                  <a:srgbClr val="B94D49"/>
                </a:solidFill>
              </a:rPr>
              <a:t>BOUND A</a:t>
            </a:r>
          </a:p>
        </p:txBody>
      </p:sp>
      <p:sp>
        <p:nvSpPr>
          <p:cNvPr id="53" name="p-s1-label">
            <a:extLst xmlns:a="http://schemas.openxmlformats.org/drawingml/2006/main">
              <a:ext uri="{FF2B5EF4-FFF2-40B4-BE49-F238E27FC236}">
                <a16:creationId xmlns:a16="http://schemas.microsoft.com/office/drawing/2014/main" id="{6B1C8CB3-7EF1-4387-9EC2-9C8DC1C2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12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S1  q(S1)=B</a:t>
            </a:r>
          </a:p>
        </p:txBody>
      </p:sp>
      <p:sp>
        <p:nvSpPr>
          <p:cNvPr id="54" name="p-target-label">
            <a:extLst xmlns:a="http://schemas.openxmlformats.org/drawingml/2006/main">
              <a:ext uri="{FF2B5EF4-FFF2-40B4-BE49-F238E27FC236}">
                <a16:creationId xmlns:a16="http://schemas.microsoft.com/office/drawing/2014/main" id="{0EA1FD34-BCE7-4153-A020-D5AF78E5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981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94D49"/>
                </a:solidFill>
              </a:defRPr>
            </a:pPr>
            <a:r>
              <a:rPr sz="750" b="1" i="0">
                <a:solidFill>
                  <a:srgbClr val="B94D49"/>
                </a:solidFill>
              </a:rPr>
              <a:t>target A</a:t>
            </a:r>
          </a:p>
        </p:txBody>
      </p:sp>
      <p:sp>
        <p:nvSpPr>
          <p:cNvPr id="55" name="reevaluate-lane">
            <a:extLst xmlns:a="http://schemas.openxmlformats.org/drawingml/2006/main">
              <a:ext uri="{FF2B5EF4-FFF2-40B4-BE49-F238E27FC236}">
                <a16:creationId xmlns:a16="http://schemas.microsoft.com/office/drawing/2014/main" id="{72B705AB-34D2-4349-9733-AAC02411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54864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13335">
            <a:solidFill>
              <a:srgbClr val="2D7F7B"/>
            </a:solidFill>
            <a:prstDash val="dash"/>
          </a:ln>
        </p:spPr>
      </p:sp>
      <p:sp>
        <p:nvSpPr>
          <p:cNvPr id="56" name="reevaluate-icon-face">
            <a:extLst xmlns:a="http://schemas.openxmlformats.org/drawingml/2006/main">
              <a:ext uri="{FF2B5EF4-FFF2-40B4-BE49-F238E27FC236}">
                <a16:creationId xmlns:a16="http://schemas.microsoft.com/office/drawing/2014/main" id="{B5261169-0765-4DA4-9D50-FF05F96E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D7F7B"/>
            </a:solidFill>
            <a:prstDash val="solid"/>
          </a:ln>
        </p:spPr>
      </p:sp>
      <p:sp>
        <p:nvSpPr>
          <p:cNvPr id="57" name="reevaluate-icon-hand-v">
            <a:extLst xmlns:a="http://schemas.openxmlformats.org/drawingml/2006/main">
              <a:ext uri="{FF2B5EF4-FFF2-40B4-BE49-F238E27FC236}">
                <a16:creationId xmlns:a16="http://schemas.microsoft.com/office/drawing/2014/main" id="{6AB4E8DD-CA2C-4E99-8B32-4986A863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8" y="2413635"/>
            <a:ext cx="1905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58" name="reevaluate-icon-hand-h">
            <a:extLst xmlns:a="http://schemas.openxmlformats.org/drawingml/2006/main">
              <a:ext uri="{FF2B5EF4-FFF2-40B4-BE49-F238E27FC236}">
                <a16:creationId xmlns:a16="http://schemas.microsoft.com/office/drawing/2014/main" id="{9FF1C2CD-60F1-42F0-9327-CEF05C8C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8" y="2502218"/>
            <a:ext cx="6286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59" name="reevaluate-icon-hub">
            <a:extLst xmlns:a="http://schemas.openxmlformats.org/drawingml/2006/main">
              <a:ext uri="{FF2B5EF4-FFF2-40B4-BE49-F238E27FC236}">
                <a16:creationId xmlns:a16="http://schemas.microsoft.com/office/drawing/2014/main" id="{4DE856BF-63C3-453E-9521-FCD01C14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3" y="2485073"/>
            <a:ext cx="40005" cy="40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60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36897C27-EF44-4053-98B4-822DE38E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7F7B"/>
                </a:solidFill>
              </a:defRPr>
            </a:pPr>
            <a:r>
              <a:rPr sz="1200" b="1" i="0">
                <a:solidFill>
                  <a:srgbClr val="2D7F7B"/>
                </a:solidFill>
              </a:rPr>
              <a:t>Reevaluate</a:t>
            </a:r>
          </a:p>
        </p:txBody>
      </p:sp>
      <p:sp>
        <p:nvSpPr>
          <p:cNvPr id="61" name="reevaluate-rule">
            <a:extLst xmlns:a="http://schemas.openxmlformats.org/drawingml/2006/main">
              <a:ext uri="{FF2B5EF4-FFF2-40B4-BE49-F238E27FC236}">
                <a16:creationId xmlns:a16="http://schemas.microsoft.com/office/drawing/2014/main" id="{AA2D2DC5-78CA-47E9-9D52-492DF57E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D7F7B"/>
                </a:solidFill>
              </a:defRPr>
            </a:pPr>
            <a:r>
              <a:rPr sz="900" b="1" i="0">
                <a:solidFill>
                  <a:srgbClr val="2D7F7B"/>
                </a:solidFill>
              </a:rPr>
              <a:t>defer q until after refresh</a:t>
            </a:r>
          </a:p>
        </p:txBody>
      </p:sp>
      <p:sp>
        <p:nvSpPr>
          <p:cNvPr id="62" name="r-s0-state">
            <a:extLst xmlns:a="http://schemas.openxmlformats.org/drawingml/2006/main">
              <a:ext uri="{FF2B5EF4-FFF2-40B4-BE49-F238E27FC236}">
                <a16:creationId xmlns:a16="http://schemas.microsoft.com/office/drawing/2014/main" id="{709B3AB9-C8C9-421E-954C-D6A92804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00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63" name="r-s0-other-0">
            <a:extLst xmlns:a="http://schemas.openxmlformats.org/drawingml/2006/main">
              <a:ext uri="{FF2B5EF4-FFF2-40B4-BE49-F238E27FC236}">
                <a16:creationId xmlns:a16="http://schemas.microsoft.com/office/drawing/2014/main" id="{D663A20B-7D65-4C83-8BA0-DDB8BBEA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64" name="r-s0-other-1">
            <a:extLst xmlns:a="http://schemas.openxmlformats.org/drawingml/2006/main">
              <a:ext uri="{FF2B5EF4-FFF2-40B4-BE49-F238E27FC236}">
                <a16:creationId xmlns:a16="http://schemas.microsoft.com/office/drawing/2014/main" id="{7FFE8D98-C16D-4B26-9158-2F7EDBD0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486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65" name="r-s0-other-2">
            <a:extLst xmlns:a="http://schemas.openxmlformats.org/drawingml/2006/main">
              <a:ext uri="{FF2B5EF4-FFF2-40B4-BE49-F238E27FC236}">
                <a16:creationId xmlns:a16="http://schemas.microsoft.com/office/drawing/2014/main" id="{434959DC-F37B-411D-B7D6-1C147580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66" name="r-s0-other-3">
            <a:extLst xmlns:a="http://schemas.openxmlformats.org/drawingml/2006/main">
              <a:ext uri="{FF2B5EF4-FFF2-40B4-BE49-F238E27FC236}">
                <a16:creationId xmlns:a16="http://schemas.microsoft.com/office/drawing/2014/main" id="{B0C27913-6A26-4B36-B44A-483BF982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67" name="r-s0-a">
            <a:extLst xmlns:a="http://schemas.openxmlformats.org/drawingml/2006/main">
              <a:ext uri="{FF2B5EF4-FFF2-40B4-BE49-F238E27FC236}">
                <a16:creationId xmlns:a16="http://schemas.microsoft.com/office/drawing/2014/main" id="{A7E130CA-06F7-4394-921A-8583DA34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8" name="r-clock-face">
            <a:extLst xmlns:a="http://schemas.openxmlformats.org/drawingml/2006/main">
              <a:ext uri="{FF2B5EF4-FFF2-40B4-BE49-F238E27FC236}">
                <a16:creationId xmlns:a16="http://schemas.microsoft.com/office/drawing/2014/main" id="{F720A0E9-7FFB-4449-AB1E-7795A92E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6899D"/>
            </a:solidFill>
            <a:prstDash val="solid"/>
          </a:ln>
        </p:spPr>
      </p:sp>
      <p:sp>
        <p:nvSpPr>
          <p:cNvPr id="69" name="r-clock-hand-v">
            <a:extLst xmlns:a="http://schemas.openxmlformats.org/drawingml/2006/main">
              <a:ext uri="{FF2B5EF4-FFF2-40B4-BE49-F238E27FC236}">
                <a16:creationId xmlns:a16="http://schemas.microsoft.com/office/drawing/2014/main" id="{BAC7960A-3C24-4589-9108-BE0E95AE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37" y="2563368"/>
            <a:ext cx="19050" cy="103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70" name="r-clock-hand-h">
            <a:extLst xmlns:a="http://schemas.openxmlformats.org/drawingml/2006/main">
              <a:ext uri="{FF2B5EF4-FFF2-40B4-BE49-F238E27FC236}">
                <a16:creationId xmlns:a16="http://schemas.microsoft.com/office/drawing/2014/main" id="{61FD0D50-C1E6-42A6-974D-D9822D93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37" y="2663762"/>
            <a:ext cx="7124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71" name="r-clock-hub">
            <a:extLst xmlns:a="http://schemas.openxmlformats.org/drawingml/2006/main">
              <a:ext uri="{FF2B5EF4-FFF2-40B4-BE49-F238E27FC236}">
                <a16:creationId xmlns:a16="http://schemas.microsoft.com/office/drawing/2014/main" id="{31687351-214F-4219-90D6-A325A434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006" y="2644331"/>
            <a:ext cx="45339" cy="4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72" name="r-s1-state">
            <a:extLst xmlns:a="http://schemas.openxmlformats.org/drawingml/2006/main">
              <a:ext uri="{FF2B5EF4-FFF2-40B4-BE49-F238E27FC236}">
                <a16:creationId xmlns:a16="http://schemas.microsoft.com/office/drawing/2014/main" id="{27517487-E375-45B9-B792-F8DDE0C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343A"/>
            </a:solidFill>
            <a:prstDash val="solid"/>
          </a:ln>
        </p:spPr>
      </p:sp>
      <p:sp>
        <p:nvSpPr>
          <p:cNvPr id="73" name="r-s1-other-0">
            <a:extLst xmlns:a="http://schemas.openxmlformats.org/drawingml/2006/main">
              <a:ext uri="{FF2B5EF4-FFF2-40B4-BE49-F238E27FC236}">
                <a16:creationId xmlns:a16="http://schemas.microsoft.com/office/drawing/2014/main" id="{CC30F799-77E2-4E16-9C31-4E24AD00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4" name="r-s1-other-1">
            <a:extLst xmlns:a="http://schemas.openxmlformats.org/drawingml/2006/main">
              <a:ext uri="{FF2B5EF4-FFF2-40B4-BE49-F238E27FC236}">
                <a16:creationId xmlns:a16="http://schemas.microsoft.com/office/drawing/2014/main" id="{8290B171-C0E9-419E-8908-759EF488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86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5" name="r-s1-other-2">
            <a:extLst xmlns:a="http://schemas.openxmlformats.org/drawingml/2006/main">
              <a:ext uri="{FF2B5EF4-FFF2-40B4-BE49-F238E27FC236}">
                <a16:creationId xmlns:a16="http://schemas.microsoft.com/office/drawing/2014/main" id="{C4FB734B-E83E-401C-A62B-022F4B29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6" name="r-s1-other-3">
            <a:extLst xmlns:a="http://schemas.openxmlformats.org/drawingml/2006/main">
              <a:ext uri="{FF2B5EF4-FFF2-40B4-BE49-F238E27FC236}">
                <a16:creationId xmlns:a16="http://schemas.microsoft.com/office/drawing/2014/main" id="{CF90F003-7226-4EB1-86B6-6040326C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5715">
            <a:solidFill>
              <a:srgbClr val="69787E"/>
            </a:solidFill>
            <a:prstDash val="solid"/>
          </a:ln>
        </p:spPr>
      </p:sp>
      <p:sp>
        <p:nvSpPr>
          <p:cNvPr id="77" name="r-s1-a">
            <a:extLst xmlns:a="http://schemas.openxmlformats.org/drawingml/2006/main">
              <a:ext uri="{FF2B5EF4-FFF2-40B4-BE49-F238E27FC236}">
                <a16:creationId xmlns:a16="http://schemas.microsoft.com/office/drawing/2014/main" id="{F9C94A18-DDE4-4707-981D-10D1B2A9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8" name="r-s1-b">
            <a:extLst xmlns:a="http://schemas.openxmlformats.org/drawingml/2006/main">
              <a:ext uri="{FF2B5EF4-FFF2-40B4-BE49-F238E27FC236}">
                <a16:creationId xmlns:a16="http://schemas.microsoft.com/office/drawing/2014/main" id="{1F79AD29-6632-49D0-932F-3AAC28CA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9" name="r-target-circle">
            <a:extLst xmlns:a="http://schemas.openxmlformats.org/drawingml/2006/main">
              <a:ext uri="{FF2B5EF4-FFF2-40B4-BE49-F238E27FC236}">
                <a16:creationId xmlns:a16="http://schemas.microsoft.com/office/drawing/2014/main" id="{16530E7E-0C1A-49C5-8806-5FA542EC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66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7F7B"/>
                </a:solidFill>
              </a:defRPr>
            </a:pPr>
            <a:r>
              <a:rPr sz="1350" b="1">
                <a:solidFill>
                  <a:srgbClr val="2D7F7B"/>
                </a:solidFill>
              </a:rPr>
              <a:t>B</a:t>
            </a:r>
          </a:p>
        </p:txBody>
      </p:sp>
      <p:sp>
        <p:nvSpPr>
          <p:cNvPr id="80" name="r-target-h">
            <a:extLst xmlns:a="http://schemas.openxmlformats.org/drawingml/2006/main">
              <a:ext uri="{FF2B5EF4-FFF2-40B4-BE49-F238E27FC236}">
                <a16:creationId xmlns:a16="http://schemas.microsoft.com/office/drawing/2014/main" id="{79FA1B64-D11A-4A2E-810D-1EB57FED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574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81" name="r-target-v">
            <a:extLst xmlns:a="http://schemas.openxmlformats.org/drawingml/2006/main">
              <a:ext uri="{FF2B5EF4-FFF2-40B4-BE49-F238E27FC236}">
                <a16:creationId xmlns:a16="http://schemas.microsoft.com/office/drawing/2014/main" id="{FEB7EFFA-A3B7-4A31-9B3D-2D3E4087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cxnSp>
        <p:nvCxnSpPr>
          <p:cNvPr id="235" name=""/>
          <p:cNvCxnSpPr>
            <a:stCxn xmlns:a="http://schemas.openxmlformats.org/drawingml/2006/main" id="62" idx="6"/>
            <a:endCxn xmlns:a="http://schemas.openxmlformats.org/drawingml/2006/main" id="68" idx="2"/>
          </p:cNvCxnSpPr>
          <p:nvPr/>
        </p:nvCxnSpPr>
        <p:spPr>
          <a:xfrm xmlns:a="http://schemas.openxmlformats.org/drawingml/2006/main">
            <a:off x="3048000" y="2667000"/>
            <a:ext cx="66675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36" name=""/>
          <p:cNvCxnSpPr>
            <a:stCxn xmlns:a="http://schemas.openxmlformats.org/drawingml/2006/main" id="68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>
            <a:off x="4038600" y="2667000"/>
            <a:ext cx="41910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37" name=""/>
          <p:cNvCxnSpPr>
            <a:stCxn xmlns:a="http://schemas.openxmlformats.org/drawingml/2006/main" id="72" idx="6"/>
            <a:endCxn xmlns:a="http://schemas.openxmlformats.org/drawingml/2006/main" id="79" idx="2"/>
          </p:cNvCxnSpPr>
          <p:nvPr/>
        </p:nvCxnSpPr>
        <p:spPr>
          <a:xfrm xmlns:a="http://schemas.openxmlformats.org/drawingml/2006/main">
            <a:off x="4991100" y="2667000"/>
            <a:ext cx="533400" cy="0"/>
          </a:xfrm>
          <a:prstGeom xmlns:a="http://schemas.openxmlformats.org/drawingml/2006/main" prst="curvedConnector2">
            <a:avLst/>
          </a:prstGeom>
          <a:ln xmlns:a="http://schemas.openxmlformats.org/drawingml/2006/main" w="26670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85" name="r-s0-label">
            <a:extLst xmlns:a="http://schemas.openxmlformats.org/drawingml/2006/main">
              <a:ext uri="{FF2B5EF4-FFF2-40B4-BE49-F238E27FC236}">
                <a16:creationId xmlns:a16="http://schemas.microsoft.com/office/drawing/2014/main" id="{D17D5B16-3935-4D17-A28B-8128D41F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0512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S0  q(S0)=A</a:t>
            </a:r>
          </a:p>
        </p:txBody>
      </p:sp>
      <p:sp>
        <p:nvSpPr>
          <p:cNvPr id="86" name="r-defer">
            <a:extLst xmlns:a="http://schemas.openxmlformats.org/drawingml/2006/main">
              <a:ext uri="{FF2B5EF4-FFF2-40B4-BE49-F238E27FC236}">
                <a16:creationId xmlns:a16="http://schemas.microsoft.com/office/drawing/2014/main" id="{914FFD05-D622-452A-BA6A-5A800049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241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DEFER q</a:t>
            </a:r>
          </a:p>
        </p:txBody>
      </p:sp>
      <p:sp>
        <p:nvSpPr>
          <p:cNvPr id="87" name="r-resolve">
            <a:extLst xmlns:a="http://schemas.openxmlformats.org/drawingml/2006/main">
              <a:ext uri="{FF2B5EF4-FFF2-40B4-BE49-F238E27FC236}">
                <a16:creationId xmlns:a16="http://schemas.microsoft.com/office/drawing/2014/main" id="{471076D4-764D-4C24-8170-FB25ACE8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38375"/>
            <a:ext cx="781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2D7F7B"/>
                </a:solidFill>
              </a:defRPr>
            </a:pPr>
            <a:r>
              <a:rPr sz="675" b="1" i="0">
                <a:solidFill>
                  <a:srgbClr val="2D7F7B"/>
                </a:solidFill>
              </a:rPr>
              <a:t>resolve q on S1</a:t>
            </a:r>
          </a:p>
        </p:txBody>
      </p:sp>
      <p:sp>
        <p:nvSpPr>
          <p:cNvPr id="88" name="r-s1-label">
            <a:extLst xmlns:a="http://schemas.openxmlformats.org/drawingml/2006/main">
              <a:ext uri="{FF2B5EF4-FFF2-40B4-BE49-F238E27FC236}">
                <a16:creationId xmlns:a16="http://schemas.microsoft.com/office/drawing/2014/main" id="{92376ADA-EC94-4A4D-9ABE-A8DEA965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0512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30343F"/>
                </a:solidFill>
              </a:defRPr>
            </a:pPr>
            <a:r>
              <a:rPr sz="750" b="0" i="1">
                <a:solidFill>
                  <a:srgbClr val="30343F"/>
                </a:solidFill>
              </a:rPr>
              <a:t>S1  q(S1)=B</a:t>
            </a:r>
          </a:p>
        </p:txBody>
      </p:sp>
      <p:sp>
        <p:nvSpPr>
          <p:cNvPr id="89" name="r-target-label">
            <a:extLst xmlns:a="http://schemas.openxmlformats.org/drawingml/2006/main">
              <a:ext uri="{FF2B5EF4-FFF2-40B4-BE49-F238E27FC236}">
                <a16:creationId xmlns:a16="http://schemas.microsoft.com/office/drawing/2014/main" id="{FAD1EA6F-9B0E-42A1-B420-D4693B7C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9051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target B</a:t>
            </a:r>
          </a:p>
        </p:txBody>
      </p:sp>
      <p:sp>
        <p:nvSpPr>
          <p:cNvPr id="90" name="pair-invariant">
            <a:extLst xmlns:a="http://schemas.openxmlformats.org/drawingml/2006/main">
              <a:ext uri="{FF2B5EF4-FFF2-40B4-BE49-F238E27FC236}">
                <a16:creationId xmlns:a16="http://schemas.microsoft.com/office/drawing/2014/main" id="{B56224ED-CBC7-4991-8164-BA2D0E05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8343A"/>
                </a:solidFill>
              </a:defRPr>
            </a:pPr>
            <a:r>
              <a:rPr sz="750" b="1" i="0">
                <a:solidFill>
                  <a:srgbClr val="28343A"/>
                </a:solidFill>
              </a:rPr>
              <a:t>same world transition + same interface; only commitment timing changes</a:t>
            </a:r>
          </a:p>
        </p:txBody>
      </p:sp>
      <p:sp>
        <p:nvSpPr>
          <p:cNvPr id="91" name="line-legend">
            <a:extLst xmlns:a="http://schemas.openxmlformats.org/drawingml/2006/main">
              <a:ext uri="{FF2B5EF4-FFF2-40B4-BE49-F238E27FC236}">
                <a16:creationId xmlns:a16="http://schemas.microsoft.com/office/drawing/2014/main" id="{6876C9AE-CEB6-4D7D-8CF8-EE3E4F7C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623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9787E"/>
                </a:solidFill>
              </a:defRPr>
            </a:pPr>
            <a:r>
              <a:rPr sz="600" b="0" i="0">
                <a:solidFill>
                  <a:srgbClr val="69787E"/>
                </a:solidFill>
              </a:rPr>
              <a:t>solid Preserve | dashed Reevaluate</a:t>
            </a:r>
          </a:p>
        </p:txBody>
      </p:sp>
      <p:sp>
        <p:nvSpPr>
          <p:cNvPr id="92" name="same-chip">
            <a:extLst xmlns:a="http://schemas.openxmlformats.org/drawingml/2006/main">
              <a:ext uri="{FF2B5EF4-FFF2-40B4-BE49-F238E27FC236}">
                <a16:creationId xmlns:a16="http://schemas.microsoft.com/office/drawing/2014/main" id="{D8B04FC5-CF06-4877-9A65-AF6BAE79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725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9525">
            <a:solidFill>
              <a:srgbClr val="66899D"/>
            </a:solidFill>
            <a:prstDash val="solid"/>
          </a:ln>
        </p:spPr>
      </p:sp>
      <p:sp>
        <p:nvSpPr>
          <p:cNvPr id="93" name="same-chip-text">
            <a:extLst xmlns:a="http://schemas.openxmlformats.org/drawingml/2006/main">
              <a:ext uri="{FF2B5EF4-FFF2-40B4-BE49-F238E27FC236}">
                <a16:creationId xmlns:a16="http://schemas.microsoft.com/office/drawing/2014/main" id="{595571DB-C876-4493-B3C0-8D360C38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3875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0343F"/>
                </a:solidFill>
              </a:defRPr>
            </a:pPr>
            <a:r>
              <a:rPr sz="1050" b="1" i="0">
                <a:solidFill>
                  <a:srgbClr val="30343F"/>
                </a:solidFill>
              </a:rPr>
              <a:t>same controller + same interface</a:t>
            </a:r>
          </a:p>
        </p:txBody>
      </p:sp>
      <p:sp>
        <p:nvSpPr>
          <p:cNvPr id="94" name="independent">
            <a:extLst xmlns:a="http://schemas.openxmlformats.org/drawingml/2006/main">
              <a:ext uri="{FF2B5EF4-FFF2-40B4-BE49-F238E27FC236}">
                <a16:creationId xmlns:a16="http://schemas.microsoft.com/office/drawing/2014/main" id="{BF88EF16-0AE5-479F-9231-ABC7DF92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048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9787E"/>
                </a:solidFill>
              </a:defRPr>
            </a:pPr>
            <a:r>
              <a:rPr sz="825" b="0" i="1">
                <a:solidFill>
                  <a:srgbClr val="69787E"/>
                </a:solidFill>
              </a:rPr>
              <a:t>two independent runs</a:t>
            </a:r>
          </a:p>
        </p:txBody>
      </p:sp>
      <p:sp>
        <p:nvSpPr>
          <p:cNvPr id="95" name="p-packet">
            <a:extLst xmlns:a="http://schemas.openxmlformats.org/drawingml/2006/main">
              <a:ext uri="{FF2B5EF4-FFF2-40B4-BE49-F238E27FC236}">
                <a16:creationId xmlns:a16="http://schemas.microsoft.com/office/drawing/2014/main" id="{75A09612-F6B9-4D4D-9879-EB4CAAF9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343025"/>
            <a:ext cx="57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E7E3"/>
          </a:solidFill>
          <a:ln xmlns:a="http://schemas.openxmlformats.org/drawingml/2006/main" w="13335">
            <a:solidFill>
              <a:srgbClr val="B94D49"/>
            </a:solidFill>
            <a:prstDash val="solid"/>
          </a:ln>
        </p:spPr>
      </p:sp>
      <p:sp>
        <p:nvSpPr>
          <p:cNvPr id="96" name="p-packet-text">
            <a:extLst xmlns:a="http://schemas.openxmlformats.org/drawingml/2006/main">
              <a:ext uri="{FF2B5EF4-FFF2-40B4-BE49-F238E27FC236}">
                <a16:creationId xmlns:a16="http://schemas.microsoft.com/office/drawing/2014/main" id="{000FE891-7051-4071-A44A-2B4293DE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4001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94D49"/>
                </a:solidFill>
              </a:defRPr>
            </a:pPr>
            <a:r>
              <a:rPr sz="1500" b="1" i="0">
                <a:solidFill>
                  <a:srgbClr val="B94D49"/>
                </a:solidFill>
              </a:rPr>
              <a:t>P</a:t>
            </a:r>
          </a:p>
        </p:txBody>
      </p:sp>
      <p:sp>
        <p:nvSpPr>
          <p:cNvPr id="97" name="r-packet">
            <a:extLst xmlns:a="http://schemas.openxmlformats.org/drawingml/2006/main">
              <a:ext uri="{FF2B5EF4-FFF2-40B4-BE49-F238E27FC236}">
                <a16:creationId xmlns:a16="http://schemas.microsoft.com/office/drawing/2014/main" id="{EBA7FA24-7888-4D54-9DF0-E241F060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14575"/>
            <a:ext cx="57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13335">
            <a:solidFill>
              <a:srgbClr val="2D7F7B"/>
            </a:solidFill>
            <a:prstDash val="dash"/>
          </a:ln>
        </p:spPr>
      </p:sp>
      <p:sp>
        <p:nvSpPr>
          <p:cNvPr id="98" name="r-packet-text">
            <a:extLst xmlns:a="http://schemas.openxmlformats.org/drawingml/2006/main">
              <a:ext uri="{FF2B5EF4-FFF2-40B4-BE49-F238E27FC236}">
                <a16:creationId xmlns:a16="http://schemas.microsoft.com/office/drawing/2014/main" id="{C7EF405A-831A-4AC7-8215-A2760DE0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717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7F7B"/>
                </a:solidFill>
              </a:defRPr>
            </a:pPr>
            <a:r>
              <a:rPr sz="1500" b="1" i="0">
                <a:solidFill>
                  <a:srgbClr val="2D7F7B"/>
                </a:solidFill>
              </a:rPr>
              <a:t>R</a:t>
            </a:r>
          </a:p>
        </p:txBody>
      </p:sp>
      <p:sp>
        <p:nvSpPr>
          <p:cNvPr id="99" name="probe">
            <a:extLst xmlns:a="http://schemas.openxmlformats.org/drawingml/2006/main">
              <a:ext uri="{FF2B5EF4-FFF2-40B4-BE49-F238E27FC236}">
                <a16:creationId xmlns:a16="http://schemas.microsoft.com/office/drawing/2014/main" id="{F7AF6033-AFD5-447C-99E2-1A5145CB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190625"/>
            <a:ext cx="914400" cy="1790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16193">
            <a:solidFill>
              <a:srgbClr val="28343A"/>
            </a:solidFill>
            <a:prstDash val="solid"/>
          </a:ln>
        </p:spPr>
      </p:sp>
      <p:sp>
        <p:nvSpPr>
          <p:cNvPr id="100" name="probe-title">
            <a:extLst xmlns:a="http://schemas.openxmlformats.org/drawingml/2006/main">
              <a:ext uri="{FF2B5EF4-FFF2-40B4-BE49-F238E27FC236}">
                <a16:creationId xmlns:a16="http://schemas.microsoft.com/office/drawing/2014/main" id="{8B8C6FAB-E944-4635-AC24-49417C48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1445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0343F"/>
                </a:solidFill>
              </a:defRPr>
            </a:pPr>
            <a:r>
              <a:rPr sz="900" b="1" i="0">
                <a:solidFill>
                  <a:srgbClr val="30343F"/>
                </a:solidFill>
              </a:rPr>
              <a:t>Probe</a:t>
            </a:r>
          </a:p>
        </p:txBody>
      </p:sp>
      <p:sp>
        <p:nvSpPr>
          <p:cNvPr id="101" name="probe-kind">
            <a:extLst xmlns:a="http://schemas.openxmlformats.org/drawingml/2006/main">
              <a:ext uri="{FF2B5EF4-FFF2-40B4-BE49-F238E27FC236}">
                <a16:creationId xmlns:a16="http://schemas.microsoft.com/office/drawing/2014/main" id="{B8B5C88E-70D6-41DC-A162-65D726F4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525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69787E"/>
                </a:solidFill>
              </a:defRPr>
            </a:pPr>
            <a:r>
              <a:rPr sz="600" b="1" i="0">
                <a:solidFill>
                  <a:srgbClr val="69787E"/>
                </a:solidFill>
              </a:rPr>
              <a:t>controller black box</a:t>
            </a:r>
          </a:p>
        </p:txBody>
      </p:sp>
      <p:sp>
        <p:nvSpPr>
          <p:cNvPr id="102" name="probe-dot-p">
            <a:extLst xmlns:a="http://schemas.openxmlformats.org/drawingml/2006/main">
              <a:ext uri="{FF2B5EF4-FFF2-40B4-BE49-F238E27FC236}">
                <a16:creationId xmlns:a16="http://schemas.microsoft.com/office/drawing/2014/main" id="{E7DD4AC8-6FEC-4F51-A078-A1E24772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09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03" name="probe-dot-r">
            <a:extLst xmlns:a="http://schemas.openxmlformats.org/drawingml/2006/main">
              <a:ext uri="{FF2B5EF4-FFF2-40B4-BE49-F238E27FC236}">
                <a16:creationId xmlns:a16="http://schemas.microsoft.com/office/drawing/2014/main" id="{2BE924A7-714A-4617-9697-D828FE53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04" name="probe-blackbox">
            <a:extLst xmlns:a="http://schemas.openxmlformats.org/drawingml/2006/main">
              <a:ext uri="{FF2B5EF4-FFF2-40B4-BE49-F238E27FC236}">
                <a16:creationId xmlns:a16="http://schemas.microsoft.com/office/drawing/2014/main" id="{C4087871-04DA-430F-BBF0-C1E1AB8F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69787E"/>
                </a:solidFill>
              </a:defRPr>
            </a:pPr>
            <a:r>
              <a:rPr sz="600" b="1" i="0">
                <a:solidFill>
                  <a:srgbClr val="69787E"/>
                </a:solidFill>
              </a:rPr>
              <a:t>internals unobserved</a:t>
            </a:r>
          </a:p>
        </p:txBody>
      </p:sp>
      <p:sp>
        <p:nvSpPr>
          <p:cNvPr id="105" name="probe-io">
            <a:extLst xmlns:a="http://schemas.openxmlformats.org/drawingml/2006/main">
              <a:ext uri="{FF2B5EF4-FFF2-40B4-BE49-F238E27FC236}">
                <a16:creationId xmlns:a16="http://schemas.microsoft.com/office/drawing/2014/main" id="{B3BDE054-B0FF-40DA-B1E6-0303D443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9077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30343F"/>
                </a:solidFill>
              </a:defRPr>
            </a:pPr>
            <a:r>
              <a:rPr sz="675" b="1" i="0">
                <a:solidFill>
                  <a:srgbClr val="30343F"/>
                </a:solidFill>
              </a:rPr>
              <a:t>instruction + history</a:t>
            </a:r>
          </a:p>
          <a:p xmlns:a="http://schemas.openxmlformats.org/drawingml/2006/main">
            <a:pPr algn="ctr">
              <a:defRPr sz="675" b="1" i="0">
                <a:solidFill>
                  <a:srgbClr val="30343F"/>
                </a:solidFill>
              </a:defRPr>
            </a:pPr>
            <a:r>
              <a:rPr sz="675" b="1" i="0">
                <a:solidFill>
                  <a:srgbClr val="30343F"/>
                </a:solidFill>
              </a:rPr>
              <a:t>+ observed state</a:t>
            </a:r>
          </a:p>
          <a:p xmlns:a="http://schemas.openxmlformats.org/drawingml/2006/main">
            <a:pPr algn="ctr">
              <a:defRPr sz="675" b="1" i="0">
                <a:solidFill>
                  <a:srgbClr val="30343F"/>
                </a:solidFill>
              </a:defRPr>
            </a:pPr>
            <a:r>
              <a:rPr sz="675" b="1" i="0">
                <a:solidFill>
                  <a:srgbClr val="30343F"/>
                </a:solidFill>
              </a:rPr>
              <a:t>-&gt; target ID</a:t>
            </a:r>
          </a:p>
        </p:txBody>
      </p:sp>
      <p:sp>
        <p:nvSpPr>
          <p:cNvPr id="106" name="tp">
            <a:extLst xmlns:a="http://schemas.openxmlformats.org/drawingml/2006/main">
              <a:ext uri="{FF2B5EF4-FFF2-40B4-BE49-F238E27FC236}">
                <a16:creationId xmlns:a16="http://schemas.microsoft.com/office/drawing/2014/main" id="{933EACDD-BAED-4457-BB02-E5113B5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478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4D49"/>
            </a:solidFill>
            <a:prstDash val="solid"/>
          </a:ln>
        </p:spPr>
      </p:sp>
      <p:sp>
        <p:nvSpPr>
          <p:cNvPr id="107" name="tp-text">
            <a:extLst xmlns:a="http://schemas.openxmlformats.org/drawingml/2006/main">
              <a:ext uri="{FF2B5EF4-FFF2-40B4-BE49-F238E27FC236}">
                <a16:creationId xmlns:a16="http://schemas.microsoft.com/office/drawing/2014/main" id="{98F7EB18-5EB9-4F7B-BDE1-BE140886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476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1">
                <a:solidFill>
                  <a:srgbClr val="B94D49"/>
                </a:solidFill>
              </a:defRPr>
            </a:pPr>
            <a:r>
              <a:rPr sz="750" b="1" i="1">
                <a:solidFill>
                  <a:srgbClr val="B94D49"/>
                </a:solidFill>
              </a:rPr>
              <a:t>TP</a:t>
            </a:r>
          </a:p>
        </p:txBody>
      </p:sp>
      <p:sp>
        <p:nvSpPr>
          <p:cNvPr id="108" name="tr">
            <a:extLst xmlns:a="http://schemas.openxmlformats.org/drawingml/2006/main">
              <a:ext uri="{FF2B5EF4-FFF2-40B4-BE49-F238E27FC236}">
                <a16:creationId xmlns:a16="http://schemas.microsoft.com/office/drawing/2014/main" id="{FB12EFE5-24C5-483E-B0C9-AF65105F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193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D7F7B"/>
            </a:solidFill>
            <a:prstDash val="dash"/>
          </a:ln>
        </p:spPr>
      </p:sp>
      <p:sp>
        <p:nvSpPr>
          <p:cNvPr id="109" name="tr-text">
            <a:extLst xmlns:a="http://schemas.openxmlformats.org/drawingml/2006/main">
              <a:ext uri="{FF2B5EF4-FFF2-40B4-BE49-F238E27FC236}">
                <a16:creationId xmlns:a16="http://schemas.microsoft.com/office/drawing/2014/main" id="{5D45905D-B00F-4B17-9B7F-ED973A16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479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1">
                <a:solidFill>
                  <a:srgbClr val="2D7F7B"/>
                </a:solidFill>
              </a:defRPr>
            </a:pPr>
            <a:r>
              <a:rPr sz="750" b="1" i="1">
                <a:solidFill>
                  <a:srgbClr val="2D7F7B"/>
                </a:solidFill>
              </a:rPr>
              <a:t>TR</a:t>
            </a:r>
          </a:p>
        </p:txBody>
      </p:sp>
      <p:sp>
        <p:nvSpPr>
          <p:cNvPr id="110" name="p-in">
            <a:extLst xmlns:a="http://schemas.openxmlformats.org/drawingml/2006/main">
              <a:ext uri="{FF2B5EF4-FFF2-40B4-BE49-F238E27FC236}">
                <a16:creationId xmlns:a16="http://schemas.microsoft.com/office/drawing/2014/main" id="{322D25A2-CF66-45AB-850A-A4D6B478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621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1" name="r-in">
            <a:extLst xmlns:a="http://schemas.openxmlformats.org/drawingml/2006/main">
              <a:ext uri="{FF2B5EF4-FFF2-40B4-BE49-F238E27FC236}">
                <a16:creationId xmlns:a16="http://schemas.microsoft.com/office/drawing/2014/main" id="{F242BCA0-C1AE-4675-9A76-75A6EE06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336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2" name="p-out">
            <a:extLst xmlns:a="http://schemas.openxmlformats.org/drawingml/2006/main">
              <a:ext uri="{FF2B5EF4-FFF2-40B4-BE49-F238E27FC236}">
                <a16:creationId xmlns:a16="http://schemas.microsoft.com/office/drawing/2014/main" id="{DA6B2ADA-4840-4702-ACD1-9EE61A83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3" name="r-out">
            <a:extLst xmlns:a="http://schemas.openxmlformats.org/drawingml/2006/main">
              <a:ext uri="{FF2B5EF4-FFF2-40B4-BE49-F238E27FC236}">
                <a16:creationId xmlns:a16="http://schemas.microsoft.com/office/drawing/2014/main" id="{FF7DC2F8-A37F-4B07-AF93-DACBD11B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7" name=""/>
          <p:cNvCxnSpPr>
            <a:stCxn xmlns:a="http://schemas.openxmlformats.org/drawingml/2006/main" id="95" idx="3"/>
            <a:endCxn xmlns:a="http://schemas.openxmlformats.org/drawingml/2006/main" id="110" idx="2"/>
          </p:cNvCxnSpPr>
          <p:nvPr/>
        </p:nvCxnSpPr>
        <p:spPr>
          <a:xfrm xmlns:a="http://schemas.openxmlformats.org/drawingml/2006/main" rot="5400000">
            <a:off x="7267575" y="1504950"/>
            <a:ext cx="9525" cy="1619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68" name=""/>
          <p:cNvCxnSpPr>
            <a:stCxn xmlns:a="http://schemas.openxmlformats.org/drawingml/2006/main" id="97" idx="3"/>
            <a:endCxn xmlns:a="http://schemas.openxmlformats.org/drawingml/2006/main" id="111" idx="2"/>
          </p:cNvCxnSpPr>
          <p:nvPr/>
        </p:nvCxnSpPr>
        <p:spPr>
          <a:xfrm xmlns:a="http://schemas.openxmlformats.org/drawingml/2006/main" rot="5400000">
            <a:off x="7267575" y="2476500"/>
            <a:ext cx="9525" cy="1619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69" name=""/>
          <p:cNvCxnSpPr>
            <a:stCxn xmlns:a="http://schemas.openxmlformats.org/drawingml/2006/main" id="112" idx="6"/>
            <a:endCxn xmlns:a="http://schemas.openxmlformats.org/drawingml/2006/main" id="106" idx="1"/>
          </p:cNvCxnSpPr>
          <p:nvPr/>
        </p:nvCxnSpPr>
        <p:spPr>
          <a:xfrm xmlns:a="http://schemas.openxmlformats.org/drawingml/2006/main" rot="16200000" flipH="1">
            <a:off x="8267700" y="1524000"/>
            <a:ext cx="9525" cy="1238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94D4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70" name=""/>
          <p:cNvCxnSpPr>
            <a:stCxn xmlns:a="http://schemas.openxmlformats.org/drawingml/2006/main" id="113" idx="6"/>
            <a:endCxn xmlns:a="http://schemas.openxmlformats.org/drawingml/2006/main" id="108" idx="1"/>
          </p:cNvCxnSpPr>
          <p:nvPr/>
        </p:nvCxnSpPr>
        <p:spPr>
          <a:xfrm xmlns:a="http://schemas.openxmlformats.org/drawingml/2006/main" rot="16200000" flipH="1">
            <a:off x="8267700" y="2495550"/>
            <a:ext cx="9525" cy="1238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2D7F7B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18" name="p-in-port">
            <a:extLst xmlns:a="http://schemas.openxmlformats.org/drawingml/2006/main">
              <a:ext uri="{FF2B5EF4-FFF2-40B4-BE49-F238E27FC236}">
                <a16:creationId xmlns:a16="http://schemas.microsoft.com/office/drawing/2014/main" id="{BD1CB6A6-9612-4AA6-A971-5816F560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19" name="r-in-port">
            <a:extLst xmlns:a="http://schemas.openxmlformats.org/drawingml/2006/main">
              <a:ext uri="{FF2B5EF4-FFF2-40B4-BE49-F238E27FC236}">
                <a16:creationId xmlns:a16="http://schemas.microsoft.com/office/drawing/2014/main" id="{7E62DE28-9551-4B86-9678-4D1CDCF4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20" name="p-out-port">
            <a:extLst xmlns:a="http://schemas.openxmlformats.org/drawingml/2006/main">
              <a:ext uri="{FF2B5EF4-FFF2-40B4-BE49-F238E27FC236}">
                <a16:creationId xmlns:a16="http://schemas.microsoft.com/office/drawing/2014/main" id="{A60AE0E2-6AF1-48E1-BA28-2E2A2078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21" name="r-out-port">
            <a:extLst xmlns:a="http://schemas.openxmlformats.org/drawingml/2006/main">
              <a:ext uri="{FF2B5EF4-FFF2-40B4-BE49-F238E27FC236}">
                <a16:creationId xmlns:a16="http://schemas.microsoft.com/office/drawing/2014/main" id="{855BE83F-3030-453A-B562-7EE19C3F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22" name="withheld">
            <a:extLst xmlns:a="http://schemas.openxmlformats.org/drawingml/2006/main">
              <a:ext uri="{FF2B5EF4-FFF2-40B4-BE49-F238E27FC236}">
                <a16:creationId xmlns:a16="http://schemas.microsoft.com/office/drawing/2014/main" id="{6758079B-7CD8-45E0-87D7-0BA76845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1942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1">
                <a:solidFill>
                  <a:srgbClr val="69787E"/>
                </a:solidFill>
              </a:defRPr>
            </a:pPr>
            <a:r>
              <a:rPr sz="600" b="0" i="1">
                <a:solidFill>
                  <a:srgbClr val="69787E"/>
                </a:solidFill>
              </a:rPr>
              <a:t>Withheld: gold mode/target; normalized selector fields; generator winner IDs</a:t>
            </a:r>
          </a:p>
        </p:txBody>
      </p:sp>
      <p:sp>
        <p:nvSpPr>
          <p:cNvPr id="123" name="evidence-spine">
            <a:extLst xmlns:a="http://schemas.openxmlformats.org/drawingml/2006/main">
              <a:ext uri="{FF2B5EF4-FFF2-40B4-BE49-F238E27FC236}">
                <a16:creationId xmlns:a16="http://schemas.microsoft.com/office/drawing/2014/main" id="{756A0D15-2CB8-4371-9D04-5D108914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52450"/>
            <a:ext cx="2857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24" name="readout-1">
            <a:extLst xmlns:a="http://schemas.openxmlformats.org/drawingml/2006/main">
              <a:ext uri="{FF2B5EF4-FFF2-40B4-BE49-F238E27FC236}">
                <a16:creationId xmlns:a16="http://schemas.microsoft.com/office/drawing/2014/main" id="{EE6CDFFA-AB36-4256-ADA6-8790BFB2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3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899D"/>
                </a:solidFill>
              </a:defRPr>
            </a:pPr>
            <a:r>
              <a:rPr sz="1050" b="1">
                <a:solidFill>
                  <a:srgbClr val="66899D"/>
                </a:solidFill>
              </a:rPr>
              <a:t>1</a:t>
            </a:r>
          </a:p>
        </p:txBody>
      </p:sp>
      <p:sp>
        <p:nvSpPr>
          <p:cNvPr id="125" name="pairacc-title">
            <a:extLst xmlns:a="http://schemas.openxmlformats.org/drawingml/2006/main">
              <a:ext uri="{FF2B5EF4-FFF2-40B4-BE49-F238E27FC236}">
                <a16:creationId xmlns:a16="http://schemas.microsoft.com/office/drawing/2014/main" id="{4151E44B-46FF-43B6-9A82-54370162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53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0343F"/>
                </a:solidFill>
              </a:defRPr>
            </a:pPr>
            <a:r>
              <a:rPr sz="1350" b="1" i="0">
                <a:solidFill>
                  <a:srgbClr val="30343F"/>
                </a:solidFill>
              </a:rPr>
              <a:t>PairAcc</a:t>
            </a:r>
          </a:p>
        </p:txBody>
      </p:sp>
      <p:sp>
        <p:nvSpPr>
          <p:cNvPr id="126" name="pairacc-formula">
            <a:extLst xmlns:a="http://schemas.openxmlformats.org/drawingml/2006/main">
              <a:ext uri="{FF2B5EF4-FFF2-40B4-BE49-F238E27FC236}">
                <a16:creationId xmlns:a16="http://schemas.microsoft.com/office/drawing/2014/main" id="{618DC876-D201-4344-A123-D089205D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04825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9525">
            <a:solidFill>
              <a:srgbClr val="66899D"/>
            </a:solidFill>
            <a:prstDash val="solid"/>
          </a:ln>
        </p:spPr>
      </p:sp>
      <p:sp>
        <p:nvSpPr>
          <p:cNvPr id="127" name="pairacc-formula-text">
            <a:extLst xmlns:a="http://schemas.openxmlformats.org/drawingml/2006/main">
              <a:ext uri="{FF2B5EF4-FFF2-40B4-BE49-F238E27FC236}">
                <a16:creationId xmlns:a16="http://schemas.microsoft.com/office/drawing/2014/main" id="{AB44F810-3790-47F5-838A-8B605E66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4292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1">
                <a:solidFill>
                  <a:srgbClr val="30343F"/>
                </a:solidFill>
              </a:defRPr>
            </a:pPr>
            <a:r>
              <a:rPr sz="1050" b="1" i="1">
                <a:solidFill>
                  <a:srgbClr val="30343F"/>
                </a:solidFill>
              </a:rPr>
              <a:t>T_P=A  AND  T_R=B</a:t>
            </a:r>
          </a:p>
        </p:txBody>
      </p:sp>
      <p:sp>
        <p:nvSpPr>
          <p:cNvPr id="128" name="pairacc-denom">
            <a:extLst xmlns:a="http://schemas.openxmlformats.org/drawingml/2006/main">
              <a:ext uri="{FF2B5EF4-FFF2-40B4-BE49-F238E27FC236}">
                <a16:creationId xmlns:a16="http://schemas.microsoft.com/office/drawing/2014/main" id="{E390B299-3504-4F63-AF09-AAC6383D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191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9787E"/>
                </a:solidFill>
              </a:defRPr>
            </a:pPr>
            <a:r>
              <a:rPr sz="825" b="0" i="0">
                <a:solidFill>
                  <a:srgbClr val="69787E"/>
                </a:solidFill>
              </a:rPr>
              <a:t>all complete changed-winner pairs</a:t>
            </a:r>
          </a:p>
        </p:txBody>
      </p:sp>
      <p:sp>
        <p:nvSpPr>
          <p:cNvPr id="129" name="c-sep-1">
            <a:extLst xmlns:a="http://schemas.openxmlformats.org/drawingml/2006/main">
              <a:ext uri="{FF2B5EF4-FFF2-40B4-BE49-F238E27FC236}">
                <a16:creationId xmlns:a16="http://schemas.microsoft.com/office/drawing/2014/main" id="{5E24533B-D6E6-44C6-927B-70256361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06680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30" name="readout-2">
            <a:extLst xmlns:a="http://schemas.openxmlformats.org/drawingml/2006/main">
              <a:ext uri="{FF2B5EF4-FFF2-40B4-BE49-F238E27FC236}">
                <a16:creationId xmlns:a16="http://schemas.microsoft.com/office/drawing/2014/main" id="{5669BC09-0610-4B73-AE2A-081F7B17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001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4D49"/>
                </a:solidFill>
              </a:defRPr>
            </a:pPr>
            <a:r>
              <a:rPr sz="1050" b="1">
                <a:solidFill>
                  <a:srgbClr val="B94D49"/>
                </a:solidFill>
              </a:rPr>
              <a:t>2</a:t>
            </a:r>
          </a:p>
        </p:txBody>
      </p:sp>
      <p:sp>
        <p:nvSpPr>
          <p:cNvPr id="131" name="sub-title">
            <a:extLst xmlns:a="http://schemas.openxmlformats.org/drawingml/2006/main">
              <a:ext uri="{FF2B5EF4-FFF2-40B4-BE49-F238E27FC236}">
                <a16:creationId xmlns:a16="http://schemas.microsoft.com/office/drawing/2014/main" id="{87745697-F061-4B13-A14C-F08C098A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171575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0343F"/>
                </a:solidFill>
              </a:defRPr>
            </a:pPr>
            <a:r>
              <a:rPr sz="1275" b="1" i="0">
                <a:solidFill>
                  <a:srgbClr val="30343F"/>
                </a:solidFill>
              </a:rPr>
              <a:t>Conditional substitution</a:t>
            </a:r>
          </a:p>
        </p:txBody>
      </p:sp>
      <p:sp>
        <p:nvSpPr>
          <p:cNvPr id="132" name="sub-a">
            <a:extLst xmlns:a="http://schemas.openxmlformats.org/drawingml/2006/main">
              <a:ext uri="{FF2B5EF4-FFF2-40B4-BE49-F238E27FC236}">
                <a16:creationId xmlns:a16="http://schemas.microsoft.com/office/drawing/2014/main" id="{1BA6DDFC-8C65-4E68-AAA8-4FB67385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5240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3" name="sub-clock-face">
            <a:extLst xmlns:a="http://schemas.openxmlformats.org/drawingml/2006/main">
              <a:ext uri="{FF2B5EF4-FFF2-40B4-BE49-F238E27FC236}">
                <a16:creationId xmlns:a16="http://schemas.microsoft.com/office/drawing/2014/main" id="{EEBF6F1A-7204-4421-8BBC-EB2F9A31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543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8343A"/>
            </a:solidFill>
            <a:prstDash val="solid"/>
          </a:ln>
        </p:spPr>
      </p:sp>
      <p:sp>
        <p:nvSpPr>
          <p:cNvPr id="134" name="sub-clock-hand-v">
            <a:extLst xmlns:a="http://schemas.openxmlformats.org/drawingml/2006/main">
              <a:ext uri="{FF2B5EF4-FFF2-40B4-BE49-F238E27FC236}">
                <a16:creationId xmlns:a16="http://schemas.microsoft.com/office/drawing/2014/main" id="{31163E69-DC58-4FD2-94F0-E52C29F9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618" y="1594485"/>
            <a:ext cx="1905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35" name="sub-clock-hand-h">
            <a:extLst xmlns:a="http://schemas.openxmlformats.org/drawingml/2006/main">
              <a:ext uri="{FF2B5EF4-FFF2-40B4-BE49-F238E27FC236}">
                <a16:creationId xmlns:a16="http://schemas.microsoft.com/office/drawing/2014/main" id="{33229925-2F2F-46EC-BC5C-97BB78DF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618" y="1683068"/>
            <a:ext cx="6286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36" name="sub-clock-hub">
            <a:extLst xmlns:a="http://schemas.openxmlformats.org/drawingml/2006/main">
              <a:ext uri="{FF2B5EF4-FFF2-40B4-BE49-F238E27FC236}">
                <a16:creationId xmlns:a16="http://schemas.microsoft.com/office/drawing/2014/main" id="{2AFD327C-A6C9-4ED4-88C5-95CF22E9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473" y="1665923"/>
            <a:ext cx="40005" cy="40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37" name="sub-b">
            <a:extLst xmlns:a="http://schemas.openxmlformats.org/drawingml/2006/main">
              <a:ext uri="{FF2B5EF4-FFF2-40B4-BE49-F238E27FC236}">
                <a16:creationId xmlns:a16="http://schemas.microsoft.com/office/drawing/2014/main" id="{6FDECE6B-0742-4CA7-90E0-8C1C1592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543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5240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291" name=""/>
          <p:cNvCxnSpPr>
            <a:stCxn xmlns:a="http://schemas.openxmlformats.org/drawingml/2006/main" id="132" idx="6"/>
            <a:endCxn xmlns:a="http://schemas.openxmlformats.org/drawingml/2006/main" id="133" idx="2"/>
          </p:cNvCxnSpPr>
          <p:nvPr/>
        </p:nvCxnSpPr>
        <p:spPr>
          <a:xfrm xmlns:a="http://schemas.openxmlformats.org/drawingml/2006/main">
            <a:off x="9791700" y="16859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28343A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92" name=""/>
          <p:cNvCxnSpPr>
            <a:stCxn xmlns:a="http://schemas.openxmlformats.org/drawingml/2006/main" id="133" idx="6"/>
            <a:endCxn xmlns:a="http://schemas.openxmlformats.org/drawingml/2006/main" id="137" idx="2"/>
          </p:cNvCxnSpPr>
          <p:nvPr/>
        </p:nvCxnSpPr>
        <p:spPr>
          <a:xfrm xmlns:a="http://schemas.openxmlformats.org/drawingml/2006/main">
            <a:off x="10801350" y="16859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28343A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0" name="sub-label">
            <a:extLst xmlns:a="http://schemas.openxmlformats.org/drawingml/2006/main">
              <a:ext uri="{FF2B5EF4-FFF2-40B4-BE49-F238E27FC236}">
                <a16:creationId xmlns:a16="http://schemas.microsoft.com/office/drawing/2014/main" id="{7C0AF9EC-EEF1-46B6-8420-7F47C05C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383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30343F"/>
                </a:solidFill>
              </a:defRPr>
            </a:pPr>
            <a:r>
              <a:rPr sz="675" b="0" i="0">
                <a:solidFill>
                  <a:srgbClr val="30343F"/>
                </a:solidFill>
              </a:rPr>
              <a:t>correct bind       refresh       final B</a:t>
            </a:r>
          </a:p>
        </p:txBody>
      </p:sp>
      <p:sp>
        <p:nvSpPr>
          <p:cNvPr id="141" name="sub-denom">
            <a:extLst xmlns:a="http://schemas.openxmlformats.org/drawingml/2006/main">
              <a:ext uri="{FF2B5EF4-FFF2-40B4-BE49-F238E27FC236}">
                <a16:creationId xmlns:a16="http://schemas.microsoft.com/office/drawing/2014/main" id="{0A7D7B80-6A43-49EF-863D-FAAAB20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19300"/>
            <a:ext cx="2609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0343F"/>
                </a:solidFill>
              </a:defRPr>
            </a:pPr>
            <a:r>
              <a:rPr sz="750" b="0" i="0">
                <a:solidFill>
                  <a:srgbClr val="30343F"/>
                </a:solidFill>
              </a:rPr>
              <a:t>Preserve: correct binding + completed refresh + changed winner</a:t>
            </a:r>
          </a:p>
          <a:p xmlns:a="http://schemas.openxmlformats.org/drawingml/2006/main">
            <a:pPr algn="ctr">
              <a:defRPr sz="750" b="0" i="0">
                <a:solidFill>
                  <a:srgbClr val="30343F"/>
                </a:solidFill>
              </a:defRPr>
            </a:pPr>
            <a:r>
              <a:rPr sz="750" b="0" i="0">
                <a:solidFill>
                  <a:srgbClr val="30343F"/>
                </a:solidFill>
              </a:rPr>
              <a:t>+ surviving, action-valid A</a:t>
            </a:r>
          </a:p>
        </p:txBody>
      </p:sp>
      <p:sp>
        <p:nvSpPr>
          <p:cNvPr id="142" name="c-sep-2">
            <a:extLst xmlns:a="http://schemas.openxmlformats.org/drawingml/2006/main">
              <a:ext uri="{FF2B5EF4-FFF2-40B4-BE49-F238E27FC236}">
                <a16:creationId xmlns:a16="http://schemas.microsoft.com/office/drawing/2014/main" id="{923FC783-8CEA-4F1B-9FB3-55366E0F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1935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43" name="readout-3">
            <a:extLst xmlns:a="http://schemas.openxmlformats.org/drawingml/2006/main">
              <a:ext uri="{FF2B5EF4-FFF2-40B4-BE49-F238E27FC236}">
                <a16:creationId xmlns:a16="http://schemas.microsoft.com/office/drawing/2014/main" id="{2F1F61D3-BBB1-43C3-8A17-A2FCC78B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622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6899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899D"/>
                </a:solidFill>
              </a:defRPr>
            </a:pPr>
            <a:r>
              <a:rPr sz="1050" b="1">
                <a:solidFill>
                  <a:srgbClr val="66899D"/>
                </a:solidFill>
              </a:rPr>
              <a:t>3</a:t>
            </a:r>
          </a:p>
        </p:txBody>
      </p:sp>
      <p:sp>
        <p:nvSpPr>
          <p:cNvPr id="144" name="exec-title">
            <a:extLst xmlns:a="http://schemas.openxmlformats.org/drawingml/2006/main">
              <a:ext uri="{FF2B5EF4-FFF2-40B4-BE49-F238E27FC236}">
                <a16:creationId xmlns:a16="http://schemas.microsoft.com/office/drawing/2014/main" id="{85AEA695-34A7-4364-BA8D-ADFF79E1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33650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0343F"/>
                </a:solidFill>
              </a:defRPr>
            </a:pPr>
            <a:r>
              <a:rPr sz="1275" b="1" i="0">
                <a:solidFill>
                  <a:srgbClr val="30343F"/>
                </a:solidFill>
              </a:rPr>
              <a:t>Execution subset</a:t>
            </a:r>
          </a:p>
        </p:txBody>
      </p:sp>
      <p:sp>
        <p:nvSpPr>
          <p:cNvPr id="145" name="exec-id">
            <a:extLst xmlns:a="http://schemas.openxmlformats.org/drawingml/2006/main">
              <a:ext uri="{FF2B5EF4-FFF2-40B4-BE49-F238E27FC236}">
                <a16:creationId xmlns:a16="http://schemas.microsoft.com/office/drawing/2014/main" id="{8B0E8E00-699B-4DF3-AE91-C89F0970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05125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8343A"/>
            </a:solidFill>
            <a:prstDash val="solid"/>
          </a:ln>
        </p:spPr>
      </p:sp>
      <p:sp>
        <p:nvSpPr>
          <p:cNvPr id="146" name="exec-id-text">
            <a:extLst xmlns:a="http://schemas.openxmlformats.org/drawingml/2006/main">
              <a:ext uri="{FF2B5EF4-FFF2-40B4-BE49-F238E27FC236}">
                <a16:creationId xmlns:a16="http://schemas.microsoft.com/office/drawing/2014/main" id="{058B2184-CEE7-4DD1-B0B9-91FC9AF9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33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8343A"/>
                </a:solidFill>
              </a:defRPr>
            </a:pPr>
            <a:r>
              <a:rPr sz="750" b="1" i="0">
                <a:solidFill>
                  <a:srgbClr val="28343A"/>
                </a:solidFill>
              </a:rPr>
              <a:t>ID</a:t>
            </a:r>
          </a:p>
        </p:txBody>
      </p:sp>
      <p:sp>
        <p:nvSpPr>
          <p:cNvPr id="147" name="write">
            <a:extLst xmlns:a="http://schemas.openxmlformats.org/drawingml/2006/main">
              <a:ext uri="{FF2B5EF4-FFF2-40B4-BE49-F238E27FC236}">
                <a16:creationId xmlns:a16="http://schemas.microsoft.com/office/drawing/2014/main" id="{20E7DC48-AA42-42EB-B60B-3827C9AB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05125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9525">
            <a:solidFill>
              <a:srgbClr val="66899D"/>
            </a:solidFill>
            <a:prstDash val="solid"/>
          </a:ln>
        </p:spPr>
      </p:sp>
      <p:sp>
        <p:nvSpPr>
          <p:cNvPr id="148" name="write-text">
            <a:extLst xmlns:a="http://schemas.openxmlformats.org/drawingml/2006/main">
              <a:ext uri="{FF2B5EF4-FFF2-40B4-BE49-F238E27FC236}">
                <a16:creationId xmlns:a16="http://schemas.microsoft.com/office/drawing/2014/main" id="{F7394D24-2DB3-4F2C-A6B8-7CEED647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241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30343F"/>
                </a:solidFill>
              </a:defRPr>
            </a:pPr>
            <a:r>
              <a:rPr sz="750" b="1" i="0">
                <a:solidFill>
                  <a:srgbClr val="30343F"/>
                </a:solidFill>
              </a:rPr>
              <a:t>TOOL WRITE</a:t>
            </a:r>
          </a:p>
        </p:txBody>
      </p:sp>
      <p:sp>
        <p:nvSpPr>
          <p:cNvPr id="149" name="diff">
            <a:extLst xmlns:a="http://schemas.openxmlformats.org/drawingml/2006/main">
              <a:ext uri="{FF2B5EF4-FFF2-40B4-BE49-F238E27FC236}">
                <a16:creationId xmlns:a16="http://schemas.microsoft.com/office/drawing/2014/main" id="{AB64285F-D411-4700-AA5E-CDE92FEF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05125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9525">
            <a:solidFill>
              <a:srgbClr val="2D7F7B"/>
            </a:solidFill>
            <a:prstDash val="solid"/>
          </a:ln>
        </p:spPr>
      </p:sp>
      <p:sp>
        <p:nvSpPr>
          <p:cNvPr id="150" name="diff-text">
            <a:extLst xmlns:a="http://schemas.openxmlformats.org/drawingml/2006/main">
              <a:ext uri="{FF2B5EF4-FFF2-40B4-BE49-F238E27FC236}">
                <a16:creationId xmlns:a16="http://schemas.microsoft.com/office/drawing/2014/main" id="{F93D74F0-DC88-497F-9D20-8EACEFF9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9241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D7F7B"/>
                </a:solidFill>
              </a:defRPr>
            </a:pPr>
            <a:r>
              <a:rPr sz="750" b="1" i="0">
                <a:solidFill>
                  <a:srgbClr val="2D7F7B"/>
                </a:solidFill>
              </a:rPr>
              <a:t>STATE DIFF</a:t>
            </a:r>
          </a:p>
        </p:txBody>
      </p:sp>
      <p:cxnSp>
        <p:nvCxnSpPr>
          <p:cNvPr id="304" name=""/>
          <p:cNvCxnSpPr>
            <a:stCxn xmlns:a="http://schemas.openxmlformats.org/drawingml/2006/main" id="145" idx="3"/>
            <a:endCxn xmlns:a="http://schemas.openxmlformats.org/drawingml/2006/main" id="147" idx="1"/>
          </p:cNvCxnSpPr>
          <p:nvPr/>
        </p:nvCxnSpPr>
        <p:spPr>
          <a:xfrm xmlns:a="http://schemas.openxmlformats.org/drawingml/2006/main">
            <a:off x="9906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66899D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5" name=""/>
          <p:cNvCxnSpPr>
            <a:stCxn xmlns:a="http://schemas.openxmlformats.org/drawingml/2006/main" id="147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>
            <a:off x="11068050" y="30480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66899D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3" name="exec-denom">
            <a:extLst xmlns:a="http://schemas.openxmlformats.org/drawingml/2006/main">
              <a:ext uri="{FF2B5EF4-FFF2-40B4-BE49-F238E27FC236}">
                <a16:creationId xmlns:a16="http://schemas.microsoft.com/office/drawing/2014/main" id="{DF34AACA-DB1D-463D-B05D-0263A935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71825"/>
            <a:ext cx="2609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9787E"/>
                </a:solidFill>
              </a:defRPr>
            </a:pPr>
            <a:r>
              <a:rPr sz="675" b="0" i="0">
                <a:solidFill>
                  <a:srgbClr val="69787E"/>
                </a:solidFill>
              </a:rPr>
              <a:t>executed model-issued writes only</a:t>
            </a:r>
          </a:p>
        </p:txBody>
      </p:sp>
    </p:spTree>
    <p:extLst>
      <p:ext uri="{BB962C8B-B14F-4D97-AF65-F5344CB8AC3E}">
        <p14:creationId xmlns:p14="http://schemas.microsoft.com/office/powerpoint/2010/main" val="389490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2026-07-28T16:17:10.9880000Z</dcterms:created>
  <dcterms:modified xsi:type="dcterms:W3CDTF">2026-07-28T16:17:10.9890000Z</dcterms:modified>
</coreProperties>
</file>
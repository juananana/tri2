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e3d97d635024767" /><Relationship Type="http://schemas.openxmlformats.org/officeDocument/2006/relationships/extended-properties" Target="/docProps/app.xml" Id="R3c90599b15504bae" /><Relationship Type="http://schemas.openxmlformats.org/officeDocument/2006/relationships/officeDocument" Target="/ppt/presentation.xml" Id="Rcb2a72afc34c48e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93d62bd4b3d4fc6"/>
  </p:sldMasterIdLst>
  <p:notesMasterIdLst>
    <p:notesMasterId xmlns:r="http://schemas.openxmlformats.org/officeDocument/2006/relationships" r:id="R19dd9d0ff9b741e8"/>
  </p:notesMasterIdLst>
  <p:sldIdLst>
    <p:sldId xmlns:r="http://schemas.openxmlformats.org/officeDocument/2006/relationships" id="256" r:id="R0f3b69e4375f4eeb"/>
  </p:sldIdLst>
  <p:sldSz cx="15240000" cy="7239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1768fc44edb42b7" /><Relationship Type="http://schemas.openxmlformats.org/officeDocument/2006/relationships/slideMaster" Target="/ppt/slideMasters/slideMaster1.xml" Id="R593d62bd4b3d4fc6" /><Relationship Type="http://schemas.openxmlformats.org/officeDocument/2006/relationships/notesMaster" Target="/ppt/notesMasters/notesMaster1.xml" Id="R19dd9d0ff9b741e8" /><Relationship Type="http://schemas.openxmlformats.org/officeDocument/2006/relationships/presProps" Target="/ppt/presProps.xml" Id="R7cafabaabbdc4ae0" /><Relationship Type="http://schemas.openxmlformats.org/officeDocument/2006/relationships/tableStyles" Target="/ppt/tableStyles.xml" Id="R47bc318f72b14642" /><Relationship Type="http://schemas.openxmlformats.org/officeDocument/2006/relationships/slide" Target="/ppt/slides/slide1.xml" Id="R0f3b69e4375f4ee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c30eba4fc38498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5e70437680344b1" /><Relationship Type="http://schemas.openxmlformats.org/officeDocument/2006/relationships/notesMaster" Target="/ppt/notesMasters/notesMaster1.xml" Id="R1459e42d3a784da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1d65813ee2498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bbe5fbb6b554da3" /><Relationship Type="http://schemas.openxmlformats.org/officeDocument/2006/relationships/slideLayout" Target="/ppt/slideLayouts/slideLayout1.xml" Id="Rbec75e49ec25453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ec75e49ec25453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6f176eb65844b2" /><Relationship Type="http://schemas.openxmlformats.org/officeDocument/2006/relationships/notesSlide" Target="/ppt/notesSlides/notesSlide1.xml" Id="Re434b9b73f02450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3" name="figure-title">
            <a:extLst xmlns:a="http://schemas.openxmlformats.org/drawingml/2006/main">
              <a:ext uri="{FF2B5EF4-FFF2-40B4-BE49-F238E27FC236}">
                <a16:creationId xmlns:a16="http://schemas.microsoft.com/office/drawing/2014/main" id="{BE0B6B97-79A8-437F-A614-B04FB186C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7650" y="142875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3023"/>
          </a:bodyPr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Temporal Referent Integrity (TRI)</a:t>
            </a:r>
          </a:p>
        </p:txBody>
      </p:sp>
      <p:sp>
        <p:nvSpPr>
          <p:cNvPr id="2" name="figure-tagline">
            <a:extLst xmlns:a="http://schemas.openxmlformats.org/drawingml/2006/main">
              <a:ext uri="{FF2B5EF4-FFF2-40B4-BE49-F238E27FC236}">
                <a16:creationId xmlns:a16="http://schemas.microsoft.com/office/drawing/2014/main" id="{9A133D80-CB0E-4240-A07F-5183F3AF8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6700" y="590550"/>
            <a:ext cx="742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1">
                <a:solidFill>
                  <a:srgbClr val="278681"/>
                </a:solidFill>
                <a:latin typeface="Arial"/>
                <a:ea typeface="Arial"/>
                <a:cs typeface="Arial"/>
              </a:defRPr>
            </a:pPr>
            <a:r>
              <a:rPr sz="2100" b="1" i="1">
                <a:solidFill>
                  <a:srgbClr val="278681"/>
                </a:solidFill>
                <a:latin typeface="Arial"/>
                <a:ea typeface="Arial"/>
                <a:cs typeface="Arial"/>
              </a:rPr>
              <a:t>Refresh updates the world, not necessarily the referent.</a:t>
            </a:r>
          </a:p>
        </p:txBody>
      </p:sp>
      <p:sp>
        <p:nvSpPr>
          <p:cNvPr id="3" name="scenario-header">
            <a:extLst xmlns:a="http://schemas.openxmlformats.org/drawingml/2006/main">
              <a:ext uri="{FF2B5EF4-FFF2-40B4-BE49-F238E27FC236}">
                <a16:creationId xmlns:a16="http://schemas.microsoft.com/office/drawing/2014/main" id="{222356CA-75BF-4181-A669-B55CAAD38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600" y="1200150"/>
            <a:ext cx="7334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4D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enario-header-text">
            <a:extLst xmlns:a="http://schemas.openxmlformats.org/drawingml/2006/main">
              <a:ext uri="{FF2B5EF4-FFF2-40B4-BE49-F238E27FC236}">
                <a16:creationId xmlns:a16="http://schemas.microsoft.com/office/drawing/2014/main" id="{2C99E25E-DE07-4B08-87DF-11DDE8650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000" y="1285875"/>
            <a:ext cx="7029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SHARED SCENARIO</a:t>
            </a:r>
          </a:p>
        </p:txBody>
      </p:sp>
      <p:sp>
        <p:nvSpPr>
          <p:cNvPr id="5" name="scenario-frame">
            <a:extLst xmlns:a="http://schemas.openxmlformats.org/drawingml/2006/main">
              <a:ext uri="{FF2B5EF4-FFF2-40B4-BE49-F238E27FC236}">
                <a16:creationId xmlns:a16="http://schemas.microsoft.com/office/drawing/2014/main" id="{36E3F462-7A34-456B-AAE7-E025E60D1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714500"/>
            <a:ext cx="7334250" cy="2524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4B4D4F"/>
            </a:solidFill>
            <a:prstDash val="dash"/>
          </a:ln>
        </p:spPr>
      </p:sp>
      <p:sp>
        <p:nvSpPr>
          <p:cNvPr id="6" name="scenario-a-back2">
            <a:extLst xmlns:a="http://schemas.openxmlformats.org/drawingml/2006/main">
              <a:ext uri="{FF2B5EF4-FFF2-40B4-BE49-F238E27FC236}">
                <a16:creationId xmlns:a16="http://schemas.microsoft.com/office/drawing/2014/main" id="{767DAAF9-4FCE-4905-9967-CB6165D3B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1545" y="2047875"/>
            <a:ext cx="1719263" cy="1067753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EBABC"/>
            </a:solidFill>
            <a:prstDash val="solid"/>
          </a:ln>
        </p:spPr>
      </p:sp>
      <p:sp>
        <p:nvSpPr>
          <p:cNvPr id="7" name="scenario-a-back1">
            <a:extLst xmlns:a="http://schemas.openxmlformats.org/drawingml/2006/main">
              <a:ext uri="{FF2B5EF4-FFF2-40B4-BE49-F238E27FC236}">
                <a16:creationId xmlns:a16="http://schemas.microsoft.com/office/drawing/2014/main" id="{46CD66D7-B14A-409D-994D-C33653A85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2960" y="2147411"/>
            <a:ext cx="1719263" cy="1067753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EBABC"/>
            </a:solidFill>
            <a:prstDash val="solid"/>
          </a:ln>
        </p:spPr>
      </p:sp>
      <p:sp>
        <p:nvSpPr>
          <p:cNvPr id="8" name="scenario-a-front">
            <a:extLst xmlns:a="http://schemas.openxmlformats.org/drawingml/2006/main">
              <a:ext uri="{FF2B5EF4-FFF2-40B4-BE49-F238E27FC236}">
                <a16:creationId xmlns:a16="http://schemas.microsoft.com/office/drawing/2014/main" id="{57BEE416-A56B-4098-8F28-B253C3BFC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4375" y="2255996"/>
            <a:ext cx="1719263" cy="1067753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AEBABC"/>
            </a:solidFill>
            <a:prstDash val="solid"/>
          </a:ln>
        </p:spPr>
      </p:sp>
      <p:sp>
        <p:nvSpPr>
          <p:cNvPr id="9" name="scenario-a-top-stripe-0">
            <a:extLst xmlns:a="http://schemas.openxmlformats.org/drawingml/2006/main">
              <a:ext uri="{FF2B5EF4-FFF2-40B4-BE49-F238E27FC236}">
                <a16:creationId xmlns:a16="http://schemas.microsoft.com/office/drawing/2014/main" id="{7FE50C15-7A4F-4896-8410-3E7E065DA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759619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cenario-a-bottom-stripe-0">
            <a:extLst xmlns:a="http://schemas.openxmlformats.org/drawingml/2006/main">
              <a:ext uri="{FF2B5EF4-FFF2-40B4-BE49-F238E27FC236}">
                <a16:creationId xmlns:a16="http://schemas.microsoft.com/office/drawing/2014/main" id="{EB7EFE45-7792-427C-8083-093145FAE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759619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cenario-a-top-stripe-1">
            <a:extLst xmlns:a="http://schemas.openxmlformats.org/drawingml/2006/main">
              <a:ext uri="{FF2B5EF4-FFF2-40B4-BE49-F238E27FC236}">
                <a16:creationId xmlns:a16="http://schemas.microsoft.com/office/drawing/2014/main" id="{D15A2C2B-6DE6-4A22-8590-2FB0E1C04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922496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cenario-a-bottom-stripe-1">
            <a:extLst xmlns:a="http://schemas.openxmlformats.org/drawingml/2006/main">
              <a:ext uri="{FF2B5EF4-FFF2-40B4-BE49-F238E27FC236}">
                <a16:creationId xmlns:a16="http://schemas.microsoft.com/office/drawing/2014/main" id="{2E9650F5-A66C-464C-BD7A-87EF1BE1D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922496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cenario-a-top-stripe-2">
            <a:extLst xmlns:a="http://schemas.openxmlformats.org/drawingml/2006/main">
              <a:ext uri="{FF2B5EF4-FFF2-40B4-BE49-F238E27FC236}">
                <a16:creationId xmlns:a16="http://schemas.microsoft.com/office/drawing/2014/main" id="{D8E3C7F3-47B1-460B-B62E-C48631CA7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1085374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cenario-a-bottom-stripe-2">
            <a:extLst xmlns:a="http://schemas.openxmlformats.org/drawingml/2006/main">
              <a:ext uri="{FF2B5EF4-FFF2-40B4-BE49-F238E27FC236}">
                <a16:creationId xmlns:a16="http://schemas.microsoft.com/office/drawing/2014/main" id="{7A9F621E-9756-40CA-983A-D817EFCE8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1085374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cenario-a-top-stripe-3">
            <a:extLst xmlns:a="http://schemas.openxmlformats.org/drawingml/2006/main">
              <a:ext uri="{FF2B5EF4-FFF2-40B4-BE49-F238E27FC236}">
                <a16:creationId xmlns:a16="http://schemas.microsoft.com/office/drawing/2014/main" id="{24C10965-1C94-4B39-AD42-99FE17F5C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1248251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cenario-a-bottom-stripe-3">
            <a:extLst xmlns:a="http://schemas.openxmlformats.org/drawingml/2006/main">
              <a:ext uri="{FF2B5EF4-FFF2-40B4-BE49-F238E27FC236}">
                <a16:creationId xmlns:a16="http://schemas.microsoft.com/office/drawing/2014/main" id="{E860BDDB-7FB5-496F-850F-630AEF541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1248251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cenario-a-top-stripe-4">
            <a:extLst xmlns:a="http://schemas.openxmlformats.org/drawingml/2006/main">
              <a:ext uri="{FF2B5EF4-FFF2-40B4-BE49-F238E27FC236}">
                <a16:creationId xmlns:a16="http://schemas.microsoft.com/office/drawing/2014/main" id="{94817220-68E2-4AC1-B81E-4B51F6AF4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1411129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cenario-a-bottom-stripe-4">
            <a:extLst xmlns:a="http://schemas.openxmlformats.org/drawingml/2006/main">
              <a:ext uri="{FF2B5EF4-FFF2-40B4-BE49-F238E27FC236}">
                <a16:creationId xmlns:a16="http://schemas.microsoft.com/office/drawing/2014/main" id="{3DE7B120-B25B-4BEB-897A-092B1824B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1411129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cenario-a-top-stripe-5">
            <a:extLst xmlns:a="http://schemas.openxmlformats.org/drawingml/2006/main">
              <a:ext uri="{FF2B5EF4-FFF2-40B4-BE49-F238E27FC236}">
                <a16:creationId xmlns:a16="http://schemas.microsoft.com/office/drawing/2014/main" id="{75DCF660-9B4B-48CA-825D-87AE86E16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1574006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cenario-a-bottom-stripe-5">
            <a:extLst xmlns:a="http://schemas.openxmlformats.org/drawingml/2006/main">
              <a:ext uri="{FF2B5EF4-FFF2-40B4-BE49-F238E27FC236}">
                <a16:creationId xmlns:a16="http://schemas.microsoft.com/office/drawing/2014/main" id="{3A7A6587-A9EF-4A54-95EF-59FB459F5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1574006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cenario-a-top-stripe-6">
            <a:extLst xmlns:a="http://schemas.openxmlformats.org/drawingml/2006/main">
              <a:ext uri="{FF2B5EF4-FFF2-40B4-BE49-F238E27FC236}">
                <a16:creationId xmlns:a16="http://schemas.microsoft.com/office/drawing/2014/main" id="{24767EE7-97C3-4D3D-9E13-F9D0E7041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1736884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cenario-a-bottom-stripe-6">
            <a:extLst xmlns:a="http://schemas.openxmlformats.org/drawingml/2006/main">
              <a:ext uri="{FF2B5EF4-FFF2-40B4-BE49-F238E27FC236}">
                <a16:creationId xmlns:a16="http://schemas.microsoft.com/office/drawing/2014/main" id="{71503B46-F019-4E40-806F-BA0B03C97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1736884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cenario-a-top-stripe-7">
            <a:extLst xmlns:a="http://schemas.openxmlformats.org/drawingml/2006/main">
              <a:ext uri="{FF2B5EF4-FFF2-40B4-BE49-F238E27FC236}">
                <a16:creationId xmlns:a16="http://schemas.microsoft.com/office/drawing/2014/main" id="{291D6939-8AEA-4AD0-820F-FE9043A70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1899761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scenario-a-bottom-stripe-7">
            <a:extLst xmlns:a="http://schemas.openxmlformats.org/drawingml/2006/main">
              <a:ext uri="{FF2B5EF4-FFF2-40B4-BE49-F238E27FC236}">
                <a16:creationId xmlns:a16="http://schemas.microsoft.com/office/drawing/2014/main" id="{3C438539-41C6-402C-B42B-D5CA2249A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1899761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scenario-a-top-stripe-8">
            <a:extLst xmlns:a="http://schemas.openxmlformats.org/drawingml/2006/main">
              <a:ext uri="{FF2B5EF4-FFF2-40B4-BE49-F238E27FC236}">
                <a16:creationId xmlns:a16="http://schemas.microsoft.com/office/drawing/2014/main" id="{D281A9BD-C402-4999-8B5D-D2A5280DF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2062639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scenario-a-bottom-stripe-8">
            <a:extLst xmlns:a="http://schemas.openxmlformats.org/drawingml/2006/main">
              <a:ext uri="{FF2B5EF4-FFF2-40B4-BE49-F238E27FC236}">
                <a16:creationId xmlns:a16="http://schemas.microsoft.com/office/drawing/2014/main" id="{372832FB-E045-4CFA-92D6-E97C99401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2062639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scenario-a-top-stripe-9">
            <a:extLst xmlns:a="http://schemas.openxmlformats.org/drawingml/2006/main">
              <a:ext uri="{FF2B5EF4-FFF2-40B4-BE49-F238E27FC236}">
                <a16:creationId xmlns:a16="http://schemas.microsoft.com/office/drawing/2014/main" id="{EF40547A-5397-438B-BCA2-1EA20C7C9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2225516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scenario-a-bottom-stripe-9">
            <a:extLst xmlns:a="http://schemas.openxmlformats.org/drawingml/2006/main">
              <a:ext uri="{FF2B5EF4-FFF2-40B4-BE49-F238E27FC236}">
                <a16:creationId xmlns:a16="http://schemas.microsoft.com/office/drawing/2014/main" id="{D9DC5BE5-7E24-4772-8247-86FA4F7F5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2225516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scenario-a-fold-left">
            <a:extLst xmlns:a="http://schemas.openxmlformats.org/drawingml/2006/main">
              <a:ext uri="{FF2B5EF4-FFF2-40B4-BE49-F238E27FC236}">
                <a16:creationId xmlns:a16="http://schemas.microsoft.com/office/drawing/2014/main" id="{5E09362E-2A87-4829-91F6-D84ED24A6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86765" y="2427923"/>
            <a:ext cx="787241" cy="57007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AEBABC"/>
            </a:solidFill>
            <a:prstDash val="solid"/>
          </a:ln>
        </p:spPr>
      </p:sp>
      <p:sp>
        <p:nvSpPr>
          <p:cNvPr id="30" name="scenario-a-fold-right">
            <a:extLst xmlns:a="http://schemas.openxmlformats.org/drawingml/2006/main">
              <a:ext uri="{FF2B5EF4-FFF2-40B4-BE49-F238E27FC236}">
                <a16:creationId xmlns:a16="http://schemas.microsoft.com/office/drawing/2014/main" id="{6B94B1D1-53AC-462A-A990-38AF858E7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1574006" y="2427923"/>
            <a:ext cx="787241" cy="57007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AEBABC"/>
            </a:solidFill>
            <a:prstDash val="solid"/>
          </a:ln>
        </p:spPr>
      </p:sp>
      <p:sp>
        <p:nvSpPr>
          <p:cNvPr id="31" name="scenario-a-badge">
            <a:extLst xmlns:a="http://schemas.openxmlformats.org/drawingml/2006/main">
              <a:ext uri="{FF2B5EF4-FFF2-40B4-BE49-F238E27FC236}">
                <a16:creationId xmlns:a16="http://schemas.microsoft.com/office/drawing/2014/main" id="{16D814C5-416F-4F60-BA94-A25B141ED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2544" y="2545556"/>
            <a:ext cx="542925" cy="542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E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scenario-a-label">
            <a:extLst xmlns:a="http://schemas.openxmlformats.org/drawingml/2006/main">
              <a:ext uri="{FF2B5EF4-FFF2-40B4-BE49-F238E27FC236}">
                <a16:creationId xmlns:a16="http://schemas.microsoft.com/office/drawing/2014/main" id="{47291BDA-8871-4D2D-9343-EC7EF65AD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2544" y="2563654"/>
            <a:ext cx="542925" cy="5067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992" b="1" i="0">
                <a:solidFill>
                  <a:srgbClr val="BD4E4A"/>
                </a:solidFill>
                <a:latin typeface="Arial"/>
                <a:ea typeface="Arial"/>
                <a:cs typeface="Arial"/>
              </a:defRPr>
            </a:pPr>
            <a:r>
              <a:rPr sz="2992" b="1" i="0">
                <a:solidFill>
                  <a:srgbClr val="BD4E4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33" name="scenario-b-back2">
            <a:extLst xmlns:a="http://schemas.openxmlformats.org/drawingml/2006/main">
              <a:ext uri="{FF2B5EF4-FFF2-40B4-BE49-F238E27FC236}">
                <a16:creationId xmlns:a16="http://schemas.microsoft.com/office/drawing/2014/main" id="{181685A9-9432-42A6-B832-A44FD7380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70170" y="2047875"/>
            <a:ext cx="1719263" cy="1067753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EBABC"/>
            </a:solidFill>
            <a:prstDash val="solid"/>
          </a:ln>
        </p:spPr>
      </p:sp>
      <p:sp>
        <p:nvSpPr>
          <p:cNvPr id="34" name="scenario-b-back1">
            <a:extLst xmlns:a="http://schemas.openxmlformats.org/drawingml/2006/main">
              <a:ext uri="{FF2B5EF4-FFF2-40B4-BE49-F238E27FC236}">
                <a16:creationId xmlns:a16="http://schemas.microsoft.com/office/drawing/2014/main" id="{BBA25CA8-BE1C-41E4-B07E-FF670FA20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61585" y="2147411"/>
            <a:ext cx="1719263" cy="1067753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EBABC"/>
            </a:solidFill>
            <a:prstDash val="solid"/>
          </a:ln>
        </p:spPr>
      </p:sp>
      <p:sp>
        <p:nvSpPr>
          <p:cNvPr id="35" name="scenario-b-front">
            <a:extLst xmlns:a="http://schemas.openxmlformats.org/drawingml/2006/main">
              <a:ext uri="{FF2B5EF4-FFF2-40B4-BE49-F238E27FC236}">
                <a16:creationId xmlns:a16="http://schemas.microsoft.com/office/drawing/2014/main" id="{A80A748B-317F-4135-823E-25D6CBF6E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53000" y="2255996"/>
            <a:ext cx="1719263" cy="1067753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AEBABC"/>
            </a:solidFill>
            <a:prstDash val="solid"/>
          </a:ln>
        </p:spPr>
      </p:sp>
      <p:sp>
        <p:nvSpPr>
          <p:cNvPr id="36" name="scenario-b-top-stripe-0">
            <a:extLst xmlns:a="http://schemas.openxmlformats.org/drawingml/2006/main">
              <a:ext uri="{FF2B5EF4-FFF2-40B4-BE49-F238E27FC236}">
                <a16:creationId xmlns:a16="http://schemas.microsoft.com/office/drawing/2014/main" id="{F1B6EC82-0950-43E1-BBCC-46EC0A899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4998244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scenario-b-bottom-stripe-0">
            <a:extLst xmlns:a="http://schemas.openxmlformats.org/drawingml/2006/main">
              <a:ext uri="{FF2B5EF4-FFF2-40B4-BE49-F238E27FC236}">
                <a16:creationId xmlns:a16="http://schemas.microsoft.com/office/drawing/2014/main" id="{673BE8CD-BD32-412D-B81D-7FE626CBE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4998244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scenario-b-top-stripe-1">
            <a:extLst xmlns:a="http://schemas.openxmlformats.org/drawingml/2006/main">
              <a:ext uri="{FF2B5EF4-FFF2-40B4-BE49-F238E27FC236}">
                <a16:creationId xmlns:a16="http://schemas.microsoft.com/office/drawing/2014/main" id="{C893B346-7B2D-4E3C-8992-9F8952E0C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5161121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scenario-b-bottom-stripe-1">
            <a:extLst xmlns:a="http://schemas.openxmlformats.org/drawingml/2006/main">
              <a:ext uri="{FF2B5EF4-FFF2-40B4-BE49-F238E27FC236}">
                <a16:creationId xmlns:a16="http://schemas.microsoft.com/office/drawing/2014/main" id="{EE855E40-1D62-4242-9B34-43BEDA8E0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5161121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scenario-b-top-stripe-2">
            <a:extLst xmlns:a="http://schemas.openxmlformats.org/drawingml/2006/main">
              <a:ext uri="{FF2B5EF4-FFF2-40B4-BE49-F238E27FC236}">
                <a16:creationId xmlns:a16="http://schemas.microsoft.com/office/drawing/2014/main" id="{D2192FA8-149E-415B-8094-D6EA5BC71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5323999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scenario-b-bottom-stripe-2">
            <a:extLst xmlns:a="http://schemas.openxmlformats.org/drawingml/2006/main">
              <a:ext uri="{FF2B5EF4-FFF2-40B4-BE49-F238E27FC236}">
                <a16:creationId xmlns:a16="http://schemas.microsoft.com/office/drawing/2014/main" id="{8E71790C-6B6E-433E-9D74-D6F859BA4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5323999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scenario-b-top-stripe-3">
            <a:extLst xmlns:a="http://schemas.openxmlformats.org/drawingml/2006/main">
              <a:ext uri="{FF2B5EF4-FFF2-40B4-BE49-F238E27FC236}">
                <a16:creationId xmlns:a16="http://schemas.microsoft.com/office/drawing/2014/main" id="{6F9FE9FB-2342-4A6D-9ABC-536672125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5486876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scenario-b-bottom-stripe-3">
            <a:extLst xmlns:a="http://schemas.openxmlformats.org/drawingml/2006/main">
              <a:ext uri="{FF2B5EF4-FFF2-40B4-BE49-F238E27FC236}">
                <a16:creationId xmlns:a16="http://schemas.microsoft.com/office/drawing/2014/main" id="{DE468668-803E-4D45-8131-5EFFCEE1D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5486876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scenario-b-top-stripe-4">
            <a:extLst xmlns:a="http://schemas.openxmlformats.org/drawingml/2006/main">
              <a:ext uri="{FF2B5EF4-FFF2-40B4-BE49-F238E27FC236}">
                <a16:creationId xmlns:a16="http://schemas.microsoft.com/office/drawing/2014/main" id="{16288232-6C77-4910-A387-70D52D89D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5649754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scenario-b-bottom-stripe-4">
            <a:extLst xmlns:a="http://schemas.openxmlformats.org/drawingml/2006/main">
              <a:ext uri="{FF2B5EF4-FFF2-40B4-BE49-F238E27FC236}">
                <a16:creationId xmlns:a16="http://schemas.microsoft.com/office/drawing/2014/main" id="{5C7F45E4-F6AD-4FBD-8F29-41B07CB2E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5649754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scenario-b-top-stripe-5">
            <a:extLst xmlns:a="http://schemas.openxmlformats.org/drawingml/2006/main">
              <a:ext uri="{FF2B5EF4-FFF2-40B4-BE49-F238E27FC236}">
                <a16:creationId xmlns:a16="http://schemas.microsoft.com/office/drawing/2014/main" id="{F60FD48E-C616-440F-906C-98B8C4D5D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5812631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scenario-b-bottom-stripe-5">
            <a:extLst xmlns:a="http://schemas.openxmlformats.org/drawingml/2006/main">
              <a:ext uri="{FF2B5EF4-FFF2-40B4-BE49-F238E27FC236}">
                <a16:creationId xmlns:a16="http://schemas.microsoft.com/office/drawing/2014/main" id="{F51BE180-D224-493B-A857-100EA59B9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5812631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scenario-b-top-stripe-6">
            <a:extLst xmlns:a="http://schemas.openxmlformats.org/drawingml/2006/main">
              <a:ext uri="{FF2B5EF4-FFF2-40B4-BE49-F238E27FC236}">
                <a16:creationId xmlns:a16="http://schemas.microsoft.com/office/drawing/2014/main" id="{2B5270BF-2ECF-4E39-AD7D-D1F0C6DB7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5975509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scenario-b-bottom-stripe-6">
            <a:extLst xmlns:a="http://schemas.openxmlformats.org/drawingml/2006/main">
              <a:ext uri="{FF2B5EF4-FFF2-40B4-BE49-F238E27FC236}">
                <a16:creationId xmlns:a16="http://schemas.microsoft.com/office/drawing/2014/main" id="{1F197266-F36A-4909-9F72-9A63E2A2B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5975509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scenario-b-top-stripe-7">
            <a:extLst xmlns:a="http://schemas.openxmlformats.org/drawingml/2006/main">
              <a:ext uri="{FF2B5EF4-FFF2-40B4-BE49-F238E27FC236}">
                <a16:creationId xmlns:a16="http://schemas.microsoft.com/office/drawing/2014/main" id="{574ACD21-14B6-4463-938D-67ABCD91F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6138386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scenario-b-bottom-stripe-7">
            <a:extLst xmlns:a="http://schemas.openxmlformats.org/drawingml/2006/main">
              <a:ext uri="{FF2B5EF4-FFF2-40B4-BE49-F238E27FC236}">
                <a16:creationId xmlns:a16="http://schemas.microsoft.com/office/drawing/2014/main" id="{B5902E55-9F41-4444-B7DA-2A00817DB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6138386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scenario-b-top-stripe-8">
            <a:extLst xmlns:a="http://schemas.openxmlformats.org/drawingml/2006/main">
              <a:ext uri="{FF2B5EF4-FFF2-40B4-BE49-F238E27FC236}">
                <a16:creationId xmlns:a16="http://schemas.microsoft.com/office/drawing/2014/main" id="{80313C73-476A-4C29-B3A4-D8A35FCDA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6301264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scenario-b-bottom-stripe-8">
            <a:extLst xmlns:a="http://schemas.openxmlformats.org/drawingml/2006/main">
              <a:ext uri="{FF2B5EF4-FFF2-40B4-BE49-F238E27FC236}">
                <a16:creationId xmlns:a16="http://schemas.microsoft.com/office/drawing/2014/main" id="{3B25BF3B-E3B0-40F7-8D70-80CDD9A26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6301264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scenario-b-top-stripe-9">
            <a:extLst xmlns:a="http://schemas.openxmlformats.org/drawingml/2006/main">
              <a:ext uri="{FF2B5EF4-FFF2-40B4-BE49-F238E27FC236}">
                <a16:creationId xmlns:a16="http://schemas.microsoft.com/office/drawing/2014/main" id="{663B629A-80F6-45F1-A35A-77BEB1E83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6464141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scenario-b-bottom-stripe-9">
            <a:extLst xmlns:a="http://schemas.openxmlformats.org/drawingml/2006/main">
              <a:ext uri="{FF2B5EF4-FFF2-40B4-BE49-F238E27FC236}">
                <a16:creationId xmlns:a16="http://schemas.microsoft.com/office/drawing/2014/main" id="{DB9500E1-F949-4992-B83E-066CEA35F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6464141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scenario-b-fold-left">
            <a:extLst xmlns:a="http://schemas.openxmlformats.org/drawingml/2006/main">
              <a:ext uri="{FF2B5EF4-FFF2-40B4-BE49-F238E27FC236}">
                <a16:creationId xmlns:a16="http://schemas.microsoft.com/office/drawing/2014/main" id="{3457A88B-A3A1-4494-A027-9DDC90F72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025390" y="2427923"/>
            <a:ext cx="787241" cy="57007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AEBABC"/>
            </a:solidFill>
            <a:prstDash val="solid"/>
          </a:ln>
        </p:spPr>
      </p:sp>
      <p:sp>
        <p:nvSpPr>
          <p:cNvPr id="57" name="scenario-b-fold-right">
            <a:extLst xmlns:a="http://schemas.openxmlformats.org/drawingml/2006/main">
              <a:ext uri="{FF2B5EF4-FFF2-40B4-BE49-F238E27FC236}">
                <a16:creationId xmlns:a16="http://schemas.microsoft.com/office/drawing/2014/main" id="{B428651B-4FD5-4D9B-8C26-6D3136199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5812631" y="2427923"/>
            <a:ext cx="787241" cy="57007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AEBABC"/>
            </a:solidFill>
            <a:prstDash val="solid"/>
          </a:ln>
        </p:spPr>
      </p:sp>
      <p:sp>
        <p:nvSpPr>
          <p:cNvPr id="58" name="scenario-b-badge">
            <a:extLst xmlns:a="http://schemas.openxmlformats.org/drawingml/2006/main">
              <a:ext uri="{FF2B5EF4-FFF2-40B4-BE49-F238E27FC236}">
                <a16:creationId xmlns:a16="http://schemas.microsoft.com/office/drawing/2014/main" id="{0450B79C-AB39-456E-89FC-68ECED4CA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41169" y="2545556"/>
            <a:ext cx="542925" cy="542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1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scenario-b-label">
            <a:extLst xmlns:a="http://schemas.openxmlformats.org/drawingml/2006/main">
              <a:ext uri="{FF2B5EF4-FFF2-40B4-BE49-F238E27FC236}">
                <a16:creationId xmlns:a16="http://schemas.microsoft.com/office/drawing/2014/main" id="{B25C62F0-F33B-496F-8C8C-ADAA151FD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41169" y="2563654"/>
            <a:ext cx="542925" cy="5067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992" b="1" i="0">
                <a:solidFill>
                  <a:srgbClr val="278681"/>
                </a:solidFill>
                <a:latin typeface="Arial"/>
                <a:ea typeface="Arial"/>
                <a:cs typeface="Arial"/>
              </a:defRPr>
            </a:pPr>
            <a:r>
              <a:rPr sz="2992" b="1" i="0">
                <a:solidFill>
                  <a:srgbClr val="278681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60" name="scenario-refresh-arrow">
            <a:extLst xmlns:a="http://schemas.openxmlformats.org/drawingml/2006/main">
              <a:ext uri="{FF2B5EF4-FFF2-40B4-BE49-F238E27FC236}">
                <a16:creationId xmlns:a16="http://schemas.microsoft.com/office/drawing/2014/main" id="{23A02698-6559-487E-9098-923D27700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33725" y="2647950"/>
            <a:ext cx="1485900" cy="4286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B4D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scenario-refresh">
            <a:extLst xmlns:a="http://schemas.openxmlformats.org/drawingml/2006/main">
              <a:ext uri="{FF2B5EF4-FFF2-40B4-BE49-F238E27FC236}">
                <a16:creationId xmlns:a16="http://schemas.microsoft.com/office/drawing/2014/main" id="{024160ED-B672-44CF-A685-512EE07AD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48025" y="2286000"/>
            <a:ext cx="125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0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REFRESH</a:t>
            </a:r>
          </a:p>
        </p:txBody>
      </p:sp>
      <p:sp>
        <p:nvSpPr>
          <p:cNvPr id="62" name="scenario-a-caption">
            <a:extLst xmlns:a="http://schemas.openxmlformats.org/drawingml/2006/main">
              <a:ext uri="{FF2B5EF4-FFF2-40B4-BE49-F238E27FC236}">
                <a16:creationId xmlns:a16="http://schemas.microsoft.com/office/drawing/2014/main" id="{6190D73B-3130-4F3D-9E48-35D8E5EAB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3629025"/>
            <a:ext cx="2143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Pre-refresh winner</a:t>
            </a:r>
          </a:p>
        </p:txBody>
      </p:sp>
      <p:sp>
        <p:nvSpPr>
          <p:cNvPr id="63" name="scenario-b-caption">
            <a:extLst xmlns:a="http://schemas.openxmlformats.org/drawingml/2006/main">
              <a:ext uri="{FF2B5EF4-FFF2-40B4-BE49-F238E27FC236}">
                <a16:creationId xmlns:a16="http://schemas.microsoft.com/office/drawing/2014/main" id="{562416B9-869E-4676-9B9F-EB626EF1B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38700" y="3629025"/>
            <a:ext cx="2143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Refreshed winner</a:t>
            </a:r>
          </a:p>
        </p:txBody>
      </p:sp>
      <p:sp>
        <p:nvSpPr>
          <p:cNvPr id="64" name="thought-cloud-shadow">
            <a:extLst xmlns:a="http://schemas.openxmlformats.org/drawingml/2006/main">
              <a:ext uri="{FF2B5EF4-FFF2-40B4-BE49-F238E27FC236}">
                <a16:creationId xmlns:a16="http://schemas.microsoft.com/office/drawing/2014/main" id="{48FD983D-89C8-4203-9DBF-ABCAA0FA8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29550" y="981075"/>
            <a:ext cx="7181850" cy="3390900"/>
          </a:xfrm>
          <a:prstGeom xmlns:a="http://schemas.openxmlformats.org/drawingml/2006/main" prst="cloud">
            <a:avLst/>
          </a:prstGeom>
          <a:solidFill xmlns:a="http://schemas.openxmlformats.org/drawingml/2006/main">
            <a:srgbClr val="DFF1F0"/>
          </a:solidFill>
          <a:ln xmlns:a="http://schemas.openxmlformats.org/drawingml/2006/main" w="38100">
            <a:solidFill>
              <a:srgbClr val="DFF1F0"/>
            </a:solidFill>
            <a:prstDash val="solid"/>
          </a:ln>
        </p:spPr>
      </p:sp>
      <p:sp>
        <p:nvSpPr>
          <p:cNvPr id="65" name="thought-cloud">
            <a:extLst xmlns:a="http://schemas.openxmlformats.org/drawingml/2006/main">
              <a:ext uri="{FF2B5EF4-FFF2-40B4-BE49-F238E27FC236}">
                <a16:creationId xmlns:a16="http://schemas.microsoft.com/office/drawing/2014/main" id="{19AAF3F1-25F9-4BE0-9D1E-27B0AB0F2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15250" y="876300"/>
            <a:ext cx="7181850" cy="3390900"/>
          </a:xfrm>
          <a:prstGeom xmlns:a="http://schemas.openxmlformats.org/drawingml/2006/main" prst="clou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7FB4BA"/>
            </a:solidFill>
            <a:prstDash val="solid"/>
          </a:ln>
        </p:spPr>
      </p:sp>
      <p:sp>
        <p:nvSpPr>
          <p:cNvPr id="66" name="memory-box">
            <a:extLst xmlns:a="http://schemas.openxmlformats.org/drawingml/2006/main">
              <a:ext uri="{FF2B5EF4-FFF2-40B4-BE49-F238E27FC236}">
                <a16:creationId xmlns:a16="http://schemas.microsoft.com/office/drawing/2014/main" id="{29D2AD09-3BA8-46FF-9644-EBEF736BA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10700" y="12001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4B4D4F"/>
            </a:solidFill>
            <a:prstDash val="solid"/>
          </a:ln>
        </p:spPr>
      </p:sp>
      <p:sp>
        <p:nvSpPr>
          <p:cNvPr id="67" name="memory-tick-a">
            <a:extLst xmlns:a="http://schemas.openxmlformats.org/drawingml/2006/main">
              <a:ext uri="{FF2B5EF4-FFF2-40B4-BE49-F238E27FC236}">
                <a16:creationId xmlns:a16="http://schemas.microsoft.com/office/drawing/2014/main" id="{02E0B2F7-170F-4F11-AC2E-573097103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477375" y="1371600"/>
            <a:ext cx="76200" cy="85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7EB946"/>
            </a:solidFill>
            <a:prstDash val="solid"/>
          </a:ln>
        </p:spPr>
      </p:sp>
      <p:sp>
        <p:nvSpPr>
          <p:cNvPr id="68" name="memory-tick-b">
            <a:extLst xmlns:a="http://schemas.openxmlformats.org/drawingml/2006/main">
              <a:ext uri="{FF2B5EF4-FFF2-40B4-BE49-F238E27FC236}">
                <a16:creationId xmlns:a16="http://schemas.microsoft.com/office/drawing/2014/main" id="{F8EEEDC2-1076-48AB-BCA2-F55A0EB97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9553575" y="1266825"/>
            <a:ext cx="15240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7EB946"/>
            </a:solidFill>
            <a:prstDash val="solid"/>
          </a:ln>
        </p:spPr>
      </p:sp>
      <p:sp>
        <p:nvSpPr>
          <p:cNvPr id="69" name="memory-title">
            <a:extLst xmlns:a="http://schemas.openxmlformats.org/drawingml/2006/main">
              <a:ext uri="{FF2B5EF4-FFF2-40B4-BE49-F238E27FC236}">
                <a16:creationId xmlns:a16="http://schemas.microsoft.com/office/drawing/2014/main" id="{02FDC1F5-C8E8-4AFE-8FEF-0F0D17152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48850" y="11525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MEMORY PRESERVED</a:t>
            </a:r>
          </a:p>
        </p:txBody>
      </p:sp>
      <p:sp>
        <p:nvSpPr>
          <p:cNvPr id="70" name="memory-values">
            <a:extLst xmlns:a="http://schemas.openxmlformats.org/drawingml/2006/main">
              <a:ext uri="{FF2B5EF4-FFF2-40B4-BE49-F238E27FC236}">
                <a16:creationId xmlns:a16="http://schemas.microsoft.com/office/drawing/2014/main" id="{71E7D74C-0378-46C3-91C9-7D63802AF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48850" y="1457325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69787E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69787E"/>
                </a:solidFill>
                <a:latin typeface="Arial"/>
                <a:ea typeface="Arial"/>
                <a:cs typeface="Arial"/>
              </a:rPr>
              <a:t>A before refresh   ·   B after refresh</a:t>
            </a:r>
          </a:p>
        </p:txBody>
      </p:sp>
      <p:sp>
        <p:nvSpPr>
          <p:cNvPr id="71" name="preserve-index">
            <a:extLst xmlns:a="http://schemas.openxmlformats.org/drawingml/2006/main">
              <a:ext uri="{FF2B5EF4-FFF2-40B4-BE49-F238E27FC236}">
                <a16:creationId xmlns:a16="http://schemas.microsoft.com/office/drawing/2014/main" id="{006C0125-DBBC-42CB-94B8-5146AF63E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39150" y="1866900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69787E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69787E"/>
                </a:solidFill>
                <a:latin typeface="Arial"/>
                <a:ea typeface="Arial"/>
                <a:cs typeface="Arial"/>
              </a:rPr>
              <a:t>#1</a:t>
            </a:r>
          </a:p>
        </p:txBody>
      </p:sp>
      <p:sp>
        <p:nvSpPr>
          <p:cNvPr id="72" name="preserve-it">
            <a:extLst xmlns:a="http://schemas.openxmlformats.org/drawingml/2006/main">
              <a:ext uri="{FF2B5EF4-FFF2-40B4-BE49-F238E27FC236}">
                <a16:creationId xmlns:a16="http://schemas.microsoft.com/office/drawing/2014/main" id="{D7F1373C-3338-4DAF-86BF-B1D08402D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82050" y="22764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7F5"/>
          </a:solidFill>
          <a:ln xmlns:a="http://schemas.openxmlformats.org/drawingml/2006/main" w="23813">
            <a:solidFill>
              <a:srgbClr val="BD4E4A"/>
            </a:solidFill>
            <a:prstDash val="solid"/>
          </a:ln>
        </p:spPr>
      </p:sp>
      <p:sp>
        <p:nvSpPr>
          <p:cNvPr id="73" name="preserve-it-label">
            <a:extLst xmlns:a="http://schemas.openxmlformats.org/drawingml/2006/main">
              <a:ext uri="{FF2B5EF4-FFF2-40B4-BE49-F238E27FC236}">
                <a16:creationId xmlns:a16="http://schemas.microsoft.com/office/drawing/2014/main" id="{5EC31E59-B0B6-4987-8415-D986A5301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82050" y="2286000"/>
            <a:ext cx="514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it</a:t>
            </a:r>
          </a:p>
        </p:txBody>
      </p:sp>
      <p:sp>
        <p:nvSpPr>
          <p:cNvPr id="74" name="preserve-path-a">
            <a:extLst xmlns:a="http://schemas.openxmlformats.org/drawingml/2006/main">
              <a:ext uri="{FF2B5EF4-FFF2-40B4-BE49-F238E27FC236}">
                <a16:creationId xmlns:a16="http://schemas.microsoft.com/office/drawing/2014/main" id="{0E4F2C34-1328-4FE9-8CA5-71EC33993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72600" y="2419350"/>
            <a:ext cx="704850" cy="2190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FB4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preserve-lock-shackle">
            <a:extLst xmlns:a="http://schemas.openxmlformats.org/drawingml/2006/main">
              <a:ext uri="{FF2B5EF4-FFF2-40B4-BE49-F238E27FC236}">
                <a16:creationId xmlns:a16="http://schemas.microsoft.com/office/drawing/2014/main" id="{AD1C256F-77F2-445F-8FE3-55C2C73EC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31755" y="2238375"/>
            <a:ext cx="308610" cy="291465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34290">
            <a:solidFill>
              <a:srgbClr val="BD4E4A"/>
            </a:solidFill>
            <a:prstDash val="solid"/>
          </a:ln>
        </p:spPr>
      </p:sp>
      <p:sp>
        <p:nvSpPr>
          <p:cNvPr id="76" name="preserve-lock-body">
            <a:extLst xmlns:a="http://schemas.openxmlformats.org/drawingml/2006/main">
              <a:ext uri="{FF2B5EF4-FFF2-40B4-BE49-F238E27FC236}">
                <a16:creationId xmlns:a16="http://schemas.microsoft.com/office/drawing/2014/main" id="{985AE9F1-3C25-4EFF-B964-E3B961585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88893" y="2426970"/>
            <a:ext cx="394335" cy="291465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BD4E4A"/>
          </a:solidFill>
          <a:ln xmlns:a="http://schemas.openxmlformats.org/drawingml/2006/main" w="9525">
            <a:solidFill>
              <a:srgbClr val="BD4E4A"/>
            </a:solidFill>
            <a:prstDash val="solid"/>
          </a:ln>
        </p:spPr>
      </p:sp>
      <p:sp>
        <p:nvSpPr>
          <p:cNvPr id="77" name="preserve-lock-hole">
            <a:extLst xmlns:a="http://schemas.openxmlformats.org/drawingml/2006/main">
              <a:ext uri="{FF2B5EF4-FFF2-40B4-BE49-F238E27FC236}">
                <a16:creationId xmlns:a16="http://schemas.microsoft.com/office/drawing/2014/main" id="{F19AEF83-7702-41C7-98AD-F21E83294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43198" y="2504123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preserve-lock-stem">
            <a:extLst xmlns:a="http://schemas.openxmlformats.org/drawingml/2006/main">
              <a:ext uri="{FF2B5EF4-FFF2-40B4-BE49-F238E27FC236}">
                <a16:creationId xmlns:a16="http://schemas.microsoft.com/office/drawing/2014/main" id="{55295892-A786-4116-B8F6-25F00918D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68915" y="2564130"/>
            <a:ext cx="3429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preserve-path-b">
            <a:extLst xmlns:a="http://schemas.openxmlformats.org/drawingml/2006/main">
              <a:ext uri="{FF2B5EF4-FFF2-40B4-BE49-F238E27FC236}">
                <a16:creationId xmlns:a16="http://schemas.microsoft.com/office/drawing/2014/main" id="{F6FFFF72-FE8F-40BC-8908-C3620AC94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77525" y="2419350"/>
            <a:ext cx="514350" cy="2190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FB4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preserve-target">
            <a:extLst xmlns:a="http://schemas.openxmlformats.org/drawingml/2006/main">
              <a:ext uri="{FF2B5EF4-FFF2-40B4-BE49-F238E27FC236}">
                <a16:creationId xmlns:a16="http://schemas.microsoft.com/office/drawing/2014/main" id="{E04AE0F8-5C44-42BC-865D-B96A45E3E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01350" y="2257425"/>
            <a:ext cx="523875" cy="523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E8E4"/>
          </a:solidFill>
          <a:ln xmlns:a="http://schemas.openxmlformats.org/drawingml/2006/main" w="23813">
            <a:solidFill>
              <a:srgbClr val="BD4E4A"/>
            </a:solidFill>
            <a:prstDash val="solid"/>
          </a:ln>
        </p:spPr>
      </p:sp>
      <p:sp>
        <p:nvSpPr>
          <p:cNvPr id="81" name="preserve-target-label">
            <a:extLst xmlns:a="http://schemas.openxmlformats.org/drawingml/2006/main">
              <a:ext uri="{FF2B5EF4-FFF2-40B4-BE49-F238E27FC236}">
                <a16:creationId xmlns:a16="http://schemas.microsoft.com/office/drawing/2014/main" id="{C2980536-3EE1-4DA3-AC31-CE30F8022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01350" y="2276475"/>
            <a:ext cx="52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BD4E4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BD4E4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82" name="preserve-mode">
            <a:extLst xmlns:a="http://schemas.openxmlformats.org/drawingml/2006/main">
              <a:ext uri="{FF2B5EF4-FFF2-40B4-BE49-F238E27FC236}">
                <a16:creationId xmlns:a16="http://schemas.microsoft.com/office/drawing/2014/main" id="{6DA153EE-DDA9-448C-9083-A0FB7D8B5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77225" y="2838450"/>
            <a:ext cx="2905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4203"/>
          </a:bodyPr>
          <a:lstStyle xmlns:a="http://schemas.openxmlformats.org/drawingml/2006/main"/>
          <a:p xmlns:a="http://schemas.openxmlformats.org/drawingml/2006/main">
            <a:pPr algn="ctr">
              <a:defRPr sz="1725" b="1" i="1">
                <a:solidFill>
                  <a:srgbClr val="BD4E4A"/>
                </a:solidFill>
                <a:latin typeface="Arial"/>
                <a:ea typeface="Arial"/>
                <a:cs typeface="Arial"/>
              </a:defRPr>
            </a:pPr>
            <a:r>
              <a:rPr sz="1725" b="1" i="1">
                <a:solidFill>
                  <a:srgbClr val="BD4E4A"/>
                </a:solidFill>
                <a:latin typeface="Arial"/>
                <a:ea typeface="Arial"/>
                <a:cs typeface="Arial"/>
              </a:rPr>
              <a:t>BOUND BEFORE</a:t>
            </a:r>
          </a:p>
          <a:p xmlns:a="http://schemas.openxmlformats.org/drawingml/2006/main">
            <a:pPr algn="ctr">
              <a:defRPr sz="1725" b="1" i="1">
                <a:solidFill>
                  <a:srgbClr val="BD4E4A"/>
                </a:solidFill>
                <a:latin typeface="Arial"/>
                <a:ea typeface="Arial"/>
                <a:cs typeface="Arial"/>
              </a:defRPr>
            </a:pPr>
            <a:r>
              <a:rPr sz="1725" b="1" i="1">
                <a:solidFill>
                  <a:srgbClr val="BD4E4A"/>
                </a:solidFill>
                <a:latin typeface="Arial"/>
                <a:ea typeface="Arial"/>
                <a:cs typeface="Arial"/>
              </a:rPr>
              <a:t>REFRESH</a:t>
            </a:r>
          </a:p>
        </p:txBody>
      </p:sp>
      <p:sp>
        <p:nvSpPr>
          <p:cNvPr id="83" name="preserve-desc">
            <a:extLst xmlns:a="http://schemas.openxmlformats.org/drawingml/2006/main">
              <a:ext uri="{FF2B5EF4-FFF2-40B4-BE49-F238E27FC236}">
                <a16:creationId xmlns:a16="http://schemas.microsoft.com/office/drawing/2014/main" id="{1E77F5FC-78A7-4074-A962-F7875B150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05800" y="33337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826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278681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278681"/>
                </a:solidFill>
                <a:latin typeface="Arial"/>
                <a:ea typeface="Arial"/>
                <a:cs typeface="Arial"/>
              </a:rPr>
              <a:t>target already committed</a:t>
            </a:r>
          </a:p>
        </p:txBody>
      </p:sp>
      <p:sp>
        <p:nvSpPr>
          <p:cNvPr id="84" name="reevaluate-index">
            <a:extLst xmlns:a="http://schemas.openxmlformats.org/drawingml/2006/main">
              <a:ext uri="{FF2B5EF4-FFF2-40B4-BE49-F238E27FC236}">
                <a16:creationId xmlns:a16="http://schemas.microsoft.com/office/drawing/2014/main" id="{CEDBF6F5-5D4F-403B-8D35-478224C51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34775" y="1866900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69787E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69787E"/>
                </a:solidFill>
                <a:latin typeface="Arial"/>
                <a:ea typeface="Arial"/>
                <a:cs typeface="Arial"/>
              </a:rPr>
              <a:t>#2</a:t>
            </a:r>
          </a:p>
        </p:txBody>
      </p:sp>
      <p:sp>
        <p:nvSpPr>
          <p:cNvPr id="85" name="reevaluate-it">
            <a:extLst xmlns:a="http://schemas.openxmlformats.org/drawingml/2006/main">
              <a:ext uri="{FF2B5EF4-FFF2-40B4-BE49-F238E27FC236}">
                <a16:creationId xmlns:a16="http://schemas.microsoft.com/office/drawing/2014/main" id="{DD664559-307C-4960-9376-60A041AB1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20525" y="22764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FAF9"/>
          </a:solidFill>
          <a:ln xmlns:a="http://schemas.openxmlformats.org/drawingml/2006/main" w="23813">
            <a:solidFill>
              <a:srgbClr val="278681"/>
            </a:solidFill>
            <a:prstDash val="solid"/>
          </a:ln>
        </p:spPr>
      </p:sp>
      <p:sp>
        <p:nvSpPr>
          <p:cNvPr id="86" name="reevaluate-it-label">
            <a:extLst xmlns:a="http://schemas.openxmlformats.org/drawingml/2006/main">
              <a:ext uri="{FF2B5EF4-FFF2-40B4-BE49-F238E27FC236}">
                <a16:creationId xmlns:a16="http://schemas.microsoft.com/office/drawing/2014/main" id="{79818E95-4C92-4E81-AFEC-FCB60C124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20525" y="2286000"/>
            <a:ext cx="514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it</a:t>
            </a:r>
          </a:p>
        </p:txBody>
      </p:sp>
      <p:sp>
        <p:nvSpPr>
          <p:cNvPr id="87" name="reevaluate-path-a">
            <a:extLst xmlns:a="http://schemas.openxmlformats.org/drawingml/2006/main">
              <a:ext uri="{FF2B5EF4-FFF2-40B4-BE49-F238E27FC236}">
                <a16:creationId xmlns:a16="http://schemas.microsoft.com/office/drawing/2014/main" id="{F2B23203-4197-4976-AF82-6750EBDB4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11075" y="2419350"/>
            <a:ext cx="628650" cy="2190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FB4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reevaluate-hourglass-top">
            <a:extLst xmlns:a="http://schemas.openxmlformats.org/drawingml/2006/main">
              <a:ext uri="{FF2B5EF4-FFF2-40B4-BE49-F238E27FC236}">
                <a16:creationId xmlns:a16="http://schemas.microsoft.com/office/drawing/2014/main" id="{B7CC7969-D986-444A-A807-4EAC49452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096875" y="2265045"/>
            <a:ext cx="4114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4290">
            <a:solidFill>
              <a:srgbClr val="278681"/>
            </a:solidFill>
            <a:prstDash val="solid"/>
          </a:ln>
        </p:spPr>
      </p:sp>
      <p:sp>
        <p:nvSpPr>
          <p:cNvPr id="89" name="reevaluate-hourglass-bottom">
            <a:extLst xmlns:a="http://schemas.openxmlformats.org/drawingml/2006/main">
              <a:ext uri="{FF2B5EF4-FFF2-40B4-BE49-F238E27FC236}">
                <a16:creationId xmlns:a16="http://schemas.microsoft.com/office/drawing/2014/main" id="{3A69A710-3F39-490C-9284-91BCACFA2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096875" y="2710815"/>
            <a:ext cx="4114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4290">
            <a:solidFill>
              <a:srgbClr val="278681"/>
            </a:solidFill>
            <a:prstDash val="solid"/>
          </a:ln>
        </p:spPr>
      </p:sp>
      <p:sp>
        <p:nvSpPr>
          <p:cNvPr id="90" name="reevaluate-hourglass-cross-a">
            <a:extLst xmlns:a="http://schemas.openxmlformats.org/drawingml/2006/main">
              <a:ext uri="{FF2B5EF4-FFF2-40B4-BE49-F238E27FC236}">
                <a16:creationId xmlns:a16="http://schemas.microsoft.com/office/drawing/2014/main" id="{C9BEB3DD-75A7-465F-9088-07CF4D0F1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156883" y="2316480"/>
            <a:ext cx="291465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004">
            <a:solidFill>
              <a:srgbClr val="278681"/>
            </a:solidFill>
            <a:prstDash val="solid"/>
          </a:ln>
        </p:spPr>
      </p:sp>
      <p:sp>
        <p:nvSpPr>
          <p:cNvPr id="91" name="reevaluate-hourglass-cross-b">
            <a:extLst xmlns:a="http://schemas.openxmlformats.org/drawingml/2006/main">
              <a:ext uri="{FF2B5EF4-FFF2-40B4-BE49-F238E27FC236}">
                <a16:creationId xmlns:a16="http://schemas.microsoft.com/office/drawing/2014/main" id="{E20AA39F-24D5-4E49-81D8-68395B2FF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13156883" y="2316480"/>
            <a:ext cx="291465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004">
            <a:solidFill>
              <a:srgbClr val="278681"/>
            </a:solidFill>
            <a:prstDash val="solid"/>
          </a:ln>
        </p:spPr>
      </p:sp>
      <p:sp>
        <p:nvSpPr>
          <p:cNvPr id="92" name="reevaluate-hourglass-sand-top">
            <a:extLst xmlns:a="http://schemas.openxmlformats.org/drawingml/2006/main">
              <a:ext uri="{FF2B5EF4-FFF2-40B4-BE49-F238E27FC236}">
                <a16:creationId xmlns:a16="http://schemas.microsoft.com/office/drawing/2014/main" id="{30536C6E-B24F-4BF8-B53B-80857281F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16890" y="2342198"/>
            <a:ext cx="171450" cy="145733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786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reevaluate-hourglass-sand-bottom">
            <a:extLst xmlns:a="http://schemas.openxmlformats.org/drawingml/2006/main">
              <a:ext uri="{FF2B5EF4-FFF2-40B4-BE49-F238E27FC236}">
                <a16:creationId xmlns:a16="http://schemas.microsoft.com/office/drawing/2014/main" id="{AE6E7B32-C355-4944-B2C3-B6E46773E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3216890" y="2513648"/>
            <a:ext cx="171450" cy="145733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786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reevaluate-path-b">
            <a:extLst xmlns:a="http://schemas.openxmlformats.org/drawingml/2006/main">
              <a:ext uri="{FF2B5EF4-FFF2-40B4-BE49-F238E27FC236}">
                <a16:creationId xmlns:a16="http://schemas.microsoft.com/office/drawing/2014/main" id="{7706D7D9-95C4-47DE-977F-1D6C37F43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92175" y="2419350"/>
            <a:ext cx="457200" cy="2190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FB4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reevaluate-target">
            <a:extLst xmlns:a="http://schemas.openxmlformats.org/drawingml/2006/main">
              <a:ext uri="{FF2B5EF4-FFF2-40B4-BE49-F238E27FC236}">
                <a16:creationId xmlns:a16="http://schemas.microsoft.com/office/drawing/2014/main" id="{ECEBCA93-BAA5-459D-B9A1-0D1F252D6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16050" y="2257425"/>
            <a:ext cx="523875" cy="523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1F0"/>
          </a:solidFill>
          <a:ln xmlns:a="http://schemas.openxmlformats.org/drawingml/2006/main" w="23813">
            <a:solidFill>
              <a:srgbClr val="278681"/>
            </a:solidFill>
            <a:prstDash val="solid"/>
          </a:ln>
        </p:spPr>
      </p:sp>
      <p:sp>
        <p:nvSpPr>
          <p:cNvPr id="96" name="reevaluate-target-label">
            <a:extLst xmlns:a="http://schemas.openxmlformats.org/drawingml/2006/main">
              <a:ext uri="{FF2B5EF4-FFF2-40B4-BE49-F238E27FC236}">
                <a16:creationId xmlns:a16="http://schemas.microsoft.com/office/drawing/2014/main" id="{BABC3F9D-3D7F-4CB8-BB77-C4F4D309B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16050" y="2276475"/>
            <a:ext cx="52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278681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278681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97" name="reevaluate-mode">
            <a:extLst xmlns:a="http://schemas.openxmlformats.org/drawingml/2006/main">
              <a:ext uri="{FF2B5EF4-FFF2-40B4-BE49-F238E27FC236}">
                <a16:creationId xmlns:a16="http://schemas.microsoft.com/office/drawing/2014/main" id="{9A8ED7D2-0B2B-4F80-AEB1-69F8369FA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06200" y="283845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4203"/>
          </a:bodyPr>
          <a:lstStyle xmlns:a="http://schemas.openxmlformats.org/drawingml/2006/main"/>
          <a:p xmlns:a="http://schemas.openxmlformats.org/drawingml/2006/main">
            <a:pPr algn="ctr">
              <a:defRPr sz="1725" b="1" i="1">
                <a:solidFill>
                  <a:srgbClr val="BD4E4A"/>
                </a:solidFill>
                <a:latin typeface="Arial"/>
                <a:ea typeface="Arial"/>
                <a:cs typeface="Arial"/>
              </a:defRPr>
            </a:pPr>
            <a:r>
              <a:rPr sz="1725" b="1" i="1">
                <a:solidFill>
                  <a:srgbClr val="BD4E4A"/>
                </a:solidFill>
                <a:latin typeface="Arial"/>
                <a:ea typeface="Arial"/>
                <a:cs typeface="Arial"/>
              </a:rPr>
              <a:t>DEFERRED UNTIL</a:t>
            </a:r>
          </a:p>
          <a:p xmlns:a="http://schemas.openxmlformats.org/drawingml/2006/main">
            <a:pPr algn="ctr">
              <a:defRPr sz="1725" b="1" i="1">
                <a:solidFill>
                  <a:srgbClr val="BD4E4A"/>
                </a:solidFill>
                <a:latin typeface="Arial"/>
                <a:ea typeface="Arial"/>
                <a:cs typeface="Arial"/>
              </a:defRPr>
            </a:pPr>
            <a:r>
              <a:rPr sz="1725" b="1" i="1">
                <a:solidFill>
                  <a:srgbClr val="BD4E4A"/>
                </a:solidFill>
                <a:latin typeface="Arial"/>
                <a:ea typeface="Arial"/>
                <a:cs typeface="Arial"/>
              </a:rPr>
              <a:t>AFTER REFRESH</a:t>
            </a:r>
          </a:p>
        </p:txBody>
      </p:sp>
      <p:sp>
        <p:nvSpPr>
          <p:cNvPr id="98" name="reevaluate-desc">
            <a:extLst xmlns:a="http://schemas.openxmlformats.org/drawingml/2006/main">
              <a:ext uri="{FF2B5EF4-FFF2-40B4-BE49-F238E27FC236}">
                <a16:creationId xmlns:a16="http://schemas.microsoft.com/office/drawing/2014/main" id="{79FA7D34-AE41-45A3-954C-DA3EB31B2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34775" y="3333750"/>
            <a:ext cx="3086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826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278681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278681"/>
                </a:solidFill>
                <a:latin typeface="Arial"/>
                <a:ea typeface="Arial"/>
                <a:cs typeface="Arial"/>
              </a:rPr>
              <a:t>target selected after refresh</a:t>
            </a:r>
          </a:p>
        </p:txBody>
      </p:sp>
      <p:sp>
        <p:nvSpPr>
          <p:cNvPr id="99" name="cloud-takeaway">
            <a:extLst xmlns:a="http://schemas.openxmlformats.org/drawingml/2006/main">
              <a:ext uri="{FF2B5EF4-FFF2-40B4-BE49-F238E27FC236}">
                <a16:creationId xmlns:a16="http://schemas.microsoft.com/office/drawing/2014/main" id="{0A199066-2E2F-4318-BA75-3E9AF077C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91550" y="4143375"/>
            <a:ext cx="449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1">
                <a:solidFill>
                  <a:srgbClr val="278681"/>
                </a:solidFill>
                <a:latin typeface="Arial"/>
                <a:ea typeface="Arial"/>
                <a:cs typeface="Arial"/>
              </a:defRPr>
            </a:pPr>
            <a:r>
              <a:rPr sz="1725" b="1" i="1">
                <a:solidFill>
                  <a:srgbClr val="278681"/>
                </a:solidFill>
                <a:latin typeface="Arial"/>
                <a:ea typeface="Arial"/>
                <a:cs typeface="Arial"/>
              </a:rPr>
              <a:t>Same refresh · opposite correct targets</a:t>
            </a:r>
          </a:p>
        </p:txBody>
      </p:sp>
      <p:sp>
        <p:nvSpPr>
          <p:cNvPr id="100" name="bottom-rule">
            <a:extLst xmlns:a="http://schemas.openxmlformats.org/drawingml/2006/main">
              <a:ext uri="{FF2B5EF4-FFF2-40B4-BE49-F238E27FC236}">
                <a16:creationId xmlns:a16="http://schemas.microsoft.com/office/drawing/2014/main" id="{1ECCDFAE-28BD-41B7-8CAD-25F10B0B0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28600" y="4629150"/>
            <a:ext cx="1478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4B4D4F"/>
            </a:solidFill>
            <a:prstDash val="solid"/>
          </a:ln>
        </p:spPr>
      </p:sp>
      <p:sp>
        <p:nvSpPr>
          <p:cNvPr id="101" name="header-instructions">
            <a:extLst xmlns:a="http://schemas.openxmlformats.org/drawingml/2006/main">
              <a:ext uri="{FF2B5EF4-FFF2-40B4-BE49-F238E27FC236}">
                <a16:creationId xmlns:a16="http://schemas.microsoft.com/office/drawing/2014/main" id="{21804059-F411-4794-9C3C-67D931525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5375" y="4686300"/>
            <a:ext cx="6334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INSTRUCTIONS</a:t>
            </a:r>
          </a:p>
        </p:txBody>
      </p:sp>
      <p:sp>
        <p:nvSpPr>
          <p:cNvPr id="102" name="header-target">
            <a:extLst xmlns:a="http://schemas.openxmlformats.org/drawingml/2006/main">
              <a:ext uri="{FF2B5EF4-FFF2-40B4-BE49-F238E27FC236}">
                <a16:creationId xmlns:a16="http://schemas.microsoft.com/office/drawing/2014/main" id="{D844C526-7B2B-439D-8B00-5E2FF7056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24800" y="46863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CORRECT TARGET</a:t>
            </a:r>
          </a:p>
        </p:txBody>
      </p:sp>
      <p:sp>
        <p:nvSpPr>
          <p:cNvPr id="103" name="header-failure">
            <a:extLst xmlns:a="http://schemas.openxmlformats.org/drawingml/2006/main">
              <a:ext uri="{FF2B5EF4-FFF2-40B4-BE49-F238E27FC236}">
                <a16:creationId xmlns:a16="http://schemas.microsoft.com/office/drawing/2014/main" id="{3BFFBEAC-B4BC-43EE-8556-C86C94D8B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49100" y="46863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FAILURE EXPOSED</a:t>
            </a:r>
          </a:p>
        </p:txBody>
      </p:sp>
      <p:sp>
        <p:nvSpPr>
          <p:cNvPr id="104" name="header-underline">
            <a:extLst xmlns:a="http://schemas.openxmlformats.org/drawingml/2006/main">
              <a:ext uri="{FF2B5EF4-FFF2-40B4-BE49-F238E27FC236}">
                <a16:creationId xmlns:a16="http://schemas.microsoft.com/office/drawing/2014/main" id="{09347E2B-FA72-4D3C-A5B5-0A5664F47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28600" y="5124450"/>
            <a:ext cx="1478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EBABC"/>
            </a:solidFill>
            <a:prstDash val="solid"/>
          </a:ln>
        </p:spPr>
      </p:sp>
      <p:sp>
        <p:nvSpPr>
          <p:cNvPr id="105" name="bottom-col-target">
            <a:extLst xmlns:a="http://schemas.openxmlformats.org/drawingml/2006/main">
              <a:ext uri="{FF2B5EF4-FFF2-40B4-BE49-F238E27FC236}">
                <a16:creationId xmlns:a16="http://schemas.microsoft.com/office/drawing/2014/main" id="{DA4542CA-9736-4D01-9A87-28741DEFB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762875" y="4629150"/>
            <a:ext cx="0" cy="2400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AEBABC"/>
            </a:solidFill>
            <a:prstDash val="solid"/>
          </a:ln>
        </p:spPr>
      </p:sp>
      <p:sp>
        <p:nvSpPr>
          <p:cNvPr id="106" name="bottom-col-failure">
            <a:extLst xmlns:a="http://schemas.openxmlformats.org/drawingml/2006/main">
              <a:ext uri="{FF2B5EF4-FFF2-40B4-BE49-F238E27FC236}">
                <a16:creationId xmlns:a16="http://schemas.microsoft.com/office/drawing/2014/main" id="{750AEF3C-9571-41BE-8AA2-AE8825137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544300" y="4629150"/>
            <a:ext cx="0" cy="2400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AEBABC"/>
            </a:solidFill>
            <a:prstDash val="solid"/>
          </a:ln>
        </p:spPr>
      </p:sp>
      <p:sp>
        <p:nvSpPr>
          <p:cNvPr id="107" name="instruction-row-1">
            <a:extLst xmlns:a="http://schemas.openxmlformats.org/drawingml/2006/main">
              <a:ext uri="{FF2B5EF4-FFF2-40B4-BE49-F238E27FC236}">
                <a16:creationId xmlns:a16="http://schemas.microsoft.com/office/drawing/2014/main" id="{3090C709-1F95-43FD-8D26-5E269744F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600" y="5181600"/>
            <a:ext cx="113157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instruction-row-2">
            <a:extLst xmlns:a="http://schemas.openxmlformats.org/drawingml/2006/main">
              <a:ext uri="{FF2B5EF4-FFF2-40B4-BE49-F238E27FC236}">
                <a16:creationId xmlns:a16="http://schemas.microsoft.com/office/drawing/2014/main" id="{A1EE19E6-B228-4137-9B48-B4649173A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600" y="6124575"/>
            <a:ext cx="113157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instruction-row-1-accent">
            <a:extLst xmlns:a="http://schemas.openxmlformats.org/drawingml/2006/main">
              <a:ext uri="{FF2B5EF4-FFF2-40B4-BE49-F238E27FC236}">
                <a16:creationId xmlns:a16="http://schemas.microsoft.com/office/drawing/2014/main" id="{17773395-50AD-4451-9D73-8A5772989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600" y="5181600"/>
            <a:ext cx="66675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instruction-row-2-accent">
            <a:extLst xmlns:a="http://schemas.openxmlformats.org/drawingml/2006/main">
              <a:ext uri="{FF2B5EF4-FFF2-40B4-BE49-F238E27FC236}">
                <a16:creationId xmlns:a16="http://schemas.microsoft.com/office/drawing/2014/main" id="{0AA94F85-AAE0-4B27-8E6B-D59813740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600" y="6124575"/>
            <a:ext cx="66675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86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row-1-index">
            <a:extLst xmlns:a="http://schemas.openxmlformats.org/drawingml/2006/main">
              <a:ext uri="{FF2B5EF4-FFF2-40B4-BE49-F238E27FC236}">
                <a16:creationId xmlns:a16="http://schemas.microsoft.com/office/drawing/2014/main" id="{565AC40A-C73A-4F8B-AC16-EEC66B52E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4325" y="5343525"/>
            <a:ext cx="590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#1</a:t>
            </a:r>
          </a:p>
        </p:txBody>
      </p:sp>
      <p:sp>
        <p:nvSpPr>
          <p:cNvPr id="112" name="row-1-text">
            <a:extLst xmlns:a="http://schemas.openxmlformats.org/drawingml/2006/main">
              <a:ext uri="{FF2B5EF4-FFF2-40B4-BE49-F238E27FC236}">
                <a16:creationId xmlns:a16="http://schemas.microsoft.com/office/drawing/2014/main" id="{0349DBF9-BC94-4DDB-8A24-89F00FC1E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125" y="5276850"/>
            <a:ext cx="657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Choose the highest-priority unread email now.</a:t>
            </a:r>
          </a:p>
          <a:p xmlns:a="http://schemas.openxmlformats.org/drawingml/2006/main">
            <a:pPr algn="l">
              <a:defRPr sz="1875" b="0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Refresh the mailbox, then reply to it.</a:t>
            </a:r>
          </a:p>
        </p:txBody>
      </p:sp>
      <p:sp>
        <p:nvSpPr>
          <p:cNvPr id="113" name="row-1-target">
            <a:extLst xmlns:a="http://schemas.openxmlformats.org/drawingml/2006/main">
              <a:ext uri="{FF2B5EF4-FFF2-40B4-BE49-F238E27FC236}">
                <a16:creationId xmlns:a16="http://schemas.microsoft.com/office/drawing/2014/main" id="{D9588350-957B-495E-A9D2-6C61DA265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58150" y="5391150"/>
            <a:ext cx="3162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BD4E4A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BD4E4A"/>
                </a:solidFill>
                <a:latin typeface="Arial"/>
                <a:ea typeface="Arial"/>
                <a:cs typeface="Arial"/>
              </a:rPr>
              <a:t>Email A</a:t>
            </a:r>
          </a:p>
        </p:txBody>
      </p:sp>
      <p:sp>
        <p:nvSpPr>
          <p:cNvPr id="114" name="row-2-index">
            <a:extLst xmlns:a="http://schemas.openxmlformats.org/drawingml/2006/main">
              <a:ext uri="{FF2B5EF4-FFF2-40B4-BE49-F238E27FC236}">
                <a16:creationId xmlns:a16="http://schemas.microsoft.com/office/drawing/2014/main" id="{EE9B6051-8C11-488D-8EA0-945CD3996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4325" y="6286500"/>
            <a:ext cx="590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#2</a:t>
            </a:r>
          </a:p>
        </p:txBody>
      </p:sp>
      <p:sp>
        <p:nvSpPr>
          <p:cNvPr id="115" name="row-2-text">
            <a:extLst xmlns:a="http://schemas.openxmlformats.org/drawingml/2006/main">
              <a:ext uri="{FF2B5EF4-FFF2-40B4-BE49-F238E27FC236}">
                <a16:creationId xmlns:a16="http://schemas.microsoft.com/office/drawing/2014/main" id="{F3837D5E-A2DB-481A-84CB-D729339CB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125" y="6219825"/>
            <a:ext cx="657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Refresh the mailbox first.</a:t>
            </a:r>
          </a:p>
          <a:p xmlns:a="http://schemas.openxmlformats.org/drawingml/2006/main">
            <a:pPr algn="l">
              <a:defRPr sz="1875" b="0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Then choose the highest-priority unread email and reply.</a:t>
            </a:r>
          </a:p>
        </p:txBody>
      </p:sp>
      <p:sp>
        <p:nvSpPr>
          <p:cNvPr id="116" name="row-2-target">
            <a:extLst xmlns:a="http://schemas.openxmlformats.org/drawingml/2006/main">
              <a:ext uri="{FF2B5EF4-FFF2-40B4-BE49-F238E27FC236}">
                <a16:creationId xmlns:a16="http://schemas.microsoft.com/office/drawing/2014/main" id="{74FAC406-048C-427D-84EF-51805558D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58150" y="6334125"/>
            <a:ext cx="3162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278681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278681"/>
                </a:solidFill>
                <a:latin typeface="Arial"/>
                <a:ea typeface="Arial"/>
                <a:cs typeface="Arial"/>
              </a:rPr>
              <a:t>Email B</a:t>
            </a:r>
          </a:p>
        </p:txBody>
      </p:sp>
      <p:sp>
        <p:nvSpPr>
          <p:cNvPr id="117" name="rows-divider">
            <a:extLst xmlns:a="http://schemas.openxmlformats.org/drawingml/2006/main">
              <a:ext uri="{FF2B5EF4-FFF2-40B4-BE49-F238E27FC236}">
                <a16:creationId xmlns:a16="http://schemas.microsoft.com/office/drawing/2014/main" id="{CDEC006A-5753-45CD-90BD-07019C58E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28600" y="6086475"/>
            <a:ext cx="11315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AEBABC"/>
            </a:solidFill>
            <a:prstDash val="solid"/>
          </a:ln>
        </p:spPr>
      </p:sp>
      <p:sp>
        <p:nvSpPr>
          <p:cNvPr id="118" name="thought-dot-large">
            <a:extLst xmlns:a="http://schemas.openxmlformats.org/drawingml/2006/main">
              <a:ext uri="{FF2B5EF4-FFF2-40B4-BE49-F238E27FC236}">
                <a16:creationId xmlns:a16="http://schemas.microsoft.com/office/drawing/2014/main" id="{B1FFBB5E-36D3-49A4-B17C-2F2D19788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20775" y="4057650"/>
            <a:ext cx="47625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7FB4BA"/>
            </a:solidFill>
            <a:prstDash val="solid"/>
          </a:ln>
        </p:spPr>
      </p:sp>
      <p:sp>
        <p:nvSpPr>
          <p:cNvPr id="119" name="thought-dot-mid">
            <a:extLst xmlns:a="http://schemas.openxmlformats.org/drawingml/2006/main">
              <a:ext uri="{FF2B5EF4-FFF2-40B4-BE49-F238E27FC236}">
                <a16:creationId xmlns:a16="http://schemas.microsoft.com/office/drawing/2014/main" id="{30367704-D01C-4809-8DA4-92BAAEB0C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82725" y="4305300"/>
            <a:ext cx="295275" cy="2000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7FB4BA"/>
            </a:solidFill>
            <a:prstDash val="solid"/>
          </a:ln>
        </p:spPr>
      </p:sp>
      <p:sp>
        <p:nvSpPr>
          <p:cNvPr id="120" name="thought-dot-small">
            <a:extLst xmlns:a="http://schemas.openxmlformats.org/drawingml/2006/main">
              <a:ext uri="{FF2B5EF4-FFF2-40B4-BE49-F238E27FC236}">
                <a16:creationId xmlns:a16="http://schemas.microsoft.com/office/drawing/2014/main" id="{4056494F-1EBD-4B23-A511-5128CD38A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92275" y="4514850"/>
            <a:ext cx="17145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7FB4BA"/>
            </a:solidFill>
            <a:prstDash val="solid"/>
          </a:ln>
        </p:spPr>
      </p:sp>
      <p:sp>
        <p:nvSpPr>
          <p:cNvPr id="121" name="tool-agent-antenna">
            <a:extLst xmlns:a="http://schemas.openxmlformats.org/drawingml/2006/main">
              <a:ext uri="{FF2B5EF4-FFF2-40B4-BE49-F238E27FC236}">
                <a16:creationId xmlns:a16="http://schemas.microsoft.com/office/drawing/2014/main" id="{4D19620B-1915-4F39-BAC7-D9BB0F4D7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337030" y="5410200"/>
            <a:ext cx="0" cy="1447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253238"/>
            </a:solidFill>
            <a:prstDash val="solid"/>
          </a:ln>
        </p:spPr>
      </p:sp>
      <p:sp>
        <p:nvSpPr>
          <p:cNvPr id="122" name="tool-agent-antenna-dot">
            <a:extLst xmlns:a="http://schemas.openxmlformats.org/drawingml/2006/main">
              <a:ext uri="{FF2B5EF4-FFF2-40B4-BE49-F238E27FC236}">
                <a16:creationId xmlns:a16="http://schemas.microsoft.com/office/drawing/2014/main" id="{C7B1DE36-7206-4CEF-8D8B-22018594C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91310" y="5349240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1F0"/>
          </a:solidFill>
          <a:ln xmlns:a="http://schemas.openxmlformats.org/drawingml/2006/main" w="15240">
            <a:solidFill>
              <a:srgbClr val="253238"/>
            </a:solidFill>
            <a:prstDash val="solid"/>
          </a:ln>
        </p:spPr>
      </p:sp>
      <p:sp>
        <p:nvSpPr>
          <p:cNvPr id="123" name="tool-agent-ear-left">
            <a:extLst xmlns:a="http://schemas.openxmlformats.org/drawingml/2006/main">
              <a:ext uri="{FF2B5EF4-FFF2-40B4-BE49-F238E27FC236}">
                <a16:creationId xmlns:a16="http://schemas.microsoft.com/office/drawing/2014/main" id="{DF8E770B-0182-45C6-ADCC-3D1911BA9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73150" y="5707380"/>
            <a:ext cx="1524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8ED"/>
          </a:solidFill>
          <a:ln xmlns:a="http://schemas.openxmlformats.org/drawingml/2006/main" w="16764">
            <a:solidFill>
              <a:srgbClr val="253238"/>
            </a:solidFill>
            <a:prstDash val="solid"/>
          </a:ln>
        </p:spPr>
      </p:sp>
      <p:sp>
        <p:nvSpPr>
          <p:cNvPr id="124" name="tool-agent-ear-right">
            <a:extLst xmlns:a="http://schemas.openxmlformats.org/drawingml/2006/main">
              <a:ext uri="{FF2B5EF4-FFF2-40B4-BE49-F238E27FC236}">
                <a16:creationId xmlns:a16="http://schemas.microsoft.com/office/drawing/2014/main" id="{9A98EC25-458F-4DC3-96F9-80200AD2B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748510" y="5707380"/>
            <a:ext cx="1524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8ED"/>
          </a:solidFill>
          <a:ln xmlns:a="http://schemas.openxmlformats.org/drawingml/2006/main" w="16764">
            <a:solidFill>
              <a:srgbClr val="253238"/>
            </a:solidFill>
            <a:prstDash val="solid"/>
          </a:ln>
        </p:spPr>
      </p:sp>
      <p:sp>
        <p:nvSpPr>
          <p:cNvPr id="125" name="tool-agent-head">
            <a:extLst xmlns:a="http://schemas.openxmlformats.org/drawingml/2006/main">
              <a:ext uri="{FF2B5EF4-FFF2-40B4-BE49-F238E27FC236}">
                <a16:creationId xmlns:a16="http://schemas.microsoft.com/office/drawing/2014/main" id="{DE61F37D-4AD3-47EA-8B04-D32BC2B59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40000">
            <a:off x="13849350" y="5547360"/>
            <a:ext cx="975360" cy="716280"/>
          </a:xfrm>
          <a:prstGeom xmlns:a="http://schemas.openxmlformats.org/drawingml/2006/main" prst="roundRect">
            <a:avLst>
              <a:gd name="adj" fmla="val 234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253238"/>
            </a:solidFill>
            <a:prstDash val="solid"/>
          </a:ln>
        </p:spPr>
      </p:sp>
      <p:sp>
        <p:nvSpPr>
          <p:cNvPr id="126" name="tool-agent-screen">
            <a:extLst xmlns:a="http://schemas.openxmlformats.org/drawingml/2006/main">
              <a:ext uri="{FF2B5EF4-FFF2-40B4-BE49-F238E27FC236}">
                <a16:creationId xmlns:a16="http://schemas.microsoft.com/office/drawing/2014/main" id="{0D40A4C1-44D2-40EF-A959-813C88BC3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40000">
            <a:off x="13978890" y="5676900"/>
            <a:ext cx="716280" cy="419100"/>
          </a:xfrm>
          <a:prstGeom xmlns:a="http://schemas.openxmlformats.org/drawingml/2006/main" prst="roundRect">
            <a:avLst>
              <a:gd name="adj" fmla="val 32727"/>
            </a:avLst>
          </a:prstGeom>
          <a:solidFill xmlns:a="http://schemas.openxmlformats.org/drawingml/2006/main">
            <a:srgbClr val="2532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" name="tool-agent-eye-left">
            <a:extLst xmlns:a="http://schemas.openxmlformats.org/drawingml/2006/main">
              <a:ext uri="{FF2B5EF4-FFF2-40B4-BE49-F238E27FC236}">
                <a16:creationId xmlns:a16="http://schemas.microsoft.com/office/drawing/2014/main" id="{94B26CBB-9F75-421D-81EC-51CA7AF3E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40000">
            <a:off x="14146530" y="5798820"/>
            <a:ext cx="83820" cy="121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1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" name="tool-agent-eye-right">
            <a:extLst xmlns:a="http://schemas.openxmlformats.org/drawingml/2006/main">
              <a:ext uri="{FF2B5EF4-FFF2-40B4-BE49-F238E27FC236}">
                <a16:creationId xmlns:a16="http://schemas.microsoft.com/office/drawing/2014/main" id="{466CE238-FC96-4050-BD8C-55456E4F8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40000">
            <a:off x="14451330" y="5775960"/>
            <a:ext cx="83820" cy="121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1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" name="tool-agent-mouth-a">
            <a:extLst xmlns:a="http://schemas.openxmlformats.org/drawingml/2006/main">
              <a:ext uri="{FF2B5EF4-FFF2-40B4-BE49-F238E27FC236}">
                <a16:creationId xmlns:a16="http://schemas.microsoft.com/office/drawing/2014/main" id="{79B4F74E-9947-431D-8390-FF1A3F4DE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4268450" y="5958840"/>
            <a:ext cx="68580" cy="304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7FB4BA"/>
            </a:solidFill>
            <a:prstDash val="solid"/>
          </a:ln>
        </p:spPr>
      </p:sp>
      <p:sp>
        <p:nvSpPr>
          <p:cNvPr id="130" name="tool-agent-mouth-b">
            <a:extLst xmlns:a="http://schemas.openxmlformats.org/drawingml/2006/main">
              <a:ext uri="{FF2B5EF4-FFF2-40B4-BE49-F238E27FC236}">
                <a16:creationId xmlns:a16="http://schemas.microsoft.com/office/drawing/2014/main" id="{CA6B6EE4-2DD2-45C8-889E-06E236E89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337030" y="5958840"/>
            <a:ext cx="6858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7FB4BA"/>
            </a:solidFill>
            <a:prstDash val="solid"/>
          </a:ln>
        </p:spPr>
      </p:sp>
      <p:sp>
        <p:nvSpPr>
          <p:cNvPr id="131" name="tool-agent-neck">
            <a:extLst xmlns:a="http://schemas.openxmlformats.org/drawingml/2006/main">
              <a:ext uri="{FF2B5EF4-FFF2-40B4-BE49-F238E27FC236}">
                <a16:creationId xmlns:a16="http://schemas.microsoft.com/office/drawing/2014/main" id="{70C98316-4D6D-4616-8283-A8657B3D3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53210" y="6210300"/>
            <a:ext cx="190500" cy="167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1F0"/>
          </a:solidFill>
          <a:ln xmlns:a="http://schemas.openxmlformats.org/drawingml/2006/main" w="15240">
            <a:solidFill>
              <a:srgbClr val="253238"/>
            </a:solidFill>
            <a:prstDash val="solid"/>
          </a:ln>
        </p:spPr>
      </p:sp>
      <p:sp>
        <p:nvSpPr>
          <p:cNvPr id="132" name="tool-agent-body">
            <a:extLst xmlns:a="http://schemas.openxmlformats.org/drawingml/2006/main">
              <a:ext uri="{FF2B5EF4-FFF2-40B4-BE49-F238E27FC236}">
                <a16:creationId xmlns:a16="http://schemas.microsoft.com/office/drawing/2014/main" id="{47976330-7168-493B-85AB-FCEA8FD1F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16990" y="6316980"/>
            <a:ext cx="670560" cy="419100"/>
          </a:xfrm>
          <a:prstGeom xmlns:a="http://schemas.openxmlformats.org/drawingml/2006/main" prst="trapezoid">
            <a:avLst/>
          </a:prstGeom>
          <a:solidFill xmlns:a="http://schemas.openxmlformats.org/drawingml/2006/main">
            <a:srgbClr val="DDE8ED"/>
          </a:solidFill>
          <a:ln xmlns:a="http://schemas.openxmlformats.org/drawingml/2006/main" w="19050">
            <a:solidFill>
              <a:srgbClr val="253238"/>
            </a:solidFill>
            <a:prstDash val="solid"/>
          </a:ln>
        </p:spPr>
      </p:sp>
      <p:sp>
        <p:nvSpPr>
          <p:cNvPr id="133" name="tool-agent-chest">
            <a:extLst xmlns:a="http://schemas.openxmlformats.org/drawingml/2006/main">
              <a:ext uri="{FF2B5EF4-FFF2-40B4-BE49-F238E27FC236}">
                <a16:creationId xmlns:a16="http://schemas.microsoft.com/office/drawing/2014/main" id="{43CC7CA0-2055-4051-AF64-582B88C9E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68450" y="6416040"/>
            <a:ext cx="167640" cy="167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1F0"/>
          </a:solidFill>
          <a:ln xmlns:a="http://schemas.openxmlformats.org/drawingml/2006/main" w="15240">
            <a:solidFill>
              <a:srgbClr val="278681"/>
            </a:solidFill>
            <a:prstDash val="solid"/>
          </a:ln>
        </p:spPr>
      </p:sp>
      <p:sp>
        <p:nvSpPr>
          <p:cNvPr id="134" name="tool-agent-question-1">
            <a:extLst xmlns:a="http://schemas.openxmlformats.org/drawingml/2006/main">
              <a:ext uri="{FF2B5EF4-FFF2-40B4-BE49-F238E27FC236}">
                <a16:creationId xmlns:a16="http://schemas.microsoft.com/office/drawing/2014/main" id="{BCCD5ED3-B96C-41B2-BCFA-6464437A2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771370" y="5394960"/>
            <a:ext cx="21336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defRPr sz="2160" b="1" i="1">
                <a:solidFill>
                  <a:srgbClr val="6C8EA2"/>
                </a:solidFill>
                <a:latin typeface="Arial"/>
                <a:ea typeface="Arial"/>
                <a:cs typeface="Arial"/>
              </a:defRPr>
            </a:pPr>
            <a:r>
              <a:rPr sz="2160" b="1" i="1">
                <a:solidFill>
                  <a:srgbClr val="6C8EA2"/>
                </a:solidFill>
                <a:latin typeface="Arial"/>
                <a:ea typeface="Arial"/>
                <a:cs typeface="Arial"/>
              </a:rPr>
              <a:t>?</a:t>
            </a:r>
          </a:p>
        </p:txBody>
      </p:sp>
      <p:sp>
        <p:nvSpPr>
          <p:cNvPr id="135" name="tool-agent-question-2">
            <a:extLst xmlns:a="http://schemas.openxmlformats.org/drawingml/2006/main">
              <a:ext uri="{FF2B5EF4-FFF2-40B4-BE49-F238E27FC236}">
                <a16:creationId xmlns:a16="http://schemas.microsoft.com/office/drawing/2014/main" id="{7FB473CC-2D7C-4AC4-A416-92CC03CEA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931390" y="5547360"/>
            <a:ext cx="18288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80" b="1" i="1">
                <a:solidFill>
                  <a:srgbClr val="6C8EA2"/>
                </a:solidFill>
                <a:latin typeface="Arial"/>
                <a:ea typeface="Arial"/>
                <a:cs typeface="Arial"/>
              </a:defRPr>
            </a:pPr>
            <a:r>
              <a:rPr sz="1680" b="1" i="1">
                <a:solidFill>
                  <a:srgbClr val="6C8EA2"/>
                </a:solidFill>
                <a:latin typeface="Arial"/>
                <a:ea typeface="Arial"/>
                <a:cs typeface="Arial"/>
              </a:rPr>
              <a:t>?</a:t>
            </a:r>
          </a:p>
        </p:txBody>
      </p:sp>
      <p:sp>
        <p:nvSpPr>
          <p:cNvPr id="136" name="failure-1">
            <a:extLst xmlns:a="http://schemas.openxmlformats.org/drawingml/2006/main">
              <a:ext uri="{FF2B5EF4-FFF2-40B4-BE49-F238E27FC236}">
                <a16:creationId xmlns:a16="http://schemas.microsoft.com/office/drawing/2014/main" id="{21C577A5-409E-44A4-BD1F-4DE7E779D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96700" y="5295900"/>
            <a:ext cx="1866900" cy="657225"/>
          </a:xfrm>
          <a:prstGeom xmlns:a="http://schemas.openxmlformats.org/drawingml/2006/main" prst="roundRect">
            <a:avLst>
              <a:gd name="adj" fmla="val 144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BD4E4A"/>
            </a:solidFill>
            <a:prstDash val="solid"/>
          </a:ln>
        </p:spPr>
      </p:sp>
      <p:sp>
        <p:nvSpPr>
          <p:cNvPr id="137" name="failure-1-arrow">
            <a:extLst xmlns:a="http://schemas.openxmlformats.org/drawingml/2006/main">
              <a:ext uri="{FF2B5EF4-FFF2-40B4-BE49-F238E27FC236}">
                <a16:creationId xmlns:a16="http://schemas.microsoft.com/office/drawing/2014/main" id="{D3A076C3-D4CC-4FCF-B8D4-824F904CF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58625" y="5334000"/>
            <a:ext cx="1543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9286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BD4E4A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BD4E4A"/>
                </a:solidFill>
                <a:latin typeface="Arial"/>
                <a:ea typeface="Arial"/>
                <a:cs typeface="Arial"/>
              </a:rPr>
              <a:t>A → B</a:t>
            </a:r>
          </a:p>
        </p:txBody>
      </p:sp>
      <p:sp>
        <p:nvSpPr>
          <p:cNvPr id="138" name="failure-1-label">
            <a:extLst xmlns:a="http://schemas.openxmlformats.org/drawingml/2006/main">
              <a:ext uri="{FF2B5EF4-FFF2-40B4-BE49-F238E27FC236}">
                <a16:creationId xmlns:a16="http://schemas.microsoft.com/office/drawing/2014/main" id="{250D74C9-DDD6-4A9F-BD56-C17ED70C0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11000" y="5600700"/>
            <a:ext cx="1638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BD4E4A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BD4E4A"/>
                </a:solidFill>
                <a:latin typeface="Arial"/>
                <a:ea typeface="Arial"/>
                <a:cs typeface="Arial"/>
              </a:rPr>
              <a:t>over-reevaluate</a:t>
            </a:r>
          </a:p>
        </p:txBody>
      </p:sp>
      <p:sp>
        <p:nvSpPr>
          <p:cNvPr id="139" name="failure-2">
            <a:extLst xmlns:a="http://schemas.openxmlformats.org/drawingml/2006/main">
              <a:ext uri="{FF2B5EF4-FFF2-40B4-BE49-F238E27FC236}">
                <a16:creationId xmlns:a16="http://schemas.microsoft.com/office/drawing/2014/main" id="{A2AE0328-FE91-4DCA-B24D-7C09A102D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96700" y="6238875"/>
            <a:ext cx="1866900" cy="657225"/>
          </a:xfrm>
          <a:prstGeom xmlns:a="http://schemas.openxmlformats.org/drawingml/2006/main" prst="roundRect">
            <a:avLst>
              <a:gd name="adj" fmla="val 144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278681"/>
            </a:solidFill>
            <a:prstDash val="solid"/>
          </a:ln>
        </p:spPr>
      </p:sp>
      <p:sp>
        <p:nvSpPr>
          <p:cNvPr id="140" name="failure-2-arrow">
            <a:extLst xmlns:a="http://schemas.openxmlformats.org/drawingml/2006/main">
              <a:ext uri="{FF2B5EF4-FFF2-40B4-BE49-F238E27FC236}">
                <a16:creationId xmlns:a16="http://schemas.microsoft.com/office/drawing/2014/main" id="{99BB44F9-1D77-436D-84A6-C9AA9C837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58625" y="6276975"/>
            <a:ext cx="1543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9286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278681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278681"/>
                </a:solidFill>
                <a:latin typeface="Arial"/>
                <a:ea typeface="Arial"/>
                <a:cs typeface="Arial"/>
              </a:rPr>
              <a:t>B → A</a:t>
            </a:r>
          </a:p>
        </p:txBody>
      </p:sp>
      <p:sp>
        <p:nvSpPr>
          <p:cNvPr id="141" name="failure-2-label">
            <a:extLst xmlns:a="http://schemas.openxmlformats.org/drawingml/2006/main">
              <a:ext uri="{FF2B5EF4-FFF2-40B4-BE49-F238E27FC236}">
                <a16:creationId xmlns:a16="http://schemas.microsoft.com/office/drawing/2014/main" id="{B36AAD51-DA1E-4617-825E-F4D826150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11000" y="6543675"/>
            <a:ext cx="1638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278681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278681"/>
                </a:solidFill>
                <a:latin typeface="Arial"/>
                <a:ea typeface="Arial"/>
                <a:cs typeface="Arial"/>
              </a:rPr>
              <a:t>over-lock</a:t>
            </a:r>
          </a:p>
        </p:txBody>
      </p:sp>
      <p:sp>
        <p:nvSpPr>
          <p:cNvPr id="142" name="bottom-rule-final">
            <a:extLst xmlns:a="http://schemas.openxmlformats.org/drawingml/2006/main">
              <a:ext uri="{FF2B5EF4-FFF2-40B4-BE49-F238E27FC236}">
                <a16:creationId xmlns:a16="http://schemas.microsoft.com/office/drawing/2014/main" id="{E3E53141-8077-4CA4-8394-8CDBCAE8E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28600" y="7029450"/>
            <a:ext cx="1478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4B4D4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266399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2026-07-28T07:16:57.1820000Z</dcterms:created>
  <dcterms:modified xsi:type="dcterms:W3CDTF">2026-07-28T07:16:57.1820000Z</dcterms:modified>
</coreProperties>
</file>
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e775539b4e4dbc" /><Relationship Type="http://schemas.openxmlformats.org/officeDocument/2006/relationships/extended-properties" Target="/docProps/app.xml" Id="R908963a6296345b1" /><Relationship Type="http://schemas.openxmlformats.org/officeDocument/2006/relationships/officeDocument" Target="/ppt/presentation.xml" Id="Re52b0326485445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7964b656454bff"/>
  </p:sldMasterIdLst>
  <p:notesMasterIdLst>
    <p:notesMasterId xmlns:r="http://schemas.openxmlformats.org/officeDocument/2006/relationships" r:id="R3e22eb95a74e4c5b"/>
  </p:notesMasterIdLst>
  <p:sldIdLst>
    <p:sldId xmlns:r="http://schemas.openxmlformats.org/officeDocument/2006/relationships" id="256" r:id="R570ec741b17a4640"/>
  </p:sldIdLst>
  <p:sldSz cx="17145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f47755d1754d9c" /><Relationship Type="http://schemas.openxmlformats.org/officeDocument/2006/relationships/slideMaster" Target="/ppt/slideMasters/slideMaster1.xml" Id="R487964b656454bff" /><Relationship Type="http://schemas.openxmlformats.org/officeDocument/2006/relationships/notesMaster" Target="/ppt/notesMasters/notesMaster1.xml" Id="R3e22eb95a74e4c5b" /><Relationship Type="http://schemas.openxmlformats.org/officeDocument/2006/relationships/presProps" Target="/ppt/presProps.xml" Id="R62123d68d9ab4e3f" /><Relationship Type="http://schemas.openxmlformats.org/officeDocument/2006/relationships/tableStyles" Target="/ppt/tableStyles.xml" Id="Rcd75eec68acf4c13" /><Relationship Type="http://schemas.openxmlformats.org/officeDocument/2006/relationships/slide" Target="/ppt/slides/slide1.xml" Id="R570ec741b17a46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2103a020fb40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5f618732e34c8c" /><Relationship Type="http://schemas.openxmlformats.org/officeDocument/2006/relationships/notesMaster" Target="/ppt/notesMasters/notesMaster1.xml" Id="Rb988ae52715942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Anonymous TRI manuscript: diagnostic construction, controller-probe boundary, and endpoint definitions.</a:t>
            </a:r>
          </a:p>
          <a:p xmlns:a="http://schemas.openxmlformats.org/drawingml/2006/main">
            <a:r>
              <a:t>- User-provided Figure 1: palette and visual-language reference only; no external factual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6be29b51cc44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7987d8c039427a" /><Relationship Type="http://schemas.openxmlformats.org/officeDocument/2006/relationships/slideLayout" Target="/ppt/slideLayouts/slideLayout1.xml" Id="R63a79b517f4242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a79b517f4242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c73837d52480b" /><Relationship Type="http://schemas.openxmlformats.org/officeDocument/2006/relationships/notesSlide" Target="/ppt/notesSlides/notesSlide1.xml" Id="R4b8bcbc11ec649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separator-a-b">
            <a:extLst xmlns:a="http://schemas.openxmlformats.org/drawingml/2006/main">
              <a:ext uri="{FF2B5EF4-FFF2-40B4-BE49-F238E27FC236}">
                <a16:creationId xmlns:a16="http://schemas.microsoft.com/office/drawing/2014/main" id="{5930A32C-57F3-48A8-B708-4ED5BC97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484" y="257671"/>
            <a:ext cx="26789" cy="63426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9"/>
          </a:solidFill>
          <a:ln xmlns:a="http://schemas.openxmlformats.org/drawingml/2006/main" w="0">
            <a:solidFill>
              <a:srgbClr val="B8C7C9"/>
            </a:solidFill>
            <a:prstDash val="solid"/>
          </a:ln>
        </p:spPr>
      </p:sp>
      <p:sp>
        <p:nvSpPr>
          <p:cNvPr id="2" name="separator-b-c">
            <a:extLst xmlns:a="http://schemas.openxmlformats.org/drawingml/2006/main">
              <a:ext uri="{FF2B5EF4-FFF2-40B4-BE49-F238E27FC236}">
                <a16:creationId xmlns:a16="http://schemas.microsoft.com/office/drawing/2014/main" id="{F7B87FBA-3431-43A5-9741-3E4BD346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9484" y="257671"/>
            <a:ext cx="26789" cy="63426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9"/>
          </a:solidFill>
          <a:ln xmlns:a="http://schemas.openxmlformats.org/drawingml/2006/main" w="0">
            <a:solidFill>
              <a:srgbClr val="B8C7C9"/>
            </a:solidFill>
            <a:prstDash val="solid"/>
          </a:ln>
        </p:spPr>
      </p:sp>
      <p:sp>
        <p:nvSpPr>
          <p:cNvPr id="3" name="A-heading">
            <a:extLst xmlns:a="http://schemas.openxmlformats.org/drawingml/2006/main">
              <a:ext uri="{FF2B5EF4-FFF2-40B4-BE49-F238E27FC236}">
                <a16:creationId xmlns:a16="http://schemas.microsoft.com/office/drawing/2014/main" id="{A746FB00-18F2-456E-835E-B6B5F3F6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47" y="198208"/>
            <a:ext cx="8840391" cy="554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94" b="1" i="0">
                <a:solidFill>
                  <a:srgbClr val="264A56"/>
                </a:solidFill>
              </a:defRPr>
            </a:pPr>
            <a:r>
              <a:rPr sz="2394" b="1" i="0">
                <a:solidFill>
                  <a:srgbClr val="264A56"/>
                </a:solidFill>
              </a:rPr>
              <a:t>A. Construct the matched pair</a:t>
            </a:r>
          </a:p>
        </p:txBody>
      </p:sp>
      <p:sp>
        <p:nvSpPr>
          <p:cNvPr id="4" name="B-heading">
            <a:extLst xmlns:a="http://schemas.openxmlformats.org/drawingml/2006/main">
              <a:ext uri="{FF2B5EF4-FFF2-40B4-BE49-F238E27FC236}">
                <a16:creationId xmlns:a16="http://schemas.microsoft.com/office/drawing/2014/main" id="{8C833731-4575-47B3-8947-091EBF35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5164" y="198208"/>
            <a:ext cx="2812852" cy="554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94" b="1" i="0">
                <a:solidFill>
                  <a:srgbClr val="264A56"/>
                </a:solidFill>
              </a:defRPr>
            </a:pPr>
            <a:r>
              <a:rPr sz="2394" b="1" i="0">
                <a:solidFill>
                  <a:srgbClr val="264A56"/>
                </a:solidFill>
              </a:rPr>
              <a:t>B. Run the pair</a:t>
            </a:r>
          </a:p>
        </p:txBody>
      </p:sp>
      <p:sp>
        <p:nvSpPr>
          <p:cNvPr id="5" name="C-heading">
            <a:extLst xmlns:a="http://schemas.openxmlformats.org/drawingml/2006/main">
              <a:ext uri="{FF2B5EF4-FFF2-40B4-BE49-F238E27FC236}">
                <a16:creationId xmlns:a16="http://schemas.microsoft.com/office/drawing/2014/main" id="{0371C003-8346-4BAB-B920-37CB2B3D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4164" y="198208"/>
            <a:ext cx="3415605" cy="554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52" b="1" i="0">
                <a:solidFill>
                  <a:srgbClr val="264A56"/>
                </a:solidFill>
              </a:defRPr>
            </a:pPr>
            <a:r>
              <a:rPr sz="2052" b="1" i="0">
                <a:solidFill>
                  <a:srgbClr val="264A56"/>
                </a:solidFill>
              </a:rPr>
              <a:t>C. Observable readouts</a:t>
            </a:r>
          </a:p>
        </p:txBody>
      </p:sp>
      <p:sp>
        <p:nvSpPr>
          <p:cNvPr id="6" name="fixed-strip">
            <a:extLst xmlns:a="http://schemas.openxmlformats.org/drawingml/2006/main">
              <a:ext uri="{FF2B5EF4-FFF2-40B4-BE49-F238E27FC236}">
                <a16:creationId xmlns:a16="http://schemas.microsoft.com/office/drawing/2014/main" id="{E541FBA6-C503-4525-84BE-6702E051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41" y="832474"/>
            <a:ext cx="8840391" cy="594624"/>
          </a:xfrm>
          <a:prstGeom xmlns:a="http://schemas.openxmlformats.org/drawingml/2006/main" prst="roundRect">
            <a:avLst>
              <a:gd name="adj" fmla="val 9611"/>
            </a:avLst>
          </a:prstGeom>
          <a:solidFill xmlns:a="http://schemas.openxmlformats.org/drawingml/2006/main">
            <a:srgbClr val="F7FAF9"/>
          </a:solidFill>
          <a:ln xmlns:a="http://schemas.openxmlformats.org/drawingml/2006/main" w="14478">
            <a:solidFill>
              <a:srgbClr val="B8C7C9"/>
            </a:solidFill>
            <a:prstDash val="solid"/>
          </a:ln>
        </p:spPr>
      </p:sp>
      <p:sp>
        <p:nvSpPr>
          <p:cNvPr id="7" name="fixed-text">
            <a:extLst xmlns:a="http://schemas.openxmlformats.org/drawingml/2006/main">
              <a:ext uri="{FF2B5EF4-FFF2-40B4-BE49-F238E27FC236}">
                <a16:creationId xmlns:a16="http://schemas.microsoft.com/office/drawing/2014/main" id="{3AA36B23-1C83-444A-BCF0-65F912EA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54" y="891936"/>
            <a:ext cx="5625703" cy="475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24" b="1" i="0">
                <a:solidFill>
                  <a:srgbClr val="407A7F"/>
                </a:solidFill>
              </a:defRPr>
            </a:pPr>
            <a:r>
              <a:rPr sz="1824" b="1" i="0">
                <a:solidFill>
                  <a:srgbClr val="407A7F"/>
                </a:solidFill>
              </a:rPr>
              <a:t>Shared: S0, S1, q, action, schema, interface</a:t>
            </a:r>
          </a:p>
        </p:txBody>
      </p:sp>
      <p:sp>
        <p:nvSpPr>
          <p:cNvPr id="8" name="varied-text">
            <a:extLst xmlns:a="http://schemas.openxmlformats.org/drawingml/2006/main">
              <a:ext uri="{FF2B5EF4-FFF2-40B4-BE49-F238E27FC236}">
                <a16:creationId xmlns:a16="http://schemas.microsoft.com/office/drawing/2014/main" id="{4930A262-0307-4CC4-B140-D881EA27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512" y="891936"/>
            <a:ext cx="2946797" cy="475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10" b="1" i="0">
                <a:solidFill>
                  <a:srgbClr val="E56D4E"/>
                </a:solidFill>
              </a:defRPr>
            </a:pPr>
            <a:r>
              <a:rPr sz="1710" b="1" i="0">
                <a:solidFill>
                  <a:srgbClr val="E56D4E"/>
                </a:solidFill>
              </a:rPr>
              <a:t>Changed: commitment timing</a:t>
            </a:r>
          </a:p>
        </p:txBody>
      </p:sp>
      <p:sp>
        <p:nvSpPr>
          <p:cNvPr id="9" name="world-label">
            <a:extLst xmlns:a="http://schemas.openxmlformats.org/drawingml/2006/main">
              <a:ext uri="{FF2B5EF4-FFF2-40B4-BE49-F238E27FC236}">
                <a16:creationId xmlns:a16="http://schemas.microsoft.com/office/drawing/2014/main" id="{647A67DD-5505-488E-AB9A-EFA5DE5C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05486"/>
            <a:ext cx="2009180" cy="396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24" b="1" i="0">
                <a:solidFill>
                  <a:srgbClr val="66747A"/>
                </a:solidFill>
              </a:defRPr>
            </a:pPr>
            <a:r>
              <a:rPr sz="1824" b="1" i="0">
                <a:solidFill>
                  <a:srgbClr val="66747A"/>
                </a:solidFill>
              </a:rPr>
              <a:t>SHARED TRANSITION</a:t>
            </a:r>
          </a:p>
        </p:txBody>
      </p:sp>
      <p:sp>
        <p:nvSpPr>
          <p:cNvPr id="10" name="state-s0">
            <a:extLst xmlns:a="http://schemas.openxmlformats.org/drawingml/2006/main">
              <a:ext uri="{FF2B5EF4-FFF2-40B4-BE49-F238E27FC236}">
                <a16:creationId xmlns:a16="http://schemas.microsoft.com/office/drawing/2014/main" id="{1F03C9CE-715F-4A39-94C9-961D897F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016" y="1526202"/>
            <a:ext cx="2009180" cy="146674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26060">
            <a:solidFill>
              <a:srgbClr val="E56D4E"/>
            </a:solidFill>
            <a:prstDash val="solid"/>
          </a:ln>
        </p:spPr>
      </p:sp>
      <p:sp>
        <p:nvSpPr>
          <p:cNvPr id="11" name="state-s1">
            <a:extLst xmlns:a="http://schemas.openxmlformats.org/drawingml/2006/main">
              <a:ext uri="{FF2B5EF4-FFF2-40B4-BE49-F238E27FC236}">
                <a16:creationId xmlns:a16="http://schemas.microsoft.com/office/drawing/2014/main" id="{D5B565C9-6ED8-439E-9684-2756604E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512" y="1526202"/>
            <a:ext cx="2759273" cy="146674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26060">
            <a:solidFill>
              <a:srgbClr val="248D82"/>
            </a:solidFill>
            <a:prstDash val="solid"/>
          </a:ln>
        </p:spPr>
      </p:sp>
      <p:sp>
        <p:nvSpPr>
          <p:cNvPr id="12" name="s0-title">
            <a:extLst xmlns:a="http://schemas.openxmlformats.org/drawingml/2006/main">
              <a:ext uri="{FF2B5EF4-FFF2-40B4-BE49-F238E27FC236}">
                <a16:creationId xmlns:a16="http://schemas.microsoft.com/office/drawing/2014/main" id="{6158A1B3-D5E8-4C0F-AFE1-EB8594AB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539" y="1585665"/>
            <a:ext cx="1634133" cy="35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24" b="1" i="0">
                <a:solidFill>
                  <a:srgbClr val="264A56"/>
                </a:solidFill>
              </a:defRPr>
            </a:pPr>
            <a:r>
              <a:rPr sz="1824" b="1" i="0">
                <a:solidFill>
                  <a:srgbClr val="264A56"/>
                </a:solidFill>
              </a:rPr>
              <a:t>S0</a:t>
            </a:r>
          </a:p>
        </p:txBody>
      </p:sp>
      <p:sp>
        <p:nvSpPr>
          <p:cNvPr id="13" name="s0-winner">
            <a:extLst xmlns:a="http://schemas.openxmlformats.org/drawingml/2006/main">
              <a:ext uri="{FF2B5EF4-FFF2-40B4-BE49-F238E27FC236}">
                <a16:creationId xmlns:a16="http://schemas.microsoft.com/office/drawing/2014/main" id="{1302550F-E547-4922-9203-6263516B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539" y="1962260"/>
            <a:ext cx="1634133" cy="535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94" b="1" i="0">
                <a:solidFill>
                  <a:srgbClr val="E56D4E"/>
                </a:solidFill>
              </a:defRPr>
            </a:pPr>
            <a:r>
              <a:rPr sz="2394" b="1" i="0">
                <a:solidFill>
                  <a:srgbClr val="E56D4E"/>
                </a:solidFill>
              </a:rPr>
              <a:t>q(S0) = A</a:t>
            </a:r>
          </a:p>
        </p:txBody>
      </p:sp>
      <p:sp>
        <p:nvSpPr>
          <p:cNvPr id="14" name="s0-time">
            <a:extLst xmlns:a="http://schemas.openxmlformats.org/drawingml/2006/main">
              <a:ext uri="{FF2B5EF4-FFF2-40B4-BE49-F238E27FC236}">
                <a16:creationId xmlns:a16="http://schemas.microsoft.com/office/drawing/2014/main" id="{0D9AB19B-6925-4930-92C3-3C0CD2B3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539" y="2517243"/>
            <a:ext cx="1634133" cy="35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24" b="1" i="0">
                <a:solidFill>
                  <a:srgbClr val="66747A"/>
                </a:solidFill>
              </a:defRPr>
            </a:pPr>
            <a:r>
              <a:rPr sz="1824" b="1" i="0">
                <a:solidFill>
                  <a:srgbClr val="66747A"/>
                </a:solidFill>
              </a:rPr>
              <a:t>winner at S0</a:t>
            </a:r>
          </a:p>
        </p:txBody>
      </p:sp>
      <p:sp>
        <p:nvSpPr>
          <p:cNvPr id="15" name="s1-title">
            <a:extLst xmlns:a="http://schemas.openxmlformats.org/drawingml/2006/main">
              <a:ext uri="{FF2B5EF4-FFF2-40B4-BE49-F238E27FC236}">
                <a16:creationId xmlns:a16="http://schemas.microsoft.com/office/drawing/2014/main" id="{360DD89A-6AFD-45B6-9D36-D8C3B4A7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641" y="1585665"/>
            <a:ext cx="2411016" cy="35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24" b="1" i="0">
                <a:solidFill>
                  <a:srgbClr val="264A56"/>
                </a:solidFill>
              </a:defRPr>
            </a:pPr>
            <a:r>
              <a:rPr sz="1824" b="1" i="0">
                <a:solidFill>
                  <a:srgbClr val="264A56"/>
                </a:solidFill>
              </a:rPr>
              <a:t>S1</a:t>
            </a:r>
          </a:p>
        </p:txBody>
      </p:sp>
      <p:sp>
        <p:nvSpPr>
          <p:cNvPr id="16" name="s1-winner">
            <a:extLst xmlns:a="http://schemas.openxmlformats.org/drawingml/2006/main">
              <a:ext uri="{FF2B5EF4-FFF2-40B4-BE49-F238E27FC236}">
                <a16:creationId xmlns:a16="http://schemas.microsoft.com/office/drawing/2014/main" id="{73B9D009-F01B-4FB6-B3B4-3320FC97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641" y="1962260"/>
            <a:ext cx="2411016" cy="495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94" b="1" i="0">
                <a:solidFill>
                  <a:srgbClr val="248D82"/>
                </a:solidFill>
              </a:defRPr>
            </a:pPr>
            <a:r>
              <a:rPr sz="2394" b="1" i="0">
                <a:solidFill>
                  <a:srgbClr val="248D82"/>
                </a:solidFill>
              </a:rPr>
              <a:t>q(S1) = B</a:t>
            </a:r>
          </a:p>
        </p:txBody>
      </p:sp>
      <p:sp>
        <p:nvSpPr>
          <p:cNvPr id="17" name="s1-valid">
            <a:extLst xmlns:a="http://schemas.openxmlformats.org/drawingml/2006/main">
              <a:ext uri="{FF2B5EF4-FFF2-40B4-BE49-F238E27FC236}">
                <a16:creationId xmlns:a16="http://schemas.microsoft.com/office/drawing/2014/main" id="{109A51C1-FB7A-471D-88D1-80977CBF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852" y="2319035"/>
            <a:ext cx="2464594" cy="614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24" b="1" i="0">
                <a:solidFill>
                  <a:srgbClr val="60AA84"/>
                </a:solidFill>
              </a:defRPr>
            </a:pPr>
            <a:r>
              <a:rPr sz="1824" b="1" i="0">
                <a:solidFill>
                  <a:srgbClr val="60AA84"/>
                </a:solidFill>
              </a:rPr>
              <a:t>A remains present</a:t>
            </a:r>
          </a:p>
          <a:p xmlns:a="http://schemas.openxmlformats.org/drawingml/2006/main">
            <a:pPr algn="ctr">
              <a:defRPr sz="1824" b="1" i="0">
                <a:solidFill>
                  <a:srgbClr val="60AA84"/>
                </a:solidFill>
              </a:defRPr>
            </a:pPr>
            <a:r>
              <a:rPr sz="1824" b="1" i="0">
                <a:solidFill>
                  <a:srgbClr val="60AA84"/>
                </a:solidFill>
              </a:rPr>
              <a:t>and action-valid</a:t>
            </a:r>
          </a:p>
        </p:txBody>
      </p:sp>
      <p:cxnSp>
        <p:nvCxnSpPr>
          <p:cNvPr id="95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20196" y="2259572"/>
            <a:ext cx="1674316" cy="0"/>
          </a:xfrm>
          <a:prstGeom xmlns:a="http://schemas.openxmlformats.org/drawingml/2006/main" prst="straightConnector1">
            <a:avLst/>
          </a:prstGeom>
          <a:ln xmlns:a="http://schemas.openxmlformats.org/drawingml/2006/main" w="57912">
            <a:solidFill>
              <a:srgbClr val="EABC6B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9" name="refresh-label">
            <a:extLst xmlns:a="http://schemas.openxmlformats.org/drawingml/2006/main">
              <a:ext uri="{FF2B5EF4-FFF2-40B4-BE49-F238E27FC236}">
                <a16:creationId xmlns:a16="http://schemas.microsoft.com/office/drawing/2014/main" id="{27C3F18A-D895-41FB-A647-AE8F9BFD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195" y="1922618"/>
            <a:ext cx="1406426" cy="475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38" b="1" i="0">
                <a:solidFill>
                  <a:srgbClr val="264A56"/>
                </a:solidFill>
              </a:defRPr>
            </a:pPr>
            <a:r>
              <a:rPr sz="1938" b="1" i="0">
                <a:solidFill>
                  <a:srgbClr val="264A56"/>
                </a:solidFill>
              </a:rPr>
              <a:t>refresh</a:t>
            </a:r>
          </a:p>
        </p:txBody>
      </p:sp>
      <p:sp>
        <p:nvSpPr>
          <p:cNvPr id="20" name="preserve-lane">
            <a:extLst xmlns:a="http://schemas.openxmlformats.org/drawingml/2006/main">
              <a:ext uri="{FF2B5EF4-FFF2-40B4-BE49-F238E27FC236}">
                <a16:creationId xmlns:a16="http://schemas.microsoft.com/office/drawing/2014/main" id="{4E7F41A0-4DE0-4F1B-A916-DA3F563B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41" y="3171329"/>
            <a:ext cx="8840391" cy="1427098"/>
          </a:xfrm>
          <a:prstGeom xmlns:a="http://schemas.openxmlformats.org/drawingml/2006/main" prst="roundRect">
            <a:avLst>
              <a:gd name="adj" fmla="val 4005"/>
            </a:avLst>
          </a:prstGeom>
          <a:noFill xmlns:a="http://schemas.openxmlformats.org/drawingml/2006/main"/>
          <a:ln xmlns:a="http://schemas.openxmlformats.org/drawingml/2006/main" w="17374">
            <a:solidFill>
              <a:srgbClr val="E56D4E"/>
            </a:solidFill>
            <a:prstDash val="solid"/>
          </a:ln>
        </p:spPr>
      </p:sp>
      <p:sp>
        <p:nvSpPr>
          <p:cNvPr id="21" name="reevaluate-lane">
            <a:extLst xmlns:a="http://schemas.openxmlformats.org/drawingml/2006/main">
              <a:ext uri="{FF2B5EF4-FFF2-40B4-BE49-F238E27FC236}">
                <a16:creationId xmlns:a16="http://schemas.microsoft.com/office/drawing/2014/main" id="{16FA7981-778E-4FB2-A1CB-CCEEFAAE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41" y="4717353"/>
            <a:ext cx="8840391" cy="1427098"/>
          </a:xfrm>
          <a:prstGeom xmlns:a="http://schemas.openxmlformats.org/drawingml/2006/main" prst="roundRect">
            <a:avLst>
              <a:gd name="adj" fmla="val 4005"/>
            </a:avLst>
          </a:prstGeom>
          <a:noFill xmlns:a="http://schemas.openxmlformats.org/drawingml/2006/main"/>
          <a:ln xmlns:a="http://schemas.openxmlformats.org/drawingml/2006/main" w="17374">
            <a:solidFill>
              <a:srgbClr val="248D82"/>
            </a:solidFill>
            <a:prstDash val="dash"/>
          </a:ln>
        </p:spPr>
      </p:sp>
      <p:sp>
        <p:nvSpPr>
          <p:cNvPr id="22" name="preserve-label">
            <a:extLst xmlns:a="http://schemas.openxmlformats.org/drawingml/2006/main">
              <a:ext uri="{FF2B5EF4-FFF2-40B4-BE49-F238E27FC236}">
                <a16:creationId xmlns:a16="http://schemas.microsoft.com/office/drawing/2014/main" id="{215767C9-55CE-445C-9E9F-3BC4D92B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14" y="3429000"/>
            <a:ext cx="1607344" cy="436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52" b="1" i="0">
                <a:solidFill>
                  <a:srgbClr val="E56D4E"/>
                </a:solidFill>
              </a:defRPr>
            </a:pPr>
            <a:r>
              <a:rPr sz="2052" b="1" i="0">
                <a:solidFill>
                  <a:srgbClr val="E56D4E"/>
                </a:solidFill>
              </a:rPr>
              <a:t>PRESERVE</a:t>
            </a:r>
          </a:p>
        </p:txBody>
      </p:sp>
      <p:sp>
        <p:nvSpPr>
          <p:cNvPr id="23" name="preserve-desc">
            <a:extLst xmlns:a="http://schemas.openxmlformats.org/drawingml/2006/main">
              <a:ext uri="{FF2B5EF4-FFF2-40B4-BE49-F238E27FC236}">
                <a16:creationId xmlns:a16="http://schemas.microsoft.com/office/drawing/2014/main" id="{77AB5915-3DD7-4399-A928-4AFA77D5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14" y="3884879"/>
            <a:ext cx="1942207" cy="396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24" b="0" i="0">
                <a:solidFill>
                  <a:srgbClr val="264A56"/>
                </a:solidFill>
              </a:defRPr>
            </a:pPr>
            <a:r>
              <a:rPr sz="1824" b="0" i="0">
                <a:solidFill>
                  <a:srgbClr val="264A56"/>
                </a:solidFill>
              </a:rPr>
              <a:t>bind at S0</a:t>
            </a:r>
          </a:p>
        </p:txBody>
      </p:sp>
      <p:sp>
        <p:nvSpPr>
          <p:cNvPr id="24" name="preserve-bound-a">
            <a:extLst xmlns:a="http://schemas.openxmlformats.org/drawingml/2006/main">
              <a:ext uri="{FF2B5EF4-FFF2-40B4-BE49-F238E27FC236}">
                <a16:creationId xmlns:a16="http://schemas.microsoft.com/office/drawing/2014/main" id="{BB503F2F-FD32-431D-AF52-243BD705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961" y="3349717"/>
            <a:ext cx="642938" cy="6429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DE8"/>
          </a:solidFill>
          <a:ln xmlns:a="http://schemas.openxmlformats.org/drawingml/2006/main" w="28956">
            <a:solidFill>
              <a:srgbClr val="E56D4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80" b="1">
                <a:solidFill>
                  <a:srgbClr val="E56D4E"/>
                </a:solidFill>
              </a:defRPr>
            </a:pPr>
            <a:r>
              <a:rPr sz="2280" b="1">
                <a:solidFill>
                  <a:srgbClr val="E56D4E"/>
                </a:solidFill>
              </a:rPr>
              <a:t>A</a:t>
            </a:r>
          </a:p>
        </p:txBody>
      </p:sp>
      <p:sp>
        <p:nvSpPr>
          <p:cNvPr id="25" name="preserve-bound-text">
            <a:extLst xmlns:a="http://schemas.openxmlformats.org/drawingml/2006/main">
              <a:ext uri="{FF2B5EF4-FFF2-40B4-BE49-F238E27FC236}">
                <a16:creationId xmlns:a16="http://schemas.microsoft.com/office/drawing/2014/main" id="{11D120F9-9AAF-427D-8444-78626F5D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336" y="4043445"/>
            <a:ext cx="1500188" cy="35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24" b="1" i="0">
                <a:solidFill>
                  <a:srgbClr val="E56D4E"/>
                </a:solidFill>
              </a:defRPr>
            </a:pPr>
            <a:r>
              <a:rPr sz="1824" b="1" i="0">
                <a:solidFill>
                  <a:srgbClr val="E56D4E"/>
                </a:solidFill>
              </a:rPr>
              <a:t>bound(A)</a:t>
            </a:r>
          </a:p>
        </p:txBody>
      </p:sp>
      <p:sp>
        <p:nvSpPr>
          <p:cNvPr id="26" name="preserve-target-a">
            <a:extLst xmlns:a="http://schemas.openxmlformats.org/drawingml/2006/main">
              <a:ext uri="{FF2B5EF4-FFF2-40B4-BE49-F238E27FC236}">
                <a16:creationId xmlns:a16="http://schemas.microsoft.com/office/drawing/2014/main" id="{FAB507E8-EE7E-4464-A737-34FD5D44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4609" y="3349717"/>
            <a:ext cx="642938" cy="6429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956">
            <a:solidFill>
              <a:srgbClr val="E56D4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80" b="1">
                <a:solidFill>
                  <a:srgbClr val="E56D4E"/>
                </a:solidFill>
              </a:defRPr>
            </a:pPr>
            <a:r>
              <a:rPr sz="2280" b="1">
                <a:solidFill>
                  <a:srgbClr val="E56D4E"/>
                </a:solidFill>
              </a:rPr>
              <a:t>A</a:t>
            </a:r>
          </a:p>
        </p:txBody>
      </p:sp>
      <p:cxnSp>
        <p:nvCxnSpPr>
          <p:cNvPr id="104" name=""/>
          <p:cNvCxnSpPr>
            <a:stCxn xmlns:a="http://schemas.openxmlformats.org/drawingml/2006/main" id="24" idx="6"/>
            <a:endCxn xmlns:a="http://schemas.openxmlformats.org/drawingml/2006/main" id="26" idx="2"/>
          </p:cNvCxnSpPr>
          <p:nvPr/>
        </p:nvCxnSpPr>
        <p:spPr>
          <a:xfrm xmlns:a="http://schemas.openxmlformats.org/drawingml/2006/main">
            <a:off x="3187899" y="3671186"/>
            <a:ext cx="5116710" cy="0"/>
          </a:xfrm>
          <a:prstGeom xmlns:a="http://schemas.openxmlformats.org/drawingml/2006/main" prst="straightConnector1">
            <a:avLst/>
          </a:prstGeom>
          <a:ln xmlns:a="http://schemas.openxmlformats.org/drawingml/2006/main" w="46330">
            <a:solidFill>
              <a:srgbClr val="E56D4E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8" name="preserve-commit-label">
            <a:extLst xmlns:a="http://schemas.openxmlformats.org/drawingml/2006/main">
              <a:ext uri="{FF2B5EF4-FFF2-40B4-BE49-F238E27FC236}">
                <a16:creationId xmlns:a16="http://schemas.microsoft.com/office/drawing/2014/main" id="{A64A14CC-0B67-4420-AFE8-1E32556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141" y="3191150"/>
            <a:ext cx="2544961" cy="396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24" b="1" i="0">
                <a:solidFill>
                  <a:srgbClr val="E56D4E"/>
                </a:solidFill>
              </a:defRPr>
            </a:pPr>
            <a:r>
              <a:rPr sz="1824" b="1" i="0">
                <a:solidFill>
                  <a:srgbClr val="E56D4E"/>
                </a:solidFill>
              </a:rPr>
              <a:t>commit before refresh</a:t>
            </a:r>
          </a:p>
        </p:txBody>
      </p:sp>
      <p:sp>
        <p:nvSpPr>
          <p:cNvPr id="29" name="preserve-target-text">
            <a:extLst xmlns:a="http://schemas.openxmlformats.org/drawingml/2006/main">
              <a:ext uri="{FF2B5EF4-FFF2-40B4-BE49-F238E27FC236}">
                <a16:creationId xmlns:a16="http://schemas.microsoft.com/office/drawing/2014/main" id="{5054D5B4-A7CB-4367-915C-D158217E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773" y="4043445"/>
            <a:ext cx="1446609" cy="35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24" b="1" i="0">
                <a:solidFill>
                  <a:srgbClr val="E56D4E"/>
                </a:solidFill>
              </a:defRPr>
            </a:pPr>
            <a:r>
              <a:rPr sz="1824" b="1" i="0">
                <a:solidFill>
                  <a:srgbClr val="E56D4E"/>
                </a:solidFill>
              </a:rPr>
              <a:t>target A</a:t>
            </a:r>
          </a:p>
        </p:txBody>
      </p:sp>
      <p:sp>
        <p:nvSpPr>
          <p:cNvPr id="30" name="reevaluate-label">
            <a:extLst xmlns:a="http://schemas.openxmlformats.org/drawingml/2006/main">
              <a:ext uri="{FF2B5EF4-FFF2-40B4-BE49-F238E27FC236}">
                <a16:creationId xmlns:a16="http://schemas.microsoft.com/office/drawing/2014/main" id="{7F0BFA22-C997-439D-BD3E-506E5D3F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14" y="4975023"/>
            <a:ext cx="1942207" cy="436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52" b="1" i="0">
                <a:solidFill>
                  <a:srgbClr val="248D82"/>
                </a:solidFill>
              </a:defRPr>
            </a:pPr>
            <a:r>
              <a:rPr sz="2052" b="1" i="0">
                <a:solidFill>
                  <a:srgbClr val="248D82"/>
                </a:solidFill>
              </a:rPr>
              <a:t>REEVALUATE</a:t>
            </a:r>
          </a:p>
        </p:txBody>
      </p:sp>
      <p:sp>
        <p:nvSpPr>
          <p:cNvPr id="31" name="reevaluate-desc">
            <a:extLst xmlns:a="http://schemas.openxmlformats.org/drawingml/2006/main">
              <a:ext uri="{FF2B5EF4-FFF2-40B4-BE49-F238E27FC236}">
                <a16:creationId xmlns:a16="http://schemas.microsoft.com/office/drawing/2014/main" id="{E2A22AF3-4919-411B-BE0A-EC7213F7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14" y="5430902"/>
            <a:ext cx="1942207" cy="396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24" b="0" i="0">
                <a:solidFill>
                  <a:srgbClr val="264A56"/>
                </a:solidFill>
              </a:defRPr>
            </a:pPr>
            <a:r>
              <a:rPr sz="1824" b="0" i="0">
                <a:solidFill>
                  <a:srgbClr val="264A56"/>
                </a:solidFill>
              </a:rPr>
              <a:t>defer q to S1</a:t>
            </a:r>
          </a:p>
        </p:txBody>
      </p:sp>
      <p:sp>
        <p:nvSpPr>
          <p:cNvPr id="32" name="reevaluate-deferred-q">
            <a:extLst xmlns:a="http://schemas.openxmlformats.org/drawingml/2006/main">
              <a:ext uri="{FF2B5EF4-FFF2-40B4-BE49-F238E27FC236}">
                <a16:creationId xmlns:a16="http://schemas.microsoft.com/office/drawing/2014/main" id="{3A79AFFA-2582-40AB-B058-A8915B8A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961" y="4895740"/>
            <a:ext cx="642938" cy="6429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28956">
            <a:solidFill>
              <a:srgbClr val="248D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80" b="1">
                <a:solidFill>
                  <a:srgbClr val="248D82"/>
                </a:solidFill>
              </a:defRPr>
            </a:pPr>
            <a:r>
              <a:rPr sz="2280" b="1">
                <a:solidFill>
                  <a:srgbClr val="248D82"/>
                </a:solidFill>
              </a:rPr>
              <a:t>q</a:t>
            </a:r>
          </a:p>
        </p:txBody>
      </p:sp>
      <p:sp>
        <p:nvSpPr>
          <p:cNvPr id="33" name="reevaluate-deferred-text">
            <a:extLst xmlns:a="http://schemas.openxmlformats.org/drawingml/2006/main">
              <a:ext uri="{FF2B5EF4-FFF2-40B4-BE49-F238E27FC236}">
                <a16:creationId xmlns:a16="http://schemas.microsoft.com/office/drawing/2014/main" id="{097DEACD-7D1D-4E5D-B444-B1DEB524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180" y="5589468"/>
            <a:ext cx="1741289" cy="35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24" b="1" i="0">
                <a:solidFill>
                  <a:srgbClr val="248D82"/>
                </a:solidFill>
              </a:defRPr>
            </a:pPr>
            <a:r>
              <a:rPr sz="1824" b="1" i="0">
                <a:solidFill>
                  <a:srgbClr val="248D82"/>
                </a:solidFill>
              </a:rPr>
              <a:t>deferred(q)</a:t>
            </a:r>
          </a:p>
        </p:txBody>
      </p:sp>
      <p:sp>
        <p:nvSpPr>
          <p:cNvPr id="34" name="reevaluate-target-b">
            <a:extLst xmlns:a="http://schemas.openxmlformats.org/drawingml/2006/main">
              <a:ext uri="{FF2B5EF4-FFF2-40B4-BE49-F238E27FC236}">
                <a16:creationId xmlns:a16="http://schemas.microsoft.com/office/drawing/2014/main" id="{2616B08D-0A8C-48CE-AD40-9DA648BE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4609" y="4895740"/>
            <a:ext cx="642938" cy="6429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956">
            <a:solidFill>
              <a:srgbClr val="248D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80" b="1">
                <a:solidFill>
                  <a:srgbClr val="248D82"/>
                </a:solidFill>
              </a:defRPr>
            </a:pPr>
            <a:r>
              <a:rPr sz="2280" b="1">
                <a:solidFill>
                  <a:srgbClr val="248D82"/>
                </a:solidFill>
              </a:rPr>
              <a:t>B</a:t>
            </a:r>
          </a:p>
        </p:txBody>
      </p:sp>
      <p:cxnSp>
        <p:nvCxnSpPr>
          <p:cNvPr id="112" name=""/>
          <p:cNvCxnSpPr>
            <a:stCxn xmlns:a="http://schemas.openxmlformats.org/drawingml/2006/main" id="32" idx="6"/>
            <a:endCxn xmlns:a="http://schemas.openxmlformats.org/drawingml/2006/main" id="34" idx="2"/>
          </p:cNvCxnSpPr>
          <p:nvPr/>
        </p:nvCxnSpPr>
        <p:spPr>
          <a:xfrm xmlns:a="http://schemas.openxmlformats.org/drawingml/2006/main">
            <a:off x="3187899" y="5217209"/>
            <a:ext cx="5116710" cy="0"/>
          </a:xfrm>
          <a:prstGeom xmlns:a="http://schemas.openxmlformats.org/drawingml/2006/main" prst="straightConnector1">
            <a:avLst/>
          </a:prstGeom>
          <a:ln xmlns:a="http://schemas.openxmlformats.org/drawingml/2006/main" w="46330">
            <a:solidFill>
              <a:srgbClr val="248D82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36" name="reevaluate-resolve">
            <a:extLst xmlns:a="http://schemas.openxmlformats.org/drawingml/2006/main">
              <a:ext uri="{FF2B5EF4-FFF2-40B4-BE49-F238E27FC236}">
                <a16:creationId xmlns:a16="http://schemas.microsoft.com/office/drawing/2014/main" id="{58585E9D-727D-440E-B77C-A489EE47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195" y="4737173"/>
            <a:ext cx="1942207" cy="396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24" b="1" i="0">
                <a:solidFill>
                  <a:srgbClr val="248D82"/>
                </a:solidFill>
              </a:defRPr>
            </a:pPr>
            <a:r>
              <a:rPr sz="1824" b="1" i="0">
                <a:solidFill>
                  <a:srgbClr val="248D82"/>
                </a:solidFill>
              </a:rPr>
              <a:t>resolve q on S1</a:t>
            </a:r>
          </a:p>
        </p:txBody>
      </p:sp>
      <p:sp>
        <p:nvSpPr>
          <p:cNvPr id="37" name="reevaluate-target-text">
            <a:extLst xmlns:a="http://schemas.openxmlformats.org/drawingml/2006/main">
              <a:ext uri="{FF2B5EF4-FFF2-40B4-BE49-F238E27FC236}">
                <a16:creationId xmlns:a16="http://schemas.microsoft.com/office/drawing/2014/main" id="{BB545079-27D9-4DC2-8BD1-14EA861C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773" y="5589468"/>
            <a:ext cx="1446609" cy="35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24" b="1" i="0">
                <a:solidFill>
                  <a:srgbClr val="248D82"/>
                </a:solidFill>
              </a:defRPr>
            </a:pPr>
            <a:r>
              <a:rPr sz="1824" b="1" i="0">
                <a:solidFill>
                  <a:srgbClr val="248D82"/>
                </a:solidFill>
              </a:rPr>
              <a:t>target B</a:t>
            </a:r>
          </a:p>
        </p:txBody>
      </p:sp>
      <p:sp>
        <p:nvSpPr>
          <p:cNvPr id="38" name="controller-note">
            <a:extLst xmlns:a="http://schemas.openxmlformats.org/drawingml/2006/main">
              <a:ext uri="{FF2B5EF4-FFF2-40B4-BE49-F238E27FC236}">
                <a16:creationId xmlns:a16="http://schemas.microsoft.com/office/drawing/2014/main" id="{64CF14F8-1883-48E9-BCF8-AC67A139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953" y="812653"/>
            <a:ext cx="2920008" cy="673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24" b="1" i="1">
                <a:solidFill>
                  <a:srgbClr val="407A7F"/>
                </a:solidFill>
              </a:defRPr>
            </a:pPr>
            <a:r>
              <a:rPr sz="1824" b="1" i="1">
                <a:solidFill>
                  <a:srgbClr val="407A7F"/>
                </a:solidFill>
              </a:rPr>
              <a:t>same probe + interface</a:t>
            </a:r>
          </a:p>
          <a:p xmlns:a="http://schemas.openxmlformats.org/drawingml/2006/main">
            <a:pPr algn="ctr">
              <a:defRPr sz="1824" b="1" i="1">
                <a:solidFill>
                  <a:srgbClr val="407A7F"/>
                </a:solidFill>
              </a:defRPr>
            </a:pPr>
            <a:r>
              <a:rPr sz="1824" b="1" i="1">
                <a:solidFill>
                  <a:srgbClr val="407A7F"/>
                </a:solidFill>
              </a:rPr>
              <a:t>two independent runs</a:t>
            </a:r>
          </a:p>
        </p:txBody>
      </p:sp>
      <p:sp>
        <p:nvSpPr>
          <p:cNvPr id="39" name="preserve-input">
            <a:extLst xmlns:a="http://schemas.openxmlformats.org/drawingml/2006/main">
              <a:ext uri="{FF2B5EF4-FFF2-40B4-BE49-F238E27FC236}">
                <a16:creationId xmlns:a16="http://schemas.microsoft.com/office/drawing/2014/main" id="{AFD58E59-D71C-4210-ADFC-B8910672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531" y="1764052"/>
            <a:ext cx="616148" cy="872116"/>
          </a:xfrm>
          <a:prstGeom xmlns:a="http://schemas.openxmlformats.org/drawingml/2006/main" prst="roundRect">
            <a:avLst>
              <a:gd name="adj" fmla="val 9275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26060">
            <a:solidFill>
              <a:srgbClr val="E56D4E"/>
            </a:solidFill>
            <a:prstDash val="solid"/>
          </a:ln>
        </p:spPr>
      </p:sp>
      <p:sp>
        <p:nvSpPr>
          <p:cNvPr id="40" name="preserve-input-text">
            <a:extLst xmlns:a="http://schemas.openxmlformats.org/drawingml/2006/main">
              <a:ext uri="{FF2B5EF4-FFF2-40B4-BE49-F238E27FC236}">
                <a16:creationId xmlns:a16="http://schemas.microsoft.com/office/drawing/2014/main" id="{DEFA6C5C-2432-4E26-879F-AA1DB53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531" y="1803694"/>
            <a:ext cx="616148" cy="792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94" b="1" i="0">
                <a:solidFill>
                  <a:srgbClr val="E56D4E"/>
                </a:solidFill>
              </a:defRPr>
            </a:pPr>
            <a:r>
              <a:rPr sz="2394" b="1" i="0">
                <a:solidFill>
                  <a:srgbClr val="E56D4E"/>
                </a:solidFill>
              </a:rPr>
              <a:t>P</a:t>
            </a:r>
          </a:p>
        </p:txBody>
      </p:sp>
      <p:sp>
        <p:nvSpPr>
          <p:cNvPr id="41" name="reevaluate-input">
            <a:extLst xmlns:a="http://schemas.openxmlformats.org/drawingml/2006/main">
              <a:ext uri="{FF2B5EF4-FFF2-40B4-BE49-F238E27FC236}">
                <a16:creationId xmlns:a16="http://schemas.microsoft.com/office/drawing/2014/main" id="{B31D241C-8A0D-4753-80EF-F1B62081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531" y="4142549"/>
            <a:ext cx="616148" cy="872116"/>
          </a:xfrm>
          <a:prstGeom xmlns:a="http://schemas.openxmlformats.org/drawingml/2006/main" prst="roundRect">
            <a:avLst>
              <a:gd name="adj" fmla="val 9275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26060">
            <a:solidFill>
              <a:srgbClr val="248D82"/>
            </a:solidFill>
            <a:prstDash val="solid"/>
          </a:ln>
        </p:spPr>
      </p:sp>
      <p:sp>
        <p:nvSpPr>
          <p:cNvPr id="42" name="reevaluate-input-text">
            <a:extLst xmlns:a="http://schemas.openxmlformats.org/drawingml/2006/main">
              <a:ext uri="{FF2B5EF4-FFF2-40B4-BE49-F238E27FC236}">
                <a16:creationId xmlns:a16="http://schemas.microsoft.com/office/drawing/2014/main" id="{CAD209C9-F6E7-4AFE-8B70-9B307EFA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531" y="4182191"/>
            <a:ext cx="616148" cy="792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94" b="1" i="0">
                <a:solidFill>
                  <a:srgbClr val="248D82"/>
                </a:solidFill>
              </a:defRPr>
            </a:pPr>
            <a:r>
              <a:rPr sz="2394" b="1" i="0">
                <a:solidFill>
                  <a:srgbClr val="248D82"/>
                </a:solidFill>
              </a:rPr>
              <a:t>R</a:t>
            </a:r>
          </a:p>
        </p:txBody>
      </p:sp>
      <p:sp>
        <p:nvSpPr>
          <p:cNvPr id="43" name="controller-probe">
            <a:extLst xmlns:a="http://schemas.openxmlformats.org/drawingml/2006/main">
              <a:ext uri="{FF2B5EF4-FFF2-40B4-BE49-F238E27FC236}">
                <a16:creationId xmlns:a16="http://schemas.microsoft.com/office/drawing/2014/main" id="{C08C372B-C5EC-49A9-A0E2-DC45DC2A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203" y="2140647"/>
            <a:ext cx="1580555" cy="2457780"/>
          </a:xfrm>
          <a:prstGeom xmlns:a="http://schemas.openxmlformats.org/drawingml/2006/main" prst="roundRect">
            <a:avLst>
              <a:gd name="adj" fmla="val 3616"/>
            </a:avLst>
          </a:prstGeom>
          <a:solidFill xmlns:a="http://schemas.openxmlformats.org/drawingml/2006/main">
            <a:srgbClr val="F7FAF9"/>
          </a:solidFill>
          <a:ln xmlns:a="http://schemas.openxmlformats.org/drawingml/2006/main" w="28956">
            <a:solidFill>
              <a:srgbClr val="407A7F"/>
            </a:solidFill>
            <a:prstDash val="solid"/>
          </a:ln>
        </p:spPr>
      </p:sp>
      <p:sp>
        <p:nvSpPr>
          <p:cNvPr id="44" name="controller-title">
            <a:extLst xmlns:a="http://schemas.openxmlformats.org/drawingml/2006/main">
              <a:ext uri="{FF2B5EF4-FFF2-40B4-BE49-F238E27FC236}">
                <a16:creationId xmlns:a16="http://schemas.microsoft.com/office/drawing/2014/main" id="{01EE750F-C390-4F0A-B583-774B887B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2781" y="2457780"/>
            <a:ext cx="1473398" cy="475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24" b="1" i="0">
                <a:solidFill>
                  <a:srgbClr val="407A7F"/>
                </a:solidFill>
              </a:defRPr>
            </a:pPr>
            <a:r>
              <a:rPr sz="1824" b="1" i="0">
                <a:solidFill>
                  <a:srgbClr val="407A7F"/>
                </a:solidFill>
              </a:rPr>
              <a:t>PROBE</a:t>
            </a:r>
          </a:p>
        </p:txBody>
      </p:sp>
      <p:sp>
        <p:nvSpPr>
          <p:cNvPr id="45" name="controller-io">
            <a:extLst xmlns:a="http://schemas.openxmlformats.org/drawingml/2006/main">
              <a:ext uri="{FF2B5EF4-FFF2-40B4-BE49-F238E27FC236}">
                <a16:creationId xmlns:a16="http://schemas.microsoft.com/office/drawing/2014/main" id="{70135227-274E-4BA6-9252-9DFE296E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2781" y="3072225"/>
            <a:ext cx="1473398" cy="1030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24" b="1" i="0">
                <a:solidFill>
                  <a:srgbClr val="264A56"/>
                </a:solidFill>
              </a:defRPr>
            </a:pPr>
            <a:r>
              <a:rPr sz="1824" b="1" i="0">
                <a:solidFill>
                  <a:srgbClr val="264A56"/>
                </a:solidFill>
              </a:rPr>
              <a:t>instruction + history</a:t>
            </a:r>
          </a:p>
          <a:p xmlns:a="http://schemas.openxmlformats.org/drawingml/2006/main">
            <a:pPr algn="ctr">
              <a:defRPr sz="1824" b="1" i="0">
                <a:solidFill>
                  <a:srgbClr val="264A56"/>
                </a:solidFill>
              </a:defRPr>
            </a:pPr>
            <a:r>
              <a:rPr sz="1824" b="1" i="0">
                <a:solidFill>
                  <a:srgbClr val="264A56"/>
                </a:solidFill>
              </a:rPr>
              <a:t>-&gt; target ID</a:t>
            </a:r>
          </a:p>
        </p:txBody>
      </p:sp>
      <p:sp>
        <p:nvSpPr>
          <p:cNvPr id="46" name="preserve-output">
            <a:extLst xmlns:a="http://schemas.openxmlformats.org/drawingml/2006/main">
              <a:ext uri="{FF2B5EF4-FFF2-40B4-BE49-F238E27FC236}">
                <a16:creationId xmlns:a16="http://schemas.microsoft.com/office/drawing/2014/main" id="{E67591BE-F0BE-4CEB-A67C-5FBF169D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6547" y="1902798"/>
            <a:ext cx="642938" cy="713549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6060">
            <a:solidFill>
              <a:srgbClr val="E56D4E"/>
            </a:solidFill>
            <a:prstDash val="solid"/>
          </a:ln>
        </p:spPr>
      </p:sp>
      <p:sp>
        <p:nvSpPr>
          <p:cNvPr id="47" name="preserve-output-text">
            <a:extLst xmlns:a="http://schemas.openxmlformats.org/drawingml/2006/main">
              <a:ext uri="{FF2B5EF4-FFF2-40B4-BE49-F238E27FC236}">
                <a16:creationId xmlns:a16="http://schemas.microsoft.com/office/drawing/2014/main" id="{A34A7F69-F1FA-4DBF-BC19-1CB01F13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6547" y="1922618"/>
            <a:ext cx="642938" cy="673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24" b="1" i="0">
                <a:solidFill>
                  <a:srgbClr val="E56D4E"/>
                </a:solidFill>
              </a:defRPr>
            </a:pPr>
            <a:r>
              <a:rPr sz="1824" b="1" i="0">
                <a:solidFill>
                  <a:srgbClr val="E56D4E"/>
                </a:solidFill>
              </a:rPr>
              <a:t>Tₚ</a:t>
            </a:r>
          </a:p>
        </p:txBody>
      </p:sp>
      <p:sp>
        <p:nvSpPr>
          <p:cNvPr id="48" name="reevaluate-output">
            <a:extLst xmlns:a="http://schemas.openxmlformats.org/drawingml/2006/main">
              <a:ext uri="{FF2B5EF4-FFF2-40B4-BE49-F238E27FC236}">
                <a16:creationId xmlns:a16="http://schemas.microsoft.com/office/drawing/2014/main" id="{8C21E7E5-EF3C-448E-ABE0-78D0C378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6547" y="4281295"/>
            <a:ext cx="642938" cy="713549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6060">
            <a:solidFill>
              <a:srgbClr val="248D82"/>
            </a:solidFill>
            <a:prstDash val="solid"/>
          </a:ln>
        </p:spPr>
      </p:sp>
      <p:sp>
        <p:nvSpPr>
          <p:cNvPr id="49" name="reevaluate-output-text">
            <a:extLst xmlns:a="http://schemas.openxmlformats.org/drawingml/2006/main">
              <a:ext uri="{FF2B5EF4-FFF2-40B4-BE49-F238E27FC236}">
                <a16:creationId xmlns:a16="http://schemas.microsoft.com/office/drawing/2014/main" id="{45D7CCD9-03F4-4594-BB4B-115E4B66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6547" y="4301116"/>
            <a:ext cx="642938" cy="673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24" b="1" i="0">
                <a:solidFill>
                  <a:srgbClr val="248D82"/>
                </a:solidFill>
              </a:defRPr>
            </a:pPr>
            <a:r>
              <a:rPr sz="1824" b="1" i="0">
                <a:solidFill>
                  <a:srgbClr val="248D82"/>
                </a:solidFill>
              </a:rPr>
              <a:t>Tᵣ</a:t>
            </a:r>
          </a:p>
        </p:txBody>
      </p:sp>
      <p:sp>
        <p:nvSpPr>
          <p:cNvPr id="50" name="p-input-anchor">
            <a:extLst xmlns:a="http://schemas.openxmlformats.org/drawingml/2006/main">
              <a:ext uri="{FF2B5EF4-FFF2-40B4-BE49-F238E27FC236}">
                <a16:creationId xmlns:a16="http://schemas.microsoft.com/office/drawing/2014/main" id="{587F5108-FE29-4EBE-B14D-C5F7F4B0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809" y="2180289"/>
            <a:ext cx="26789" cy="3964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r-input-anchor">
            <a:extLst xmlns:a="http://schemas.openxmlformats.org/drawingml/2006/main">
              <a:ext uri="{FF2B5EF4-FFF2-40B4-BE49-F238E27FC236}">
                <a16:creationId xmlns:a16="http://schemas.microsoft.com/office/drawing/2014/main" id="{CD9DD2ED-6983-445E-B888-763D62E5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809" y="4558786"/>
            <a:ext cx="26789" cy="3964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p-output-anchor">
            <a:extLst xmlns:a="http://schemas.openxmlformats.org/drawingml/2006/main">
              <a:ext uri="{FF2B5EF4-FFF2-40B4-BE49-F238E27FC236}">
                <a16:creationId xmlns:a16="http://schemas.microsoft.com/office/drawing/2014/main" id="{08B55914-6AC6-4D15-850F-89FB04E4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363" y="2219931"/>
            <a:ext cx="26789" cy="3964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r-output-anchor">
            <a:extLst xmlns:a="http://schemas.openxmlformats.org/drawingml/2006/main">
              <a:ext uri="{FF2B5EF4-FFF2-40B4-BE49-F238E27FC236}">
                <a16:creationId xmlns:a16="http://schemas.microsoft.com/office/drawing/2014/main" id="{AF8BA7F2-7F70-4689-84A0-5CC5BAF2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363" y="4598428"/>
            <a:ext cx="26789" cy="3964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1" name=""/>
          <p:cNvCxnSpPr>
            <a:stCxn xmlns:a="http://schemas.openxmlformats.org/drawingml/2006/main" id="39" idx="3"/>
            <a:endCxn xmlns:a="http://schemas.openxmlformats.org/drawingml/2006/main" id="50" idx="2"/>
          </p:cNvCxnSpPr>
          <p:nvPr/>
        </p:nvCxnSpPr>
        <p:spPr>
          <a:xfrm xmlns:a="http://schemas.openxmlformats.org/drawingml/2006/main">
            <a:off x="10581679" y="2200110"/>
            <a:ext cx="174130" cy="0"/>
          </a:xfrm>
          <a:prstGeom xmlns:a="http://schemas.openxmlformats.org/drawingml/2006/main" prst="straightConnector1">
            <a:avLst/>
          </a:prstGeom>
          <a:ln xmlns:a="http://schemas.openxmlformats.org/drawingml/2006/main" w="37643">
            <a:solidFill>
              <a:srgbClr val="E56D4E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32" name=""/>
          <p:cNvCxnSpPr>
            <a:stCxn xmlns:a="http://schemas.openxmlformats.org/drawingml/2006/main" id="41" idx="3"/>
            <a:endCxn xmlns:a="http://schemas.openxmlformats.org/drawingml/2006/main" id="51" idx="2"/>
          </p:cNvCxnSpPr>
          <p:nvPr/>
        </p:nvCxnSpPr>
        <p:spPr>
          <a:xfrm xmlns:a="http://schemas.openxmlformats.org/drawingml/2006/main">
            <a:off x="10581679" y="4578607"/>
            <a:ext cx="174130" cy="0"/>
          </a:xfrm>
          <a:prstGeom xmlns:a="http://schemas.openxmlformats.org/drawingml/2006/main" prst="straightConnector1">
            <a:avLst/>
          </a:prstGeom>
          <a:ln xmlns:a="http://schemas.openxmlformats.org/drawingml/2006/main" w="37643">
            <a:solidFill>
              <a:srgbClr val="248D8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33" name=""/>
          <p:cNvCxnSpPr>
            <a:stCxn xmlns:a="http://schemas.openxmlformats.org/drawingml/2006/main" id="52" idx="6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12363152" y="2239752"/>
            <a:ext cx="13395" cy="19821"/>
          </a:xfrm>
          <a:prstGeom xmlns:a="http://schemas.openxmlformats.org/drawingml/2006/main" prst="straightConnector1">
            <a:avLst/>
          </a:prstGeom>
          <a:ln xmlns:a="http://schemas.openxmlformats.org/drawingml/2006/main" w="37643">
            <a:solidFill>
              <a:srgbClr val="E56D4E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34" name=""/>
          <p:cNvCxnSpPr>
            <a:stCxn xmlns:a="http://schemas.openxmlformats.org/drawingml/2006/main" id="53" idx="6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12363152" y="4618249"/>
            <a:ext cx="13395" cy="19821"/>
          </a:xfrm>
          <a:prstGeom xmlns:a="http://schemas.openxmlformats.org/drawingml/2006/main" prst="straightConnector1">
            <a:avLst/>
          </a:prstGeom>
          <a:ln xmlns:a="http://schemas.openxmlformats.org/drawingml/2006/main" w="37643">
            <a:solidFill>
              <a:srgbClr val="248D82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58" name="withheld-note">
            <a:extLst xmlns:a="http://schemas.openxmlformats.org/drawingml/2006/main">
              <a:ext uri="{FF2B5EF4-FFF2-40B4-BE49-F238E27FC236}">
                <a16:creationId xmlns:a16="http://schemas.microsoft.com/office/drawing/2014/main" id="{F83E4D91-A975-4277-B234-B0663B7A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348" y="5391260"/>
            <a:ext cx="3000375" cy="872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24" b="1" i="0">
                <a:solidFill>
                  <a:srgbClr val="66747A"/>
                </a:solidFill>
              </a:defRPr>
            </a:pPr>
            <a:r>
              <a:rPr sz="1824" b="1" i="0">
                <a:solidFill>
                  <a:srgbClr val="66747A"/>
                </a:solidFill>
              </a:rPr>
              <a:t>Gold mode + targets withheld</a:t>
            </a:r>
          </a:p>
          <a:p xmlns:a="http://schemas.openxmlformats.org/drawingml/2006/main">
            <a:pPr algn="ctr">
              <a:defRPr sz="1824" b="1" i="0">
                <a:solidFill>
                  <a:srgbClr val="66747A"/>
                </a:solidFill>
              </a:defRPr>
            </a:pPr>
            <a:r>
              <a:rPr sz="1824" b="1" i="0">
                <a:solidFill>
                  <a:srgbClr val="66747A"/>
                </a:solidFill>
              </a:rPr>
              <a:t>(no gold answer enters the probe)</a:t>
            </a:r>
          </a:p>
        </p:txBody>
      </p:sp>
      <p:sp>
        <p:nvSpPr>
          <p:cNvPr id="59" name="pairacc-readout">
            <a:extLst xmlns:a="http://schemas.openxmlformats.org/drawingml/2006/main">
              <a:ext uri="{FF2B5EF4-FFF2-40B4-BE49-F238E27FC236}">
                <a16:creationId xmlns:a16="http://schemas.microsoft.com/office/drawing/2014/main" id="{6C2BA6C3-C6F1-4FFC-9535-FCE33241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951399"/>
            <a:ext cx="3429000" cy="1546023"/>
          </a:xfrm>
          <a:prstGeom xmlns:a="http://schemas.openxmlformats.org/drawingml/2006/main" prst="roundRect">
            <a:avLst>
              <a:gd name="adj" fmla="val 3697"/>
            </a:avLst>
          </a:prstGeom>
          <a:solidFill xmlns:a="http://schemas.openxmlformats.org/drawingml/2006/main">
            <a:srgbClr val="F7FAF9"/>
          </a:solidFill>
          <a:ln xmlns:a="http://schemas.openxmlformats.org/drawingml/2006/main" w="17374">
            <a:solidFill>
              <a:srgbClr val="B8C7C9"/>
            </a:solidFill>
            <a:prstDash val="solid"/>
          </a:ln>
        </p:spPr>
      </p:sp>
      <p:sp>
        <p:nvSpPr>
          <p:cNvPr id="60" name="pairacc-title">
            <a:extLst xmlns:a="http://schemas.openxmlformats.org/drawingml/2006/main">
              <a:ext uri="{FF2B5EF4-FFF2-40B4-BE49-F238E27FC236}">
                <a16:creationId xmlns:a16="http://schemas.microsoft.com/office/drawing/2014/main" id="{CA2BE731-4853-4251-8285-89B8FE5D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1504" y="1070324"/>
            <a:ext cx="1272480" cy="455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52" b="1" i="0">
                <a:solidFill>
                  <a:srgbClr val="264A56"/>
                </a:solidFill>
              </a:defRPr>
            </a:pPr>
            <a:r>
              <a:rPr sz="2052" b="1" i="0">
                <a:solidFill>
                  <a:srgbClr val="264A56"/>
                </a:solidFill>
              </a:rPr>
              <a:t>PairAcc</a:t>
            </a:r>
          </a:p>
        </p:txBody>
      </p:sp>
      <p:sp>
        <p:nvSpPr>
          <p:cNvPr id="61" name="pairacc-formula">
            <a:extLst xmlns:a="http://schemas.openxmlformats.org/drawingml/2006/main">
              <a:ext uri="{FF2B5EF4-FFF2-40B4-BE49-F238E27FC236}">
                <a16:creationId xmlns:a16="http://schemas.microsoft.com/office/drawing/2014/main" id="{22C93D22-F292-4386-B97F-814C66CF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1504" y="1546023"/>
            <a:ext cx="3080742" cy="436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24" b="1" i="0">
                <a:solidFill>
                  <a:srgbClr val="407A7F"/>
                </a:solidFill>
              </a:defRPr>
            </a:pPr>
            <a:r>
              <a:rPr sz="1824" b="1" i="0">
                <a:solidFill>
                  <a:srgbClr val="407A7F"/>
                </a:solidFill>
              </a:rPr>
              <a:t>[Tₚ = A] AND [Tᵣ = B]</a:t>
            </a:r>
          </a:p>
        </p:txBody>
      </p:sp>
      <p:sp>
        <p:nvSpPr>
          <p:cNvPr id="62" name="pairacc-slice">
            <a:extLst xmlns:a="http://schemas.openxmlformats.org/drawingml/2006/main">
              <a:ext uri="{FF2B5EF4-FFF2-40B4-BE49-F238E27FC236}">
                <a16:creationId xmlns:a16="http://schemas.microsoft.com/office/drawing/2014/main" id="{6CB13168-F188-47F9-9A99-CC6987BC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1504" y="2001902"/>
            <a:ext cx="3080742" cy="35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24" b="0" i="0">
                <a:solidFill>
                  <a:srgbClr val="66747A"/>
                </a:solidFill>
              </a:defRPr>
            </a:pPr>
            <a:r>
              <a:rPr sz="1824" b="0" i="0">
                <a:solidFill>
                  <a:srgbClr val="66747A"/>
                </a:solidFill>
              </a:rPr>
              <a:t>denom.: complete changed pairs</a:t>
            </a:r>
          </a:p>
        </p:txBody>
      </p:sp>
      <p:sp>
        <p:nvSpPr>
          <p:cNvPr id="63" name="substitution-readout">
            <a:extLst xmlns:a="http://schemas.openxmlformats.org/drawingml/2006/main">
              <a:ext uri="{FF2B5EF4-FFF2-40B4-BE49-F238E27FC236}">
                <a16:creationId xmlns:a16="http://schemas.microsoft.com/office/drawing/2014/main" id="{EA348728-2958-44E3-A58F-B02A1A9B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2675809"/>
            <a:ext cx="3429000" cy="1704590"/>
          </a:xfrm>
          <a:prstGeom xmlns:a="http://schemas.openxmlformats.org/drawingml/2006/main" prst="roundRect">
            <a:avLst>
              <a:gd name="adj" fmla="val 3353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17374">
            <a:solidFill>
              <a:srgbClr val="E56D4E"/>
            </a:solidFill>
            <a:prstDash val="solid"/>
          </a:ln>
        </p:spPr>
      </p:sp>
      <p:sp>
        <p:nvSpPr>
          <p:cNvPr id="64" name="substitution-title">
            <a:extLst xmlns:a="http://schemas.openxmlformats.org/drawingml/2006/main">
              <a:ext uri="{FF2B5EF4-FFF2-40B4-BE49-F238E27FC236}">
                <a16:creationId xmlns:a16="http://schemas.microsoft.com/office/drawing/2014/main" id="{9C1F0CCD-A96E-4942-8FE1-77D74AF7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1504" y="2794734"/>
            <a:ext cx="3080742" cy="455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24" b="1" i="0">
                <a:solidFill>
                  <a:srgbClr val="E56D4E"/>
                </a:solidFill>
              </a:defRPr>
            </a:pPr>
            <a:r>
              <a:rPr sz="1824" b="1" i="0">
                <a:solidFill>
                  <a:srgbClr val="E56D4E"/>
                </a:solidFill>
              </a:rPr>
              <a:t>Conditional substitution</a:t>
            </a:r>
          </a:p>
        </p:txBody>
      </p:sp>
      <p:sp>
        <p:nvSpPr>
          <p:cNvPr id="65" name="substitution-formula">
            <a:extLst xmlns:a="http://schemas.openxmlformats.org/drawingml/2006/main">
              <a:ext uri="{FF2B5EF4-FFF2-40B4-BE49-F238E27FC236}">
                <a16:creationId xmlns:a16="http://schemas.microsoft.com/office/drawing/2014/main" id="{5B1637AF-CE07-4598-BB68-8370E264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1504" y="3290254"/>
            <a:ext cx="3080742" cy="4162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24" b="1" i="0">
                <a:solidFill>
                  <a:srgbClr val="E56D4E"/>
                </a:solidFill>
              </a:defRPr>
            </a:pPr>
            <a:r>
              <a:rPr sz="1824" b="1" i="0">
                <a:solidFill>
                  <a:srgbClr val="E56D4E"/>
                </a:solidFill>
              </a:rPr>
              <a:t>correct bind A -&gt; final target B</a:t>
            </a:r>
          </a:p>
        </p:txBody>
      </p:sp>
      <p:sp>
        <p:nvSpPr>
          <p:cNvPr id="66" name="substitution-slice">
            <a:extLst xmlns:a="http://schemas.openxmlformats.org/drawingml/2006/main">
              <a:ext uri="{FF2B5EF4-FFF2-40B4-BE49-F238E27FC236}">
                <a16:creationId xmlns:a16="http://schemas.microsoft.com/office/drawing/2014/main" id="{2BCB9B06-F34A-43AF-8427-AD3F271A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1504" y="3765954"/>
            <a:ext cx="3080742" cy="35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24" b="0" i="0">
                <a:solidFill>
                  <a:srgbClr val="66747A"/>
                </a:solidFill>
              </a:defRPr>
            </a:pPr>
            <a:r>
              <a:rPr sz="1824" b="0" i="0">
                <a:solidFill>
                  <a:srgbClr val="66747A"/>
                </a:solidFill>
              </a:rPr>
              <a:t>denom.: strict eligible Preserve rows</a:t>
            </a:r>
          </a:p>
        </p:txBody>
      </p:sp>
      <p:sp>
        <p:nvSpPr>
          <p:cNvPr id="67" name="execution-readout">
            <a:extLst xmlns:a="http://schemas.openxmlformats.org/drawingml/2006/main">
              <a:ext uri="{FF2B5EF4-FFF2-40B4-BE49-F238E27FC236}">
                <a16:creationId xmlns:a16="http://schemas.microsoft.com/office/drawing/2014/main" id="{0CB0EA4B-91F1-4A52-B75C-BE2D232C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4558786"/>
            <a:ext cx="3429000" cy="1803694"/>
          </a:xfrm>
          <a:prstGeom xmlns:a="http://schemas.openxmlformats.org/drawingml/2006/main" prst="roundRect">
            <a:avLst>
              <a:gd name="adj" fmla="val 3168"/>
            </a:avLst>
          </a:prstGeom>
          <a:solidFill xmlns:a="http://schemas.openxmlformats.org/drawingml/2006/main">
            <a:srgbClr val="EDF7F1"/>
          </a:solidFill>
          <a:ln xmlns:a="http://schemas.openxmlformats.org/drawingml/2006/main" w="17374">
            <a:solidFill>
              <a:srgbClr val="60AA84"/>
            </a:solidFill>
            <a:prstDash val="solid"/>
          </a:ln>
        </p:spPr>
      </p:sp>
      <p:sp>
        <p:nvSpPr>
          <p:cNvPr id="68" name="execution-title">
            <a:extLst xmlns:a="http://schemas.openxmlformats.org/drawingml/2006/main">
              <a:ext uri="{FF2B5EF4-FFF2-40B4-BE49-F238E27FC236}">
                <a16:creationId xmlns:a16="http://schemas.microsoft.com/office/drawing/2014/main" id="{7938A04E-6B1C-4632-AD10-EB9C1FF1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1504" y="4677711"/>
            <a:ext cx="3080742" cy="455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38" b="1" i="0">
                <a:solidFill>
                  <a:srgbClr val="264A56"/>
                </a:solidFill>
              </a:defRPr>
            </a:pPr>
            <a:r>
              <a:rPr sz="1938" b="1" i="0">
                <a:solidFill>
                  <a:srgbClr val="264A56"/>
                </a:solidFill>
              </a:rPr>
              <a:t>Execution subset</a:t>
            </a:r>
          </a:p>
        </p:txBody>
      </p:sp>
      <p:sp>
        <p:nvSpPr>
          <p:cNvPr id="69" name="execution-database">
            <a:extLst xmlns:a="http://schemas.openxmlformats.org/drawingml/2006/main">
              <a:ext uri="{FF2B5EF4-FFF2-40B4-BE49-F238E27FC236}">
                <a16:creationId xmlns:a16="http://schemas.microsoft.com/office/drawing/2014/main" id="{86EB858B-7E1C-4745-8A60-6AFEF9E1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1688" y="5232694"/>
            <a:ext cx="535781" cy="753191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6060">
            <a:solidFill>
              <a:srgbClr val="60AA84"/>
            </a:solidFill>
            <a:prstDash val="solid"/>
          </a:ln>
        </p:spPr>
      </p:sp>
      <p:sp>
        <p:nvSpPr>
          <p:cNvPr id="70" name="execution-database-text">
            <a:extLst xmlns:a="http://schemas.openxmlformats.org/drawingml/2006/main">
              <a:ext uri="{FF2B5EF4-FFF2-40B4-BE49-F238E27FC236}">
                <a16:creationId xmlns:a16="http://schemas.microsoft.com/office/drawing/2014/main" id="{1473B3E5-0A34-441C-A1DB-9CDB8644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1688" y="5292156"/>
            <a:ext cx="535781" cy="594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24" b="1" i="0">
                <a:solidFill>
                  <a:srgbClr val="60AA84"/>
                </a:solidFill>
              </a:defRPr>
            </a:pPr>
            <a:r>
              <a:rPr sz="1824" b="1" i="0">
                <a:solidFill>
                  <a:srgbClr val="60AA84"/>
                </a:solidFill>
              </a:rPr>
              <a:t>ID</a:t>
            </a:r>
          </a:p>
        </p:txBody>
      </p:sp>
      <p:sp>
        <p:nvSpPr>
          <p:cNvPr id="71" name="write-box">
            <a:extLst xmlns:a="http://schemas.openxmlformats.org/drawingml/2006/main">
              <a:ext uri="{FF2B5EF4-FFF2-40B4-BE49-F238E27FC236}">
                <a16:creationId xmlns:a16="http://schemas.microsoft.com/office/drawing/2014/main" id="{ADD3FF1F-25B8-43F1-B479-167995EF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1414" y="5311977"/>
            <a:ext cx="1098352" cy="594624"/>
          </a:xfrm>
          <a:prstGeom xmlns:a="http://schemas.openxmlformats.org/drawingml/2006/main" prst="roundRect">
            <a:avLst>
              <a:gd name="adj" fmla="val 96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1717">
            <a:solidFill>
              <a:srgbClr val="EABC6B"/>
            </a:solidFill>
            <a:prstDash val="solid"/>
          </a:ln>
        </p:spPr>
      </p:sp>
      <p:sp>
        <p:nvSpPr>
          <p:cNvPr id="72" name="write-text">
            <a:extLst xmlns:a="http://schemas.openxmlformats.org/drawingml/2006/main">
              <a:ext uri="{FF2B5EF4-FFF2-40B4-BE49-F238E27FC236}">
                <a16:creationId xmlns:a16="http://schemas.microsoft.com/office/drawing/2014/main" id="{DA13828B-71FF-467C-A5D7-6BF382A6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4809" y="5331798"/>
            <a:ext cx="1071563" cy="554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24" b="1" i="0">
                <a:solidFill>
                  <a:srgbClr val="264A56"/>
                </a:solidFill>
              </a:defRPr>
            </a:pPr>
            <a:r>
              <a:rPr sz="1824" b="1" i="0">
                <a:solidFill>
                  <a:srgbClr val="264A56"/>
                </a:solidFill>
              </a:rPr>
              <a:t>WRITE</a:t>
            </a:r>
          </a:p>
        </p:txBody>
      </p:sp>
      <p:sp>
        <p:nvSpPr>
          <p:cNvPr id="73" name="state-diff-box">
            <a:extLst xmlns:a="http://schemas.openxmlformats.org/drawingml/2006/main">
              <a:ext uri="{FF2B5EF4-FFF2-40B4-BE49-F238E27FC236}">
                <a16:creationId xmlns:a16="http://schemas.microsoft.com/office/drawing/2014/main" id="{5ABDC200-49F6-48AB-AD69-41BEBBE2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3711" y="5311977"/>
            <a:ext cx="1165324" cy="594624"/>
          </a:xfrm>
          <a:prstGeom xmlns:a="http://schemas.openxmlformats.org/drawingml/2006/main" prst="roundRect">
            <a:avLst>
              <a:gd name="adj" fmla="val 96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1717">
            <a:solidFill>
              <a:srgbClr val="60AA84"/>
            </a:solidFill>
            <a:prstDash val="solid"/>
          </a:ln>
        </p:spPr>
      </p:sp>
      <p:sp>
        <p:nvSpPr>
          <p:cNvPr id="74" name="state-diff-text">
            <a:extLst xmlns:a="http://schemas.openxmlformats.org/drawingml/2006/main">
              <a:ext uri="{FF2B5EF4-FFF2-40B4-BE49-F238E27FC236}">
                <a16:creationId xmlns:a16="http://schemas.microsoft.com/office/drawing/2014/main" id="{55EB963D-A9DC-41AD-832C-55E0F772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7105" y="5331798"/>
            <a:ext cx="1138535" cy="554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24" b="1" i="0">
                <a:solidFill>
                  <a:srgbClr val="60AA84"/>
                </a:solidFill>
              </a:defRPr>
            </a:pPr>
            <a:r>
              <a:rPr sz="1824" b="1" i="0">
                <a:solidFill>
                  <a:srgbClr val="60AA84"/>
                </a:solidFill>
              </a:rPr>
              <a:t>state diff</a:t>
            </a:r>
          </a:p>
        </p:txBody>
      </p:sp>
      <p:cxnSp>
        <p:nvCxnSpPr>
          <p:cNvPr id="152" name=""/>
          <p:cNvCxnSpPr>
            <a:stCxn xmlns:a="http://schemas.openxmlformats.org/drawingml/2006/main" id="69" idx="4"/>
            <a:endCxn xmlns:a="http://schemas.openxmlformats.org/drawingml/2006/main" id="71" idx="1"/>
          </p:cNvCxnSpPr>
          <p:nvPr/>
        </p:nvCxnSpPr>
        <p:spPr>
          <a:xfrm xmlns:a="http://schemas.openxmlformats.org/drawingml/2006/main" flipV="1">
            <a:off x="14037469" y="5609289"/>
            <a:ext cx="133945" cy="0"/>
          </a:xfrm>
          <a:prstGeom xmlns:a="http://schemas.openxmlformats.org/drawingml/2006/main" prst="straightConnector1">
            <a:avLst/>
          </a:prstGeom>
          <a:ln xmlns:a="http://schemas.openxmlformats.org/drawingml/2006/main" w="36195">
            <a:solidFill>
              <a:srgbClr val="B4B87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53" name=""/>
          <p:cNvCxnSpPr>
            <a:stCxn xmlns:a="http://schemas.openxmlformats.org/drawingml/2006/main" id="71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15269766" y="5609289"/>
            <a:ext cx="133945" cy="0"/>
          </a:xfrm>
          <a:prstGeom xmlns:a="http://schemas.openxmlformats.org/drawingml/2006/main" prst="straightConnector1">
            <a:avLst/>
          </a:prstGeom>
          <a:ln xmlns:a="http://schemas.openxmlformats.org/drawingml/2006/main" w="36195">
            <a:solidFill>
              <a:srgbClr val="60AA8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77" name="execution-slice">
            <a:extLst xmlns:a="http://schemas.openxmlformats.org/drawingml/2006/main">
              <a:ext uri="{FF2B5EF4-FFF2-40B4-BE49-F238E27FC236}">
                <a16:creationId xmlns:a16="http://schemas.microsoft.com/office/drawing/2014/main" id="{90D40407-5C2B-45D5-9887-9DE15350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102" y="6005705"/>
            <a:ext cx="2652117" cy="297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68" b="0" i="0">
                <a:solidFill>
                  <a:srgbClr val="66747A"/>
                </a:solidFill>
              </a:defRPr>
            </a:pPr>
            <a:r>
              <a:rPr sz="1368" b="0" i="0">
                <a:solidFill>
                  <a:srgbClr val="66747A"/>
                </a:solidFill>
              </a:rPr>
              <a:t>denom.: executed model writes</a:t>
            </a:r>
          </a:p>
        </p:txBody>
      </p:sp>
    </p:spTree>
    <p:extLst>
      <p:ext uri="{BB962C8B-B14F-4D97-AF65-F5344CB8AC3E}">
        <p14:creationId xmlns:p14="http://schemas.microsoft.com/office/powerpoint/2010/main" val="781819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2026-07-28T14:29:31.0380000Z</dcterms:created>
  <dcterms:modified xsi:type="dcterms:W3CDTF">2026-07-28T14:29:31.0390000Z</dcterms:modified>
</coreProperties>
</file>
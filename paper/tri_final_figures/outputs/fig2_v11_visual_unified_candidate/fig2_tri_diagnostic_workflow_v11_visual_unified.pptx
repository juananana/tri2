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119998e6d4023" /><Relationship Type="http://schemas.openxmlformats.org/officeDocument/2006/relationships/extended-properties" Target="/docProps/app.xml" Id="R5189cd520b9e41f0" /><Relationship Type="http://schemas.openxmlformats.org/officeDocument/2006/relationships/officeDocument" Target="/ppt/presentation.xml" Id="R4b25c7a77571417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d1e81220b8645fc"/>
  </p:sldMasterIdLst>
  <p:notesMasterIdLst>
    <p:notesMasterId xmlns:r="http://schemas.openxmlformats.org/officeDocument/2006/relationships" r:id="Rc7afeb3b25e649f1"/>
  </p:notesMasterIdLst>
  <p:sldIdLst>
    <p:sldId xmlns:r="http://schemas.openxmlformats.org/officeDocument/2006/relationships" id="256" r:id="Rc5622dfdff3c481b"/>
  </p:sldIdLst>
  <p:sldSz cx="15240000" cy="9144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c3a683c49d4d5c" /><Relationship Type="http://schemas.openxmlformats.org/officeDocument/2006/relationships/slideMaster" Target="/ppt/slideMasters/slideMaster1.xml" Id="Rcd1e81220b8645fc" /><Relationship Type="http://schemas.openxmlformats.org/officeDocument/2006/relationships/notesMaster" Target="/ppt/notesMasters/notesMaster1.xml" Id="Rc7afeb3b25e649f1" /><Relationship Type="http://schemas.openxmlformats.org/officeDocument/2006/relationships/presProps" Target="/ppt/presProps.xml" Id="Ra843e5f0d64a4dfa" /><Relationship Type="http://schemas.openxmlformats.org/officeDocument/2006/relationships/tableStyles" Target="/ppt/tableStyles.xml" Id="R728471a5ad9e4bf1" /><Relationship Type="http://schemas.openxmlformats.org/officeDocument/2006/relationships/slide" Target="/ppt/slides/slide1.xml" Id="Rc5622dfdff3c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7db02d907b429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e75367a05f4f57" /><Relationship Type="http://schemas.openxmlformats.org/officeDocument/2006/relationships/notesMaster" Target="/ppt/notesMasters/notesMaster1.xml" Id="R1560fcc09d3743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Figure 2 reference: structure, density, and visual grammar.</a:t>
            </a:r>
          </a:p>
          <a:p xmlns:a="http://schemas.openxmlformats.org/drawingml/2006/main">
            <a:r>
              <a:t>- Anonymous TRI manuscript: matched-pair variables, strict substitution denominator, probe inputs, and execution readout.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d1917f4be142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074e66cf4948c8" /><Relationship Type="http://schemas.openxmlformats.org/officeDocument/2006/relationships/slideLayout" Target="/ppt/slideLayouts/slideLayout1.xml" Id="R2865bf5c9faa45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65bf5c9faa45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4eed9a0d64b85" /><Relationship Type="http://schemas.openxmlformats.org/officeDocument/2006/relationships/notesSlide" Target="/ppt/notesSlides/notesSlide1.xml" Id="R960d447c5cd749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panel-A">
            <a:extLst xmlns:a="http://schemas.openxmlformats.org/drawingml/2006/main">
              <a:ext uri="{FF2B5EF4-FFF2-40B4-BE49-F238E27FC236}">
                <a16:creationId xmlns:a16="http://schemas.microsoft.com/office/drawing/2014/main" id="{F6F6587A-495F-49D3-8C1E-0FCA14AB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33350"/>
            <a:ext cx="6191250" cy="8877300"/>
          </a:xfrm>
          <a:prstGeom xmlns:a="http://schemas.openxmlformats.org/drawingml/2006/main" prst="roundRect">
            <a:avLst>
              <a:gd name="adj" fmla="val 92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8343A"/>
            </a:solidFill>
            <a:prstDash val="solid"/>
          </a:ln>
        </p:spPr>
      </p:sp>
      <p:sp>
        <p:nvSpPr>
          <p:cNvPr id="2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3D63371F-3A90-4724-B6EB-A09CD0C24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09550"/>
            <a:ext cx="584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A. Construct the matched pair</a:t>
            </a:r>
          </a:p>
        </p:txBody>
      </p:sp>
      <p:sp>
        <p:nvSpPr>
          <p:cNvPr id="3" name="panel-B">
            <a:extLst xmlns:a="http://schemas.openxmlformats.org/drawingml/2006/main">
              <a:ext uri="{FF2B5EF4-FFF2-40B4-BE49-F238E27FC236}">
                <a16:creationId xmlns:a16="http://schemas.microsoft.com/office/drawing/2014/main" id="{A1844DAF-21AB-4120-8CA8-ACA118F0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33350"/>
            <a:ext cx="3848100" cy="8877300"/>
          </a:xfrm>
          <a:prstGeom xmlns:a="http://schemas.openxmlformats.org/drawingml/2006/main" prst="roundRect">
            <a:avLst>
              <a:gd name="adj" fmla="val 1485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8343A"/>
            </a:solidFill>
            <a:prstDash val="solid"/>
          </a:ln>
        </p:spPr>
      </p:sp>
      <p:sp>
        <p:nvSpPr>
          <p:cNvPr id="4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F0279BB8-F945-4490-A6A0-8BA6D5AF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9550"/>
            <a:ext cx="3505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B. Run the pair</a:t>
            </a:r>
          </a:p>
        </p:txBody>
      </p:sp>
      <p:sp>
        <p:nvSpPr>
          <p:cNvPr id="5" name="panel-C">
            <a:extLst xmlns:a="http://schemas.openxmlformats.org/drawingml/2006/main">
              <a:ext uri="{FF2B5EF4-FFF2-40B4-BE49-F238E27FC236}">
                <a16:creationId xmlns:a16="http://schemas.microsoft.com/office/drawing/2014/main" id="{BD364061-CB0B-4077-A621-E7160B45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33350"/>
            <a:ext cx="4667250" cy="8877300"/>
          </a:xfrm>
          <a:prstGeom xmlns:a="http://schemas.openxmlformats.org/drawingml/2006/main" prst="roundRect">
            <a:avLst>
              <a:gd name="adj" fmla="val 1224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8343A"/>
            </a:solidFill>
            <a:prstDash val="solid"/>
          </a:ln>
        </p:spPr>
      </p:sp>
      <p:sp>
        <p:nvSpPr>
          <p:cNvPr id="6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1494B585-07B7-4EAB-9058-E51FF36A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9550"/>
            <a:ext cx="432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719"/>
                </a:solidFill>
              </a:defRPr>
            </a:pPr>
            <a:r>
              <a:rPr sz="1725" b="1" i="0">
                <a:solidFill>
                  <a:srgbClr val="111719"/>
                </a:solidFill>
              </a:rPr>
              <a:t>C. Observable readouts</a:t>
            </a:r>
          </a:p>
        </p:txBody>
      </p:sp>
      <p:sp>
        <p:nvSpPr>
          <p:cNvPr id="7" name="a-summary">
            <a:extLst xmlns:a="http://schemas.openxmlformats.org/drawingml/2006/main">
              <a:ext uri="{FF2B5EF4-FFF2-40B4-BE49-F238E27FC236}">
                <a16:creationId xmlns:a16="http://schemas.microsoft.com/office/drawing/2014/main" id="{0C25C575-625E-474D-AC47-30D4B8CF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66750"/>
            <a:ext cx="5886450" cy="154305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B9C3C5"/>
            </a:solidFill>
            <a:prstDash val="solid"/>
          </a:ln>
        </p:spPr>
      </p:sp>
      <p:sp>
        <p:nvSpPr>
          <p:cNvPr id="8" name="a-fixed">
            <a:extLst xmlns:a="http://schemas.openxmlformats.org/drawingml/2006/main">
              <a:ext uri="{FF2B5EF4-FFF2-40B4-BE49-F238E27FC236}">
                <a16:creationId xmlns:a16="http://schemas.microsoft.com/office/drawing/2014/main" id="{6753E180-DCA3-47F3-866B-8B6771F7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81050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30343F"/>
                </a:solidFill>
              </a:defRPr>
            </a:pPr>
            <a:r>
              <a:rPr sz="1275" b="1" i="0">
                <a:solidFill>
                  <a:srgbClr val="30343F"/>
                </a:solidFill>
              </a:rPr>
              <a:t>Fixed:  S0, S1, q, action, schema, controller interface</a:t>
            </a:r>
          </a:p>
        </p:txBody>
      </p:sp>
      <p:sp>
        <p:nvSpPr>
          <p:cNvPr id="9" name="a-change">
            <a:extLst xmlns:a="http://schemas.openxmlformats.org/drawingml/2006/main">
              <a:ext uri="{FF2B5EF4-FFF2-40B4-BE49-F238E27FC236}">
                <a16:creationId xmlns:a16="http://schemas.microsoft.com/office/drawing/2014/main" id="{3375D535-05B9-48E3-8856-9C17881B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76325"/>
            <a:ext cx="554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8343A"/>
                </a:solidFill>
              </a:defRPr>
            </a:pPr>
            <a:r>
              <a:rPr sz="1275" b="1" i="0">
                <a:solidFill>
                  <a:srgbClr val="28343A"/>
                </a:solidFill>
              </a:rPr>
              <a:t>Unique change: instruction commitment timing</a:t>
            </a:r>
          </a:p>
        </p:txBody>
      </p:sp>
      <p:sp>
        <p:nvSpPr>
          <p:cNvPr id="10" name="a-transition">
            <a:extLst xmlns:a="http://schemas.openxmlformats.org/drawingml/2006/main">
              <a:ext uri="{FF2B5EF4-FFF2-40B4-BE49-F238E27FC236}">
                <a16:creationId xmlns:a16="http://schemas.microsoft.com/office/drawing/2014/main" id="{45681F03-5929-4229-B138-2C57F74C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Shared transition:   q(S0) = A   -&gt;   refresh   -&gt;   q(S1) = B</a:t>
            </a:r>
          </a:p>
        </p:txBody>
      </p:sp>
      <p:sp>
        <p:nvSpPr>
          <p:cNvPr id="11" name="a-valid">
            <a:extLst xmlns:a="http://schemas.openxmlformats.org/drawingml/2006/main">
              <a:ext uri="{FF2B5EF4-FFF2-40B4-BE49-F238E27FC236}">
                <a16:creationId xmlns:a16="http://schemas.microsoft.com/office/drawing/2014/main" id="{671FC7C9-10FA-4AB9-86D0-D72A1E67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4286250" cy="333375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1430">
            <a:solidFill>
              <a:srgbClr val="66899D"/>
            </a:solidFill>
            <a:prstDash val="solid"/>
          </a:ln>
        </p:spPr>
      </p:sp>
      <p:sp>
        <p:nvSpPr>
          <p:cNvPr id="12" name="a-valid-text">
            <a:extLst xmlns:a="http://schemas.openxmlformats.org/drawingml/2006/main">
              <a:ext uri="{FF2B5EF4-FFF2-40B4-BE49-F238E27FC236}">
                <a16:creationId xmlns:a16="http://schemas.microsoft.com/office/drawing/2014/main" id="{5E6ABF4E-2DA7-435B-847A-4AA274F28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81175"/>
            <a:ext cx="4095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0343F"/>
                </a:solidFill>
              </a:defRPr>
            </a:pPr>
            <a:r>
              <a:rPr sz="1350" b="0" i="1">
                <a:solidFill>
                  <a:srgbClr val="30343F"/>
                </a:solidFill>
              </a:rPr>
              <a:t>A remains present and action-valid in S1</a:t>
            </a:r>
          </a:p>
        </p:txBody>
      </p:sp>
      <p:sp>
        <p:nvSpPr>
          <p:cNvPr id="13" name="preserve-lane">
            <a:extLst xmlns:a="http://schemas.openxmlformats.org/drawingml/2006/main">
              <a:ext uri="{FF2B5EF4-FFF2-40B4-BE49-F238E27FC236}">
                <a16:creationId xmlns:a16="http://schemas.microsoft.com/office/drawing/2014/main" id="{5C889888-899D-48D9-980C-2421C60D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B94D49"/>
            </a:solidFill>
            <a:prstDash val="solid"/>
          </a:ln>
        </p:spPr>
      </p:sp>
      <p:sp>
        <p:nvSpPr>
          <p:cNvPr id="14" name="preserve-band">
            <a:extLst xmlns:a="http://schemas.openxmlformats.org/drawingml/2006/main">
              <a:ext uri="{FF2B5EF4-FFF2-40B4-BE49-F238E27FC236}">
                <a16:creationId xmlns:a16="http://schemas.microsoft.com/office/drawing/2014/main" id="{87329B56-538A-4A53-9C9E-E2423899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352675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15" name="preserve-band-title">
            <a:extLst xmlns:a="http://schemas.openxmlformats.org/drawingml/2006/main">
              <a:ext uri="{FF2B5EF4-FFF2-40B4-BE49-F238E27FC236}">
                <a16:creationId xmlns:a16="http://schemas.microsoft.com/office/drawing/2014/main" id="{6148454C-8646-4191-91C6-DCA0330C8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4955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Preserve</a:t>
            </a:r>
          </a:p>
        </p:txBody>
      </p:sp>
      <p:sp>
        <p:nvSpPr>
          <p:cNvPr id="16" name="preserve-band-desc">
            <a:extLst xmlns:a="http://schemas.openxmlformats.org/drawingml/2006/main">
              <a:ext uri="{FF2B5EF4-FFF2-40B4-BE49-F238E27FC236}">
                <a16:creationId xmlns:a16="http://schemas.microsoft.com/office/drawing/2014/main" id="{99CC09D2-70F2-43AA-AF78-C3ED4C61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847975"/>
            <a:ext cx="742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commit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before</a:t>
            </a:r>
          </a:p>
          <a:p xmlns:a="http://schemas.openxmlformats.org/drawingml/2006/main"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17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54F58195-45AD-4C32-A25A-E185F4A3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762375"/>
            <a:ext cx="228600" cy="228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8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68B44CE0-8659-44B1-8A77-777865BA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32385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B94D4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94403084-146D-4370-83F2-97A440334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0" name="p-s0">
            <a:extLst xmlns:a="http://schemas.openxmlformats.org/drawingml/2006/main">
              <a:ext uri="{FF2B5EF4-FFF2-40B4-BE49-F238E27FC236}">
                <a16:creationId xmlns:a16="http://schemas.microsoft.com/office/drawing/2014/main" id="{68112D3E-1C3E-4E74-807D-544E5BC4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S0</a:t>
            </a:r>
          </a:p>
        </p:txBody>
      </p:sp>
      <p:sp>
        <p:nvSpPr>
          <p:cNvPr id="21" name="p-s0-state">
            <a:extLst xmlns:a="http://schemas.openxmlformats.org/drawingml/2006/main">
              <a:ext uri="{FF2B5EF4-FFF2-40B4-BE49-F238E27FC236}">
                <a16:creationId xmlns:a16="http://schemas.microsoft.com/office/drawing/2014/main" id="{5D958EC4-BA64-4F47-B466-520B10DB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22" name="p-s0-other-0">
            <a:extLst xmlns:a="http://schemas.openxmlformats.org/drawingml/2006/main">
              <a:ext uri="{FF2B5EF4-FFF2-40B4-BE49-F238E27FC236}">
                <a16:creationId xmlns:a16="http://schemas.microsoft.com/office/drawing/2014/main" id="{D42D2E06-34DC-4BA5-A4F8-439523CC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3" name="p-s0-other-1">
            <a:extLst xmlns:a="http://schemas.openxmlformats.org/drawingml/2006/main">
              <a:ext uri="{FF2B5EF4-FFF2-40B4-BE49-F238E27FC236}">
                <a16:creationId xmlns:a16="http://schemas.microsoft.com/office/drawing/2014/main" id="{92040D95-48CF-458E-8A93-5E0560886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4" name="p-s0-other-2">
            <a:extLst xmlns:a="http://schemas.openxmlformats.org/drawingml/2006/main">
              <a:ext uri="{FF2B5EF4-FFF2-40B4-BE49-F238E27FC236}">
                <a16:creationId xmlns:a16="http://schemas.microsoft.com/office/drawing/2014/main" id="{A28A51AF-94F1-4D2D-BE68-B13B39E4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5" name="p-s0-other-3">
            <a:extLst xmlns:a="http://schemas.openxmlformats.org/drawingml/2006/main">
              <a:ext uri="{FF2B5EF4-FFF2-40B4-BE49-F238E27FC236}">
                <a16:creationId xmlns:a16="http://schemas.microsoft.com/office/drawing/2014/main" id="{B8B8C9E5-5E62-40C6-AE5B-A25720681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26" name="p-s0-a">
            <a:extLst xmlns:a="http://schemas.openxmlformats.org/drawingml/2006/main">
              <a:ext uri="{FF2B5EF4-FFF2-40B4-BE49-F238E27FC236}">
                <a16:creationId xmlns:a16="http://schemas.microsoft.com/office/drawing/2014/main" id="{B1D1BAE2-07BE-4B21-8989-40340BD8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27" name="p-q0">
            <a:extLst xmlns:a="http://schemas.openxmlformats.org/drawingml/2006/main">
              <a:ext uri="{FF2B5EF4-FFF2-40B4-BE49-F238E27FC236}">
                <a16:creationId xmlns:a16="http://schemas.microsoft.com/office/drawing/2014/main" id="{02E61BAC-4ACE-4D16-8B5E-7555A6B6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0343F"/>
                </a:solidFill>
              </a:defRPr>
            </a:pPr>
            <a:r>
              <a:rPr sz="1350" b="0" i="1">
                <a:solidFill>
                  <a:srgbClr val="30343F"/>
                </a:solidFill>
              </a:rPr>
              <a:t>q(S0) = A</a:t>
            </a:r>
          </a:p>
        </p:txBody>
      </p:sp>
      <p:sp>
        <p:nvSpPr>
          <p:cNvPr id="28" name="p-bind-label">
            <a:extLst xmlns:a="http://schemas.openxmlformats.org/drawingml/2006/main">
              <a:ext uri="{FF2B5EF4-FFF2-40B4-BE49-F238E27FC236}">
                <a16:creationId xmlns:a16="http://schemas.microsoft.com/office/drawing/2014/main" id="{8B238B24-070F-4B38-8C14-B076FCDD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647950"/>
            <a:ext cx="9810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B94D49"/>
                </a:solidFill>
              </a:defRPr>
            </a:pPr>
            <a:r>
              <a:rPr sz="1200" b="1" i="0">
                <a:solidFill>
                  <a:srgbClr val="B94D49"/>
                </a:solidFill>
              </a:rPr>
              <a:t>bound(A)</a:t>
            </a:r>
          </a:p>
          <a:p xmlns:a="http://schemas.openxmlformats.org/drawingml/2006/main">
            <a:pPr algn="ctr">
              <a:defRPr sz="1200" b="1" i="0">
                <a:solidFill>
                  <a:srgbClr val="B94D49"/>
                </a:solidFill>
              </a:defRPr>
            </a:pPr>
            <a:r>
              <a:rPr sz="1200" b="1" i="0">
                <a:solidFill>
                  <a:srgbClr val="B94D49"/>
                </a:solidFill>
              </a:rPr>
              <a:t>before refresh</a:t>
            </a:r>
          </a:p>
        </p:txBody>
      </p:sp>
      <p:sp>
        <p:nvSpPr>
          <p:cNvPr id="29" name="p-clock-face">
            <a:extLst xmlns:a="http://schemas.openxmlformats.org/drawingml/2006/main">
              <a:ext uri="{FF2B5EF4-FFF2-40B4-BE49-F238E27FC236}">
                <a16:creationId xmlns:a16="http://schemas.microsoft.com/office/drawing/2014/main" id="{1B2AC228-9622-4E3C-A3F8-21402A6D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95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343A"/>
            </a:solidFill>
            <a:prstDash val="solid"/>
          </a:ln>
        </p:spPr>
      </p:sp>
      <p:sp>
        <p:nvSpPr>
          <p:cNvPr id="30" name="p-clock-hand-v">
            <a:extLst xmlns:a="http://schemas.openxmlformats.org/drawingml/2006/main">
              <a:ext uri="{FF2B5EF4-FFF2-40B4-BE49-F238E27FC236}">
                <a16:creationId xmlns:a16="http://schemas.microsoft.com/office/drawing/2014/main" id="{3D55FC38-97FF-47E7-A86D-CEE11706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37166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31" name="p-clock-hand-h">
            <a:extLst xmlns:a="http://schemas.openxmlformats.org/drawingml/2006/main">
              <a:ext uri="{FF2B5EF4-FFF2-40B4-BE49-F238E27FC236}">
                <a16:creationId xmlns:a16="http://schemas.microsoft.com/office/drawing/2014/main" id="{CD8AA411-EF74-4C83-8EFE-BB7C00F7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348767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32" name="p-refresh">
            <a:extLst xmlns:a="http://schemas.openxmlformats.org/drawingml/2006/main">
              <a:ext uri="{FF2B5EF4-FFF2-40B4-BE49-F238E27FC236}">
                <a16:creationId xmlns:a16="http://schemas.microsoft.com/office/drawing/2014/main" id="{3535722F-D1EE-459D-BB05-43809922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14750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refresh</a:t>
            </a:r>
          </a:p>
        </p:txBody>
      </p:sp>
      <p:cxnSp>
        <p:nvCxnSpPr>
          <p:cNvPr id="229" name=""/>
          <p:cNvCxnSpPr>
            <a:stCxn xmlns:a="http://schemas.openxmlformats.org/drawingml/2006/main" id="21" idx="6"/>
            <a:endCxn xmlns:a="http://schemas.openxmlformats.org/drawingml/2006/main" id="29" idx="2"/>
          </p:cNvCxnSpPr>
          <p:nvPr/>
        </p:nvCxnSpPr>
        <p:spPr>
          <a:xfrm xmlns:a="http://schemas.openxmlformats.org/drawingml/2006/main">
            <a:off x="2324100" y="3238500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8343A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34" name="p-s1">
            <a:extLst xmlns:a="http://schemas.openxmlformats.org/drawingml/2006/main">
              <a:ext uri="{FF2B5EF4-FFF2-40B4-BE49-F238E27FC236}">
                <a16:creationId xmlns:a16="http://schemas.microsoft.com/office/drawing/2014/main" id="{75C071C8-10D6-47BE-B9B9-2A1311B8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479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S1</a:t>
            </a:r>
          </a:p>
        </p:txBody>
      </p:sp>
      <p:sp>
        <p:nvSpPr>
          <p:cNvPr id="35" name="p-s1-state">
            <a:extLst xmlns:a="http://schemas.openxmlformats.org/drawingml/2006/main">
              <a:ext uri="{FF2B5EF4-FFF2-40B4-BE49-F238E27FC236}">
                <a16:creationId xmlns:a16="http://schemas.microsoft.com/office/drawing/2014/main" id="{55405219-0E63-4A76-B1E0-70861DD4A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336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36" name="p-s1-other-0">
            <a:extLst xmlns:a="http://schemas.openxmlformats.org/drawingml/2006/main">
              <a:ext uri="{FF2B5EF4-FFF2-40B4-BE49-F238E27FC236}">
                <a16:creationId xmlns:a16="http://schemas.microsoft.com/office/drawing/2014/main" id="{5DD85E74-88D6-4A3A-B1E2-509BF89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718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7" name="p-s1-other-1">
            <a:extLst xmlns:a="http://schemas.openxmlformats.org/drawingml/2006/main">
              <a:ext uri="{FF2B5EF4-FFF2-40B4-BE49-F238E27FC236}">
                <a16:creationId xmlns:a16="http://schemas.microsoft.com/office/drawing/2014/main" id="{43A2139D-2509-4480-95E7-45C5E4AE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8956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8" name="p-s1-other-2">
            <a:extLst xmlns:a="http://schemas.openxmlformats.org/drawingml/2006/main">
              <a:ext uri="{FF2B5EF4-FFF2-40B4-BE49-F238E27FC236}">
                <a16:creationId xmlns:a16="http://schemas.microsoft.com/office/drawing/2014/main" id="{A2A0F749-423A-457F-97C5-A2107158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8612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39" name="p-s1-other-3">
            <a:extLst xmlns:a="http://schemas.openxmlformats.org/drawingml/2006/main">
              <a:ext uri="{FF2B5EF4-FFF2-40B4-BE49-F238E27FC236}">
                <a16:creationId xmlns:a16="http://schemas.microsoft.com/office/drawing/2014/main" id="{E1D3BF2A-E337-46B4-A522-07A7135E2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4194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40" name="p-s1-a">
            <a:extLst xmlns:a="http://schemas.openxmlformats.org/drawingml/2006/main">
              <a:ext uri="{FF2B5EF4-FFF2-40B4-BE49-F238E27FC236}">
                <a16:creationId xmlns:a16="http://schemas.microsoft.com/office/drawing/2014/main" id="{2EF7CE0F-DF31-43AD-B864-FD1B0D43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1718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41" name="p-s1-b">
            <a:extLst xmlns:a="http://schemas.openxmlformats.org/drawingml/2006/main">
              <a:ext uri="{FF2B5EF4-FFF2-40B4-BE49-F238E27FC236}">
                <a16:creationId xmlns:a16="http://schemas.microsoft.com/office/drawing/2014/main" id="{93D8ECFF-B862-4C51-A2B9-41CA8646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67025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42" name="p-q1">
            <a:extLst xmlns:a="http://schemas.openxmlformats.org/drawingml/2006/main">
              <a:ext uri="{FF2B5EF4-FFF2-40B4-BE49-F238E27FC236}">
                <a16:creationId xmlns:a16="http://schemas.microsoft.com/office/drawing/2014/main" id="{825A506F-DE4D-4BA2-A8A7-9D37ACAC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781425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0343F"/>
                </a:solidFill>
              </a:defRPr>
            </a:pPr>
            <a:r>
              <a:rPr sz="1350" b="0" i="1">
                <a:solidFill>
                  <a:srgbClr val="30343F"/>
                </a:solidFill>
              </a:rPr>
              <a:t>q(S1) = B</a:t>
            </a:r>
          </a:p>
        </p:txBody>
      </p:sp>
      <p:cxnSp>
        <p:nvCxnSpPr>
          <p:cNvPr id="239" name=""/>
          <p:cNvCxnSpPr>
            <a:stCxn xmlns:a="http://schemas.openxmlformats.org/drawingml/2006/main" id="29" idx="6"/>
            <a:endCxn xmlns:a="http://schemas.openxmlformats.org/drawingml/2006/main" id="35" idx="2"/>
          </p:cNvCxnSpPr>
          <p:nvPr/>
        </p:nvCxnSpPr>
        <p:spPr>
          <a:xfrm xmlns:a="http://schemas.openxmlformats.org/drawingml/2006/main" flipV="1">
            <a:off x="3238500" y="3238500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8343A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4" name="p-target-circle">
            <a:extLst xmlns:a="http://schemas.openxmlformats.org/drawingml/2006/main">
              <a:ext uri="{FF2B5EF4-FFF2-40B4-BE49-F238E27FC236}">
                <a16:creationId xmlns:a16="http://schemas.microsoft.com/office/drawing/2014/main" id="{3C87DE97-B21A-4601-A385-505D9B1B9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31146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94D49"/>
                </a:solidFill>
              </a:defRPr>
            </a:pPr>
            <a:r>
              <a:rPr sz="1500" b="1">
                <a:solidFill>
                  <a:srgbClr val="B94D49"/>
                </a:solidFill>
              </a:rPr>
              <a:t>A</a:t>
            </a:r>
          </a:p>
        </p:txBody>
      </p:sp>
      <p:sp>
        <p:nvSpPr>
          <p:cNvPr id="45" name="p-target-h">
            <a:extLst xmlns:a="http://schemas.openxmlformats.org/drawingml/2006/main">
              <a:ext uri="{FF2B5EF4-FFF2-40B4-BE49-F238E27FC236}">
                <a16:creationId xmlns:a16="http://schemas.microsoft.com/office/drawing/2014/main" id="{BD8D6946-EFC2-44C9-8B61-9AA2DFA9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3375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46" name="p-target-v">
            <a:extLst xmlns:a="http://schemas.openxmlformats.org/drawingml/2006/main">
              <a:ext uri="{FF2B5EF4-FFF2-40B4-BE49-F238E27FC236}">
                <a16:creationId xmlns:a16="http://schemas.microsoft.com/office/drawing/2014/main" id="{1113530C-7C92-40E5-A7A6-66E9643B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38475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cxnSp>
        <p:nvCxnSpPr>
          <p:cNvPr id="243" name=""/>
          <p:cNvCxnSpPr>
            <a:stCxn xmlns:a="http://schemas.openxmlformats.org/drawingml/2006/main" id="35" idx="6"/>
            <a:endCxn xmlns:a="http://schemas.openxmlformats.org/drawingml/2006/main" id="44" idx="2"/>
          </p:cNvCxnSpPr>
          <p:nvPr/>
        </p:nvCxnSpPr>
        <p:spPr>
          <a:xfrm xmlns:a="http://schemas.openxmlformats.org/drawingml/2006/main">
            <a:off x="4705350" y="3238500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B94D49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48" name="p-action">
            <a:extLst xmlns:a="http://schemas.openxmlformats.org/drawingml/2006/main">
              <a:ext uri="{FF2B5EF4-FFF2-40B4-BE49-F238E27FC236}">
                <a16:creationId xmlns:a16="http://schemas.microsoft.com/office/drawing/2014/main" id="{9EBB0B64-1679-41F2-BE1D-9C0FD6C8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857500"/>
            <a:ext cx="12954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0343F"/>
                </a:solidFill>
              </a:defRPr>
            </a:pPr>
            <a:r>
              <a:rPr sz="1125" b="1" i="0">
                <a:solidFill>
                  <a:srgbClr val="30343F"/>
                </a:solidFill>
              </a:rPr>
              <a:t>action executes</a:t>
            </a:r>
          </a:p>
        </p:txBody>
      </p:sp>
      <p:sp>
        <p:nvSpPr>
          <p:cNvPr id="49" name="p-target-label">
            <a:extLst xmlns:a="http://schemas.openxmlformats.org/drawingml/2006/main">
              <a:ext uri="{FF2B5EF4-FFF2-40B4-BE49-F238E27FC236}">
                <a16:creationId xmlns:a16="http://schemas.microsoft.com/office/drawing/2014/main" id="{F19471BB-94E7-4C97-BDBB-42CF62F7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76650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B94D49"/>
                </a:solidFill>
              </a:defRPr>
            </a:pPr>
            <a:r>
              <a:rPr sz="1275" b="1" i="0">
                <a:solidFill>
                  <a:srgbClr val="B94D49"/>
                </a:solidFill>
              </a:rPr>
              <a:t>target A</a:t>
            </a:r>
          </a:p>
        </p:txBody>
      </p:sp>
      <p:sp>
        <p:nvSpPr>
          <p:cNvPr id="50" name="reevaluate-lane">
            <a:extLst xmlns:a="http://schemas.openxmlformats.org/drawingml/2006/main">
              <a:ext uri="{FF2B5EF4-FFF2-40B4-BE49-F238E27FC236}">
                <a16:creationId xmlns:a16="http://schemas.microsoft.com/office/drawing/2014/main" id="{9E0AF7B7-4690-4954-967A-14747BBB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5924550" cy="2009775"/>
          </a:xfrm>
          <a:prstGeom xmlns:a="http://schemas.openxmlformats.org/drawingml/2006/main" prst="roundRect">
            <a:avLst>
              <a:gd name="adj" fmla="val 2844"/>
            </a:avLst>
          </a:prstGeom>
          <a:noFill xmlns:a="http://schemas.openxmlformats.org/drawingml/2006/main"/>
          <a:ln xmlns:a="http://schemas.openxmlformats.org/drawingml/2006/main" w="15240">
            <a:solidFill>
              <a:srgbClr val="2D7F7B"/>
            </a:solidFill>
            <a:prstDash val="dash"/>
          </a:ln>
        </p:spPr>
      </p:sp>
      <p:sp>
        <p:nvSpPr>
          <p:cNvPr id="51" name="reevaluate-band">
            <a:extLst xmlns:a="http://schemas.openxmlformats.org/drawingml/2006/main">
              <a:ext uri="{FF2B5EF4-FFF2-40B4-BE49-F238E27FC236}">
                <a16:creationId xmlns:a16="http://schemas.microsoft.com/office/drawing/2014/main" id="{8648B805-F1A6-4A3D-9F7F-B7378678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895350" cy="2009775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52" name="reevaluate-band-title">
            <a:extLst xmlns:a="http://schemas.openxmlformats.org/drawingml/2006/main">
              <a:ext uri="{FF2B5EF4-FFF2-40B4-BE49-F238E27FC236}">
                <a16:creationId xmlns:a16="http://schemas.microsoft.com/office/drawing/2014/main" id="{B4BE7251-2718-4F80-A5F5-E6CE21D1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465772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Reevaluate</a:t>
            </a:r>
          </a:p>
        </p:txBody>
      </p:sp>
      <p:sp>
        <p:nvSpPr>
          <p:cNvPr id="53" name="reevaluate-band-desc">
            <a:extLst xmlns:a="http://schemas.openxmlformats.org/drawingml/2006/main">
              <a:ext uri="{FF2B5EF4-FFF2-40B4-BE49-F238E27FC236}">
                <a16:creationId xmlns:a16="http://schemas.microsoft.com/office/drawing/2014/main" id="{A02A7306-9ECD-4156-BC1E-A1A76262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4991100"/>
            <a:ext cx="742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defer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selection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until after</a:t>
            </a:r>
          </a:p>
          <a:p xmlns:a="http://schemas.openxmlformats.org/drawingml/2006/main">
            <a:pPr algn="ctr"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refresh</a:t>
            </a:r>
          </a:p>
        </p:txBody>
      </p:sp>
      <p:sp>
        <p:nvSpPr>
          <p:cNvPr id="54" name="reevaluate-clock-icon-face">
            <a:extLst xmlns:a="http://schemas.openxmlformats.org/drawingml/2006/main">
              <a:ext uri="{FF2B5EF4-FFF2-40B4-BE49-F238E27FC236}">
                <a16:creationId xmlns:a16="http://schemas.microsoft.com/office/drawing/2014/main" id="{F54A1A5D-68C2-4DE5-8473-22A24ABA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048375"/>
            <a:ext cx="285750" cy="2857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5" name="reevaluate-clock-icon-hand-v">
            <a:extLst xmlns:a="http://schemas.openxmlformats.org/drawingml/2006/main">
              <a:ext uri="{FF2B5EF4-FFF2-40B4-BE49-F238E27FC236}">
                <a16:creationId xmlns:a16="http://schemas.microsoft.com/office/drawing/2014/main" id="{7595A5EF-4CE2-4A43-991F-2527F78E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02668"/>
            <a:ext cx="19050" cy="885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6" name="reevaluate-clock-icon-hand-h">
            <a:extLst xmlns:a="http://schemas.openxmlformats.org/drawingml/2006/main">
              <a:ext uri="{FF2B5EF4-FFF2-40B4-BE49-F238E27FC236}">
                <a16:creationId xmlns:a16="http://schemas.microsoft.com/office/drawing/2014/main" id="{44FA4E04-2E0A-47ED-9211-11C5DD03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" y="6185535"/>
            <a:ext cx="6286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7" name="r-s0">
            <a:extLst xmlns:a="http://schemas.openxmlformats.org/drawingml/2006/main">
              <a:ext uri="{FF2B5EF4-FFF2-40B4-BE49-F238E27FC236}">
                <a16:creationId xmlns:a16="http://schemas.microsoft.com/office/drawing/2014/main" id="{1467D124-392F-4ABB-81EC-84F10FEB9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S0</a:t>
            </a:r>
          </a:p>
        </p:txBody>
      </p:sp>
      <p:sp>
        <p:nvSpPr>
          <p:cNvPr id="58" name="r-s0-state">
            <a:extLst xmlns:a="http://schemas.openxmlformats.org/drawingml/2006/main">
              <a:ext uri="{FF2B5EF4-FFF2-40B4-BE49-F238E27FC236}">
                <a16:creationId xmlns:a16="http://schemas.microsoft.com/office/drawing/2014/main" id="{03C35008-E41B-4F53-A567-899CB778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59" name="r-s0-other-0">
            <a:extLst xmlns:a="http://schemas.openxmlformats.org/drawingml/2006/main">
              <a:ext uri="{FF2B5EF4-FFF2-40B4-BE49-F238E27FC236}">
                <a16:creationId xmlns:a16="http://schemas.microsoft.com/office/drawing/2014/main" id="{2EE1A551-BA83-43AF-9D1A-8EED2E3B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0" name="r-s0-other-1">
            <a:extLst xmlns:a="http://schemas.openxmlformats.org/drawingml/2006/main">
              <a:ext uri="{FF2B5EF4-FFF2-40B4-BE49-F238E27FC236}">
                <a16:creationId xmlns:a16="http://schemas.microsoft.com/office/drawing/2014/main" id="{8EF58D5D-A9C7-4CA6-8E32-EFE0F594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1" name="r-s0-other-2">
            <a:extLst xmlns:a="http://schemas.openxmlformats.org/drawingml/2006/main">
              <a:ext uri="{FF2B5EF4-FFF2-40B4-BE49-F238E27FC236}">
                <a16:creationId xmlns:a16="http://schemas.microsoft.com/office/drawing/2014/main" id="{501984F9-6453-404A-90E1-91A64DCD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2" name="r-s0-other-3">
            <a:extLst xmlns:a="http://schemas.openxmlformats.org/drawingml/2006/main">
              <a:ext uri="{FF2B5EF4-FFF2-40B4-BE49-F238E27FC236}">
                <a16:creationId xmlns:a16="http://schemas.microsoft.com/office/drawing/2014/main" id="{D9ADBFC3-143B-44FF-ABEB-E6598D1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63" name="r-s0-a">
            <a:extLst xmlns:a="http://schemas.openxmlformats.org/drawingml/2006/main">
              <a:ext uri="{FF2B5EF4-FFF2-40B4-BE49-F238E27FC236}">
                <a16:creationId xmlns:a16="http://schemas.microsoft.com/office/drawing/2014/main" id="{7ABD58C1-2B51-40F5-A250-9EAE1A03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64" name="r-q0">
            <a:extLst xmlns:a="http://schemas.openxmlformats.org/drawingml/2006/main">
              <a:ext uri="{FF2B5EF4-FFF2-40B4-BE49-F238E27FC236}">
                <a16:creationId xmlns:a16="http://schemas.microsoft.com/office/drawing/2014/main" id="{E5181B24-FDF3-4FEE-9681-A270F0E9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0343F"/>
                </a:solidFill>
              </a:defRPr>
            </a:pPr>
            <a:r>
              <a:rPr sz="1350" b="0" i="1">
                <a:solidFill>
                  <a:srgbClr val="30343F"/>
                </a:solidFill>
              </a:rPr>
              <a:t>q(S0) = A</a:t>
            </a:r>
          </a:p>
        </p:txBody>
      </p:sp>
      <p:sp>
        <p:nvSpPr>
          <p:cNvPr id="65" name="r-defer-label">
            <a:extLst xmlns:a="http://schemas.openxmlformats.org/drawingml/2006/main">
              <a:ext uri="{FF2B5EF4-FFF2-40B4-BE49-F238E27FC236}">
                <a16:creationId xmlns:a16="http://schemas.microsoft.com/office/drawing/2014/main" id="{006613B7-EE54-471F-B056-1D399712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10125"/>
            <a:ext cx="1085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D7F7B"/>
                </a:solidFill>
              </a:defRPr>
            </a:pPr>
            <a:r>
              <a:rPr sz="1200" b="1" i="0">
                <a:solidFill>
                  <a:srgbClr val="2D7F7B"/>
                </a:solidFill>
              </a:rPr>
              <a:t>deferred(q)</a:t>
            </a:r>
          </a:p>
          <a:p xmlns:a="http://schemas.openxmlformats.org/drawingml/2006/main">
            <a:pPr algn="ctr">
              <a:defRPr sz="1200" b="1" i="0">
                <a:solidFill>
                  <a:srgbClr val="2D7F7B"/>
                </a:solidFill>
              </a:defRPr>
            </a:pPr>
            <a:r>
              <a:rPr sz="1200" b="1" i="0">
                <a:solidFill>
                  <a:srgbClr val="2D7F7B"/>
                </a:solidFill>
              </a:rPr>
              <a:t>do not bind</a:t>
            </a:r>
          </a:p>
        </p:txBody>
      </p:sp>
      <p:sp>
        <p:nvSpPr>
          <p:cNvPr id="66" name="r-clock-face">
            <a:extLst xmlns:a="http://schemas.openxmlformats.org/drawingml/2006/main">
              <a:ext uri="{FF2B5EF4-FFF2-40B4-BE49-F238E27FC236}">
                <a16:creationId xmlns:a16="http://schemas.microsoft.com/office/drawing/2014/main" id="{035EBF64-E479-4A97-AB1A-F31DA72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578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343A"/>
            </a:solidFill>
            <a:prstDash val="solid"/>
          </a:ln>
        </p:spPr>
      </p:sp>
      <p:sp>
        <p:nvSpPr>
          <p:cNvPr id="67" name="r-clock-hand-v">
            <a:extLst xmlns:a="http://schemas.openxmlformats.org/drawingml/2006/main">
              <a:ext uri="{FF2B5EF4-FFF2-40B4-BE49-F238E27FC236}">
                <a16:creationId xmlns:a16="http://schemas.microsoft.com/office/drawing/2014/main" id="{4E2ACCDA-0120-4157-B96E-8FC73E42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533835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68" name="r-clock-hand-h">
            <a:extLst xmlns:a="http://schemas.openxmlformats.org/drawingml/2006/main">
              <a:ext uri="{FF2B5EF4-FFF2-40B4-BE49-F238E27FC236}">
                <a16:creationId xmlns:a16="http://schemas.microsoft.com/office/drawing/2014/main" id="{58AD20AE-E9C6-4F9D-8458-B4127DC7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0474" y="5649849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69" name="r-refresh">
            <a:extLst xmlns:a="http://schemas.openxmlformats.org/drawingml/2006/main">
              <a:ext uri="{FF2B5EF4-FFF2-40B4-BE49-F238E27FC236}">
                <a16:creationId xmlns:a16="http://schemas.microsoft.com/office/drawing/2014/main" id="{7F26FCE0-0FE5-449C-89D4-625AF4B9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8769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refresh</a:t>
            </a:r>
          </a:p>
        </p:txBody>
      </p:sp>
      <p:cxnSp>
        <p:nvCxnSpPr>
          <p:cNvPr id="266" name=""/>
          <p:cNvCxnSpPr>
            <a:stCxn xmlns:a="http://schemas.openxmlformats.org/drawingml/2006/main" id="58" idx="6"/>
            <a:endCxn xmlns:a="http://schemas.openxmlformats.org/drawingml/2006/main" id="66" idx="2"/>
          </p:cNvCxnSpPr>
          <p:nvPr/>
        </p:nvCxnSpPr>
        <p:spPr>
          <a:xfrm xmlns:a="http://schemas.openxmlformats.org/drawingml/2006/main">
            <a:off x="2324100" y="5400675"/>
            <a:ext cx="5143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D7F7B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71" name="r-s1">
            <a:extLst xmlns:a="http://schemas.openxmlformats.org/drawingml/2006/main">
              <a:ext uri="{FF2B5EF4-FFF2-40B4-BE49-F238E27FC236}">
                <a16:creationId xmlns:a16="http://schemas.microsoft.com/office/drawing/2014/main" id="{9B72F9B4-2422-4E9C-93F1-4FB1F14C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10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S1</a:t>
            </a:r>
          </a:p>
        </p:txBody>
      </p:sp>
      <p:sp>
        <p:nvSpPr>
          <p:cNvPr id="72" name="r-s1-state">
            <a:extLst xmlns:a="http://schemas.openxmlformats.org/drawingml/2006/main">
              <a:ext uri="{FF2B5EF4-FFF2-40B4-BE49-F238E27FC236}">
                <a16:creationId xmlns:a16="http://schemas.microsoft.com/office/drawing/2014/main" id="{87FC2927-9074-43C3-B7FB-34967685E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0282B"/>
            </a:solidFill>
            <a:prstDash val="solid"/>
          </a:ln>
        </p:spPr>
      </p:sp>
      <p:sp>
        <p:nvSpPr>
          <p:cNvPr id="73" name="r-s1-other-0">
            <a:extLst xmlns:a="http://schemas.openxmlformats.org/drawingml/2006/main">
              <a:ext uri="{FF2B5EF4-FFF2-40B4-BE49-F238E27FC236}">
                <a16:creationId xmlns:a16="http://schemas.microsoft.com/office/drawing/2014/main" id="{7C864736-ABCA-41C0-BACD-37095D77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1339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4" name="r-s1-other-1">
            <a:extLst xmlns:a="http://schemas.openxmlformats.org/drawingml/2006/main">
              <a:ext uri="{FF2B5EF4-FFF2-40B4-BE49-F238E27FC236}">
                <a16:creationId xmlns:a16="http://schemas.microsoft.com/office/drawing/2014/main" id="{40D4A3E8-21BC-407C-ACCB-FFDDDE7A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57775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5" name="r-s1-other-2">
            <a:extLst xmlns:a="http://schemas.openxmlformats.org/drawingml/2006/main">
              <a:ext uri="{FF2B5EF4-FFF2-40B4-BE49-F238E27FC236}">
                <a16:creationId xmlns:a16="http://schemas.microsoft.com/office/drawing/2014/main" id="{7D9ADC4F-032A-4107-A15F-4A19BADF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44830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6" name="r-s1-other-3">
            <a:extLst xmlns:a="http://schemas.openxmlformats.org/drawingml/2006/main">
              <a:ext uri="{FF2B5EF4-FFF2-40B4-BE49-F238E27FC236}">
                <a16:creationId xmlns:a16="http://schemas.microsoft.com/office/drawing/2014/main" id="{F27037BF-AA5A-4EA4-82A6-08965553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581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8573">
            <a:solidFill>
              <a:srgbClr val="616A6D"/>
            </a:solidFill>
            <a:prstDash val="solid"/>
          </a:ln>
        </p:spPr>
      </p:sp>
      <p:sp>
        <p:nvSpPr>
          <p:cNvPr id="77" name="r-s1-a">
            <a:extLst xmlns:a="http://schemas.openxmlformats.org/drawingml/2006/main">
              <a:ext uri="{FF2B5EF4-FFF2-40B4-BE49-F238E27FC236}">
                <a16:creationId xmlns:a16="http://schemas.microsoft.com/office/drawing/2014/main" id="{29E7140D-C9B8-431B-B595-765B7327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53340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8" name="r-s1-b">
            <a:extLst xmlns:a="http://schemas.openxmlformats.org/drawingml/2006/main">
              <a:ext uri="{FF2B5EF4-FFF2-40B4-BE49-F238E27FC236}">
                <a16:creationId xmlns:a16="http://schemas.microsoft.com/office/drawing/2014/main" id="{4EA6F689-0E4F-401C-AAA9-BDFF134A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029200"/>
            <a:ext cx="276225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79" name="r-q1">
            <a:extLst xmlns:a="http://schemas.openxmlformats.org/drawingml/2006/main">
              <a:ext uri="{FF2B5EF4-FFF2-40B4-BE49-F238E27FC236}">
                <a16:creationId xmlns:a16="http://schemas.microsoft.com/office/drawing/2014/main" id="{ABD8F0A1-D968-4B04-8934-86B106B5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943600"/>
            <a:ext cx="1219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30343F"/>
                </a:solidFill>
              </a:defRPr>
            </a:pPr>
            <a:r>
              <a:rPr sz="1350" b="0" i="1">
                <a:solidFill>
                  <a:srgbClr val="30343F"/>
                </a:solidFill>
              </a:rPr>
              <a:t>q(S1) = B</a:t>
            </a:r>
          </a:p>
        </p:txBody>
      </p:sp>
      <p:cxnSp>
        <p:nvCxnSpPr>
          <p:cNvPr id="276" name=""/>
          <p:cNvCxnSpPr>
            <a:stCxn xmlns:a="http://schemas.openxmlformats.org/drawingml/2006/main" id="66" idx="6"/>
            <a:endCxn xmlns:a="http://schemas.openxmlformats.org/drawingml/2006/main" id="72" idx="2"/>
          </p:cNvCxnSpPr>
          <p:nvPr/>
        </p:nvCxnSpPr>
        <p:spPr>
          <a:xfrm xmlns:a="http://schemas.openxmlformats.org/drawingml/2006/main" flipV="1">
            <a:off x="3238500" y="5400675"/>
            <a:ext cx="45720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D7F7B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1" name="r-resolve">
            <a:extLst xmlns:a="http://schemas.openxmlformats.org/drawingml/2006/main">
              <a:ext uri="{FF2B5EF4-FFF2-40B4-BE49-F238E27FC236}">
                <a16:creationId xmlns:a16="http://schemas.microsoft.com/office/drawing/2014/main" id="{999DC220-7AF3-4473-893B-5257D9223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810125"/>
            <a:ext cx="104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resolve(q) on S1</a:t>
            </a:r>
          </a:p>
        </p:txBody>
      </p:sp>
      <p:sp>
        <p:nvSpPr>
          <p:cNvPr id="82" name="r-target-circle">
            <a:extLst xmlns:a="http://schemas.openxmlformats.org/drawingml/2006/main">
              <a:ext uri="{FF2B5EF4-FFF2-40B4-BE49-F238E27FC236}">
                <a16:creationId xmlns:a16="http://schemas.microsoft.com/office/drawing/2014/main" id="{EBF90051-6DFE-4B4A-A334-A0019626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5276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D7F7B"/>
                </a:solidFill>
              </a:defRPr>
            </a:pPr>
            <a:r>
              <a:rPr sz="1500" b="1">
                <a:solidFill>
                  <a:srgbClr val="2D7F7B"/>
                </a:solidFill>
              </a:rPr>
              <a:t>B</a:t>
            </a:r>
          </a:p>
        </p:txBody>
      </p:sp>
      <p:sp>
        <p:nvSpPr>
          <p:cNvPr id="83" name="r-target-h">
            <a:extLst xmlns:a="http://schemas.openxmlformats.org/drawingml/2006/main">
              <a:ext uri="{FF2B5EF4-FFF2-40B4-BE49-F238E27FC236}">
                <a16:creationId xmlns:a16="http://schemas.microsoft.com/office/drawing/2014/main" id="{231AF3E4-7E95-4474-9F87-441B42B6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49592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sp>
        <p:nvSpPr>
          <p:cNvPr id="84" name="r-target-v">
            <a:extLst xmlns:a="http://schemas.openxmlformats.org/drawingml/2006/main">
              <a:ext uri="{FF2B5EF4-FFF2-40B4-BE49-F238E27FC236}">
                <a16:creationId xmlns:a16="http://schemas.microsoft.com/office/drawing/2014/main" id="{8DF83F9C-6894-4830-9959-D03485DC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006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solidFill>
              <a:srgbClr val="2D7F7B"/>
            </a:solidFill>
            <a:prstDash val="solid"/>
          </a:ln>
        </p:spPr>
      </p:sp>
      <p:cxnSp>
        <p:nvCxnSpPr>
          <p:cNvPr id="281" name=""/>
          <p:cNvCxnSpPr>
            <a:stCxn xmlns:a="http://schemas.openxmlformats.org/drawingml/2006/main" id="72" idx="6"/>
            <a:endCxn xmlns:a="http://schemas.openxmlformats.org/drawingml/2006/main" id="82" idx="2"/>
          </p:cNvCxnSpPr>
          <p:nvPr/>
        </p:nvCxnSpPr>
        <p:spPr>
          <a:xfrm xmlns:a="http://schemas.openxmlformats.org/drawingml/2006/main">
            <a:off x="4705350" y="5400675"/>
            <a:ext cx="752475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2D7F7B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86" name="r-target-label">
            <a:extLst xmlns:a="http://schemas.openxmlformats.org/drawingml/2006/main">
              <a:ext uri="{FF2B5EF4-FFF2-40B4-BE49-F238E27FC236}">
                <a16:creationId xmlns:a16="http://schemas.microsoft.com/office/drawing/2014/main" id="{E5F2A29A-331C-4A1F-8476-B8E53765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5838825"/>
            <a:ext cx="762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2D7F7B"/>
                </a:solidFill>
              </a:defRPr>
            </a:pPr>
            <a:r>
              <a:rPr sz="1275" b="1" i="0">
                <a:solidFill>
                  <a:srgbClr val="2D7F7B"/>
                </a:solidFill>
              </a:rPr>
              <a:t>target B</a:t>
            </a:r>
          </a:p>
        </p:txBody>
      </p:sp>
      <p:sp>
        <p:nvSpPr>
          <p:cNvPr id="87" name="a-legend">
            <a:extLst xmlns:a="http://schemas.openxmlformats.org/drawingml/2006/main">
              <a:ext uri="{FF2B5EF4-FFF2-40B4-BE49-F238E27FC236}">
                <a16:creationId xmlns:a16="http://schemas.microsoft.com/office/drawing/2014/main" id="{2356C49F-2233-48C7-BAE2-687391CB1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677025"/>
            <a:ext cx="5924550" cy="5334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88" name="legend-other">
            <a:extLst xmlns:a="http://schemas.openxmlformats.org/drawingml/2006/main">
              <a:ext uri="{FF2B5EF4-FFF2-40B4-BE49-F238E27FC236}">
                <a16:creationId xmlns:a16="http://schemas.microsoft.com/office/drawing/2014/main" id="{0447AA12-CB49-4657-9C0C-BE4953B7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6838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3F3"/>
          </a:solidFill>
          <a:ln xmlns:a="http://schemas.openxmlformats.org/drawingml/2006/main" w="7620">
            <a:solidFill>
              <a:srgbClr val="B9C3C5"/>
            </a:solidFill>
            <a:prstDash val="solid"/>
          </a:ln>
        </p:spPr>
      </p:sp>
      <p:sp>
        <p:nvSpPr>
          <p:cNvPr id="89" name="legend-other-text">
            <a:extLst xmlns:a="http://schemas.openxmlformats.org/drawingml/2006/main">
              <a:ext uri="{FF2B5EF4-FFF2-40B4-BE49-F238E27FC236}">
                <a16:creationId xmlns:a16="http://schemas.microsoft.com/office/drawing/2014/main" id="{C1A0410E-0B12-45E0-92C7-A8E60FF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6753225"/>
            <a:ext cx="838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 i="0">
                <a:solidFill>
                  <a:srgbClr val="30343F"/>
                </a:solidFill>
              </a:defRPr>
            </a:pPr>
            <a:r>
              <a:rPr sz="900" b="0" i="0">
                <a:solidFill>
                  <a:srgbClr val="30343F"/>
                </a:solidFill>
              </a:rPr>
              <a:t>other entities</a:t>
            </a:r>
          </a:p>
        </p:txBody>
      </p:sp>
      <p:sp>
        <p:nvSpPr>
          <p:cNvPr id="90" name="legend-a">
            <a:extLst xmlns:a="http://schemas.openxmlformats.org/drawingml/2006/main">
              <a:ext uri="{FF2B5EF4-FFF2-40B4-BE49-F238E27FC236}">
                <a16:creationId xmlns:a16="http://schemas.microsoft.com/office/drawing/2014/main" id="{6BB95907-0BAD-4E3C-9026-F61C70DE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91" name="legend-a-text">
            <a:extLst xmlns:a="http://schemas.openxmlformats.org/drawingml/2006/main">
              <a:ext uri="{FF2B5EF4-FFF2-40B4-BE49-F238E27FC236}">
                <a16:creationId xmlns:a16="http://schemas.microsoft.com/office/drawing/2014/main" id="{092A03A8-7465-41C4-9E45-2CC7914B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6734175"/>
            <a:ext cx="876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30343F"/>
                </a:solidFill>
              </a:defRPr>
            </a:pPr>
            <a:r>
              <a:rPr sz="825" b="0" i="0">
                <a:solidFill>
                  <a:srgbClr val="30343F"/>
                </a:solidFill>
              </a:rPr>
              <a:t>entity A</a:t>
            </a:r>
          </a:p>
          <a:p xmlns:a="http://schemas.openxmlformats.org/drawingml/2006/main">
            <a:pPr algn="ctr">
              <a:defRPr sz="825" b="0" i="0">
                <a:solidFill>
                  <a:srgbClr val="30343F"/>
                </a:solidFill>
              </a:defRPr>
            </a:pPr>
            <a:r>
              <a:rPr sz="825" b="0" i="0">
                <a:solidFill>
                  <a:srgbClr val="30343F"/>
                </a:solidFill>
              </a:rPr>
              <a:t>initial winner</a:t>
            </a:r>
          </a:p>
        </p:txBody>
      </p:sp>
      <p:sp>
        <p:nvSpPr>
          <p:cNvPr id="92" name="legend-b">
            <a:extLst xmlns:a="http://schemas.openxmlformats.org/drawingml/2006/main">
              <a:ext uri="{FF2B5EF4-FFF2-40B4-BE49-F238E27FC236}">
                <a16:creationId xmlns:a16="http://schemas.microsoft.com/office/drawing/2014/main" id="{B6A0B2C1-B243-4AB8-9DDC-B0F7546B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6800850"/>
            <a:ext cx="219075" cy="2190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93" name="legend-b-text">
            <a:extLst xmlns:a="http://schemas.openxmlformats.org/drawingml/2006/main">
              <a:ext uri="{FF2B5EF4-FFF2-40B4-BE49-F238E27FC236}">
                <a16:creationId xmlns:a16="http://schemas.microsoft.com/office/drawing/2014/main" id="{48078231-6547-4F91-A3EC-FFF5093C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734175"/>
            <a:ext cx="100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0" i="0">
                <a:solidFill>
                  <a:srgbClr val="30343F"/>
                </a:solidFill>
              </a:defRPr>
            </a:pPr>
            <a:r>
              <a:rPr sz="825" b="0" i="0">
                <a:solidFill>
                  <a:srgbClr val="30343F"/>
                </a:solidFill>
              </a:rPr>
              <a:t>entity B</a:t>
            </a:r>
          </a:p>
          <a:p xmlns:a="http://schemas.openxmlformats.org/drawingml/2006/main">
            <a:pPr algn="ctr">
              <a:defRPr sz="825" b="0" i="0">
                <a:solidFill>
                  <a:srgbClr val="30343F"/>
                </a:solidFill>
              </a:defRPr>
            </a:pPr>
            <a:r>
              <a:rPr sz="825" b="0" i="0">
                <a:solidFill>
                  <a:srgbClr val="30343F"/>
                </a:solidFill>
              </a:rPr>
              <a:t>post-refresh winner</a:t>
            </a:r>
          </a:p>
        </p:txBody>
      </p:sp>
      <p:sp>
        <p:nvSpPr>
          <p:cNvPr id="94" name="legend-bound">
            <a:extLst xmlns:a="http://schemas.openxmlformats.org/drawingml/2006/main">
              <a:ext uri="{FF2B5EF4-FFF2-40B4-BE49-F238E27FC236}">
                <a16:creationId xmlns:a16="http://schemas.microsoft.com/office/drawing/2014/main" id="{A5B8A29C-8AB6-4490-A2AD-B3DE0C10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6800850"/>
            <a:ext cx="6000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B94D49"/>
                </a:solidFill>
              </a:defRPr>
            </a:pPr>
            <a:r>
              <a:rPr sz="675" b="1" i="0">
                <a:solidFill>
                  <a:srgbClr val="B94D49"/>
                </a:solidFill>
              </a:rPr>
              <a:t>BOUND</a:t>
            </a:r>
          </a:p>
        </p:txBody>
      </p:sp>
      <p:sp>
        <p:nvSpPr>
          <p:cNvPr id="95" name="legend-deferred">
            <a:extLst xmlns:a="http://schemas.openxmlformats.org/drawingml/2006/main">
              <a:ext uri="{FF2B5EF4-FFF2-40B4-BE49-F238E27FC236}">
                <a16:creationId xmlns:a16="http://schemas.microsoft.com/office/drawing/2014/main" id="{B26672BB-AA6D-466B-B4B1-1FEDA7215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8008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00" b="1" i="0">
                <a:solidFill>
                  <a:srgbClr val="2D7F7B"/>
                </a:solidFill>
              </a:defRPr>
            </a:pPr>
            <a:r>
              <a:rPr sz="600" b="1" i="0">
                <a:solidFill>
                  <a:srgbClr val="2D7F7B"/>
                </a:solidFill>
              </a:rPr>
              <a:t>DEFERRED</a:t>
            </a:r>
          </a:p>
        </p:txBody>
      </p:sp>
      <p:sp>
        <p:nvSpPr>
          <p:cNvPr id="96" name="legend-action">
            <a:extLst xmlns:a="http://schemas.openxmlformats.org/drawingml/2006/main">
              <a:ext uri="{FF2B5EF4-FFF2-40B4-BE49-F238E27FC236}">
                <a16:creationId xmlns:a16="http://schemas.microsoft.com/office/drawing/2014/main" id="{008D2852-3626-4ADF-8DBC-061D9490F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6734175"/>
            <a:ext cx="590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30343F"/>
                </a:solidFill>
              </a:defRPr>
            </a:pPr>
            <a:r>
              <a:rPr sz="825" b="1" i="0">
                <a:solidFill>
                  <a:srgbClr val="30343F"/>
                </a:solidFill>
              </a:rPr>
              <a:t>same action</a:t>
            </a:r>
          </a:p>
        </p:txBody>
      </p:sp>
      <p:sp>
        <p:nvSpPr>
          <p:cNvPr id="97" name="a-checklist">
            <a:extLst xmlns:a="http://schemas.openxmlformats.org/drawingml/2006/main">
              <a:ext uri="{FF2B5EF4-FFF2-40B4-BE49-F238E27FC236}">
                <a16:creationId xmlns:a16="http://schemas.microsoft.com/office/drawing/2014/main" id="{DE260079-E770-4CF2-9529-BD2E2D00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343775"/>
            <a:ext cx="5924550" cy="1457325"/>
          </a:xfrm>
          <a:prstGeom xmlns:a="http://schemas.openxmlformats.org/drawingml/2006/main" prst="roundRect">
            <a:avLst>
              <a:gd name="adj" fmla="val 3922"/>
            </a:avLst>
          </a:prstGeom>
          <a:noFill xmlns:a="http://schemas.openxmlformats.org/drawingml/2006/main"/>
          <a:ln xmlns:a="http://schemas.openxmlformats.org/drawingml/2006/main" w="10478">
            <a:solidFill>
              <a:srgbClr val="B9C3C5"/>
            </a:solidFill>
            <a:prstDash val="dash"/>
          </a:ln>
        </p:spPr>
      </p:sp>
      <p:sp>
        <p:nvSpPr>
          <p:cNvPr id="98" name="a-check-divider">
            <a:extLst xmlns:a="http://schemas.openxmlformats.org/drawingml/2006/main">
              <a:ext uri="{FF2B5EF4-FFF2-40B4-BE49-F238E27FC236}">
                <a16:creationId xmlns:a16="http://schemas.microsoft.com/office/drawing/2014/main" id="{BF80E716-61BF-403C-96F3-343F286D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7496175"/>
            <a:ext cx="9525" cy="1133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99" name="a-fixed-head">
            <a:extLst xmlns:a="http://schemas.openxmlformats.org/drawingml/2006/main">
              <a:ext uri="{FF2B5EF4-FFF2-40B4-BE49-F238E27FC236}">
                <a16:creationId xmlns:a16="http://schemas.microsoft.com/office/drawing/2014/main" id="{05118352-78E8-4E41-A8C4-299409E9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48550"/>
            <a:ext cx="25908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30343F"/>
                </a:solidFill>
              </a:defRPr>
            </a:pPr>
            <a:r>
              <a:rPr sz="1125" b="1" i="0">
                <a:solidFill>
                  <a:srgbClr val="30343F"/>
                </a:solidFill>
              </a:rPr>
              <a:t>What is fixed across the pair</a:t>
            </a:r>
          </a:p>
        </p:txBody>
      </p:sp>
      <p:sp>
        <p:nvSpPr>
          <p:cNvPr id="100" name="a-fixed-list">
            <a:extLst xmlns:a="http://schemas.openxmlformats.org/drawingml/2006/main">
              <a:ext uri="{FF2B5EF4-FFF2-40B4-BE49-F238E27FC236}">
                <a16:creationId xmlns:a16="http://schemas.microsoft.com/office/drawing/2014/main" id="{B41E3784-718D-4C68-B495-CD9B1B7D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724775"/>
            <a:ext cx="2571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✓  States: S0, S1, and all entities</a:t>
            </a:r>
          </a:p>
          <a:p xmlns:a="http://schemas.openxmlformats.org/drawingml/2006/main">
            <a:pPr algn="l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✓  Selector: q</a:t>
            </a:r>
          </a:p>
          <a:p xmlns:a="http://schemas.openxmlformats.org/drawingml/2006/main">
            <a:pPr algn="l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✓  Action and schema</a:t>
            </a:r>
          </a:p>
          <a:p xmlns:a="http://schemas.openxmlformats.org/drawingml/2006/main">
            <a:pPr algn="l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✓  Controller interface</a:t>
            </a:r>
          </a:p>
        </p:txBody>
      </p:sp>
      <p:sp>
        <p:nvSpPr>
          <p:cNvPr id="101" name="a-changed-head">
            <a:extLst xmlns:a="http://schemas.openxmlformats.org/drawingml/2006/main">
              <a:ext uri="{FF2B5EF4-FFF2-40B4-BE49-F238E27FC236}">
                <a16:creationId xmlns:a16="http://schemas.microsoft.com/office/drawing/2014/main" id="{4C5EE12C-44CC-4E47-BF9D-C51EFBF7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7591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D7F7B"/>
                </a:solidFill>
              </a:defRPr>
            </a:pPr>
            <a:r>
              <a:rPr sz="1125" b="1" i="0">
                <a:solidFill>
                  <a:srgbClr val="2D7F7B"/>
                </a:solidFill>
              </a:rPr>
              <a:t>What is uniquely changed</a:t>
            </a:r>
          </a:p>
        </p:txBody>
      </p:sp>
      <p:sp>
        <p:nvSpPr>
          <p:cNvPr id="102" name="a-changed-list">
            <a:extLst xmlns:a="http://schemas.openxmlformats.org/drawingml/2006/main">
              <a:ext uri="{FF2B5EF4-FFF2-40B4-BE49-F238E27FC236}">
                <a16:creationId xmlns:a16="http://schemas.microsoft.com/office/drawing/2014/main" id="{50D23781-57C3-4733-BC3A-CAD598BD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7962900"/>
            <a:ext cx="2543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2D7F7B"/>
                </a:solidFill>
              </a:defRPr>
            </a:pPr>
            <a:r>
              <a:rPr sz="1050" b="0" i="0">
                <a:solidFill>
                  <a:srgbClr val="2D7F7B"/>
                </a:solidFill>
              </a:rPr>
              <a:t>Instruction commitment timing</a:t>
            </a:r>
          </a:p>
          <a:p xmlns:a="http://schemas.openxmlformats.org/drawingml/2006/main">
            <a:pPr algn="ctr">
              <a:defRPr sz="1050" b="0" i="0">
                <a:solidFill>
                  <a:srgbClr val="2D7F7B"/>
                </a:solidFill>
              </a:defRPr>
            </a:pPr>
            <a:r>
              <a:rPr sz="1050" b="0" i="0">
                <a:solidFill>
                  <a:srgbClr val="2D7F7B"/>
                </a:solidFill>
              </a:rPr>
              <a:t>(bind before refresh vs. defer until after refresh)</a:t>
            </a:r>
          </a:p>
        </p:txBody>
      </p:sp>
      <p:sp>
        <p:nvSpPr>
          <p:cNvPr id="103" name="b-same">
            <a:extLst xmlns:a="http://schemas.openxmlformats.org/drawingml/2006/main">
              <a:ext uri="{FF2B5EF4-FFF2-40B4-BE49-F238E27FC236}">
                <a16:creationId xmlns:a16="http://schemas.microsoft.com/office/drawing/2014/main" id="{95D3037D-E666-4199-BA3B-C3F9A7BA6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66750"/>
            <a:ext cx="3505200" cy="4286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1430">
            <a:solidFill>
              <a:srgbClr val="66899D"/>
            </a:solidFill>
            <a:prstDash val="solid"/>
          </a:ln>
        </p:spPr>
      </p:sp>
      <p:sp>
        <p:nvSpPr>
          <p:cNvPr id="104" name="b-same-text">
            <a:extLst xmlns:a="http://schemas.openxmlformats.org/drawingml/2006/main">
              <a:ext uri="{FF2B5EF4-FFF2-40B4-BE49-F238E27FC236}">
                <a16:creationId xmlns:a16="http://schemas.microsoft.com/office/drawing/2014/main" id="{39A58AB5-E51D-4CA9-B100-E1F3C27C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723900"/>
            <a:ext cx="3219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0343F"/>
                </a:solidFill>
              </a:defRPr>
            </a:pPr>
            <a:r>
              <a:rPr sz="1350" b="1" i="0">
                <a:solidFill>
                  <a:srgbClr val="30343F"/>
                </a:solidFill>
              </a:rPr>
              <a:t>same controller + same interface</a:t>
            </a:r>
          </a:p>
        </p:txBody>
      </p:sp>
      <p:sp>
        <p:nvSpPr>
          <p:cNvPr id="105" name="b-independent">
            <a:extLst xmlns:a="http://schemas.openxmlformats.org/drawingml/2006/main">
              <a:ext uri="{FF2B5EF4-FFF2-40B4-BE49-F238E27FC236}">
                <a16:creationId xmlns:a16="http://schemas.microsoft.com/office/drawing/2014/main" id="{E17C1719-50C4-4120-8119-50A9EFCB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295400"/>
            <a:ext cx="266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30343F"/>
                </a:solidFill>
              </a:defRPr>
            </a:pPr>
            <a:r>
              <a:rPr sz="1275" b="0" i="0">
                <a:solidFill>
                  <a:srgbClr val="30343F"/>
                </a:solidFill>
              </a:rPr>
              <a:t>two independent runs</a:t>
            </a:r>
          </a:p>
          <a:p xmlns:a="http://schemas.openxmlformats.org/drawingml/2006/main">
            <a:pPr algn="ctr">
              <a:defRPr sz="1275" b="0" i="0">
                <a:solidFill>
                  <a:srgbClr val="30343F"/>
                </a:solidFill>
              </a:defRPr>
            </a:pPr>
            <a:r>
              <a:rPr sz="1275" b="0" i="0">
                <a:solidFill>
                  <a:srgbClr val="30343F"/>
                </a:solidFill>
              </a:rPr>
              <a:t>within the comparison</a:t>
            </a:r>
          </a:p>
        </p:txBody>
      </p:sp>
      <p:sp>
        <p:nvSpPr>
          <p:cNvPr id="106" name="b-bracket-left">
            <a:extLst xmlns:a="http://schemas.openxmlformats.org/drawingml/2006/main">
              <a:ext uri="{FF2B5EF4-FFF2-40B4-BE49-F238E27FC236}">
                <a16:creationId xmlns:a16="http://schemas.microsoft.com/office/drawing/2014/main" id="{DA858B9D-5DB3-42F5-954C-3271F282F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95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07" name="b-bracket-top-left">
            <a:extLst xmlns:a="http://schemas.openxmlformats.org/drawingml/2006/main">
              <a:ext uri="{FF2B5EF4-FFF2-40B4-BE49-F238E27FC236}">
                <a16:creationId xmlns:a16="http://schemas.microsoft.com/office/drawing/2014/main" id="{85B3D986-10B0-4D16-8DE2-13D8FF76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08" name="b-bracket-right">
            <a:extLst xmlns:a="http://schemas.openxmlformats.org/drawingml/2006/main">
              <a:ext uri="{FF2B5EF4-FFF2-40B4-BE49-F238E27FC236}">
                <a16:creationId xmlns:a16="http://schemas.microsoft.com/office/drawing/2014/main" id="{E29B4AA1-0928-4D0A-BA51-FF63AA21E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1819275"/>
            <a:ext cx="95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09" name="b-bracket-top-right">
            <a:extLst xmlns:a="http://schemas.openxmlformats.org/drawingml/2006/main">
              <a:ext uri="{FF2B5EF4-FFF2-40B4-BE49-F238E27FC236}">
                <a16:creationId xmlns:a16="http://schemas.microsoft.com/office/drawing/2014/main" id="{5126E420-8FBE-41F1-A769-37946762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819275"/>
            <a:ext cx="476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3C5"/>
          </a:solidFill>
          <a:ln xmlns:a="http://schemas.openxmlformats.org/drawingml/2006/main" w="0">
            <a:solidFill>
              <a:srgbClr val="B9C3C5"/>
            </a:solidFill>
            <a:prstDash val="solid"/>
          </a:ln>
        </p:spPr>
      </p:sp>
      <p:sp>
        <p:nvSpPr>
          <p:cNvPr id="110" name="b-p-input">
            <a:extLst xmlns:a="http://schemas.openxmlformats.org/drawingml/2006/main">
              <a:ext uri="{FF2B5EF4-FFF2-40B4-BE49-F238E27FC236}">
                <a16:creationId xmlns:a16="http://schemas.microsoft.com/office/drawing/2014/main" id="{61C4CE85-878F-4AA9-BC6A-0458E94F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111" name="b-p-input-text">
            <a:extLst xmlns:a="http://schemas.openxmlformats.org/drawingml/2006/main">
              <a:ext uri="{FF2B5EF4-FFF2-40B4-BE49-F238E27FC236}">
                <a16:creationId xmlns:a16="http://schemas.microsoft.com/office/drawing/2014/main" id="{5B276039-2EC9-4C7C-A36F-1A9000E0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96227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Preserve</a:t>
            </a:r>
          </a:p>
          <a:p xmlns:a="http://schemas.openxmlformats.org/drawingml/2006/main">
            <a:pPr algn="ctr">
              <a:defRPr sz="975" b="1" i="0">
                <a:solidFill>
                  <a:srgbClr val="B94D49"/>
                </a:solidFill>
              </a:defRPr>
            </a:pPr>
            <a:r>
              <a:rPr sz="975" b="1" i="0">
                <a:solidFill>
                  <a:srgbClr val="B94D49"/>
                </a:solidFill>
              </a:rPr>
              <a:t>instruction</a:t>
            </a:r>
          </a:p>
        </p:txBody>
      </p:sp>
      <p:sp>
        <p:nvSpPr>
          <p:cNvPr id="112" name="b-r-input">
            <a:extLst xmlns:a="http://schemas.openxmlformats.org/drawingml/2006/main">
              <a:ext uri="{FF2B5EF4-FFF2-40B4-BE49-F238E27FC236}">
                <a16:creationId xmlns:a16="http://schemas.microsoft.com/office/drawing/2014/main" id="{D5119BF8-63BA-4327-AFA9-BCD0234A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00600"/>
            <a:ext cx="1028700" cy="8191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13" name="b-r-input-text">
            <a:extLst xmlns:a="http://schemas.openxmlformats.org/drawingml/2006/main">
              <a:ext uri="{FF2B5EF4-FFF2-40B4-BE49-F238E27FC236}">
                <a16:creationId xmlns:a16="http://schemas.microsoft.com/office/drawing/2014/main" id="{7AF7DC06-3980-453C-9078-21802F96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86325"/>
            <a:ext cx="9334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2D7F7B"/>
                </a:solidFill>
              </a:defRPr>
            </a:pPr>
            <a:r>
              <a:rPr sz="975" b="1" i="0">
                <a:solidFill>
                  <a:srgbClr val="2D7F7B"/>
                </a:solidFill>
              </a:rPr>
              <a:t>Reevaluate</a:t>
            </a:r>
          </a:p>
          <a:p xmlns:a="http://schemas.openxmlformats.org/drawingml/2006/main">
            <a:pPr algn="ctr">
              <a:defRPr sz="975" b="1" i="0">
                <a:solidFill>
                  <a:srgbClr val="2D7F7B"/>
                </a:solidFill>
              </a:defRPr>
            </a:pPr>
            <a:r>
              <a:rPr sz="975" b="1" i="0">
                <a:solidFill>
                  <a:srgbClr val="2D7F7B"/>
                </a:solidFill>
              </a:rPr>
              <a:t>instruction</a:t>
            </a:r>
          </a:p>
        </p:txBody>
      </p:sp>
      <p:sp>
        <p:nvSpPr>
          <p:cNvPr id="114" name="b-probe">
            <a:extLst xmlns:a="http://schemas.openxmlformats.org/drawingml/2006/main">
              <a:ext uri="{FF2B5EF4-FFF2-40B4-BE49-F238E27FC236}">
                <a16:creationId xmlns:a16="http://schemas.microsoft.com/office/drawing/2014/main" id="{69E611BC-A611-47E0-BE0B-2D862605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1466850" cy="3867150"/>
          </a:xfrm>
          <a:prstGeom xmlns:a="http://schemas.openxmlformats.org/drawingml/2006/main" prst="roundRect">
            <a:avLst>
              <a:gd name="adj" fmla="val 3896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5240">
            <a:solidFill>
              <a:srgbClr val="242C2F"/>
            </a:solidFill>
            <a:prstDash val="solid"/>
          </a:ln>
        </p:spPr>
      </p:sp>
      <p:sp>
        <p:nvSpPr>
          <p:cNvPr id="115" name="b-probe-title">
            <a:extLst xmlns:a="http://schemas.openxmlformats.org/drawingml/2006/main">
              <a:ext uri="{FF2B5EF4-FFF2-40B4-BE49-F238E27FC236}">
                <a16:creationId xmlns:a16="http://schemas.microsoft.com/office/drawing/2014/main" id="{D99970DB-5C04-4C7E-8D68-DDB7F61C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762250"/>
            <a:ext cx="1200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Controller</a:t>
            </a:r>
          </a:p>
          <a:p xmlns:a="http://schemas.openxmlformats.org/drawingml/2006/main">
            <a:pPr algn="ctr">
              <a:defRPr sz="1425" b="1" i="0">
                <a:solidFill>
                  <a:srgbClr val="30343F"/>
                </a:solidFill>
              </a:defRPr>
            </a:pPr>
            <a:r>
              <a:rPr sz="1425" b="1" i="0">
                <a:solidFill>
                  <a:srgbClr val="30343F"/>
                </a:solidFill>
              </a:rPr>
              <a:t>probe</a:t>
            </a:r>
          </a:p>
        </p:txBody>
      </p:sp>
      <p:sp>
        <p:nvSpPr>
          <p:cNvPr id="116" name="b-probe-blackbox">
            <a:extLst xmlns:a="http://schemas.openxmlformats.org/drawingml/2006/main">
              <a:ext uri="{FF2B5EF4-FFF2-40B4-BE49-F238E27FC236}">
                <a16:creationId xmlns:a16="http://schemas.microsoft.com/office/drawing/2014/main" id="{E44CC197-0A39-452E-8588-0DC725E5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38290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3C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69787E"/>
                </a:solidFill>
              </a:defRPr>
            </a:pPr>
            <a:r>
              <a:rPr sz="750" b="1" i="0">
                <a:solidFill>
                  <a:srgbClr val="69787E"/>
                </a:solidFill>
              </a:rPr>
              <a:t>BLACK-BOX</a:t>
            </a:r>
          </a:p>
          <a:p xmlns:a="http://schemas.openxmlformats.org/drawingml/2006/main">
            <a:pPr algn="ctr">
              <a:defRPr sz="750" b="1" i="0">
                <a:solidFill>
                  <a:srgbClr val="69787E"/>
                </a:solidFill>
              </a:defRPr>
            </a:pPr>
            <a:r>
              <a:rPr sz="750" b="1" i="0">
                <a:solidFill>
                  <a:srgbClr val="69787E"/>
                </a:solidFill>
              </a:rPr>
              <a:t>internals unobserved</a:t>
            </a:r>
          </a:p>
        </p:txBody>
      </p:sp>
      <p:sp>
        <p:nvSpPr>
          <p:cNvPr id="117" name="b-probe-io">
            <a:extLst xmlns:a="http://schemas.openxmlformats.org/drawingml/2006/main">
              <a:ext uri="{FF2B5EF4-FFF2-40B4-BE49-F238E27FC236}">
                <a16:creationId xmlns:a16="http://schemas.microsoft.com/office/drawing/2014/main" id="{4C837A4C-3B4C-45A9-837B-CE71748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695825"/>
            <a:ext cx="1181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28343A"/>
                </a:solidFill>
              </a:defRPr>
            </a:pPr>
            <a:r>
              <a:rPr sz="1125" b="1" i="0">
                <a:solidFill>
                  <a:srgbClr val="28343A"/>
                </a:solidFill>
              </a:rPr>
              <a:t>instruction + history</a:t>
            </a:r>
          </a:p>
          <a:p xmlns:a="http://schemas.openxmlformats.org/drawingml/2006/main">
            <a:pPr algn="ctr">
              <a:defRPr sz="1125" b="1" i="0">
                <a:solidFill>
                  <a:srgbClr val="28343A"/>
                </a:solidFill>
              </a:defRPr>
            </a:pPr>
            <a:r>
              <a:rPr sz="1125" b="1" i="0">
                <a:solidFill>
                  <a:srgbClr val="28343A"/>
                </a:solidFill>
              </a:rPr>
              <a:t>+ observed state</a:t>
            </a:r>
          </a:p>
          <a:p xmlns:a="http://schemas.openxmlformats.org/drawingml/2006/main">
            <a:pPr algn="ctr">
              <a:defRPr sz="1125" b="1" i="0">
                <a:solidFill>
                  <a:srgbClr val="28343A"/>
                </a:solidFill>
              </a:defRPr>
            </a:pPr>
            <a:r>
              <a:rPr sz="1125" b="1" i="0">
                <a:solidFill>
                  <a:srgbClr val="28343A"/>
                </a:solidFill>
              </a:rPr>
              <a:t>-&gt; final target ID</a:t>
            </a:r>
          </a:p>
        </p:txBody>
      </p:sp>
      <p:sp>
        <p:nvSpPr>
          <p:cNvPr id="118" name="b-tp">
            <a:extLst xmlns:a="http://schemas.openxmlformats.org/drawingml/2006/main">
              <a:ext uri="{FF2B5EF4-FFF2-40B4-BE49-F238E27FC236}">
                <a16:creationId xmlns:a16="http://schemas.microsoft.com/office/drawing/2014/main" id="{8D8A7AE1-D8D8-4C2A-872D-9F12F167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943225"/>
            <a:ext cx="8191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4D49"/>
            </a:solidFill>
            <a:prstDash val="solid"/>
          </a:ln>
        </p:spPr>
      </p:sp>
      <p:sp>
        <p:nvSpPr>
          <p:cNvPr id="119" name="b-tp-text">
            <a:extLst xmlns:a="http://schemas.openxmlformats.org/drawingml/2006/main">
              <a:ext uri="{FF2B5EF4-FFF2-40B4-BE49-F238E27FC236}">
                <a16:creationId xmlns:a16="http://schemas.microsoft.com/office/drawing/2014/main" id="{885CBF42-6396-4890-9F4F-30CB289BF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9085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B94D49"/>
                </a:solidFill>
              </a:defRPr>
            </a:pPr>
            <a:r>
              <a:rPr sz="1725" b="0" i="1">
                <a:solidFill>
                  <a:srgbClr val="B94D49"/>
                </a:solidFill>
              </a:rPr>
              <a:t>T_P</a:t>
            </a:r>
          </a:p>
        </p:txBody>
      </p:sp>
      <p:sp>
        <p:nvSpPr>
          <p:cNvPr id="120" name="b-tp-label">
            <a:extLst xmlns:a="http://schemas.openxmlformats.org/drawingml/2006/main">
              <a:ext uri="{FF2B5EF4-FFF2-40B4-BE49-F238E27FC236}">
                <a16:creationId xmlns:a16="http://schemas.microsoft.com/office/drawing/2014/main" id="{B5A9A22D-C744-4F7B-9466-F4C0621B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3855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final target</a:t>
            </a:r>
          </a:p>
        </p:txBody>
      </p:sp>
      <p:sp>
        <p:nvSpPr>
          <p:cNvPr id="121" name="b-tr">
            <a:extLst xmlns:a="http://schemas.openxmlformats.org/drawingml/2006/main">
              <a:ext uri="{FF2B5EF4-FFF2-40B4-BE49-F238E27FC236}">
                <a16:creationId xmlns:a16="http://schemas.microsoft.com/office/drawing/2014/main" id="{FAD30B8C-FCF5-4E9C-A4CE-DDB62C0F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81915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22" name="b-tr-text">
            <a:extLst xmlns:a="http://schemas.openxmlformats.org/drawingml/2006/main">
              <a:ext uri="{FF2B5EF4-FFF2-40B4-BE49-F238E27FC236}">
                <a16:creationId xmlns:a16="http://schemas.microsoft.com/office/drawing/2014/main" id="{8821B142-4313-4A8C-AF09-642F06CA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914900"/>
            <a:ext cx="742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0" i="1">
                <a:solidFill>
                  <a:srgbClr val="2D7F7B"/>
                </a:solidFill>
              </a:defRPr>
            </a:pPr>
            <a:r>
              <a:rPr sz="1725" b="0" i="1">
                <a:solidFill>
                  <a:srgbClr val="2D7F7B"/>
                </a:solidFill>
              </a:rPr>
              <a:t>T_R</a:t>
            </a:r>
          </a:p>
        </p:txBody>
      </p:sp>
      <p:sp>
        <p:nvSpPr>
          <p:cNvPr id="123" name="b-tr-label">
            <a:extLst xmlns:a="http://schemas.openxmlformats.org/drawingml/2006/main">
              <a:ext uri="{FF2B5EF4-FFF2-40B4-BE49-F238E27FC236}">
                <a16:creationId xmlns:a16="http://schemas.microsoft.com/office/drawing/2014/main" id="{E3D55F07-5D2A-4B84-A235-1F24B62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562600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30343F"/>
                </a:solidFill>
              </a:defRPr>
            </a:pPr>
            <a:r>
              <a:rPr sz="975" b="0" i="0">
                <a:solidFill>
                  <a:srgbClr val="30343F"/>
                </a:solidFill>
              </a:rPr>
              <a:t>final target</a:t>
            </a:r>
          </a:p>
        </p:txBody>
      </p:sp>
      <p:sp>
        <p:nvSpPr>
          <p:cNvPr id="124" name="b-p-in-anchor">
            <a:extLst xmlns:a="http://schemas.openxmlformats.org/drawingml/2006/main">
              <a:ext uri="{FF2B5EF4-FFF2-40B4-BE49-F238E27FC236}">
                <a16:creationId xmlns:a16="http://schemas.microsoft.com/office/drawing/2014/main" id="{823086D1-889E-41A6-AC88-768B119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5" name="b-p-out-anchor">
            <a:extLst xmlns:a="http://schemas.openxmlformats.org/drawingml/2006/main">
              <a:ext uri="{FF2B5EF4-FFF2-40B4-BE49-F238E27FC236}">
                <a16:creationId xmlns:a16="http://schemas.microsoft.com/office/drawing/2014/main" id="{219A0023-0C30-4608-BED1-0435FBC7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7660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6" name="b-r-in-anchor">
            <a:extLst xmlns:a="http://schemas.openxmlformats.org/drawingml/2006/main">
              <a:ext uri="{FF2B5EF4-FFF2-40B4-BE49-F238E27FC236}">
                <a16:creationId xmlns:a16="http://schemas.microsoft.com/office/drawing/2014/main" id="{6FB59745-A148-492C-9F2E-19DCC24F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27" name="b-r-out-anchor">
            <a:extLst xmlns:a="http://schemas.openxmlformats.org/drawingml/2006/main">
              <a:ext uri="{FF2B5EF4-FFF2-40B4-BE49-F238E27FC236}">
                <a16:creationId xmlns:a16="http://schemas.microsoft.com/office/drawing/2014/main" id="{2D04804B-211B-4D0F-9436-CA345583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5200650"/>
            <a:ext cx="19050" cy="190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24" name=""/>
          <p:cNvCxnSpPr>
            <a:stCxn xmlns:a="http://schemas.openxmlformats.org/drawingml/2006/main" id="110" idx="3"/>
            <a:endCxn xmlns:a="http://schemas.openxmlformats.org/drawingml/2006/main" id="124" idx="2"/>
          </p:cNvCxnSpPr>
          <p:nvPr/>
        </p:nvCxnSpPr>
        <p:spPr>
          <a:xfrm xmlns:a="http://schemas.openxmlformats.org/drawingml/2006/main">
            <a:off x="7600950" y="328612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B94D4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5" name=""/>
          <p:cNvCxnSpPr>
            <a:stCxn xmlns:a="http://schemas.openxmlformats.org/drawingml/2006/main" id="125" idx="6"/>
            <a:endCxn xmlns:a="http://schemas.openxmlformats.org/drawingml/2006/main" id="118" idx="1"/>
          </p:cNvCxnSpPr>
          <p:nvPr/>
        </p:nvCxnSpPr>
        <p:spPr>
          <a:xfrm xmlns:a="http://schemas.openxmlformats.org/drawingml/2006/main" flipV="1">
            <a:off x="9210675" y="3276600"/>
            <a:ext cx="104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B94D49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26" name=""/>
          <p:cNvCxnSpPr>
            <a:stCxn xmlns:a="http://schemas.openxmlformats.org/drawingml/2006/main" id="112" idx="3"/>
            <a:endCxn xmlns:a="http://schemas.openxmlformats.org/drawingml/2006/main" id="126" idx="2"/>
          </p:cNvCxnSpPr>
          <p:nvPr/>
        </p:nvCxnSpPr>
        <p:spPr>
          <a:xfrm xmlns:a="http://schemas.openxmlformats.org/drawingml/2006/main">
            <a:off x="7600950" y="5210175"/>
            <a:ext cx="123825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D7F7B"/>
            </a:solidFill>
            <a:prstDash val="dash"/>
            <a:headEnd type="none" w="med" len="med"/>
            <a:tailEnd type="triangle" w="med" len="med"/>
          </a:ln>
        </p:spPr>
      </p:cxnSp>
      <p:cxnSp>
        <p:nvCxnSpPr>
          <p:cNvPr id="327" name=""/>
          <p:cNvCxnSpPr>
            <a:stCxn xmlns:a="http://schemas.openxmlformats.org/drawingml/2006/main" id="127" idx="6"/>
            <a:endCxn xmlns:a="http://schemas.openxmlformats.org/drawingml/2006/main" id="121" idx="1"/>
          </p:cNvCxnSpPr>
          <p:nvPr/>
        </p:nvCxnSpPr>
        <p:spPr>
          <a:xfrm xmlns:a="http://schemas.openxmlformats.org/drawingml/2006/main" flipV="1">
            <a:off x="9210675" y="5200650"/>
            <a:ext cx="104775" cy="9525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D7F7B"/>
            </a:solidFill>
            <a:prstDash val="dash"/>
            <a:headEnd type="none" w="med" len="med"/>
            <a:tailEnd type="triangle" w="med" len="med"/>
          </a:ln>
        </p:spPr>
      </p:cxnSp>
      <p:sp>
        <p:nvSpPr>
          <p:cNvPr id="132" name="b-p-in-port">
            <a:extLst xmlns:a="http://schemas.openxmlformats.org/drawingml/2006/main">
              <a:ext uri="{FF2B5EF4-FFF2-40B4-BE49-F238E27FC236}">
                <a16:creationId xmlns:a16="http://schemas.microsoft.com/office/drawing/2014/main" id="{E76DC683-72C3-4A46-9CDE-29F4328C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228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3" name="b-p-out-port">
            <a:extLst xmlns:a="http://schemas.openxmlformats.org/drawingml/2006/main">
              <a:ext uri="{FF2B5EF4-FFF2-40B4-BE49-F238E27FC236}">
                <a16:creationId xmlns:a16="http://schemas.microsoft.com/office/drawing/2014/main" id="{3C9F43CE-599B-4F41-B143-FDD9C668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89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4" name="b-r-in-port">
            <a:extLst xmlns:a="http://schemas.openxmlformats.org/drawingml/2006/main">
              <a:ext uri="{FF2B5EF4-FFF2-40B4-BE49-F238E27FC236}">
                <a16:creationId xmlns:a16="http://schemas.microsoft.com/office/drawing/2014/main" id="{E3F0C940-63DF-4D1E-9E2E-83DA1971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5" name="b-r-out-port">
            <a:extLst xmlns:a="http://schemas.openxmlformats.org/drawingml/2006/main">
              <a:ext uri="{FF2B5EF4-FFF2-40B4-BE49-F238E27FC236}">
                <a16:creationId xmlns:a16="http://schemas.microsoft.com/office/drawing/2014/main" id="{256B08D8-A7E7-4517-AD4C-DFFB4769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1530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36" name="b-withheld">
            <a:extLst xmlns:a="http://schemas.openxmlformats.org/drawingml/2006/main">
              <a:ext uri="{FF2B5EF4-FFF2-40B4-BE49-F238E27FC236}">
                <a16:creationId xmlns:a16="http://schemas.microsoft.com/office/drawing/2014/main" id="{55BE283B-55AB-4A38-99FB-F9C0A645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6457950"/>
            <a:ext cx="3505200" cy="2286000"/>
          </a:xfrm>
          <a:prstGeom xmlns:a="http://schemas.openxmlformats.org/drawingml/2006/main" prst="roundRect">
            <a:avLst>
              <a:gd name="adj" fmla="val 2500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3C5"/>
            </a:solidFill>
            <a:prstDash val="dash"/>
          </a:ln>
        </p:spPr>
      </p:sp>
      <p:sp>
        <p:nvSpPr>
          <p:cNvPr id="137" name="b-withheld-title">
            <a:extLst xmlns:a="http://schemas.openxmlformats.org/drawingml/2006/main">
              <a:ext uri="{FF2B5EF4-FFF2-40B4-BE49-F238E27FC236}">
                <a16:creationId xmlns:a16="http://schemas.microsoft.com/office/drawing/2014/main" id="{BA42818A-FD25-4615-BA23-B860758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6572250"/>
            <a:ext cx="312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0343F"/>
                </a:solidFill>
              </a:defRPr>
            </a:pPr>
            <a:r>
              <a:rPr sz="1350" b="1" i="0">
                <a:solidFill>
                  <a:srgbClr val="30343F"/>
                </a:solidFill>
              </a:rPr>
              <a:t>Withheld from the probe</a:t>
            </a:r>
          </a:p>
        </p:txBody>
      </p:sp>
      <p:sp>
        <p:nvSpPr>
          <p:cNvPr id="138" name="b-withheld-items">
            <a:extLst xmlns:a="http://schemas.openxmlformats.org/drawingml/2006/main">
              <a:ext uri="{FF2B5EF4-FFF2-40B4-BE49-F238E27FC236}">
                <a16:creationId xmlns:a16="http://schemas.microsoft.com/office/drawing/2014/main" id="{DD91BB0F-D0CE-4E20-B906-7A461D34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695325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9" name="b-withheld-card-0">
            <a:extLst xmlns:a="http://schemas.openxmlformats.org/drawingml/2006/main">
              <a:ext uri="{FF2B5EF4-FFF2-40B4-BE49-F238E27FC236}">
                <a16:creationId xmlns:a16="http://schemas.microsoft.com/office/drawing/2014/main" id="{EE09575C-0973-4A8D-AC8D-A90800E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40" name="b-withheld-no-0">
            <a:extLst xmlns:a="http://schemas.openxmlformats.org/drawingml/2006/main">
              <a:ext uri="{FF2B5EF4-FFF2-40B4-BE49-F238E27FC236}">
                <a16:creationId xmlns:a16="http://schemas.microsoft.com/office/drawing/2014/main" id="{DC6477CE-3936-4EA5-BE43-B7381741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4D49"/>
                </a:solidFill>
              </a:defRPr>
            </a:pPr>
            <a:r>
              <a:rPr sz="825" b="1" i="0">
                <a:solidFill>
                  <a:srgbClr val="B94D49"/>
                </a:solidFill>
              </a:rPr>
              <a:t>NO</a:t>
            </a:r>
          </a:p>
        </p:txBody>
      </p:sp>
      <p:sp>
        <p:nvSpPr>
          <p:cNvPr id="141" name="b-withheld-label-0">
            <a:extLst xmlns:a="http://schemas.openxmlformats.org/drawingml/2006/main">
              <a:ext uri="{FF2B5EF4-FFF2-40B4-BE49-F238E27FC236}">
                <a16:creationId xmlns:a16="http://schemas.microsoft.com/office/drawing/2014/main" id="{68E97786-887D-46F9-BB9A-683ED00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gold</a:t>
            </a:r>
          </a:p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mode</a:t>
            </a:r>
          </a:p>
        </p:txBody>
      </p:sp>
      <p:sp>
        <p:nvSpPr>
          <p:cNvPr id="142" name="b-withheld-card-1">
            <a:extLst xmlns:a="http://schemas.openxmlformats.org/drawingml/2006/main">
              <a:ext uri="{FF2B5EF4-FFF2-40B4-BE49-F238E27FC236}">
                <a16:creationId xmlns:a16="http://schemas.microsoft.com/office/drawing/2014/main" id="{0AEBAC9B-C654-4A91-976A-E2906E66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43" name="b-withheld-no-1">
            <a:extLst xmlns:a="http://schemas.openxmlformats.org/drawingml/2006/main">
              <a:ext uri="{FF2B5EF4-FFF2-40B4-BE49-F238E27FC236}">
                <a16:creationId xmlns:a16="http://schemas.microsoft.com/office/drawing/2014/main" id="{2F918347-0383-4D80-9E9B-298F5B20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4D49"/>
                </a:solidFill>
              </a:defRPr>
            </a:pPr>
            <a:r>
              <a:rPr sz="825" b="1" i="0">
                <a:solidFill>
                  <a:srgbClr val="B94D49"/>
                </a:solidFill>
              </a:rPr>
              <a:t>NO</a:t>
            </a:r>
          </a:p>
        </p:txBody>
      </p:sp>
      <p:sp>
        <p:nvSpPr>
          <p:cNvPr id="144" name="b-withheld-label-1">
            <a:extLst xmlns:a="http://schemas.openxmlformats.org/drawingml/2006/main">
              <a:ext uri="{FF2B5EF4-FFF2-40B4-BE49-F238E27FC236}">
                <a16:creationId xmlns:a16="http://schemas.microsoft.com/office/drawing/2014/main" id="{2D190137-2376-47CF-86F0-9F84F6CA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gold</a:t>
            </a:r>
          </a:p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target</a:t>
            </a:r>
          </a:p>
        </p:txBody>
      </p:sp>
      <p:sp>
        <p:nvSpPr>
          <p:cNvPr id="145" name="b-withheld-card-2">
            <a:extLst xmlns:a="http://schemas.openxmlformats.org/drawingml/2006/main">
              <a:ext uri="{FF2B5EF4-FFF2-40B4-BE49-F238E27FC236}">
                <a16:creationId xmlns:a16="http://schemas.microsoft.com/office/drawing/2014/main" id="{A2D41057-B8F5-4D9F-AD72-ED52E792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70294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46" name="b-withheld-no-2">
            <a:extLst xmlns:a="http://schemas.openxmlformats.org/drawingml/2006/main">
              <a:ext uri="{FF2B5EF4-FFF2-40B4-BE49-F238E27FC236}">
                <a16:creationId xmlns:a16="http://schemas.microsoft.com/office/drawing/2014/main" id="{C2AFB3BA-F5B2-4E7A-8373-3ED76FFE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7086600"/>
            <a:ext cx="590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4D49"/>
                </a:solidFill>
              </a:defRPr>
            </a:pPr>
            <a:r>
              <a:rPr sz="825" b="1" i="0">
                <a:solidFill>
                  <a:srgbClr val="B94D49"/>
                </a:solidFill>
              </a:rPr>
              <a:t>NO</a:t>
            </a:r>
          </a:p>
        </p:txBody>
      </p:sp>
      <p:sp>
        <p:nvSpPr>
          <p:cNvPr id="147" name="b-withheld-label-2">
            <a:extLst xmlns:a="http://schemas.openxmlformats.org/drawingml/2006/main">
              <a:ext uri="{FF2B5EF4-FFF2-40B4-BE49-F238E27FC236}">
                <a16:creationId xmlns:a16="http://schemas.microsoft.com/office/drawing/2014/main" id="{6D43C45A-ABA2-4B0E-BF6A-F4BEEFB65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7286625"/>
            <a:ext cx="6286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norm.</a:t>
            </a:r>
          </a:p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selector</a:t>
            </a:r>
          </a:p>
        </p:txBody>
      </p:sp>
      <p:sp>
        <p:nvSpPr>
          <p:cNvPr id="148" name="b-withheld-card-3">
            <a:extLst xmlns:a="http://schemas.openxmlformats.org/drawingml/2006/main">
              <a:ext uri="{FF2B5EF4-FFF2-40B4-BE49-F238E27FC236}">
                <a16:creationId xmlns:a16="http://schemas.microsoft.com/office/drawing/2014/main" id="{80E9C2D9-1943-4618-894B-C9E54FE1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7029450"/>
            <a:ext cx="8572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9525">
            <a:solidFill>
              <a:srgbClr val="B9C3C5"/>
            </a:solidFill>
            <a:prstDash val="solid"/>
          </a:ln>
        </p:spPr>
      </p:sp>
      <p:sp>
        <p:nvSpPr>
          <p:cNvPr id="149" name="b-withheld-no-3">
            <a:extLst xmlns:a="http://schemas.openxmlformats.org/drawingml/2006/main">
              <a:ext uri="{FF2B5EF4-FFF2-40B4-BE49-F238E27FC236}">
                <a16:creationId xmlns:a16="http://schemas.microsoft.com/office/drawing/2014/main" id="{F7F1919E-0B7E-4797-9354-6A2705C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7086600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B94D49"/>
                </a:solidFill>
              </a:defRPr>
            </a:pPr>
            <a:r>
              <a:rPr sz="825" b="1" i="0">
                <a:solidFill>
                  <a:srgbClr val="B94D49"/>
                </a:solidFill>
              </a:rPr>
              <a:t>NO</a:t>
            </a:r>
          </a:p>
        </p:txBody>
      </p:sp>
      <p:sp>
        <p:nvSpPr>
          <p:cNvPr id="150" name="b-withheld-label-3">
            <a:extLst xmlns:a="http://schemas.openxmlformats.org/drawingml/2006/main">
              <a:ext uri="{FF2B5EF4-FFF2-40B4-BE49-F238E27FC236}">
                <a16:creationId xmlns:a16="http://schemas.microsoft.com/office/drawing/2014/main" id="{DCDD7FEE-8660-4B71-BF33-BD092424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286625"/>
            <a:ext cx="742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generator</a:t>
            </a:r>
          </a:p>
          <a:p xmlns:a="http://schemas.openxmlformats.org/drawingml/2006/main">
            <a:pPr algn="ctr">
              <a:defRPr sz="825" b="1" i="0">
                <a:solidFill>
                  <a:srgbClr val="69787E"/>
                </a:solidFill>
              </a:defRPr>
            </a:pPr>
            <a:r>
              <a:rPr sz="825" b="1" i="0">
                <a:solidFill>
                  <a:srgbClr val="69787E"/>
                </a:solidFill>
              </a:rPr>
              <a:t>winner IDs</a:t>
            </a:r>
          </a:p>
        </p:txBody>
      </p:sp>
      <p:sp>
        <p:nvSpPr>
          <p:cNvPr id="151" name="b-withheld-note">
            <a:extLst xmlns:a="http://schemas.openxmlformats.org/drawingml/2006/main">
              <a:ext uri="{FF2B5EF4-FFF2-40B4-BE49-F238E27FC236}">
                <a16:creationId xmlns:a16="http://schemas.microsoft.com/office/drawing/2014/main" id="{B3D747BA-DD1D-4139-85C9-F36ACA72E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7972425"/>
            <a:ext cx="312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1">
                <a:solidFill>
                  <a:srgbClr val="28343A"/>
                </a:solidFill>
              </a:defRPr>
            </a:pPr>
            <a:r>
              <a:rPr sz="1050" b="0" i="1">
                <a:solidFill>
                  <a:srgbClr val="28343A"/>
                </a:solidFill>
              </a:rPr>
              <a:t>Observed instruction, history, and state follow</a:t>
            </a:r>
          </a:p>
          <a:p xmlns:a="http://schemas.openxmlformats.org/drawingml/2006/main">
            <a:pPr algn="ctr">
              <a:defRPr sz="1050" b="0" i="1">
                <a:solidFill>
                  <a:srgbClr val="28343A"/>
                </a:solidFill>
              </a:defRPr>
            </a:pPr>
            <a:r>
              <a:rPr sz="1050" b="0" i="1">
                <a:solidFill>
                  <a:srgbClr val="28343A"/>
                </a:solidFill>
              </a:rPr>
              <a:t>the tested controller interface.</a:t>
            </a:r>
          </a:p>
        </p:txBody>
      </p:sp>
      <p:sp>
        <p:nvSpPr>
          <p:cNvPr id="152" name="c-readout-1">
            <a:extLst xmlns:a="http://schemas.openxmlformats.org/drawingml/2006/main">
              <a:ext uri="{FF2B5EF4-FFF2-40B4-BE49-F238E27FC236}">
                <a16:creationId xmlns:a16="http://schemas.microsoft.com/office/drawing/2014/main" id="{A17DD0AF-A68F-44B8-9833-4BC67726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666750"/>
            <a:ext cx="4343400" cy="21717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11430">
            <a:solidFill>
              <a:srgbClr val="B9C3C5"/>
            </a:solidFill>
            <a:prstDash val="solid"/>
          </a:ln>
        </p:spPr>
      </p:sp>
      <p:sp>
        <p:nvSpPr>
          <p:cNvPr id="153" name="c-r1-accent">
            <a:extLst xmlns:a="http://schemas.openxmlformats.org/drawingml/2006/main">
              <a:ext uri="{FF2B5EF4-FFF2-40B4-BE49-F238E27FC236}">
                <a16:creationId xmlns:a16="http://schemas.microsoft.com/office/drawing/2014/main" id="{8E505F13-E438-4DB8-B9DD-2A1CC02F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866775"/>
            <a:ext cx="476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154" name="c-num-1">
            <a:extLst xmlns:a="http://schemas.openxmlformats.org/drawingml/2006/main">
              <a:ext uri="{FF2B5EF4-FFF2-40B4-BE49-F238E27FC236}">
                <a16:creationId xmlns:a16="http://schemas.microsoft.com/office/drawing/2014/main" id="{C63E8C03-8D2B-4A55-B65B-E2280B82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8382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1</a:t>
            </a:r>
          </a:p>
        </p:txBody>
      </p:sp>
      <p:sp>
        <p:nvSpPr>
          <p:cNvPr id="155" name="c-r1-title">
            <a:extLst xmlns:a="http://schemas.openxmlformats.org/drawingml/2006/main">
              <a:ext uri="{FF2B5EF4-FFF2-40B4-BE49-F238E27FC236}">
                <a16:creationId xmlns:a16="http://schemas.microsoft.com/office/drawing/2014/main" id="{8006279F-0E17-48FE-8FA9-B1F42B15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781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0343F"/>
                </a:solidFill>
              </a:defRPr>
            </a:pPr>
            <a:r>
              <a:rPr sz="1500" b="1" i="0">
                <a:solidFill>
                  <a:srgbClr val="30343F"/>
                </a:solidFill>
              </a:rPr>
              <a:t>Pair accuracy (PairAcc)</a:t>
            </a:r>
          </a:p>
        </p:txBody>
      </p:sp>
      <p:sp>
        <p:nvSpPr>
          <p:cNvPr id="156" name="c-r1-unit">
            <a:extLst xmlns:a="http://schemas.openxmlformats.org/drawingml/2006/main">
              <a:ext uri="{FF2B5EF4-FFF2-40B4-BE49-F238E27FC236}">
                <a16:creationId xmlns:a16="http://schemas.microsoft.com/office/drawing/2014/main" id="{7D8D8496-CE46-4790-9BA6-D97A545D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1133475"/>
            <a:ext cx="3429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28343A"/>
                </a:solidFill>
              </a:defRPr>
            </a:pPr>
            <a:r>
              <a:rPr sz="1125" b="0" i="0">
                <a:solidFill>
                  <a:srgbClr val="28343A"/>
                </a:solidFill>
              </a:rPr>
              <a:t>Unit = one complete changed-winner pair</a:t>
            </a:r>
          </a:p>
        </p:txBody>
      </p:sp>
      <p:sp>
        <p:nvSpPr>
          <p:cNvPr id="157" name="c-r1-p">
            <a:extLst xmlns:a="http://schemas.openxmlformats.org/drawingml/2006/main">
              <a:ext uri="{FF2B5EF4-FFF2-40B4-BE49-F238E27FC236}">
                <a16:creationId xmlns:a16="http://schemas.microsoft.com/office/drawing/2014/main" id="{2A0F2B88-C655-42CC-8BA2-0BC250B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4D49"/>
            </a:solidFill>
            <a:prstDash val="dash"/>
          </a:ln>
        </p:spPr>
      </p:sp>
      <p:sp>
        <p:nvSpPr>
          <p:cNvPr id="158" name="c-r1-p-text">
            <a:extLst xmlns:a="http://schemas.openxmlformats.org/drawingml/2006/main">
              <a:ext uri="{FF2B5EF4-FFF2-40B4-BE49-F238E27FC236}">
                <a16:creationId xmlns:a16="http://schemas.microsoft.com/office/drawing/2014/main" id="{3709961D-1653-4363-9835-ADDC9B5F3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30343F"/>
                </a:solidFill>
              </a:defRPr>
            </a:pPr>
            <a:r>
              <a:rPr sz="1500" b="0" i="1">
                <a:solidFill>
                  <a:srgbClr val="30343F"/>
                </a:solidFill>
              </a:rPr>
              <a:t>T_P = A</a:t>
            </a:r>
          </a:p>
        </p:txBody>
      </p:sp>
      <p:sp>
        <p:nvSpPr>
          <p:cNvPr id="159" name="c-r1-and">
            <a:extLst xmlns:a="http://schemas.openxmlformats.org/drawingml/2006/main">
              <a:ext uri="{FF2B5EF4-FFF2-40B4-BE49-F238E27FC236}">
                <a16:creationId xmlns:a16="http://schemas.microsoft.com/office/drawing/2014/main" id="{FA432108-EE53-432B-A2D6-7E8C48A50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1619250"/>
            <a:ext cx="685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30343F"/>
                </a:solidFill>
              </a:defRPr>
            </a:pPr>
            <a:r>
              <a:rPr sz="1350" b="1" i="0">
                <a:solidFill>
                  <a:srgbClr val="30343F"/>
                </a:solidFill>
              </a:rPr>
              <a:t>AND</a:t>
            </a:r>
          </a:p>
        </p:txBody>
      </p:sp>
      <p:sp>
        <p:nvSpPr>
          <p:cNvPr id="160" name="c-r1-r">
            <a:extLst xmlns:a="http://schemas.openxmlformats.org/drawingml/2006/main">
              <a:ext uri="{FF2B5EF4-FFF2-40B4-BE49-F238E27FC236}">
                <a16:creationId xmlns:a16="http://schemas.microsoft.com/office/drawing/2014/main" id="{E6E01098-1BF7-437A-88CA-95DCD42B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1552575"/>
            <a:ext cx="1257300" cy="523875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D7F7B"/>
            </a:solidFill>
            <a:prstDash val="dash"/>
          </a:ln>
        </p:spPr>
      </p:sp>
      <p:sp>
        <p:nvSpPr>
          <p:cNvPr id="161" name="c-r1-r-text">
            <a:extLst xmlns:a="http://schemas.openxmlformats.org/drawingml/2006/main">
              <a:ext uri="{FF2B5EF4-FFF2-40B4-BE49-F238E27FC236}">
                <a16:creationId xmlns:a16="http://schemas.microsoft.com/office/drawing/2014/main" id="{F6878DD1-61B2-4AF1-BB35-9DD60041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8325" y="160020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 i="1">
                <a:solidFill>
                  <a:srgbClr val="30343F"/>
                </a:solidFill>
              </a:defRPr>
            </a:pPr>
            <a:r>
              <a:rPr sz="1500" b="0" i="1">
                <a:solidFill>
                  <a:srgbClr val="30343F"/>
                </a:solidFill>
              </a:rPr>
              <a:t>T_R = B</a:t>
            </a:r>
          </a:p>
        </p:txBody>
      </p:sp>
      <p:sp>
        <p:nvSpPr>
          <p:cNvPr id="162" name="c-r1-denom">
            <a:extLst xmlns:a="http://schemas.openxmlformats.org/drawingml/2006/main">
              <a:ext uri="{FF2B5EF4-FFF2-40B4-BE49-F238E27FC236}">
                <a16:creationId xmlns:a16="http://schemas.microsoft.com/office/drawing/2014/main" id="{7E0F82B9-C2A0-4D04-A34D-6B58FDD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238375"/>
            <a:ext cx="35433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30343F"/>
                </a:solidFill>
              </a:defRPr>
            </a:pPr>
            <a:r>
              <a:rPr sz="1200" b="0" i="0">
                <a:solidFill>
                  <a:srgbClr val="30343F"/>
                </a:solidFill>
              </a:rPr>
              <a:t>Denominator: all complete changed-winner pairs</a:t>
            </a:r>
          </a:p>
        </p:txBody>
      </p:sp>
      <p:sp>
        <p:nvSpPr>
          <p:cNvPr id="163" name="c-readout-2">
            <a:extLst xmlns:a="http://schemas.openxmlformats.org/drawingml/2006/main">
              <a:ext uri="{FF2B5EF4-FFF2-40B4-BE49-F238E27FC236}">
                <a16:creationId xmlns:a16="http://schemas.microsoft.com/office/drawing/2014/main" id="{CCA08BFD-CB46-49AB-9FDC-608DEB343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000375"/>
            <a:ext cx="4343400" cy="2619375"/>
          </a:xfrm>
          <a:prstGeom xmlns:a="http://schemas.openxmlformats.org/drawingml/2006/main" prst="roundRect">
            <a:avLst>
              <a:gd name="adj" fmla="val 2182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3C5"/>
            </a:solidFill>
            <a:prstDash val="solid"/>
          </a:ln>
        </p:spPr>
      </p:sp>
      <p:sp>
        <p:nvSpPr>
          <p:cNvPr id="164" name="c-r2-accent">
            <a:extLst xmlns:a="http://schemas.openxmlformats.org/drawingml/2006/main">
              <a:ext uri="{FF2B5EF4-FFF2-40B4-BE49-F238E27FC236}">
                <a16:creationId xmlns:a16="http://schemas.microsoft.com/office/drawing/2014/main" id="{E6A03029-589C-46AC-AF52-D504568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3209925"/>
            <a:ext cx="47625" cy="2200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solidFill>
              <a:srgbClr val="B94D49"/>
            </a:solidFill>
            <a:prstDash val="solid"/>
          </a:ln>
        </p:spPr>
      </p:sp>
      <p:sp>
        <p:nvSpPr>
          <p:cNvPr id="165" name="c-num-2">
            <a:extLst xmlns:a="http://schemas.openxmlformats.org/drawingml/2006/main">
              <a:ext uri="{FF2B5EF4-FFF2-40B4-BE49-F238E27FC236}">
                <a16:creationId xmlns:a16="http://schemas.microsoft.com/office/drawing/2014/main" id="{B4968889-413B-4D04-8E75-16653AF3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3171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2</a:t>
            </a:r>
          </a:p>
        </p:txBody>
      </p:sp>
      <p:sp>
        <p:nvSpPr>
          <p:cNvPr id="166" name="c-r2-title">
            <a:extLst xmlns:a="http://schemas.openxmlformats.org/drawingml/2006/main">
              <a:ext uri="{FF2B5EF4-FFF2-40B4-BE49-F238E27FC236}">
                <a16:creationId xmlns:a16="http://schemas.microsoft.com/office/drawing/2014/main" id="{2365D729-3BE1-40A0-8E38-35DF4573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1146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0343F"/>
                </a:solidFill>
              </a:defRPr>
            </a:pPr>
            <a:r>
              <a:rPr sz="1500" b="1" i="0">
                <a:solidFill>
                  <a:srgbClr val="30343F"/>
                </a:solidFill>
              </a:rPr>
              <a:t>Conditional substitution</a:t>
            </a:r>
          </a:p>
        </p:txBody>
      </p:sp>
      <p:sp>
        <p:nvSpPr>
          <p:cNvPr id="167" name="c-r2-focus">
            <a:extLst xmlns:a="http://schemas.openxmlformats.org/drawingml/2006/main">
              <a:ext uri="{FF2B5EF4-FFF2-40B4-BE49-F238E27FC236}">
                <a16:creationId xmlns:a16="http://schemas.microsoft.com/office/drawing/2014/main" id="{98ABFA96-670F-4638-B6FA-5CBD6EF1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467100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Focus = replacement after a correct observable binding</a:t>
            </a:r>
          </a:p>
        </p:txBody>
      </p:sp>
      <p:sp>
        <p:nvSpPr>
          <p:cNvPr id="168" name="c-r2-a">
            <a:extLst xmlns:a="http://schemas.openxmlformats.org/drawingml/2006/main">
              <a:ext uri="{FF2B5EF4-FFF2-40B4-BE49-F238E27FC236}">
                <a16:creationId xmlns:a16="http://schemas.microsoft.com/office/drawing/2014/main" id="{A7C06600-0C80-4E58-A6DF-FE07AC179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16193">
            <a:solidFill>
              <a:srgbClr val="B94D49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69" name="c-r2-a-label">
            <a:extLst xmlns:a="http://schemas.openxmlformats.org/drawingml/2006/main">
              <a:ext uri="{FF2B5EF4-FFF2-40B4-BE49-F238E27FC236}">
                <a16:creationId xmlns:a16="http://schemas.microsoft.com/office/drawing/2014/main" id="{09EDAD8A-17CA-4EE6-A6A0-D3FDEEAC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correct binding</a:t>
            </a:r>
          </a:p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in S0</a:t>
            </a:r>
          </a:p>
        </p:txBody>
      </p:sp>
      <p:sp>
        <p:nvSpPr>
          <p:cNvPr id="170" name="c-r2-clock-face">
            <a:extLst xmlns:a="http://schemas.openxmlformats.org/drawingml/2006/main">
              <a:ext uri="{FF2B5EF4-FFF2-40B4-BE49-F238E27FC236}">
                <a16:creationId xmlns:a16="http://schemas.microsoft.com/office/drawing/2014/main" id="{868DE409-8002-4D22-8BAC-303624EC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8343A"/>
            </a:solidFill>
            <a:prstDash val="solid"/>
          </a:ln>
        </p:spPr>
      </p:sp>
      <p:sp>
        <p:nvSpPr>
          <p:cNvPr id="171" name="c-r2-clock-hand-v">
            <a:extLst xmlns:a="http://schemas.openxmlformats.org/drawingml/2006/main">
              <a:ext uri="{FF2B5EF4-FFF2-40B4-BE49-F238E27FC236}">
                <a16:creationId xmlns:a16="http://schemas.microsoft.com/office/drawing/2014/main" id="{7132CB21-53DA-4086-9174-E0560A75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076510"/>
            <a:ext cx="19050" cy="124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72" name="c-r2-clock-hand-h">
            <a:extLst xmlns:a="http://schemas.openxmlformats.org/drawingml/2006/main">
              <a:ext uri="{FF2B5EF4-FFF2-40B4-BE49-F238E27FC236}">
                <a16:creationId xmlns:a16="http://schemas.microsoft.com/office/drawing/2014/main" id="{0090DE4B-BEF7-4EFD-8E0E-F6087575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9774" y="4192524"/>
            <a:ext cx="880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73" name="c-r2-clock-label">
            <a:extLst xmlns:a="http://schemas.openxmlformats.org/drawingml/2006/main">
              <a:ext uri="{FF2B5EF4-FFF2-40B4-BE49-F238E27FC236}">
                <a16:creationId xmlns:a16="http://schemas.microsoft.com/office/drawing/2014/main" id="{B047FB7B-9CD5-48CC-ABAC-F3B3A0A8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41960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refresh</a:t>
            </a:r>
          </a:p>
        </p:txBody>
      </p:sp>
      <p:sp>
        <p:nvSpPr>
          <p:cNvPr id="174" name="c-r2-b">
            <a:extLst xmlns:a="http://schemas.openxmlformats.org/drawingml/2006/main">
              <a:ext uri="{FF2B5EF4-FFF2-40B4-BE49-F238E27FC236}">
                <a16:creationId xmlns:a16="http://schemas.microsoft.com/office/drawing/2014/main" id="{73E0CEAB-1DBC-49B3-B68C-84568D03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82675" y="4000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16193">
            <a:solidFill>
              <a:srgbClr val="2D7F7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75" name="c-r2-b-label">
            <a:extLst xmlns:a="http://schemas.openxmlformats.org/drawingml/2006/main">
              <a:ext uri="{FF2B5EF4-FFF2-40B4-BE49-F238E27FC236}">
                <a16:creationId xmlns:a16="http://schemas.microsoft.com/office/drawing/2014/main" id="{90B0F547-4980-4B14-B843-8180A7DB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20725" y="4419600"/>
            <a:ext cx="1123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final target</a:t>
            </a:r>
          </a:p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(substitution)</a:t>
            </a:r>
          </a:p>
        </p:txBody>
      </p:sp>
      <p:cxnSp>
        <p:nvCxnSpPr>
          <p:cNvPr id="372" name=""/>
          <p:cNvCxnSpPr>
            <a:stCxn xmlns:a="http://schemas.openxmlformats.org/drawingml/2006/main" id="168" idx="6"/>
            <a:endCxn xmlns:a="http://schemas.openxmlformats.org/drawingml/2006/main" id="170" idx="2"/>
          </p:cNvCxnSpPr>
          <p:nvPr/>
        </p:nvCxnSpPr>
        <p:spPr>
          <a:xfrm xmlns:a="http://schemas.openxmlformats.org/drawingml/2006/main">
            <a:off x="11582400" y="4200525"/>
            <a:ext cx="8953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343A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73" name=""/>
          <p:cNvCxnSpPr>
            <a:stCxn xmlns:a="http://schemas.openxmlformats.org/drawingml/2006/main" id="170" idx="6"/>
            <a:endCxn xmlns:a="http://schemas.openxmlformats.org/drawingml/2006/main" id="174" idx="2"/>
          </p:cNvCxnSpPr>
          <p:nvPr/>
        </p:nvCxnSpPr>
        <p:spPr>
          <a:xfrm xmlns:a="http://schemas.openxmlformats.org/drawingml/2006/main">
            <a:off x="12877800" y="4200525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343A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78" name="c-r2-denom">
            <a:extLst xmlns:a="http://schemas.openxmlformats.org/drawingml/2006/main">
              <a:ext uri="{FF2B5EF4-FFF2-40B4-BE49-F238E27FC236}">
                <a16:creationId xmlns:a16="http://schemas.microsoft.com/office/drawing/2014/main" id="{A570B001-D15F-4242-84EA-C8B98D4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53000"/>
            <a:ext cx="381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Denom. (Preserve): correct binding + completed refresh + changed winner</a:t>
            </a:r>
          </a:p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+ surviving, action-valid A</a:t>
            </a:r>
          </a:p>
        </p:txBody>
      </p:sp>
      <p:sp>
        <p:nvSpPr>
          <p:cNvPr id="179" name="c-readout-3">
            <a:extLst xmlns:a="http://schemas.openxmlformats.org/drawingml/2006/main">
              <a:ext uri="{FF2B5EF4-FFF2-40B4-BE49-F238E27FC236}">
                <a16:creationId xmlns:a16="http://schemas.microsoft.com/office/drawing/2014/main" id="{5D97BBA4-9698-4A0D-B8AA-CF7D2F9F1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5781675"/>
            <a:ext cx="4343400" cy="2962275"/>
          </a:xfrm>
          <a:prstGeom xmlns:a="http://schemas.openxmlformats.org/drawingml/2006/main" prst="roundRect">
            <a:avLst>
              <a:gd name="adj" fmla="val 1929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B9C3C5"/>
            </a:solidFill>
            <a:prstDash val="solid"/>
          </a:ln>
        </p:spPr>
      </p:sp>
      <p:sp>
        <p:nvSpPr>
          <p:cNvPr id="180" name="c-r3-accent">
            <a:extLst xmlns:a="http://schemas.openxmlformats.org/drawingml/2006/main">
              <a:ext uri="{FF2B5EF4-FFF2-40B4-BE49-F238E27FC236}">
                <a16:creationId xmlns:a16="http://schemas.microsoft.com/office/drawing/2014/main" id="{DAAAA7EC-8502-488F-9086-EA8E474D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5991225"/>
            <a:ext cx="47625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899D"/>
          </a:solidFill>
          <a:ln xmlns:a="http://schemas.openxmlformats.org/drawingml/2006/main" w="0">
            <a:solidFill>
              <a:srgbClr val="66899D"/>
            </a:solidFill>
            <a:prstDash val="solid"/>
          </a:ln>
        </p:spPr>
      </p:sp>
      <p:sp>
        <p:nvSpPr>
          <p:cNvPr id="181" name="c-num-3">
            <a:extLst xmlns:a="http://schemas.openxmlformats.org/drawingml/2006/main">
              <a:ext uri="{FF2B5EF4-FFF2-40B4-BE49-F238E27FC236}">
                <a16:creationId xmlns:a16="http://schemas.microsoft.com/office/drawing/2014/main" id="{85EBE90C-9845-44BC-B89E-BD243C16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59531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8343A"/>
                </a:solidFill>
              </a:defRPr>
            </a:pPr>
            <a:r>
              <a:rPr sz="1275" b="1">
                <a:solidFill>
                  <a:srgbClr val="28343A"/>
                </a:solidFill>
              </a:rPr>
              <a:t>3</a:t>
            </a:r>
          </a:p>
        </p:txBody>
      </p:sp>
      <p:sp>
        <p:nvSpPr>
          <p:cNvPr id="182" name="c-r3-title">
            <a:extLst xmlns:a="http://schemas.openxmlformats.org/drawingml/2006/main">
              <a:ext uri="{FF2B5EF4-FFF2-40B4-BE49-F238E27FC236}">
                <a16:creationId xmlns:a16="http://schemas.microsoft.com/office/drawing/2014/main" id="{A5567881-B8F9-4373-B763-9A4A5BF3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8959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0343F"/>
                </a:solidFill>
              </a:defRPr>
            </a:pPr>
            <a:r>
              <a:rPr sz="1500" b="1" i="0">
                <a:solidFill>
                  <a:srgbClr val="30343F"/>
                </a:solidFill>
              </a:rPr>
              <a:t>Execution subset (tool writes)</a:t>
            </a:r>
          </a:p>
        </p:txBody>
      </p:sp>
      <p:sp>
        <p:nvSpPr>
          <p:cNvPr id="183" name="c-r3-focus">
            <a:extLst xmlns:a="http://schemas.openxmlformats.org/drawingml/2006/main">
              <a:ext uri="{FF2B5EF4-FFF2-40B4-BE49-F238E27FC236}">
                <a16:creationId xmlns:a16="http://schemas.microsoft.com/office/drawing/2014/main" id="{B6032EE7-08DD-4D81-9438-866B4AE0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6257925"/>
            <a:ext cx="342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Trace = selected target ID -&gt; tool write -&gt; state diff</a:t>
            </a:r>
          </a:p>
        </p:txBody>
      </p:sp>
      <p:sp>
        <p:nvSpPr>
          <p:cNvPr id="184" name="c-r3-id-circle">
            <a:extLst xmlns:a="http://schemas.openxmlformats.org/drawingml/2006/main">
              <a:ext uri="{FF2B5EF4-FFF2-40B4-BE49-F238E27FC236}">
                <a16:creationId xmlns:a16="http://schemas.microsoft.com/office/drawing/2014/main" id="{D1DF114A-A2B9-4B46-9B33-EAFE379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8580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28343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343A"/>
                </a:solidFill>
              </a:defRPr>
            </a:pPr>
            <a:r>
              <a:rPr sz="1500" b="1">
                <a:solidFill>
                  <a:srgbClr val="28343A"/>
                </a:solidFill>
              </a:rPr>
              <a:t>ID</a:t>
            </a:r>
          </a:p>
        </p:txBody>
      </p:sp>
      <p:sp>
        <p:nvSpPr>
          <p:cNvPr id="185" name="c-r3-id-h">
            <a:extLst xmlns:a="http://schemas.openxmlformats.org/drawingml/2006/main">
              <a:ext uri="{FF2B5EF4-FFF2-40B4-BE49-F238E27FC236}">
                <a16:creationId xmlns:a16="http://schemas.microsoft.com/office/drawing/2014/main" id="{D30E8F1E-5424-415F-85F2-4A1261E26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0" y="7077075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86" name="c-r3-id-v">
            <a:extLst xmlns:a="http://schemas.openxmlformats.org/drawingml/2006/main">
              <a:ext uri="{FF2B5EF4-FFF2-40B4-BE49-F238E27FC236}">
                <a16:creationId xmlns:a16="http://schemas.microsoft.com/office/drawing/2014/main" id="{2A62E392-F507-4239-A7B1-E4464F83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78180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343A"/>
          </a:solidFill>
          <a:ln xmlns:a="http://schemas.openxmlformats.org/drawingml/2006/main" w="0">
            <a:solidFill>
              <a:srgbClr val="28343A"/>
            </a:solidFill>
            <a:prstDash val="solid"/>
          </a:ln>
        </p:spPr>
      </p:sp>
      <p:sp>
        <p:nvSpPr>
          <p:cNvPr id="187" name="c-r3-id-label">
            <a:extLst xmlns:a="http://schemas.openxmlformats.org/drawingml/2006/main">
              <a:ext uri="{FF2B5EF4-FFF2-40B4-BE49-F238E27FC236}">
                <a16:creationId xmlns:a16="http://schemas.microsoft.com/office/drawing/2014/main" id="{1ACB8A54-3A10-4A25-A8A6-7AD597BC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7429500"/>
            <a:ext cx="933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selected</a:t>
            </a:r>
          </a:p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target ID</a:t>
            </a:r>
          </a:p>
        </p:txBody>
      </p:sp>
      <p:sp>
        <p:nvSpPr>
          <p:cNvPr id="188" name="c-r3-write">
            <a:extLst xmlns:a="http://schemas.openxmlformats.org/drawingml/2006/main">
              <a:ext uri="{FF2B5EF4-FFF2-40B4-BE49-F238E27FC236}">
                <a16:creationId xmlns:a16="http://schemas.microsoft.com/office/drawing/2014/main" id="{7C87BDC3-0C5A-4FB5-BA52-63D86041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6848475"/>
            <a:ext cx="8763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3335">
            <a:solidFill>
              <a:srgbClr val="66899D"/>
            </a:solidFill>
            <a:prstDash val="solid"/>
          </a:ln>
        </p:spPr>
      </p:sp>
      <p:sp>
        <p:nvSpPr>
          <p:cNvPr id="189" name="c-r3-write-text">
            <a:extLst xmlns:a="http://schemas.openxmlformats.org/drawingml/2006/main">
              <a:ext uri="{FF2B5EF4-FFF2-40B4-BE49-F238E27FC236}">
                <a16:creationId xmlns:a16="http://schemas.microsoft.com/office/drawing/2014/main" id="{5C0570E4-9B0F-4E1E-BC0F-81AC7704F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20600" y="6877050"/>
            <a:ext cx="800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30343F"/>
                </a:solidFill>
              </a:defRPr>
            </a:pPr>
            <a:r>
              <a:rPr sz="1200" b="1" i="0">
                <a:solidFill>
                  <a:srgbClr val="30343F"/>
                </a:solidFill>
              </a:rPr>
              <a:t>TOOL</a:t>
            </a:r>
          </a:p>
          <a:p xmlns:a="http://schemas.openxmlformats.org/drawingml/2006/main">
            <a:pPr algn="ctr">
              <a:defRPr sz="1200" b="1" i="0">
                <a:solidFill>
                  <a:srgbClr val="30343F"/>
                </a:solidFill>
              </a:defRPr>
            </a:pPr>
            <a:r>
              <a:rPr sz="1200" b="1" i="0">
                <a:solidFill>
                  <a:srgbClr val="30343F"/>
                </a:solidFill>
              </a:rPr>
              <a:t>WRITE</a:t>
            </a:r>
          </a:p>
        </p:txBody>
      </p:sp>
      <p:sp>
        <p:nvSpPr>
          <p:cNvPr id="190" name="c-r3-write-label">
            <a:extLst xmlns:a="http://schemas.openxmlformats.org/drawingml/2006/main">
              <a:ext uri="{FF2B5EF4-FFF2-40B4-BE49-F238E27FC236}">
                <a16:creationId xmlns:a16="http://schemas.microsoft.com/office/drawing/2014/main" id="{AB5C41AD-FD14-4FDF-AB89-0B8F07F4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7429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model-issued</a:t>
            </a:r>
          </a:p>
        </p:txBody>
      </p:sp>
      <p:sp>
        <p:nvSpPr>
          <p:cNvPr id="191" name="c-r3-diff">
            <a:extLst xmlns:a="http://schemas.openxmlformats.org/drawingml/2006/main">
              <a:ext uri="{FF2B5EF4-FFF2-40B4-BE49-F238E27FC236}">
                <a16:creationId xmlns:a16="http://schemas.microsoft.com/office/drawing/2014/main" id="{4559A7E7-D83D-4CB8-9A9C-A9AAC8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6848475"/>
            <a:ext cx="8572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F3F5"/>
          </a:solidFill>
          <a:ln xmlns:a="http://schemas.openxmlformats.org/drawingml/2006/main" w="13335">
            <a:solidFill>
              <a:srgbClr val="66899D"/>
            </a:solidFill>
            <a:prstDash val="solid"/>
          </a:ln>
        </p:spPr>
      </p:sp>
      <p:sp>
        <p:nvSpPr>
          <p:cNvPr id="192" name="c-r3-diff-text">
            <a:extLst xmlns:a="http://schemas.openxmlformats.org/drawingml/2006/main">
              <a:ext uri="{FF2B5EF4-FFF2-40B4-BE49-F238E27FC236}">
                <a16:creationId xmlns:a16="http://schemas.microsoft.com/office/drawing/2014/main" id="{0FBE77EB-E370-4E58-8B35-E9D44D17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6877050"/>
            <a:ext cx="781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66899D"/>
                </a:solidFill>
              </a:defRPr>
            </a:pPr>
            <a:r>
              <a:rPr sz="1200" b="1" i="0">
                <a:solidFill>
                  <a:srgbClr val="66899D"/>
                </a:solidFill>
              </a:rPr>
              <a:t>STATE</a:t>
            </a:r>
          </a:p>
          <a:p xmlns:a="http://schemas.openxmlformats.org/drawingml/2006/main">
            <a:pPr algn="ctr">
              <a:defRPr sz="1200" b="1" i="0">
                <a:solidFill>
                  <a:srgbClr val="66899D"/>
                </a:solidFill>
              </a:defRPr>
            </a:pPr>
            <a:r>
              <a:rPr sz="1200" b="1" i="0">
                <a:solidFill>
                  <a:srgbClr val="66899D"/>
                </a:solidFill>
              </a:rPr>
              <a:t>DIFF</a:t>
            </a:r>
          </a:p>
        </p:txBody>
      </p:sp>
      <p:sp>
        <p:nvSpPr>
          <p:cNvPr id="193" name="c-r3-diff-label">
            <a:extLst xmlns:a="http://schemas.openxmlformats.org/drawingml/2006/main">
              <a:ext uri="{FF2B5EF4-FFF2-40B4-BE49-F238E27FC236}">
                <a16:creationId xmlns:a16="http://schemas.microsoft.com/office/drawing/2014/main" id="{F1E8D7F4-AD0E-411B-BB32-D8F0E2A9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74295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0343F"/>
                </a:solidFill>
              </a:defRPr>
            </a:pPr>
            <a:r>
              <a:rPr sz="1050" b="0" i="0">
                <a:solidFill>
                  <a:srgbClr val="30343F"/>
                </a:solidFill>
              </a:rPr>
              <a:t>executed change</a:t>
            </a:r>
          </a:p>
        </p:txBody>
      </p:sp>
      <p:cxnSp>
        <p:nvCxnSpPr>
          <p:cNvPr id="390" name=""/>
          <p:cNvCxnSpPr>
            <a:stCxn xmlns:a="http://schemas.openxmlformats.org/drawingml/2006/main" id="184" idx="6"/>
            <a:endCxn xmlns:a="http://schemas.openxmlformats.org/drawingml/2006/main" id="188" idx="1"/>
          </p:cNvCxnSpPr>
          <p:nvPr/>
        </p:nvCxnSpPr>
        <p:spPr>
          <a:xfrm xmlns:a="http://schemas.openxmlformats.org/drawingml/2006/main">
            <a:off x="11525250" y="7086600"/>
            <a:ext cx="857250" cy="1905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6899D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391" name=""/>
          <p:cNvCxnSpPr>
            <a:stCxn xmlns:a="http://schemas.openxmlformats.org/drawingml/2006/main" id="188" idx="3"/>
            <a:endCxn xmlns:a="http://schemas.openxmlformats.org/drawingml/2006/main" id="191" idx="1"/>
          </p:cNvCxnSpPr>
          <p:nvPr/>
        </p:nvCxnSpPr>
        <p:spPr>
          <a:xfrm xmlns:a="http://schemas.openxmlformats.org/drawingml/2006/main">
            <a:off x="13258800" y="7105650"/>
            <a:ext cx="561975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66899D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96" name="c-r3-denom">
            <a:extLst xmlns:a="http://schemas.openxmlformats.org/drawingml/2006/main">
              <a:ext uri="{FF2B5EF4-FFF2-40B4-BE49-F238E27FC236}">
                <a16:creationId xmlns:a16="http://schemas.microsoft.com/office/drawing/2014/main" id="{4E69BF78-A44F-4007-8322-FC208FF7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805815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Denominator: executed model-issued writes</a:t>
            </a:r>
          </a:p>
          <a:p xmlns:a="http://schemas.openxmlformats.org/drawingml/2006/main">
            <a:pPr algn="ctr">
              <a:defRPr sz="1125" b="0" i="0">
                <a:solidFill>
                  <a:srgbClr val="30343F"/>
                </a:solidFill>
              </a:defRPr>
            </a:pPr>
            <a:r>
              <a:rPr sz="1125" b="0" i="0">
                <a:solidFill>
                  <a:srgbClr val="30343F"/>
                </a:solidFill>
              </a:rPr>
              <a:t>(subset of all evaluation rows)</a:t>
            </a:r>
          </a:p>
        </p:txBody>
      </p:sp>
    </p:spTree>
    <p:extLst>
      <p:ext uri="{BB962C8B-B14F-4D97-AF65-F5344CB8AC3E}">
        <p14:creationId xmlns:p14="http://schemas.microsoft.com/office/powerpoint/2010/main" val="888383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2026-07-28T15:33:46.8320000Z</dcterms:created>
  <dcterms:modified xsi:type="dcterms:W3CDTF">2026-07-28T15:33:46.8320000Z</dcterms:modified>
</coreProperties>
</file>
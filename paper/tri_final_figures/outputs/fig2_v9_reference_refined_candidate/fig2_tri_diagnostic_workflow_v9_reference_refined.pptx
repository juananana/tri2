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d2ecf0f04c4f12" /><Relationship Type="http://schemas.openxmlformats.org/officeDocument/2006/relationships/extended-properties" Target="/docProps/app.xml" Id="Ra8948b1345cc40bf" /><Relationship Type="http://schemas.openxmlformats.org/officeDocument/2006/relationships/officeDocument" Target="/ppt/presentation.xml" Id="R42553f363701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e4835c1b7c454e"/>
  </p:sldMasterIdLst>
  <p:notesMasterIdLst>
    <p:notesMasterId xmlns:r="http://schemas.openxmlformats.org/officeDocument/2006/relationships" r:id="R0b10246513e34059"/>
  </p:notesMasterIdLst>
  <p:sldIdLst>
    <p:sldId xmlns:r="http://schemas.openxmlformats.org/officeDocument/2006/relationships" id="256" r:id="R69a94c438c6d4b74"/>
  </p:sldIdLst>
  <p:sldSz cx="1524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8eef3b89e4fe8" /><Relationship Type="http://schemas.openxmlformats.org/officeDocument/2006/relationships/slideMaster" Target="/ppt/slideMasters/slideMaster1.xml" Id="R2fe4835c1b7c454e" /><Relationship Type="http://schemas.openxmlformats.org/officeDocument/2006/relationships/notesMaster" Target="/ppt/notesMasters/notesMaster1.xml" Id="R0b10246513e34059" /><Relationship Type="http://schemas.openxmlformats.org/officeDocument/2006/relationships/presProps" Target="/ppt/presProps.xml" Id="Rd08324e5cf384dcb" /><Relationship Type="http://schemas.openxmlformats.org/officeDocument/2006/relationships/tableStyles" Target="/ppt/tableStyles.xml" Id="Rc9754f56dbe64803" /><Relationship Type="http://schemas.openxmlformats.org/officeDocument/2006/relationships/slide" Target="/ppt/slides/slide1.xml" Id="R69a94c438c6d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5080e6f23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251caf17b454f" /><Relationship Type="http://schemas.openxmlformats.org/officeDocument/2006/relationships/notesMaster" Target="/ppt/notesMasters/notesMaster1.xml" Id="R1eec2819438844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Figure 2 reference: structure, density, and visual grammar.</a:t>
            </a:r>
          </a:p>
          <a:p xmlns:a="http://schemas.openxmlformats.org/drawingml/2006/main">
            <a:r>
              <a:t>- Anonymous TRI manuscript: matched-pair variables, strict substitution denominator, probe inputs, and execution readout.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6a5113224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66e3b67ea434c" /><Relationship Type="http://schemas.openxmlformats.org/officeDocument/2006/relationships/slideLayout" Target="/ppt/slideLayouts/slideLayout1.xml" Id="R6290c61d8f5d4c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0c61d8f5d4c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c153e83434683" /><Relationship Type="http://schemas.openxmlformats.org/officeDocument/2006/relationships/notesSlide" Target="/ppt/notesSlides/notesSlide1.xml" Id="R602b298abfcf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panel-A">
            <a:extLst xmlns:a="http://schemas.openxmlformats.org/drawingml/2006/main">
              <a:ext uri="{FF2B5EF4-FFF2-40B4-BE49-F238E27FC236}">
                <a16:creationId xmlns:a16="http://schemas.microsoft.com/office/drawing/2014/main" id="{2A9EEB36-89D7-4CC1-95C6-4BBCAABA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6191250" cy="8877300"/>
          </a:xfrm>
          <a:prstGeom xmlns:a="http://schemas.openxmlformats.org/drawingml/2006/main" prst="roundRect">
            <a:avLst>
              <a:gd name="adj" fmla="val 92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5822A4C3-9F4E-4F33-A45C-34F0F5E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A. Construct the matched pair</a:t>
            </a:r>
          </a:p>
        </p:txBody>
      </p:sp>
      <p:sp>
        <p:nvSpPr>
          <p:cNvPr id="3" name="panel-B">
            <a:extLst xmlns:a="http://schemas.openxmlformats.org/drawingml/2006/main">
              <a:ext uri="{FF2B5EF4-FFF2-40B4-BE49-F238E27FC236}">
                <a16:creationId xmlns:a16="http://schemas.microsoft.com/office/drawing/2014/main" id="{8D160BC1-51CA-4603-ACCF-8F73373C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3350"/>
            <a:ext cx="3848100" cy="8877300"/>
          </a:xfrm>
          <a:prstGeom xmlns:a="http://schemas.openxmlformats.org/drawingml/2006/main" prst="roundRect">
            <a:avLst>
              <a:gd name="adj" fmla="val 148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142C21BB-E48B-4BB2-812E-FBB8355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B. Run the pair</a:t>
            </a:r>
          </a:p>
        </p:txBody>
      </p:sp>
      <p:sp>
        <p:nvSpPr>
          <p:cNvPr id="5" name="panel-C">
            <a:extLst xmlns:a="http://schemas.openxmlformats.org/drawingml/2006/main">
              <a:ext uri="{FF2B5EF4-FFF2-40B4-BE49-F238E27FC236}">
                <a16:creationId xmlns:a16="http://schemas.microsoft.com/office/drawing/2014/main" id="{B6F49FB6-232B-4907-8E98-2DB8451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3350"/>
            <a:ext cx="4667250" cy="8877300"/>
          </a:xfrm>
          <a:prstGeom xmlns:a="http://schemas.openxmlformats.org/drawingml/2006/main" prst="roundRect">
            <a:avLst>
              <a:gd name="adj" fmla="val 122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303638"/>
            </a:solidFill>
            <a:prstDash val="solid"/>
          </a:ln>
        </p:spPr>
      </p:sp>
      <p:sp>
        <p:nvSpPr>
          <p:cNvPr id="6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EF7061E7-EAD5-4110-9FD4-EE4C59A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95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C. Observable readouts</a:t>
            </a:r>
          </a:p>
        </p:txBody>
      </p:sp>
      <p:sp>
        <p:nvSpPr>
          <p:cNvPr id="7" name="a-summary">
            <a:extLst xmlns:a="http://schemas.openxmlformats.org/drawingml/2006/main">
              <a:ext uri="{FF2B5EF4-FFF2-40B4-BE49-F238E27FC236}">
                <a16:creationId xmlns:a16="http://schemas.microsoft.com/office/drawing/2014/main" id="{2D8AC4AB-2449-4710-9E28-E3CEFAD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"/>
            <a:ext cx="588645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8" name="a-fixed">
            <a:extLst xmlns:a="http://schemas.openxmlformats.org/drawingml/2006/main">
              <a:ext uri="{FF2B5EF4-FFF2-40B4-BE49-F238E27FC236}">
                <a16:creationId xmlns:a16="http://schemas.microsoft.com/office/drawing/2014/main" id="{0307F2D8-6BF3-4459-A49E-13014E2C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A2E"/>
                </a:solidFill>
              </a:defRPr>
            </a:pPr>
            <a:r>
              <a:rPr sz="1275" b="1" i="0">
                <a:solidFill>
                  <a:srgbClr val="202A2E"/>
                </a:solidFill>
              </a:rPr>
              <a:t>Fixed:  S0, S1, q, action, schema, controller interface</a:t>
            </a:r>
          </a:p>
        </p:txBody>
      </p:sp>
      <p:sp>
        <p:nvSpPr>
          <p:cNvPr id="9" name="a-change">
            <a:extLst xmlns:a="http://schemas.openxmlformats.org/drawingml/2006/main">
              <a:ext uri="{FF2B5EF4-FFF2-40B4-BE49-F238E27FC236}">
                <a16:creationId xmlns:a16="http://schemas.microsoft.com/office/drawing/2014/main" id="{30FB2226-E29D-4F08-AB85-83DD1B7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3F48"/>
                </a:solidFill>
              </a:defRPr>
            </a:pPr>
            <a:r>
              <a:rPr sz="1275" b="1" i="0">
                <a:solidFill>
                  <a:srgbClr val="243F48"/>
                </a:solidFill>
              </a:rPr>
              <a:t>Unique change: instruction commitment timing</a:t>
            </a:r>
          </a:p>
        </p:txBody>
      </p:sp>
      <p:sp>
        <p:nvSpPr>
          <p:cNvPr id="10" name="a-transition">
            <a:extLst xmlns:a="http://schemas.openxmlformats.org/drawingml/2006/main">
              <a:ext uri="{FF2B5EF4-FFF2-40B4-BE49-F238E27FC236}">
                <a16:creationId xmlns:a16="http://schemas.microsoft.com/office/drawing/2014/main" id="{FFB910A9-4758-44B3-8A7F-6BE3CF84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Shared transition:   q(S0) = A   -&gt;   refresh   -&gt;   q(S1) = B</a:t>
            </a:r>
          </a:p>
        </p:txBody>
      </p:sp>
      <p:sp>
        <p:nvSpPr>
          <p:cNvPr id="11" name="a-valid">
            <a:extLst xmlns:a="http://schemas.openxmlformats.org/drawingml/2006/main">
              <a:ext uri="{FF2B5EF4-FFF2-40B4-BE49-F238E27FC236}">
                <a16:creationId xmlns:a16="http://schemas.microsoft.com/office/drawing/2014/main" id="{C039E637-A7B5-4FE9-9E50-BB8F2A8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6A646"/>
            </a:solidFill>
            <a:prstDash val="solid"/>
          </a:ln>
        </p:spPr>
      </p:sp>
      <p:sp>
        <p:nvSpPr>
          <p:cNvPr id="12" name="a-valid-text">
            <a:extLst xmlns:a="http://schemas.openxmlformats.org/drawingml/2006/main">
              <a:ext uri="{FF2B5EF4-FFF2-40B4-BE49-F238E27FC236}">
                <a16:creationId xmlns:a16="http://schemas.microsoft.com/office/drawing/2014/main" id="{8045FAD9-7ADB-4DEB-B2E2-2D62AF6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811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A remains present and action-valid in S1</a:t>
            </a:r>
          </a:p>
        </p:txBody>
      </p:sp>
      <p:sp>
        <p:nvSpPr>
          <p:cNvPr id="13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1CD04252-A3D7-4DFA-A8D4-9C428F1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F05F45"/>
            </a:solidFill>
            <a:prstDash val="solid"/>
          </a:ln>
        </p:spPr>
      </p:sp>
      <p:sp>
        <p:nvSpPr>
          <p:cNvPr id="14" name="preserve-band">
            <a:extLst xmlns:a="http://schemas.openxmlformats.org/drawingml/2006/main">
              <a:ext uri="{FF2B5EF4-FFF2-40B4-BE49-F238E27FC236}">
                <a16:creationId xmlns:a16="http://schemas.microsoft.com/office/drawing/2014/main" id="{28B1485D-27CC-4BA1-9CC4-10EEB77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sp>
        <p:nvSpPr>
          <p:cNvPr id="15" name="preserve-band-title">
            <a:extLst xmlns:a="http://schemas.openxmlformats.org/drawingml/2006/main">
              <a:ext uri="{FF2B5EF4-FFF2-40B4-BE49-F238E27FC236}">
                <a16:creationId xmlns:a16="http://schemas.microsoft.com/office/drawing/2014/main" id="{AC1C9048-F372-461D-B348-E0BDA58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955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16" name="preserve-band-desc">
            <a:extLst xmlns:a="http://schemas.openxmlformats.org/drawingml/2006/main">
              <a:ext uri="{FF2B5EF4-FFF2-40B4-BE49-F238E27FC236}">
                <a16:creationId xmlns:a16="http://schemas.microsoft.com/office/drawing/2014/main" id="{E3E9F064-618E-427F-A11F-7FE89BF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47975"/>
            <a:ext cx="742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commit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before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1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215AE6B3-85C8-46C9-ABE9-428BE92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6237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EE91BF5A-3FF4-4CCB-9AE3-7E7C87A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3238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2D9B07A7-FD95-4B1C-B48F-7C2D886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p-s0">
            <a:extLst xmlns:a="http://schemas.openxmlformats.org/drawingml/2006/main">
              <a:ext uri="{FF2B5EF4-FFF2-40B4-BE49-F238E27FC236}">
                <a16:creationId xmlns:a16="http://schemas.microsoft.com/office/drawing/2014/main" id="{62F79653-D6E0-4415-B042-7BDD426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S0</a:t>
            </a:r>
          </a:p>
        </p:txBody>
      </p:sp>
      <p:sp>
        <p:nvSpPr>
          <p:cNvPr id="21" name="p-s0-state">
            <a:extLst xmlns:a="http://schemas.openxmlformats.org/drawingml/2006/main">
              <a:ext uri="{FF2B5EF4-FFF2-40B4-BE49-F238E27FC236}">
                <a16:creationId xmlns:a16="http://schemas.microsoft.com/office/drawing/2014/main" id="{FD20BDC1-8773-4252-A56A-6EECAD2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22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0FD63417-FDDC-4331-9F3D-63608E2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3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560D8089-EB72-419F-A5CB-D8A6864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4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6E498556-4E0F-499E-9942-9A5AFED6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5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DCAA28C8-E585-4D58-B426-94BA1A2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6" name="p-s0-a">
            <a:extLst xmlns:a="http://schemas.openxmlformats.org/drawingml/2006/main">
              <a:ext uri="{FF2B5EF4-FFF2-40B4-BE49-F238E27FC236}">
                <a16:creationId xmlns:a16="http://schemas.microsoft.com/office/drawing/2014/main" id="{1C1D2312-5F7C-4C25-ACE7-51CA58B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7" name="p-q0">
            <a:extLst xmlns:a="http://schemas.openxmlformats.org/drawingml/2006/main">
              <a:ext uri="{FF2B5EF4-FFF2-40B4-BE49-F238E27FC236}">
                <a16:creationId xmlns:a16="http://schemas.microsoft.com/office/drawing/2014/main" id="{5B914124-63D6-4A6D-A126-AFF9D43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q(S0) = A</a:t>
            </a:r>
          </a:p>
        </p:txBody>
      </p:sp>
      <p:sp>
        <p:nvSpPr>
          <p:cNvPr id="28" name="p-bind-label">
            <a:extLst xmlns:a="http://schemas.openxmlformats.org/drawingml/2006/main">
              <a:ext uri="{FF2B5EF4-FFF2-40B4-BE49-F238E27FC236}">
                <a16:creationId xmlns:a16="http://schemas.microsoft.com/office/drawing/2014/main" id="{7091082E-61C3-46A1-976A-2C4685F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47950"/>
            <a:ext cx="9810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05F45"/>
                </a:solidFill>
              </a:defRPr>
            </a:pPr>
            <a:r>
              <a:rPr sz="1200" b="1" i="0">
                <a:solidFill>
                  <a:srgbClr val="F05F45"/>
                </a:solidFill>
              </a:rPr>
              <a:t>bound(A)</a:t>
            </a:r>
          </a:p>
          <a:p xmlns:a="http://schemas.openxmlformats.org/drawingml/2006/main">
            <a:pPr algn="ctr">
              <a:defRPr sz="1200" b="1" i="0">
                <a:solidFill>
                  <a:srgbClr val="F05F45"/>
                </a:solidFill>
              </a:defRPr>
            </a:pPr>
            <a:r>
              <a:rPr sz="1200" b="1" i="0">
                <a:solidFill>
                  <a:srgbClr val="F05F45"/>
                </a:solidFill>
              </a:rPr>
              <a:t>before refresh</a:t>
            </a:r>
          </a:p>
        </p:txBody>
      </p:sp>
      <p:sp>
        <p:nvSpPr>
          <p:cNvPr id="29" name="p-clock-face">
            <a:extLst xmlns:a="http://schemas.openxmlformats.org/drawingml/2006/main">
              <a:ext uri="{FF2B5EF4-FFF2-40B4-BE49-F238E27FC236}">
                <a16:creationId xmlns:a16="http://schemas.microsoft.com/office/drawing/2014/main" id="{EDB067F4-3769-445E-BEB0-9A2DBB0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30" name="p-clock-hand-v">
            <a:extLst xmlns:a="http://schemas.openxmlformats.org/drawingml/2006/main">
              <a:ext uri="{FF2B5EF4-FFF2-40B4-BE49-F238E27FC236}">
                <a16:creationId xmlns:a16="http://schemas.microsoft.com/office/drawing/2014/main" id="{A6B22355-15D1-4912-ADDF-A85B976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37166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31" name="p-clock-hand-h">
            <a:extLst xmlns:a="http://schemas.openxmlformats.org/drawingml/2006/main">
              <a:ext uri="{FF2B5EF4-FFF2-40B4-BE49-F238E27FC236}">
                <a16:creationId xmlns:a16="http://schemas.microsoft.com/office/drawing/2014/main" id="{5C12E490-F1ED-4654-8A22-CBC03295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48767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32" name="p-refresh">
            <a:extLst xmlns:a="http://schemas.openxmlformats.org/drawingml/2006/main">
              <a:ext uri="{FF2B5EF4-FFF2-40B4-BE49-F238E27FC236}">
                <a16:creationId xmlns:a16="http://schemas.microsoft.com/office/drawing/2014/main" id="{8BEEC789-881C-4852-A288-D446F373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refresh</a:t>
            </a:r>
          </a:p>
        </p:txBody>
      </p:sp>
      <p:cxnSp>
        <p:nvCxnSpPr>
          <p:cNvPr id="210" name=""/>
          <p:cNvCxnSpPr>
            <a:stCxn xmlns:a="http://schemas.openxmlformats.org/drawingml/2006/main" id="21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2324100" y="3238500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4" name="p-s1">
            <a:extLst xmlns:a="http://schemas.openxmlformats.org/drawingml/2006/main">
              <a:ext uri="{FF2B5EF4-FFF2-40B4-BE49-F238E27FC236}">
                <a16:creationId xmlns:a16="http://schemas.microsoft.com/office/drawing/2014/main" id="{FB177B51-316C-41EC-84AA-297528F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S1</a:t>
            </a:r>
          </a:p>
        </p:txBody>
      </p:sp>
      <p:sp>
        <p:nvSpPr>
          <p:cNvPr id="35" name="p-s1-state">
            <a:extLst xmlns:a="http://schemas.openxmlformats.org/drawingml/2006/main">
              <a:ext uri="{FF2B5EF4-FFF2-40B4-BE49-F238E27FC236}">
                <a16:creationId xmlns:a16="http://schemas.microsoft.com/office/drawing/2014/main" id="{5F9C72B9-6A01-4929-84AA-FFEC3A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36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6E56FA3C-B523-41F1-B0E7-B1B9869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7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018407A8-87E5-4234-96AF-10E4EB6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8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67AE0F5A-3EE5-4B1E-981F-4761B101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9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AA56E7D6-9316-4829-8C67-21EEA024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40" name="p-s1-a">
            <a:extLst xmlns:a="http://schemas.openxmlformats.org/drawingml/2006/main">
              <a:ext uri="{FF2B5EF4-FFF2-40B4-BE49-F238E27FC236}">
                <a16:creationId xmlns:a16="http://schemas.microsoft.com/office/drawing/2014/main" id="{BCAE1561-99A2-4CFB-AD54-65493D5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p-s1-b">
            <a:extLst xmlns:a="http://schemas.openxmlformats.org/drawingml/2006/main">
              <a:ext uri="{FF2B5EF4-FFF2-40B4-BE49-F238E27FC236}">
                <a16:creationId xmlns:a16="http://schemas.microsoft.com/office/drawing/2014/main" id="{D9F074C3-E602-45EA-BB3B-2566A80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670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2" name="p-q1">
            <a:extLst xmlns:a="http://schemas.openxmlformats.org/drawingml/2006/main">
              <a:ext uri="{FF2B5EF4-FFF2-40B4-BE49-F238E27FC236}">
                <a16:creationId xmlns:a16="http://schemas.microsoft.com/office/drawing/2014/main" id="{27B40294-D20A-4B9D-9323-9B853E7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q(S1) = B</a:t>
            </a:r>
          </a:p>
        </p:txBody>
      </p:sp>
      <p:cxnSp>
        <p:nvCxnSpPr>
          <p:cNvPr id="220" name=""/>
          <p:cNvCxnSpPr>
            <a:stCxn xmlns:a="http://schemas.openxmlformats.org/drawingml/2006/main" id="29" idx="6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3238500" y="3238500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3FCDAD88-4F25-4910-A081-6645103E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5F45"/>
                </a:solidFill>
              </a:defRPr>
            </a:pPr>
            <a:r>
              <a:rPr sz="1500" b="1">
                <a:solidFill>
                  <a:srgbClr val="F05F45"/>
                </a:solidFill>
              </a:rPr>
              <a:t>A</a:t>
            </a:r>
          </a:p>
        </p:txBody>
      </p:sp>
      <p:sp>
        <p:nvSpPr>
          <p:cNvPr id="45" name="p-target-h">
            <a:extLst xmlns:a="http://schemas.openxmlformats.org/drawingml/2006/main">
              <a:ext uri="{FF2B5EF4-FFF2-40B4-BE49-F238E27FC236}">
                <a16:creationId xmlns:a16="http://schemas.microsoft.com/office/drawing/2014/main" id="{E07FD344-0052-45A9-B5D0-BAC3065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sp>
        <p:nvSpPr>
          <p:cNvPr id="46" name="p-target-v">
            <a:extLst xmlns:a="http://schemas.openxmlformats.org/drawingml/2006/main">
              <a:ext uri="{FF2B5EF4-FFF2-40B4-BE49-F238E27FC236}">
                <a16:creationId xmlns:a16="http://schemas.microsoft.com/office/drawing/2014/main" id="{0DF43929-8D9C-4C50-B253-A44D2F32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0">
            <a:solidFill>
              <a:srgbClr val="F05F45"/>
            </a:solidFill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35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4705350" y="3238500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p-action">
            <a:extLst xmlns:a="http://schemas.openxmlformats.org/drawingml/2006/main">
              <a:ext uri="{FF2B5EF4-FFF2-40B4-BE49-F238E27FC236}">
                <a16:creationId xmlns:a16="http://schemas.microsoft.com/office/drawing/2014/main" id="{AE8A93E2-9C68-45AD-B8CA-241092F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A2E"/>
                </a:solidFill>
              </a:defRPr>
            </a:pPr>
            <a:r>
              <a:rPr sz="1125" b="1" i="0">
                <a:solidFill>
                  <a:srgbClr val="202A2E"/>
                </a:solidFill>
              </a:rPr>
              <a:t>action executes</a:t>
            </a:r>
          </a:p>
        </p:txBody>
      </p:sp>
      <p:sp>
        <p:nvSpPr>
          <p:cNvPr id="49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E454CAB0-C6BF-4435-8F64-DA2724C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05F45"/>
                </a:solidFill>
              </a:defRPr>
            </a:pPr>
            <a:r>
              <a:rPr sz="1275" b="1" i="0">
                <a:solidFill>
                  <a:srgbClr val="F05F45"/>
                </a:solidFill>
              </a:rPr>
              <a:t>target A</a:t>
            </a:r>
          </a:p>
        </p:txBody>
      </p:sp>
      <p:sp>
        <p:nvSpPr>
          <p:cNvPr id="50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FAAE4E57-5A4E-4261-B1C8-18474E7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128B88"/>
            </a:solidFill>
            <a:prstDash val="dash"/>
          </a:ln>
        </p:spPr>
      </p:sp>
      <p:sp>
        <p:nvSpPr>
          <p:cNvPr id="51" name="reevaluate-band">
            <a:extLst xmlns:a="http://schemas.openxmlformats.org/drawingml/2006/main">
              <a:ext uri="{FF2B5EF4-FFF2-40B4-BE49-F238E27FC236}">
                <a16:creationId xmlns:a16="http://schemas.microsoft.com/office/drawing/2014/main" id="{0A5CD296-7278-474C-AF09-8C60C9C3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sp>
        <p:nvSpPr>
          <p:cNvPr id="52" name="reevaluate-band-title">
            <a:extLst xmlns:a="http://schemas.openxmlformats.org/drawingml/2006/main">
              <a:ext uri="{FF2B5EF4-FFF2-40B4-BE49-F238E27FC236}">
                <a16:creationId xmlns:a16="http://schemas.microsoft.com/office/drawing/2014/main" id="{88342CD3-41A5-42B6-ABDC-E7463C9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577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Reevaluate</a:t>
            </a:r>
          </a:p>
        </p:txBody>
      </p:sp>
      <p:sp>
        <p:nvSpPr>
          <p:cNvPr id="53" name="reevaluate-band-desc">
            <a:extLst xmlns:a="http://schemas.openxmlformats.org/drawingml/2006/main">
              <a:ext uri="{FF2B5EF4-FFF2-40B4-BE49-F238E27FC236}">
                <a16:creationId xmlns:a16="http://schemas.microsoft.com/office/drawing/2014/main" id="{3304C761-515E-4F49-8348-776843D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91100"/>
            <a:ext cx="742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defer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selection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until after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54" name="reevaluate-clock-icon-face">
            <a:extLst xmlns:a="http://schemas.openxmlformats.org/drawingml/2006/main">
              <a:ext uri="{FF2B5EF4-FFF2-40B4-BE49-F238E27FC236}">
                <a16:creationId xmlns:a16="http://schemas.microsoft.com/office/drawing/2014/main" id="{F3E91877-4C38-4354-8A87-33101FA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5" name="reevaluate-clock-icon-hand-v">
            <a:extLst xmlns:a="http://schemas.openxmlformats.org/drawingml/2006/main">
              <a:ext uri="{FF2B5EF4-FFF2-40B4-BE49-F238E27FC236}">
                <a16:creationId xmlns:a16="http://schemas.microsoft.com/office/drawing/2014/main" id="{F6021B94-6EFB-44FC-9A8A-38A73254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02668"/>
            <a:ext cx="19050" cy="88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reevaluate-clock-icon-hand-h">
            <a:extLst xmlns:a="http://schemas.openxmlformats.org/drawingml/2006/main">
              <a:ext uri="{FF2B5EF4-FFF2-40B4-BE49-F238E27FC236}">
                <a16:creationId xmlns:a16="http://schemas.microsoft.com/office/drawing/2014/main" id="{0E6F3AA8-9D68-467D-9DB0-67C1F8D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85535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r-s0">
            <a:extLst xmlns:a="http://schemas.openxmlformats.org/drawingml/2006/main">
              <a:ext uri="{FF2B5EF4-FFF2-40B4-BE49-F238E27FC236}">
                <a16:creationId xmlns:a16="http://schemas.microsoft.com/office/drawing/2014/main" id="{ADDA16BC-1319-488F-BADE-9F7B2C1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S0</a:t>
            </a:r>
          </a:p>
        </p:txBody>
      </p:sp>
      <p:sp>
        <p:nvSpPr>
          <p:cNvPr id="58" name="r-s0-state">
            <a:extLst xmlns:a="http://schemas.openxmlformats.org/drawingml/2006/main">
              <a:ext uri="{FF2B5EF4-FFF2-40B4-BE49-F238E27FC236}">
                <a16:creationId xmlns:a16="http://schemas.microsoft.com/office/drawing/2014/main" id="{C600385D-0ABF-4BC7-AFBC-6CDD404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59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BF61FADA-0547-4621-9042-D0E7CDC5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0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F8AFAE6B-F974-4E5B-913D-388033C1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1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A2B2BF6B-724C-4BAC-995C-753B5290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2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CD617E97-D262-41A1-B63C-D352882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3" name="r-s0-a">
            <a:extLst xmlns:a="http://schemas.openxmlformats.org/drawingml/2006/main">
              <a:ext uri="{FF2B5EF4-FFF2-40B4-BE49-F238E27FC236}">
                <a16:creationId xmlns:a16="http://schemas.microsoft.com/office/drawing/2014/main" id="{7783D843-0A33-45DF-88CB-3AD1345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4" name="r-q0">
            <a:extLst xmlns:a="http://schemas.openxmlformats.org/drawingml/2006/main">
              <a:ext uri="{FF2B5EF4-FFF2-40B4-BE49-F238E27FC236}">
                <a16:creationId xmlns:a16="http://schemas.microsoft.com/office/drawing/2014/main" id="{7899E384-FAED-4BB3-8104-7174DEC5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q(S0) = A</a:t>
            </a:r>
          </a:p>
        </p:txBody>
      </p:sp>
      <p:sp>
        <p:nvSpPr>
          <p:cNvPr id="65" name="r-defer-label">
            <a:extLst xmlns:a="http://schemas.openxmlformats.org/drawingml/2006/main">
              <a:ext uri="{FF2B5EF4-FFF2-40B4-BE49-F238E27FC236}">
                <a16:creationId xmlns:a16="http://schemas.microsoft.com/office/drawing/2014/main" id="{9EFA0932-167E-4A41-8898-B97F6C9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1085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8B88"/>
                </a:solidFill>
              </a:defRPr>
            </a:pPr>
            <a:r>
              <a:rPr sz="1200" b="1" i="0">
                <a:solidFill>
                  <a:srgbClr val="128B88"/>
                </a:solidFill>
              </a:rPr>
              <a:t>deferred(q)</a:t>
            </a:r>
          </a:p>
          <a:p xmlns:a="http://schemas.openxmlformats.org/drawingml/2006/main">
            <a:pPr algn="ctr">
              <a:defRPr sz="1200" b="1" i="0">
                <a:solidFill>
                  <a:srgbClr val="128B88"/>
                </a:solidFill>
              </a:defRPr>
            </a:pPr>
            <a:r>
              <a:rPr sz="1200" b="1" i="0">
                <a:solidFill>
                  <a:srgbClr val="128B88"/>
                </a:solidFill>
              </a:rPr>
              <a:t>do not bind</a:t>
            </a:r>
          </a:p>
        </p:txBody>
      </p:sp>
      <p:sp>
        <p:nvSpPr>
          <p:cNvPr id="66" name="r-clock-face">
            <a:extLst xmlns:a="http://schemas.openxmlformats.org/drawingml/2006/main">
              <a:ext uri="{FF2B5EF4-FFF2-40B4-BE49-F238E27FC236}">
                <a16:creationId xmlns:a16="http://schemas.microsoft.com/office/drawing/2014/main" id="{D27BF9AB-8C34-4314-AE90-167AFB8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57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67" name="r-clock-hand-v">
            <a:extLst xmlns:a="http://schemas.openxmlformats.org/drawingml/2006/main">
              <a:ext uri="{FF2B5EF4-FFF2-40B4-BE49-F238E27FC236}">
                <a16:creationId xmlns:a16="http://schemas.microsoft.com/office/drawing/2014/main" id="{DA078D6A-5010-4533-AC03-EC683665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533835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68" name="r-clock-hand-h">
            <a:extLst xmlns:a="http://schemas.openxmlformats.org/drawingml/2006/main">
              <a:ext uri="{FF2B5EF4-FFF2-40B4-BE49-F238E27FC236}">
                <a16:creationId xmlns:a16="http://schemas.microsoft.com/office/drawing/2014/main" id="{5C14A325-E8B2-467E-AE0F-C4627987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649849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69" name="r-refresh">
            <a:extLst xmlns:a="http://schemas.openxmlformats.org/drawingml/2006/main">
              <a:ext uri="{FF2B5EF4-FFF2-40B4-BE49-F238E27FC236}">
                <a16:creationId xmlns:a16="http://schemas.microsoft.com/office/drawing/2014/main" id="{CBDC99A2-CA62-4563-B5DB-EC2F62C9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76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refresh</a:t>
            </a:r>
          </a:p>
        </p:txBody>
      </p:sp>
      <p:cxnSp>
        <p:nvCxnSpPr>
          <p:cNvPr id="247" name=""/>
          <p:cNvCxnSpPr>
            <a:stCxn xmlns:a="http://schemas.openxmlformats.org/drawingml/2006/main" id="58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2324100" y="5400675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71" name="r-s1">
            <a:extLst xmlns:a="http://schemas.openxmlformats.org/drawingml/2006/main">
              <a:ext uri="{FF2B5EF4-FFF2-40B4-BE49-F238E27FC236}">
                <a16:creationId xmlns:a16="http://schemas.microsoft.com/office/drawing/2014/main" id="{F0E66D63-7E65-40A1-A5D9-E0207D5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2A2E"/>
                </a:solidFill>
              </a:defRPr>
            </a:pPr>
            <a:r>
              <a:rPr sz="1425" b="1" i="0">
                <a:solidFill>
                  <a:srgbClr val="202A2E"/>
                </a:solidFill>
              </a:rPr>
              <a:t>S1</a:t>
            </a:r>
          </a:p>
        </p:txBody>
      </p:sp>
      <p:sp>
        <p:nvSpPr>
          <p:cNvPr id="72" name="r-s1-state">
            <a:extLst xmlns:a="http://schemas.openxmlformats.org/drawingml/2006/main">
              <a:ext uri="{FF2B5EF4-FFF2-40B4-BE49-F238E27FC236}">
                <a16:creationId xmlns:a16="http://schemas.microsoft.com/office/drawing/2014/main" id="{C2C753C0-49AB-403D-95E8-90EA833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73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7F9CF7C4-4D37-45B0-9C82-AAC4FD21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4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116B7299-9B7F-4194-BCBE-EB95A10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5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806CA4A6-816A-4D4C-81FC-0CD77080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6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651DF311-7726-4107-8816-E51B776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7" name="r-s1-a">
            <a:extLst xmlns:a="http://schemas.openxmlformats.org/drawingml/2006/main">
              <a:ext uri="{FF2B5EF4-FFF2-40B4-BE49-F238E27FC236}">
                <a16:creationId xmlns:a16="http://schemas.microsoft.com/office/drawing/2014/main" id="{FC7F99FF-44BA-43FC-AA13-55AC8A9B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8" name="r-s1-b">
            <a:extLst xmlns:a="http://schemas.openxmlformats.org/drawingml/2006/main">
              <a:ext uri="{FF2B5EF4-FFF2-40B4-BE49-F238E27FC236}">
                <a16:creationId xmlns:a16="http://schemas.microsoft.com/office/drawing/2014/main" id="{FABC1B15-E232-4479-8DAA-551E8138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9" name="r-q1">
            <a:extLst xmlns:a="http://schemas.openxmlformats.org/drawingml/2006/main">
              <a:ext uri="{FF2B5EF4-FFF2-40B4-BE49-F238E27FC236}">
                <a16:creationId xmlns:a16="http://schemas.microsoft.com/office/drawing/2014/main" id="{A0D59618-338D-4A85-BE2C-00E9E54E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202A2E"/>
                </a:solidFill>
              </a:defRPr>
            </a:pPr>
            <a:r>
              <a:rPr sz="1350" b="0" i="1">
                <a:solidFill>
                  <a:srgbClr val="202A2E"/>
                </a:solidFill>
              </a:rPr>
              <a:t>q(S1) = B</a:t>
            </a:r>
          </a:p>
        </p:txBody>
      </p:sp>
      <p:cxnSp>
        <p:nvCxnSpPr>
          <p:cNvPr id="257" name=""/>
          <p:cNvCxnSpPr>
            <a:stCxn xmlns:a="http://schemas.openxmlformats.org/drawingml/2006/main" id="66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238500" y="5400675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81" name="r-resolve">
            <a:extLst xmlns:a="http://schemas.openxmlformats.org/drawingml/2006/main">
              <a:ext uri="{FF2B5EF4-FFF2-40B4-BE49-F238E27FC236}">
                <a16:creationId xmlns:a16="http://schemas.microsoft.com/office/drawing/2014/main" id="{2961A5F7-8416-4D33-A208-CAC243A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012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8B88"/>
                </a:solidFill>
              </a:defRPr>
            </a:pPr>
            <a:r>
              <a:rPr sz="1125" b="1" i="0">
                <a:solidFill>
                  <a:srgbClr val="128B88"/>
                </a:solidFill>
              </a:rPr>
              <a:t>resolve(q) on S1</a:t>
            </a:r>
          </a:p>
        </p:txBody>
      </p:sp>
      <p:sp>
        <p:nvSpPr>
          <p:cNvPr id="82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D0C8D2E0-74B5-4F94-8DFD-FAE1FB7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76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8B88"/>
                </a:solidFill>
              </a:defRPr>
            </a:pPr>
            <a:r>
              <a:rPr sz="1500" b="1">
                <a:solidFill>
                  <a:srgbClr val="128B88"/>
                </a:solidFill>
              </a:rPr>
              <a:t>B</a:t>
            </a:r>
          </a:p>
        </p:txBody>
      </p:sp>
      <p:sp>
        <p:nvSpPr>
          <p:cNvPr id="83" name="r-target-h">
            <a:extLst xmlns:a="http://schemas.openxmlformats.org/drawingml/2006/main">
              <a:ext uri="{FF2B5EF4-FFF2-40B4-BE49-F238E27FC236}">
                <a16:creationId xmlns:a16="http://schemas.microsoft.com/office/drawing/2014/main" id="{B408FDF8-1297-441F-98CC-F04AE8EF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9592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sp>
        <p:nvSpPr>
          <p:cNvPr id="84" name="r-target-v">
            <a:extLst xmlns:a="http://schemas.openxmlformats.org/drawingml/2006/main">
              <a:ext uri="{FF2B5EF4-FFF2-40B4-BE49-F238E27FC236}">
                <a16:creationId xmlns:a16="http://schemas.microsoft.com/office/drawing/2014/main" id="{5EE10710-A0F4-4A26-8985-8BF9449F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0">
            <a:solidFill>
              <a:srgbClr val="128B88"/>
            </a:solidFill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2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>
            <a:off x="4705350" y="5400675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86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3BE5E22A-FDC6-48CE-B97E-BAC49CF6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388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28B88"/>
                </a:solidFill>
              </a:defRPr>
            </a:pPr>
            <a:r>
              <a:rPr sz="1275" b="1" i="0">
                <a:solidFill>
                  <a:srgbClr val="128B88"/>
                </a:solidFill>
              </a:rPr>
              <a:t>target B</a:t>
            </a:r>
          </a:p>
        </p:txBody>
      </p:sp>
      <p:sp>
        <p:nvSpPr>
          <p:cNvPr id="87" name="a-legend">
            <a:extLst xmlns:a="http://schemas.openxmlformats.org/drawingml/2006/main">
              <a:ext uri="{FF2B5EF4-FFF2-40B4-BE49-F238E27FC236}">
                <a16:creationId xmlns:a16="http://schemas.microsoft.com/office/drawing/2014/main" id="{9701D704-5724-4AA1-A6AF-9E521F8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77025"/>
            <a:ext cx="5924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AEBABD"/>
            </a:solidFill>
            <a:prstDash val="solid"/>
          </a:ln>
        </p:spPr>
      </p:sp>
      <p:sp>
        <p:nvSpPr>
          <p:cNvPr id="88" name="legend-other">
            <a:extLst xmlns:a="http://schemas.openxmlformats.org/drawingml/2006/main">
              <a:ext uri="{FF2B5EF4-FFF2-40B4-BE49-F238E27FC236}">
                <a16:creationId xmlns:a16="http://schemas.microsoft.com/office/drawing/2014/main" id="{3F58127C-D01E-4462-BEF7-F3EE330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3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AEBABD"/>
            </a:solidFill>
            <a:prstDash val="solid"/>
          </a:ln>
        </p:spPr>
      </p:sp>
      <p:sp>
        <p:nvSpPr>
          <p:cNvPr id="89" name="legend-other-text">
            <a:extLst xmlns:a="http://schemas.openxmlformats.org/drawingml/2006/main">
              <a:ext uri="{FF2B5EF4-FFF2-40B4-BE49-F238E27FC236}">
                <a16:creationId xmlns:a16="http://schemas.microsoft.com/office/drawing/2014/main" id="{F7FB2CE0-E6F7-4ABC-9C21-B052C34B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7532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202A2E"/>
                </a:solidFill>
              </a:defRPr>
            </a:pPr>
            <a:r>
              <a:rPr sz="900" b="0" i="0">
                <a:solidFill>
                  <a:srgbClr val="202A2E"/>
                </a:solidFill>
              </a:rPr>
              <a:t>other entities</a:t>
            </a:r>
          </a:p>
        </p:txBody>
      </p:sp>
      <p:sp>
        <p:nvSpPr>
          <p:cNvPr id="90" name="legend-a">
            <a:extLst xmlns:a="http://schemas.openxmlformats.org/drawingml/2006/main">
              <a:ext uri="{FF2B5EF4-FFF2-40B4-BE49-F238E27FC236}">
                <a16:creationId xmlns:a16="http://schemas.microsoft.com/office/drawing/2014/main" id="{4089B681-D403-46A2-8FC0-BE504780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1" name="legend-a-text">
            <a:extLst xmlns:a="http://schemas.openxmlformats.org/drawingml/2006/main">
              <a:ext uri="{FF2B5EF4-FFF2-40B4-BE49-F238E27FC236}">
                <a16:creationId xmlns:a16="http://schemas.microsoft.com/office/drawing/2014/main" id="{C546AE59-D242-4F5B-ABA2-7A793D3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734175"/>
            <a:ext cx="87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entity A</a:t>
            </a:r>
          </a:p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initial winner</a:t>
            </a:r>
          </a:p>
        </p:txBody>
      </p:sp>
      <p:sp>
        <p:nvSpPr>
          <p:cNvPr id="92" name="legend-b">
            <a:extLst xmlns:a="http://schemas.openxmlformats.org/drawingml/2006/main">
              <a:ext uri="{FF2B5EF4-FFF2-40B4-BE49-F238E27FC236}">
                <a16:creationId xmlns:a16="http://schemas.microsoft.com/office/drawing/2014/main" id="{A5BD150D-C9CF-4522-BBD3-00B513D8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93" name="legend-b-text">
            <a:extLst xmlns:a="http://schemas.openxmlformats.org/drawingml/2006/main">
              <a:ext uri="{FF2B5EF4-FFF2-40B4-BE49-F238E27FC236}">
                <a16:creationId xmlns:a16="http://schemas.microsoft.com/office/drawing/2014/main" id="{9C6FCEEA-CB64-46F4-85F1-AB6A8F37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734175"/>
            <a:ext cx="100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entity B</a:t>
            </a:r>
          </a:p>
          <a:p xmlns:a="http://schemas.openxmlformats.org/drawingml/2006/main">
            <a:pPr algn="ctr">
              <a:defRPr sz="825" b="0" i="0">
                <a:solidFill>
                  <a:srgbClr val="202A2E"/>
                </a:solidFill>
              </a:defRPr>
            </a:pPr>
            <a:r>
              <a:rPr sz="825" b="0" i="0">
                <a:solidFill>
                  <a:srgbClr val="202A2E"/>
                </a:solidFill>
              </a:rPr>
              <a:t>post-refresh winner</a:t>
            </a:r>
          </a:p>
        </p:txBody>
      </p:sp>
      <p:sp>
        <p:nvSpPr>
          <p:cNvPr id="94" name="legend-bound">
            <a:extLst xmlns:a="http://schemas.openxmlformats.org/drawingml/2006/main">
              <a:ext uri="{FF2B5EF4-FFF2-40B4-BE49-F238E27FC236}">
                <a16:creationId xmlns:a16="http://schemas.microsoft.com/office/drawing/2014/main" id="{9E0C048A-B854-4189-A436-AE964FB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800850"/>
            <a:ext cx="600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05F45"/>
                </a:solidFill>
              </a:defRPr>
            </a:pPr>
            <a:r>
              <a:rPr sz="675" b="1" i="0">
                <a:solidFill>
                  <a:srgbClr val="F05F45"/>
                </a:solidFill>
              </a:rPr>
              <a:t>BOUND</a:t>
            </a:r>
          </a:p>
        </p:txBody>
      </p:sp>
      <p:sp>
        <p:nvSpPr>
          <p:cNvPr id="95" name="legend-deferred">
            <a:extLst xmlns:a="http://schemas.openxmlformats.org/drawingml/2006/main">
              <a:ext uri="{FF2B5EF4-FFF2-40B4-BE49-F238E27FC236}">
                <a16:creationId xmlns:a16="http://schemas.microsoft.com/office/drawing/2014/main" id="{5CF3A83D-CA11-4936-AAFF-DF8E4638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00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128B88"/>
                </a:solidFill>
              </a:defRPr>
            </a:pPr>
            <a:r>
              <a:rPr sz="600" b="1" i="0">
                <a:solidFill>
                  <a:srgbClr val="128B88"/>
                </a:solidFill>
              </a:rPr>
              <a:t>DEFERRED</a:t>
            </a:r>
          </a:p>
        </p:txBody>
      </p:sp>
      <p:sp>
        <p:nvSpPr>
          <p:cNvPr id="96" name="legend-action">
            <a:extLst xmlns:a="http://schemas.openxmlformats.org/drawingml/2006/main">
              <a:ext uri="{FF2B5EF4-FFF2-40B4-BE49-F238E27FC236}">
                <a16:creationId xmlns:a16="http://schemas.microsoft.com/office/drawing/2014/main" id="{5422B445-9928-4D9F-BF6B-92ECA10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341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A2E"/>
                </a:solidFill>
              </a:defRPr>
            </a:pPr>
            <a:r>
              <a:rPr sz="825" b="1" i="0">
                <a:solidFill>
                  <a:srgbClr val="202A2E"/>
                </a:solidFill>
              </a:rPr>
              <a:t>same action</a:t>
            </a:r>
          </a:p>
        </p:txBody>
      </p:sp>
      <p:sp>
        <p:nvSpPr>
          <p:cNvPr id="97" name="a-checklist">
            <a:extLst xmlns:a="http://schemas.openxmlformats.org/drawingml/2006/main">
              <a:ext uri="{FF2B5EF4-FFF2-40B4-BE49-F238E27FC236}">
                <a16:creationId xmlns:a16="http://schemas.microsoft.com/office/drawing/2014/main" id="{B4CD84DA-E678-43F8-B3B3-8EDCA51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43775"/>
            <a:ext cx="5924550" cy="1457325"/>
          </a:xfrm>
          <a:prstGeom xmlns:a="http://schemas.openxmlformats.org/drawingml/2006/main" prst="roundRect">
            <a:avLst>
              <a:gd name="adj" fmla="val 3922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AEBABD"/>
            </a:solidFill>
            <a:prstDash val="dash"/>
          </a:ln>
        </p:spPr>
      </p:sp>
      <p:sp>
        <p:nvSpPr>
          <p:cNvPr id="98" name="a-check-divider">
            <a:extLst xmlns:a="http://schemas.openxmlformats.org/drawingml/2006/main">
              <a:ext uri="{FF2B5EF4-FFF2-40B4-BE49-F238E27FC236}">
                <a16:creationId xmlns:a16="http://schemas.microsoft.com/office/drawing/2014/main" id="{83F16AB3-B52C-4024-B0F1-DC0E6F8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96175"/>
            <a:ext cx="9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99" name="a-fixed-head">
            <a:extLst xmlns:a="http://schemas.openxmlformats.org/drawingml/2006/main">
              <a:ext uri="{FF2B5EF4-FFF2-40B4-BE49-F238E27FC236}">
                <a16:creationId xmlns:a16="http://schemas.microsoft.com/office/drawing/2014/main" id="{66AB281C-EC96-4DF8-BF3B-9D5E22CF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48550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A2E"/>
                </a:solidFill>
              </a:defRPr>
            </a:pPr>
            <a:r>
              <a:rPr sz="1125" b="1" i="0">
                <a:solidFill>
                  <a:srgbClr val="202A2E"/>
                </a:solidFill>
              </a:rPr>
              <a:t>What is fixed across the pair</a:t>
            </a:r>
          </a:p>
        </p:txBody>
      </p:sp>
      <p:sp>
        <p:nvSpPr>
          <p:cNvPr id="100" name="a-fixed-list">
            <a:extLst xmlns:a="http://schemas.openxmlformats.org/drawingml/2006/main">
              <a:ext uri="{FF2B5EF4-FFF2-40B4-BE49-F238E27FC236}">
                <a16:creationId xmlns:a16="http://schemas.microsoft.com/office/drawing/2014/main" id="{A5BEFA90-F42F-4331-ACB7-C69ECB74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24775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States: S0, S1, and all entities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Selector: q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Action and schema</a:t>
            </a:r>
          </a:p>
          <a:p xmlns:a="http://schemas.openxmlformats.org/drawingml/2006/main">
            <a:pPr algn="l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✓  Controller interface</a:t>
            </a:r>
          </a:p>
        </p:txBody>
      </p:sp>
      <p:sp>
        <p:nvSpPr>
          <p:cNvPr id="101" name="a-changed-head">
            <a:extLst xmlns:a="http://schemas.openxmlformats.org/drawingml/2006/main">
              <a:ext uri="{FF2B5EF4-FFF2-40B4-BE49-F238E27FC236}">
                <a16:creationId xmlns:a16="http://schemas.microsoft.com/office/drawing/2014/main" id="{F805505D-D5C3-45F7-8883-51CD376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591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8B88"/>
                </a:solidFill>
              </a:defRPr>
            </a:pPr>
            <a:r>
              <a:rPr sz="1125" b="1" i="0">
                <a:solidFill>
                  <a:srgbClr val="128B88"/>
                </a:solidFill>
              </a:rPr>
              <a:t>What is uniquely changed</a:t>
            </a:r>
          </a:p>
        </p:txBody>
      </p:sp>
      <p:sp>
        <p:nvSpPr>
          <p:cNvPr id="102" name="a-changed-list">
            <a:extLst xmlns:a="http://schemas.openxmlformats.org/drawingml/2006/main">
              <a:ext uri="{FF2B5EF4-FFF2-40B4-BE49-F238E27FC236}">
                <a16:creationId xmlns:a16="http://schemas.microsoft.com/office/drawing/2014/main" id="{4346E0B9-1189-414E-8FF5-1B59AF7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96290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28B88"/>
                </a:solidFill>
              </a:defRPr>
            </a:pPr>
            <a:r>
              <a:rPr sz="1050" b="0" i="0">
                <a:solidFill>
                  <a:srgbClr val="128B88"/>
                </a:solidFill>
              </a:rPr>
              <a:t>Instruction commitment timing</a:t>
            </a:r>
          </a:p>
          <a:p xmlns:a="http://schemas.openxmlformats.org/drawingml/2006/main">
            <a:pPr algn="ctr">
              <a:defRPr sz="1050" b="0" i="0">
                <a:solidFill>
                  <a:srgbClr val="128B88"/>
                </a:solidFill>
              </a:defRPr>
            </a:pPr>
            <a:r>
              <a:rPr sz="1050" b="0" i="0">
                <a:solidFill>
                  <a:srgbClr val="128B88"/>
                </a:solidFill>
              </a:rPr>
              <a:t>(bind before refresh vs. defer until after refresh)</a:t>
            </a:r>
          </a:p>
        </p:txBody>
      </p:sp>
      <p:sp>
        <p:nvSpPr>
          <p:cNvPr id="103" name="b-same">
            <a:extLst xmlns:a="http://schemas.openxmlformats.org/drawingml/2006/main">
              <a:ext uri="{FF2B5EF4-FFF2-40B4-BE49-F238E27FC236}">
                <a16:creationId xmlns:a16="http://schemas.microsoft.com/office/drawing/2014/main" id="{F50491EC-BC56-4769-9CE1-045B435C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35052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6A646"/>
            </a:solidFill>
            <a:prstDash val="solid"/>
          </a:ln>
        </p:spPr>
      </p:sp>
      <p:sp>
        <p:nvSpPr>
          <p:cNvPr id="104" name="b-same-text">
            <a:extLst xmlns:a="http://schemas.openxmlformats.org/drawingml/2006/main">
              <a:ext uri="{FF2B5EF4-FFF2-40B4-BE49-F238E27FC236}">
                <a16:creationId xmlns:a16="http://schemas.microsoft.com/office/drawing/2014/main" id="{A9139E24-59DE-4207-A0AA-9432597B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39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same controller + same interface</a:t>
            </a:r>
          </a:p>
        </p:txBody>
      </p:sp>
      <p:sp>
        <p:nvSpPr>
          <p:cNvPr id="105" name="b-independent">
            <a:extLst xmlns:a="http://schemas.openxmlformats.org/drawingml/2006/main">
              <a:ext uri="{FF2B5EF4-FFF2-40B4-BE49-F238E27FC236}">
                <a16:creationId xmlns:a16="http://schemas.microsoft.com/office/drawing/2014/main" id="{F18B5636-0D91-4806-B976-85ECF806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954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A2E"/>
                </a:solidFill>
              </a:defRPr>
            </a:pPr>
            <a:r>
              <a:rPr sz="1275" b="0" i="0">
                <a:solidFill>
                  <a:srgbClr val="202A2E"/>
                </a:solidFill>
              </a:rPr>
              <a:t>two independent runs</a:t>
            </a:r>
          </a:p>
          <a:p xmlns:a="http://schemas.openxmlformats.org/drawingml/2006/main">
            <a:pPr algn="ctr">
              <a:defRPr sz="1275" b="0" i="0">
                <a:solidFill>
                  <a:srgbClr val="202A2E"/>
                </a:solidFill>
              </a:defRPr>
            </a:pPr>
            <a:r>
              <a:rPr sz="1275" b="0" i="0">
                <a:solidFill>
                  <a:srgbClr val="202A2E"/>
                </a:solidFill>
              </a:rPr>
              <a:t>within the comparison</a:t>
            </a:r>
          </a:p>
        </p:txBody>
      </p:sp>
      <p:sp>
        <p:nvSpPr>
          <p:cNvPr id="106" name="b-bracket-left">
            <a:extLst xmlns:a="http://schemas.openxmlformats.org/drawingml/2006/main">
              <a:ext uri="{FF2B5EF4-FFF2-40B4-BE49-F238E27FC236}">
                <a16:creationId xmlns:a16="http://schemas.microsoft.com/office/drawing/2014/main" id="{9136DAD8-EB7F-4F11-9C2E-F092ECF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7" name="b-bracket-top-left">
            <a:extLst xmlns:a="http://schemas.openxmlformats.org/drawingml/2006/main">
              <a:ext uri="{FF2B5EF4-FFF2-40B4-BE49-F238E27FC236}">
                <a16:creationId xmlns:a16="http://schemas.microsoft.com/office/drawing/2014/main" id="{82D8B29E-C07E-4B54-9625-078F45DD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8" name="b-bracket-right">
            <a:extLst xmlns:a="http://schemas.openxmlformats.org/drawingml/2006/main">
              <a:ext uri="{FF2B5EF4-FFF2-40B4-BE49-F238E27FC236}">
                <a16:creationId xmlns:a16="http://schemas.microsoft.com/office/drawing/2014/main" id="{6AFFBA81-3CDA-42FB-847B-C9027085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192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9" name="b-bracket-top-right">
            <a:extLst xmlns:a="http://schemas.openxmlformats.org/drawingml/2006/main">
              <a:ext uri="{FF2B5EF4-FFF2-40B4-BE49-F238E27FC236}">
                <a16:creationId xmlns:a16="http://schemas.microsoft.com/office/drawing/2014/main" id="{E63DB7FA-9344-4267-95C3-022D75C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10" name="b-p-input">
            <a:extLst xmlns:a="http://schemas.openxmlformats.org/drawingml/2006/main">
              <a:ext uri="{FF2B5EF4-FFF2-40B4-BE49-F238E27FC236}">
                <a16:creationId xmlns:a16="http://schemas.microsoft.com/office/drawing/2014/main" id="{1AB1868C-AD5E-422C-8305-59B70AF5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05F45"/>
            </a:solidFill>
            <a:prstDash val="solid"/>
          </a:ln>
        </p:spPr>
      </p:sp>
      <p:sp>
        <p:nvSpPr>
          <p:cNvPr id="111" name="b-p-input-text">
            <a:extLst xmlns:a="http://schemas.openxmlformats.org/drawingml/2006/main">
              <a:ext uri="{FF2B5EF4-FFF2-40B4-BE49-F238E27FC236}">
                <a16:creationId xmlns:a16="http://schemas.microsoft.com/office/drawing/2014/main" id="{E835300A-A8BE-49B6-86E5-B23198A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6227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05F45"/>
                </a:solidFill>
              </a:defRPr>
            </a:pPr>
            <a:r>
              <a:rPr sz="975" b="1" i="0">
                <a:solidFill>
                  <a:srgbClr val="F05F45"/>
                </a:solidFill>
              </a:rPr>
              <a:t>Preserve</a:t>
            </a:r>
          </a:p>
          <a:p xmlns:a="http://schemas.openxmlformats.org/drawingml/2006/main">
            <a:pPr algn="ctr">
              <a:defRPr sz="975" b="1" i="0">
                <a:solidFill>
                  <a:srgbClr val="F05F45"/>
                </a:solidFill>
              </a:defRPr>
            </a:pPr>
            <a:r>
              <a:rPr sz="975" b="1" i="0">
                <a:solidFill>
                  <a:srgbClr val="F05F45"/>
                </a:solidFill>
              </a:rPr>
              <a:t>instruction</a:t>
            </a:r>
          </a:p>
        </p:txBody>
      </p:sp>
      <p:sp>
        <p:nvSpPr>
          <p:cNvPr id="112" name="b-r-input">
            <a:extLst xmlns:a="http://schemas.openxmlformats.org/drawingml/2006/main">
              <a:ext uri="{FF2B5EF4-FFF2-40B4-BE49-F238E27FC236}">
                <a16:creationId xmlns:a16="http://schemas.microsoft.com/office/drawing/2014/main" id="{F926F6FD-7626-4E9D-A5CD-A72685F2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13" name="b-r-input-text">
            <a:extLst xmlns:a="http://schemas.openxmlformats.org/drawingml/2006/main">
              <a:ext uri="{FF2B5EF4-FFF2-40B4-BE49-F238E27FC236}">
                <a16:creationId xmlns:a16="http://schemas.microsoft.com/office/drawing/2014/main" id="{81576547-3E31-485E-B539-4122883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8632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8B88"/>
                </a:solidFill>
              </a:defRPr>
            </a:pPr>
            <a:r>
              <a:rPr sz="975" b="1" i="0">
                <a:solidFill>
                  <a:srgbClr val="128B88"/>
                </a:solidFill>
              </a:rPr>
              <a:t>Reevaluate</a:t>
            </a:r>
          </a:p>
          <a:p xmlns:a="http://schemas.openxmlformats.org/drawingml/2006/main">
            <a:pPr algn="ctr">
              <a:defRPr sz="975" b="1" i="0">
                <a:solidFill>
                  <a:srgbClr val="128B88"/>
                </a:solidFill>
              </a:defRPr>
            </a:pPr>
            <a:r>
              <a:rPr sz="975" b="1" i="0">
                <a:solidFill>
                  <a:srgbClr val="128B88"/>
                </a:solidFill>
              </a:rPr>
              <a:t>instruction</a:t>
            </a:r>
          </a:p>
        </p:txBody>
      </p:sp>
      <p:sp>
        <p:nvSpPr>
          <p:cNvPr id="114" name="b-probe">
            <a:extLst xmlns:a="http://schemas.openxmlformats.org/drawingml/2006/main">
              <a:ext uri="{FF2B5EF4-FFF2-40B4-BE49-F238E27FC236}">
                <a16:creationId xmlns:a16="http://schemas.microsoft.com/office/drawing/2014/main" id="{E42AA561-60CC-4E6B-B851-65CAFB7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266825" cy="3457575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5240">
            <a:solidFill>
              <a:srgbClr val="242C2F"/>
            </a:solidFill>
            <a:prstDash val="solid"/>
          </a:ln>
        </p:spPr>
      </p:sp>
      <p:sp>
        <p:nvSpPr>
          <p:cNvPr id="115" name="b-probe-title">
            <a:extLst xmlns:a="http://schemas.openxmlformats.org/drawingml/2006/main">
              <a:ext uri="{FF2B5EF4-FFF2-40B4-BE49-F238E27FC236}">
                <a16:creationId xmlns:a16="http://schemas.microsoft.com/office/drawing/2014/main" id="{A34A46AD-B9D0-4335-BDDF-87B929E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Controller</a:t>
            </a:r>
          </a:p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probe</a:t>
            </a:r>
          </a:p>
        </p:txBody>
      </p:sp>
      <p:sp>
        <p:nvSpPr>
          <p:cNvPr id="116" name="b-probe-blackbox">
            <a:extLst xmlns:a="http://schemas.openxmlformats.org/drawingml/2006/main">
              <a:ext uri="{FF2B5EF4-FFF2-40B4-BE49-F238E27FC236}">
                <a16:creationId xmlns:a16="http://schemas.microsoft.com/office/drawing/2014/main" id="{06DC8B3D-7E13-4605-B51D-A42FE65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767B"/>
                </a:solidFill>
              </a:defRPr>
            </a:pPr>
            <a:r>
              <a:rPr sz="750" b="1" i="0">
                <a:solidFill>
                  <a:srgbClr val="68767B"/>
                </a:solidFill>
              </a:rPr>
              <a:t>BLACK-BOX</a:t>
            </a:r>
          </a:p>
        </p:txBody>
      </p:sp>
      <p:sp>
        <p:nvSpPr>
          <p:cNvPr id="117" name="b-probe-io">
            <a:extLst xmlns:a="http://schemas.openxmlformats.org/drawingml/2006/main">
              <a:ext uri="{FF2B5EF4-FFF2-40B4-BE49-F238E27FC236}">
                <a16:creationId xmlns:a16="http://schemas.microsoft.com/office/drawing/2014/main" id="{35ED16CC-CBCF-4547-8763-BA35D37C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8675"/>
            <a:ext cx="1057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3F48"/>
                </a:solidFill>
              </a:defRPr>
            </a:pPr>
            <a:r>
              <a:rPr sz="1125" b="1" i="0">
                <a:solidFill>
                  <a:srgbClr val="243F48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1125" b="1" i="0">
                <a:solidFill>
                  <a:srgbClr val="243F48"/>
                </a:solidFill>
              </a:defRPr>
            </a:pPr>
            <a:r>
              <a:rPr sz="1125" b="1" i="0">
                <a:solidFill>
                  <a:srgbClr val="243F48"/>
                </a:solidFill>
              </a:rPr>
              <a:t>-&gt; final target ID</a:t>
            </a:r>
          </a:p>
        </p:txBody>
      </p:sp>
      <p:sp>
        <p:nvSpPr>
          <p:cNvPr id="118" name="b-tp">
            <a:extLst xmlns:a="http://schemas.openxmlformats.org/drawingml/2006/main">
              <a:ext uri="{FF2B5EF4-FFF2-40B4-BE49-F238E27FC236}">
                <a16:creationId xmlns:a16="http://schemas.microsoft.com/office/drawing/2014/main" id="{62F75A01-B8CC-48F0-90AE-4BD55BE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6858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5F45"/>
            </a:solidFill>
            <a:prstDash val="solid"/>
          </a:ln>
        </p:spPr>
      </p:sp>
      <p:sp>
        <p:nvSpPr>
          <p:cNvPr id="119" name="b-tp-text">
            <a:extLst xmlns:a="http://schemas.openxmlformats.org/drawingml/2006/main">
              <a:ext uri="{FF2B5EF4-FFF2-40B4-BE49-F238E27FC236}">
                <a16:creationId xmlns:a16="http://schemas.microsoft.com/office/drawing/2014/main" id="{F78E48D6-D1D9-43BD-8D5F-92D195AB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F05F45"/>
                </a:solidFill>
              </a:defRPr>
            </a:pPr>
            <a:r>
              <a:rPr sz="1650" b="0" i="1">
                <a:solidFill>
                  <a:srgbClr val="F05F45"/>
                </a:solidFill>
              </a:rPr>
              <a:t>T_P</a:t>
            </a:r>
          </a:p>
        </p:txBody>
      </p:sp>
      <p:sp>
        <p:nvSpPr>
          <p:cNvPr id="120" name="b-tp-label">
            <a:extLst xmlns:a="http://schemas.openxmlformats.org/drawingml/2006/main">
              <a:ext uri="{FF2B5EF4-FFF2-40B4-BE49-F238E27FC236}">
                <a16:creationId xmlns:a16="http://schemas.microsoft.com/office/drawing/2014/main" id="{E8E34118-5A99-480D-A6C0-C3AFE1EE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99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02A2E"/>
                </a:solidFill>
              </a:defRPr>
            </a:pPr>
            <a:r>
              <a:rPr sz="975" b="0" i="0">
                <a:solidFill>
                  <a:srgbClr val="202A2E"/>
                </a:solidFill>
              </a:rPr>
              <a:t>final target</a:t>
            </a:r>
          </a:p>
        </p:txBody>
      </p:sp>
      <p:sp>
        <p:nvSpPr>
          <p:cNvPr id="121" name="b-tr">
            <a:extLst xmlns:a="http://schemas.openxmlformats.org/drawingml/2006/main">
              <a:ext uri="{FF2B5EF4-FFF2-40B4-BE49-F238E27FC236}">
                <a16:creationId xmlns:a16="http://schemas.microsoft.com/office/drawing/2014/main" id="{BF1C65B0-D019-40CD-9C4D-EE70F51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6858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22" name="b-tr-text">
            <a:extLst xmlns:a="http://schemas.openxmlformats.org/drawingml/2006/main">
              <a:ext uri="{FF2B5EF4-FFF2-40B4-BE49-F238E27FC236}">
                <a16:creationId xmlns:a16="http://schemas.microsoft.com/office/drawing/2014/main" id="{E1712ABE-CBB6-478E-85C5-22EF3C6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28B88"/>
                </a:solidFill>
              </a:defRPr>
            </a:pPr>
            <a:r>
              <a:rPr sz="1650" b="0" i="1">
                <a:solidFill>
                  <a:srgbClr val="128B88"/>
                </a:solidFill>
              </a:rPr>
              <a:t>T_R</a:t>
            </a:r>
          </a:p>
        </p:txBody>
      </p:sp>
      <p:sp>
        <p:nvSpPr>
          <p:cNvPr id="123" name="b-tr-label">
            <a:extLst xmlns:a="http://schemas.openxmlformats.org/drawingml/2006/main">
              <a:ext uri="{FF2B5EF4-FFF2-40B4-BE49-F238E27FC236}">
                <a16:creationId xmlns:a16="http://schemas.microsoft.com/office/drawing/2014/main" id="{D41F12F2-3843-4850-8A49-CEDA816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340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02A2E"/>
                </a:solidFill>
              </a:defRPr>
            </a:pPr>
            <a:r>
              <a:rPr sz="975" b="0" i="0">
                <a:solidFill>
                  <a:srgbClr val="202A2E"/>
                </a:solidFill>
              </a:rPr>
              <a:t>final target</a:t>
            </a:r>
          </a:p>
        </p:txBody>
      </p:sp>
      <p:sp>
        <p:nvSpPr>
          <p:cNvPr id="124" name="b-p-in-anchor">
            <a:extLst xmlns:a="http://schemas.openxmlformats.org/drawingml/2006/main">
              <a:ext uri="{FF2B5EF4-FFF2-40B4-BE49-F238E27FC236}">
                <a16:creationId xmlns:a16="http://schemas.microsoft.com/office/drawing/2014/main" id="{36B911FA-733C-41C0-AF47-0109952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b-p-out-anchor">
            <a:extLst xmlns:a="http://schemas.openxmlformats.org/drawingml/2006/main">
              <a:ext uri="{FF2B5EF4-FFF2-40B4-BE49-F238E27FC236}">
                <a16:creationId xmlns:a16="http://schemas.microsoft.com/office/drawing/2014/main" id="{61293715-D9E6-4603-AEFD-935D0152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6" name="b-r-in-anchor">
            <a:extLst xmlns:a="http://schemas.openxmlformats.org/drawingml/2006/main">
              <a:ext uri="{FF2B5EF4-FFF2-40B4-BE49-F238E27FC236}">
                <a16:creationId xmlns:a16="http://schemas.microsoft.com/office/drawing/2014/main" id="{66653453-EBFB-4CD0-95E0-B4632A4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7" name="b-r-out-anchor">
            <a:extLst xmlns:a="http://schemas.openxmlformats.org/drawingml/2006/main">
              <a:ext uri="{FF2B5EF4-FFF2-40B4-BE49-F238E27FC236}">
                <a16:creationId xmlns:a16="http://schemas.microsoft.com/office/drawing/2014/main" id="{97D161AB-3875-4C38-AD50-D879698D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5" name=""/>
          <p:cNvCxnSpPr>
            <a:stCxn xmlns:a="http://schemas.openxmlformats.org/drawingml/2006/main" id="110" idx="3"/>
            <a:endCxn xmlns:a="http://schemas.openxmlformats.org/drawingml/2006/main" id="124" idx="2"/>
          </p:cNvCxnSpPr>
          <p:nvPr/>
        </p:nvCxnSpPr>
        <p:spPr>
          <a:xfrm xmlns:a="http://schemas.openxmlformats.org/drawingml/2006/main">
            <a:off x="7600950" y="32861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6" name=""/>
          <p:cNvCxnSpPr>
            <a:stCxn xmlns:a="http://schemas.openxmlformats.org/drawingml/2006/main" id="125" idx="6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9124950" y="3286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05F4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7" name=""/>
          <p:cNvCxnSpPr>
            <a:stCxn xmlns:a="http://schemas.openxmlformats.org/drawingml/2006/main" id="112" idx="3"/>
            <a:endCxn xmlns:a="http://schemas.openxmlformats.org/drawingml/2006/main" id="126" idx="2"/>
          </p:cNvCxnSpPr>
          <p:nvPr/>
        </p:nvCxnSpPr>
        <p:spPr>
          <a:xfrm xmlns:a="http://schemas.openxmlformats.org/drawingml/2006/main">
            <a:off x="7600950" y="52101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08" name=""/>
          <p:cNvCxnSpPr>
            <a:stCxn xmlns:a="http://schemas.openxmlformats.org/drawingml/2006/main" id="127" idx="6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24950" y="5210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8B8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32" name="b-withheld">
            <a:extLst xmlns:a="http://schemas.openxmlformats.org/drawingml/2006/main">
              <a:ext uri="{FF2B5EF4-FFF2-40B4-BE49-F238E27FC236}">
                <a16:creationId xmlns:a16="http://schemas.microsoft.com/office/drawing/2014/main" id="{A8D83D3C-38E6-4584-856C-7DCDD217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0"/>
            <a:ext cx="3505200" cy="2076450"/>
          </a:xfrm>
          <a:prstGeom xmlns:a="http://schemas.openxmlformats.org/drawingml/2006/main" prst="roundRect">
            <a:avLst>
              <a:gd name="adj" fmla="val 275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dash"/>
          </a:ln>
        </p:spPr>
      </p:sp>
      <p:sp>
        <p:nvSpPr>
          <p:cNvPr id="133" name="b-withheld-title">
            <a:extLst xmlns:a="http://schemas.openxmlformats.org/drawingml/2006/main">
              <a:ext uri="{FF2B5EF4-FFF2-40B4-BE49-F238E27FC236}">
                <a16:creationId xmlns:a16="http://schemas.microsoft.com/office/drawing/2014/main" id="{B3FC54E5-E65C-4C83-9260-D518DE93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199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Withheld from the probe</a:t>
            </a:r>
          </a:p>
        </p:txBody>
      </p:sp>
      <p:sp>
        <p:nvSpPr>
          <p:cNvPr id="134" name="b-withheld-items">
            <a:extLst xmlns:a="http://schemas.openxmlformats.org/drawingml/2006/main">
              <a:ext uri="{FF2B5EF4-FFF2-40B4-BE49-F238E27FC236}">
                <a16:creationId xmlns:a16="http://schemas.microsoft.com/office/drawing/2014/main" id="{38EF98AB-B247-48AA-9E09-41FD95A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72485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67B"/>
                </a:solidFill>
              </a:defRPr>
            </a:pPr>
            <a:r>
              <a:rPr sz="1050" b="0" i="0">
                <a:solidFill>
                  <a:srgbClr val="68767B"/>
                </a:solidFill>
              </a:rPr>
              <a:t>gold resolution mode   /   gold target</a:t>
            </a:r>
          </a:p>
          <a:p xmlns:a="http://schemas.openxmlformats.org/drawingml/2006/main">
            <a:pPr algn="ctr">
              <a:defRPr sz="1050" b="0" i="0">
                <a:solidFill>
                  <a:srgbClr val="68767B"/>
                </a:solidFill>
              </a:defRPr>
            </a:pPr>
            <a:r>
              <a:rPr sz="1050" b="0" i="0">
                <a:solidFill>
                  <a:srgbClr val="68767B"/>
                </a:solidFill>
              </a:rPr>
              <a:t>normalized selector fields   /   generator-computed winner IDs</a:t>
            </a:r>
          </a:p>
        </p:txBody>
      </p:sp>
      <p:sp>
        <p:nvSpPr>
          <p:cNvPr id="135" name="b-withheld-note">
            <a:extLst xmlns:a="http://schemas.openxmlformats.org/drawingml/2006/main">
              <a:ext uri="{FF2B5EF4-FFF2-40B4-BE49-F238E27FC236}">
                <a16:creationId xmlns:a16="http://schemas.microsoft.com/office/drawing/2014/main" id="{562DBE11-6687-4754-AAA1-1AE0AE0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048625"/>
            <a:ext cx="3124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243F48"/>
                </a:solidFill>
              </a:defRPr>
            </a:pPr>
            <a:r>
              <a:rPr sz="1050" b="0" i="1">
                <a:solidFill>
                  <a:srgbClr val="243F48"/>
                </a:solidFill>
              </a:rPr>
              <a:t>Observed instruction, history, and state follow</a:t>
            </a:r>
          </a:p>
          <a:p xmlns:a="http://schemas.openxmlformats.org/drawingml/2006/main">
            <a:pPr algn="ctr">
              <a:defRPr sz="1050" b="0" i="1">
                <a:solidFill>
                  <a:srgbClr val="243F48"/>
                </a:solidFill>
              </a:defRPr>
            </a:pPr>
            <a:r>
              <a:rPr sz="1050" b="0" i="1">
                <a:solidFill>
                  <a:srgbClr val="243F48"/>
                </a:solidFill>
              </a:rPr>
              <a:t>the tested controller interface.</a:t>
            </a:r>
          </a:p>
        </p:txBody>
      </p:sp>
      <p:sp>
        <p:nvSpPr>
          <p:cNvPr id="136" name="c-readout-1">
            <a:extLst xmlns:a="http://schemas.openxmlformats.org/drawingml/2006/main">
              <a:ext uri="{FF2B5EF4-FFF2-40B4-BE49-F238E27FC236}">
                <a16:creationId xmlns:a16="http://schemas.microsoft.com/office/drawing/2014/main" id="{C1965A9B-9C82-454A-9DE6-741462B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66750"/>
            <a:ext cx="43434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37" name="c-num-1">
            <a:extLst xmlns:a="http://schemas.openxmlformats.org/drawingml/2006/main">
              <a:ext uri="{FF2B5EF4-FFF2-40B4-BE49-F238E27FC236}">
                <a16:creationId xmlns:a16="http://schemas.microsoft.com/office/drawing/2014/main" id="{B276DA34-65B6-4E4D-88C5-A969A6D1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38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1</a:t>
            </a:r>
          </a:p>
        </p:txBody>
      </p:sp>
      <p:sp>
        <p:nvSpPr>
          <p:cNvPr id="138" name="c-r1-title">
            <a:extLst xmlns:a="http://schemas.openxmlformats.org/drawingml/2006/main">
              <a:ext uri="{FF2B5EF4-FFF2-40B4-BE49-F238E27FC236}">
                <a16:creationId xmlns:a16="http://schemas.microsoft.com/office/drawing/2014/main" id="{6439E214-E467-4FFD-B8EA-73364B4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81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Pair accuracy (PairAcc)</a:t>
            </a:r>
          </a:p>
        </p:txBody>
      </p:sp>
      <p:sp>
        <p:nvSpPr>
          <p:cNvPr id="139" name="c-r1-unit">
            <a:extLst xmlns:a="http://schemas.openxmlformats.org/drawingml/2006/main">
              <a:ext uri="{FF2B5EF4-FFF2-40B4-BE49-F238E27FC236}">
                <a16:creationId xmlns:a16="http://schemas.microsoft.com/office/drawing/2014/main" id="{C2C79889-CF2E-41C4-8D9E-2448A76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113347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43F48"/>
                </a:solidFill>
              </a:defRPr>
            </a:pPr>
            <a:r>
              <a:rPr sz="1125" b="0" i="0">
                <a:solidFill>
                  <a:srgbClr val="243F48"/>
                </a:solidFill>
              </a:rPr>
              <a:t>Unit = one complete changed-winner pair</a:t>
            </a:r>
          </a:p>
        </p:txBody>
      </p:sp>
      <p:sp>
        <p:nvSpPr>
          <p:cNvPr id="140" name="c-r1-p">
            <a:extLst xmlns:a="http://schemas.openxmlformats.org/drawingml/2006/main">
              <a:ext uri="{FF2B5EF4-FFF2-40B4-BE49-F238E27FC236}">
                <a16:creationId xmlns:a16="http://schemas.microsoft.com/office/drawing/2014/main" id="{689BCCB6-CE7B-46B6-90B0-B9DE754B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5F45"/>
            </a:solidFill>
            <a:prstDash val="dash"/>
          </a:ln>
        </p:spPr>
      </p:sp>
      <p:sp>
        <p:nvSpPr>
          <p:cNvPr id="141" name="c-r1-p-text">
            <a:extLst xmlns:a="http://schemas.openxmlformats.org/drawingml/2006/main">
              <a:ext uri="{FF2B5EF4-FFF2-40B4-BE49-F238E27FC236}">
                <a16:creationId xmlns:a16="http://schemas.microsoft.com/office/drawing/2014/main" id="{FF001007-616C-4FF7-8BB4-7C12FF5A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202A2E"/>
                </a:solidFill>
              </a:defRPr>
            </a:pPr>
            <a:r>
              <a:rPr sz="1500" b="0" i="1">
                <a:solidFill>
                  <a:srgbClr val="202A2E"/>
                </a:solidFill>
              </a:rPr>
              <a:t>T_P = A</a:t>
            </a:r>
          </a:p>
        </p:txBody>
      </p:sp>
      <p:sp>
        <p:nvSpPr>
          <p:cNvPr id="142" name="c-r1-and">
            <a:extLst xmlns:a="http://schemas.openxmlformats.org/drawingml/2006/main">
              <a:ext uri="{FF2B5EF4-FFF2-40B4-BE49-F238E27FC236}">
                <a16:creationId xmlns:a16="http://schemas.microsoft.com/office/drawing/2014/main" id="{705575E7-C70F-4A58-BE2C-3E2B2FB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19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A2E"/>
                </a:solidFill>
              </a:defRPr>
            </a:pPr>
            <a:r>
              <a:rPr sz="1350" b="1" i="0">
                <a:solidFill>
                  <a:srgbClr val="202A2E"/>
                </a:solidFill>
              </a:rPr>
              <a:t>AND</a:t>
            </a:r>
          </a:p>
        </p:txBody>
      </p:sp>
      <p:sp>
        <p:nvSpPr>
          <p:cNvPr id="143" name="c-r1-r">
            <a:extLst xmlns:a="http://schemas.openxmlformats.org/drawingml/2006/main">
              <a:ext uri="{FF2B5EF4-FFF2-40B4-BE49-F238E27FC236}">
                <a16:creationId xmlns:a16="http://schemas.microsoft.com/office/drawing/2014/main" id="{BC8B78A6-2775-4FEA-AC00-939D1228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B88"/>
            </a:solidFill>
            <a:prstDash val="dash"/>
          </a:ln>
        </p:spPr>
      </p:sp>
      <p:sp>
        <p:nvSpPr>
          <p:cNvPr id="144" name="c-r1-r-text">
            <a:extLst xmlns:a="http://schemas.openxmlformats.org/drawingml/2006/main">
              <a:ext uri="{FF2B5EF4-FFF2-40B4-BE49-F238E27FC236}">
                <a16:creationId xmlns:a16="http://schemas.microsoft.com/office/drawing/2014/main" id="{EF389215-60D4-4DAD-B799-05AC9BD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202A2E"/>
                </a:solidFill>
              </a:defRPr>
            </a:pPr>
            <a:r>
              <a:rPr sz="1500" b="0" i="1">
                <a:solidFill>
                  <a:srgbClr val="202A2E"/>
                </a:solidFill>
              </a:rPr>
              <a:t>T_R = B</a:t>
            </a:r>
          </a:p>
        </p:txBody>
      </p:sp>
      <p:sp>
        <p:nvSpPr>
          <p:cNvPr id="145" name="c-r1-denom">
            <a:extLst xmlns:a="http://schemas.openxmlformats.org/drawingml/2006/main">
              <a:ext uri="{FF2B5EF4-FFF2-40B4-BE49-F238E27FC236}">
                <a16:creationId xmlns:a16="http://schemas.microsoft.com/office/drawing/2014/main" id="{B50435B2-0268-4189-88F0-5710775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3837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2E"/>
                </a:solidFill>
              </a:defRPr>
            </a:pPr>
            <a:r>
              <a:rPr sz="1200" b="0" i="0">
                <a:solidFill>
                  <a:srgbClr val="202A2E"/>
                </a:solidFill>
              </a:rPr>
              <a:t>Denominator: all complete changed-winner pairs</a:t>
            </a:r>
          </a:p>
        </p:txBody>
      </p:sp>
      <p:sp>
        <p:nvSpPr>
          <p:cNvPr id="146" name="c-readout-2">
            <a:extLst xmlns:a="http://schemas.openxmlformats.org/drawingml/2006/main">
              <a:ext uri="{FF2B5EF4-FFF2-40B4-BE49-F238E27FC236}">
                <a16:creationId xmlns:a16="http://schemas.microsoft.com/office/drawing/2014/main" id="{6CD5EC65-A0A8-4443-A421-7BC3A1EE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000375"/>
            <a:ext cx="43434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47" name="c-num-2">
            <a:extLst xmlns:a="http://schemas.openxmlformats.org/drawingml/2006/main">
              <a:ext uri="{FF2B5EF4-FFF2-40B4-BE49-F238E27FC236}">
                <a16:creationId xmlns:a16="http://schemas.microsoft.com/office/drawing/2014/main" id="{2CDCDD16-7E94-4E00-B33A-EDE03F37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2</a:t>
            </a:r>
          </a:p>
        </p:txBody>
      </p:sp>
      <p:sp>
        <p:nvSpPr>
          <p:cNvPr id="148" name="c-r2-title">
            <a:extLst xmlns:a="http://schemas.openxmlformats.org/drawingml/2006/main">
              <a:ext uri="{FF2B5EF4-FFF2-40B4-BE49-F238E27FC236}">
                <a16:creationId xmlns:a16="http://schemas.microsoft.com/office/drawing/2014/main" id="{237B5B2C-1DC2-4B5F-9C5D-2E1A902E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14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Conditional substitution</a:t>
            </a:r>
          </a:p>
        </p:txBody>
      </p:sp>
      <p:sp>
        <p:nvSpPr>
          <p:cNvPr id="149" name="c-r2-focus">
            <a:extLst xmlns:a="http://schemas.openxmlformats.org/drawingml/2006/main">
              <a:ext uri="{FF2B5EF4-FFF2-40B4-BE49-F238E27FC236}">
                <a16:creationId xmlns:a16="http://schemas.microsoft.com/office/drawing/2014/main" id="{03F653C2-0C90-49CC-BDDC-D9291A3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6710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Focus = replacement after a correct observable binding</a:t>
            </a:r>
          </a:p>
        </p:txBody>
      </p:sp>
      <p:sp>
        <p:nvSpPr>
          <p:cNvPr id="150" name="c-r2-a">
            <a:extLst xmlns:a="http://schemas.openxmlformats.org/drawingml/2006/main">
              <a:ext uri="{FF2B5EF4-FFF2-40B4-BE49-F238E27FC236}">
                <a16:creationId xmlns:a16="http://schemas.microsoft.com/office/drawing/2014/main" id="{3F70105F-9FFC-4676-AB8C-FE356D5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F45"/>
          </a:solidFill>
          <a:ln xmlns:a="http://schemas.openxmlformats.org/drawingml/2006/main" w="16193">
            <a:solidFill>
              <a:srgbClr val="F0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51" name="c-r2-a-label">
            <a:extLst xmlns:a="http://schemas.openxmlformats.org/drawingml/2006/main">
              <a:ext uri="{FF2B5EF4-FFF2-40B4-BE49-F238E27FC236}">
                <a16:creationId xmlns:a16="http://schemas.microsoft.com/office/drawing/2014/main" id="{807652B5-2507-4E14-8863-BAE73E3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correct binding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in S0</a:t>
            </a:r>
          </a:p>
        </p:txBody>
      </p:sp>
      <p:sp>
        <p:nvSpPr>
          <p:cNvPr id="152" name="c-r2-clock-face">
            <a:extLst xmlns:a="http://schemas.openxmlformats.org/drawingml/2006/main">
              <a:ext uri="{FF2B5EF4-FFF2-40B4-BE49-F238E27FC236}">
                <a16:creationId xmlns:a16="http://schemas.microsoft.com/office/drawing/2014/main" id="{3BAD0091-AAB0-4B1F-8683-B5A0C658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F48"/>
            </a:solidFill>
            <a:prstDash val="solid"/>
          </a:ln>
        </p:spPr>
      </p:sp>
      <p:sp>
        <p:nvSpPr>
          <p:cNvPr id="153" name="c-r2-clock-hand-v">
            <a:extLst xmlns:a="http://schemas.openxmlformats.org/drawingml/2006/main">
              <a:ext uri="{FF2B5EF4-FFF2-40B4-BE49-F238E27FC236}">
                <a16:creationId xmlns:a16="http://schemas.microsoft.com/office/drawing/2014/main" id="{AE926D3B-92AF-4AB7-8D9C-C188A1C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07651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54" name="c-r2-clock-hand-h">
            <a:extLst xmlns:a="http://schemas.openxmlformats.org/drawingml/2006/main">
              <a:ext uri="{FF2B5EF4-FFF2-40B4-BE49-F238E27FC236}">
                <a16:creationId xmlns:a16="http://schemas.microsoft.com/office/drawing/2014/main" id="{0A78F3EB-4BEF-4897-BC94-D427DE0F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19252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55" name="c-r2-clock-label">
            <a:extLst xmlns:a="http://schemas.openxmlformats.org/drawingml/2006/main">
              <a:ext uri="{FF2B5EF4-FFF2-40B4-BE49-F238E27FC236}">
                <a16:creationId xmlns:a16="http://schemas.microsoft.com/office/drawing/2014/main" id="{62104428-5BF3-4D0C-A6EF-844F9FE2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419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refresh</a:t>
            </a:r>
          </a:p>
        </p:txBody>
      </p:sp>
      <p:sp>
        <p:nvSpPr>
          <p:cNvPr id="156" name="c-r2-b">
            <a:extLst xmlns:a="http://schemas.openxmlformats.org/drawingml/2006/main">
              <a:ext uri="{FF2B5EF4-FFF2-40B4-BE49-F238E27FC236}">
                <a16:creationId xmlns:a16="http://schemas.microsoft.com/office/drawing/2014/main" id="{A871C937-1147-401E-AF98-394902C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B88"/>
          </a:solidFill>
          <a:ln xmlns:a="http://schemas.openxmlformats.org/drawingml/2006/main" w="16193">
            <a:solidFill>
              <a:srgbClr val="128B8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7" name="c-r2-b-label">
            <a:extLst xmlns:a="http://schemas.openxmlformats.org/drawingml/2006/main">
              <a:ext uri="{FF2B5EF4-FFF2-40B4-BE49-F238E27FC236}">
                <a16:creationId xmlns:a16="http://schemas.microsoft.com/office/drawing/2014/main" id="{1BD56D5A-147B-4C63-84D2-EDB7B44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final target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(substitution)</a:t>
            </a:r>
          </a:p>
        </p:txBody>
      </p:sp>
      <p:cxnSp>
        <p:nvCxnSpPr>
          <p:cNvPr id="335" name=""/>
          <p:cNvCxnSpPr>
            <a:stCxn xmlns:a="http://schemas.openxmlformats.org/drawingml/2006/main" id="150" idx="6"/>
            <a:endCxn xmlns:a="http://schemas.openxmlformats.org/drawingml/2006/main" id="152" idx="2"/>
          </p:cNvCxnSpPr>
          <p:nvPr/>
        </p:nvCxnSpPr>
        <p:spPr>
          <a:xfrm xmlns:a="http://schemas.openxmlformats.org/drawingml/2006/main">
            <a:off x="11582400" y="42005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6" name=""/>
          <p:cNvCxnSpPr>
            <a:stCxn xmlns:a="http://schemas.openxmlformats.org/drawingml/2006/main" id="152" idx="6"/>
            <a:endCxn xmlns:a="http://schemas.openxmlformats.org/drawingml/2006/main" id="156" idx="2"/>
          </p:cNvCxnSpPr>
          <p:nvPr/>
        </p:nvCxnSpPr>
        <p:spPr>
          <a:xfrm xmlns:a="http://schemas.openxmlformats.org/drawingml/2006/main">
            <a:off x="12877800" y="4200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0" name="c-r2-denom">
            <a:extLst xmlns:a="http://schemas.openxmlformats.org/drawingml/2006/main">
              <a:ext uri="{FF2B5EF4-FFF2-40B4-BE49-F238E27FC236}">
                <a16:creationId xmlns:a16="http://schemas.microsoft.com/office/drawing/2014/main" id="{5AF7F3FE-85AE-4A98-9CAD-9C8047C3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720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Denominator: Preserve rows with correct initial binding, completed refresh,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changed winner, and old A surviving + action-valid</a:t>
            </a:r>
          </a:p>
        </p:txBody>
      </p:sp>
      <p:sp>
        <p:nvSpPr>
          <p:cNvPr id="161" name="c-readout-3">
            <a:extLst xmlns:a="http://schemas.openxmlformats.org/drawingml/2006/main">
              <a:ext uri="{FF2B5EF4-FFF2-40B4-BE49-F238E27FC236}">
                <a16:creationId xmlns:a16="http://schemas.microsoft.com/office/drawing/2014/main" id="{CCC69BAE-05A4-49B5-AD3B-5AC69D16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781675"/>
            <a:ext cx="4343400" cy="2962275"/>
          </a:xfrm>
          <a:prstGeom xmlns:a="http://schemas.openxmlformats.org/drawingml/2006/main" prst="roundRect">
            <a:avLst>
              <a:gd name="adj" fmla="val 19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EBABD"/>
            </a:solidFill>
            <a:prstDash val="solid"/>
          </a:ln>
        </p:spPr>
      </p:sp>
      <p:sp>
        <p:nvSpPr>
          <p:cNvPr id="162" name="c-num-3">
            <a:extLst xmlns:a="http://schemas.openxmlformats.org/drawingml/2006/main">
              <a:ext uri="{FF2B5EF4-FFF2-40B4-BE49-F238E27FC236}">
                <a16:creationId xmlns:a16="http://schemas.microsoft.com/office/drawing/2014/main" id="{9BD1A7C6-0DA9-47DB-B165-19A3BCA5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5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F48"/>
                </a:solidFill>
              </a:defRPr>
            </a:pPr>
            <a:r>
              <a:rPr sz="1275" b="1">
                <a:solidFill>
                  <a:srgbClr val="243F48"/>
                </a:solidFill>
              </a:rPr>
              <a:t>3</a:t>
            </a:r>
          </a:p>
        </p:txBody>
      </p:sp>
      <p:sp>
        <p:nvSpPr>
          <p:cNvPr id="163" name="c-r3-title">
            <a:extLst xmlns:a="http://schemas.openxmlformats.org/drawingml/2006/main">
              <a:ext uri="{FF2B5EF4-FFF2-40B4-BE49-F238E27FC236}">
                <a16:creationId xmlns:a16="http://schemas.microsoft.com/office/drawing/2014/main" id="{4D0A226B-2F35-4FEF-B6A6-1FB8512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895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A2E"/>
                </a:solidFill>
              </a:defRPr>
            </a:pPr>
            <a:r>
              <a:rPr sz="1500" b="1" i="0">
                <a:solidFill>
                  <a:srgbClr val="202A2E"/>
                </a:solidFill>
              </a:rPr>
              <a:t>Execution subset (tool writes)</a:t>
            </a:r>
          </a:p>
        </p:txBody>
      </p:sp>
      <p:sp>
        <p:nvSpPr>
          <p:cNvPr id="164" name="c-r3-focus">
            <a:extLst xmlns:a="http://schemas.openxmlformats.org/drawingml/2006/main">
              <a:ext uri="{FF2B5EF4-FFF2-40B4-BE49-F238E27FC236}">
                <a16:creationId xmlns:a16="http://schemas.microsoft.com/office/drawing/2014/main" id="{D8DFD12A-8C4F-4470-B193-5A3E78EE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2579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Trace = selected target ID -&gt; tool write -&gt; state diff</a:t>
            </a:r>
          </a:p>
        </p:txBody>
      </p:sp>
      <p:sp>
        <p:nvSpPr>
          <p:cNvPr id="165" name="c-r3-id-circle">
            <a:extLst xmlns:a="http://schemas.openxmlformats.org/drawingml/2006/main">
              <a:ext uri="{FF2B5EF4-FFF2-40B4-BE49-F238E27FC236}">
                <a16:creationId xmlns:a16="http://schemas.microsoft.com/office/drawing/2014/main" id="{0AE08234-4B0F-4E71-B659-6A67A162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858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3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F48"/>
                </a:solidFill>
              </a:defRPr>
            </a:pPr>
            <a:r>
              <a:rPr sz="1500" b="1">
                <a:solidFill>
                  <a:srgbClr val="243F48"/>
                </a:solidFill>
              </a:rPr>
              <a:t>ID</a:t>
            </a:r>
          </a:p>
        </p:txBody>
      </p:sp>
      <p:sp>
        <p:nvSpPr>
          <p:cNvPr id="166" name="c-r3-id-h">
            <a:extLst xmlns:a="http://schemas.openxmlformats.org/drawingml/2006/main">
              <a:ext uri="{FF2B5EF4-FFF2-40B4-BE49-F238E27FC236}">
                <a16:creationId xmlns:a16="http://schemas.microsoft.com/office/drawing/2014/main" id="{8D9B2171-8277-4A2F-8283-3B12EEA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0770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67" name="c-r3-id-v">
            <a:extLst xmlns:a="http://schemas.openxmlformats.org/drawingml/2006/main">
              <a:ext uri="{FF2B5EF4-FFF2-40B4-BE49-F238E27FC236}">
                <a16:creationId xmlns:a16="http://schemas.microsoft.com/office/drawing/2014/main" id="{96F6B269-5F95-4080-896D-F2305A3E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78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48"/>
          </a:solidFill>
          <a:ln xmlns:a="http://schemas.openxmlformats.org/drawingml/2006/main" w="0">
            <a:solidFill>
              <a:srgbClr val="243F48"/>
            </a:solidFill>
            <a:prstDash val="solid"/>
          </a:ln>
        </p:spPr>
      </p:sp>
      <p:sp>
        <p:nvSpPr>
          <p:cNvPr id="168" name="c-r3-id-label">
            <a:extLst xmlns:a="http://schemas.openxmlformats.org/drawingml/2006/main">
              <a:ext uri="{FF2B5EF4-FFF2-40B4-BE49-F238E27FC236}">
                <a16:creationId xmlns:a16="http://schemas.microsoft.com/office/drawing/2014/main" id="{7412BCB2-8723-4D88-93FF-9325292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7429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selected</a:t>
            </a:r>
          </a:p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target ID</a:t>
            </a:r>
          </a:p>
        </p:txBody>
      </p:sp>
      <p:sp>
        <p:nvSpPr>
          <p:cNvPr id="169" name="c-r3-write">
            <a:extLst xmlns:a="http://schemas.openxmlformats.org/drawingml/2006/main">
              <a:ext uri="{FF2B5EF4-FFF2-40B4-BE49-F238E27FC236}">
                <a16:creationId xmlns:a16="http://schemas.microsoft.com/office/drawing/2014/main" id="{8758F886-92AA-4609-A771-1A17C38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48475"/>
            <a:ext cx="876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3335">
            <a:solidFill>
              <a:srgbClr val="E6A646"/>
            </a:solidFill>
            <a:prstDash val="solid"/>
          </a:ln>
        </p:spPr>
      </p:sp>
      <p:sp>
        <p:nvSpPr>
          <p:cNvPr id="170" name="c-r3-write-text">
            <a:extLst xmlns:a="http://schemas.openxmlformats.org/drawingml/2006/main">
              <a:ext uri="{FF2B5EF4-FFF2-40B4-BE49-F238E27FC236}">
                <a16:creationId xmlns:a16="http://schemas.microsoft.com/office/drawing/2014/main" id="{7C64D609-CA6F-4138-89A5-3A52275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770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02A2E"/>
                </a:solidFill>
              </a:defRPr>
            </a:pPr>
            <a:r>
              <a:rPr sz="1200" b="1" i="0">
                <a:solidFill>
                  <a:srgbClr val="202A2E"/>
                </a:solidFill>
              </a:rPr>
              <a:t>TOOL</a:t>
            </a:r>
          </a:p>
          <a:p xmlns:a="http://schemas.openxmlformats.org/drawingml/2006/main">
            <a:pPr algn="ctr">
              <a:defRPr sz="1200" b="1" i="0">
                <a:solidFill>
                  <a:srgbClr val="202A2E"/>
                </a:solidFill>
              </a:defRPr>
            </a:pPr>
            <a:r>
              <a:rPr sz="1200" b="1" i="0">
                <a:solidFill>
                  <a:srgbClr val="202A2E"/>
                </a:solidFill>
              </a:rPr>
              <a:t>WRITE</a:t>
            </a:r>
          </a:p>
        </p:txBody>
      </p:sp>
      <p:sp>
        <p:nvSpPr>
          <p:cNvPr id="171" name="c-r3-write-label">
            <a:extLst xmlns:a="http://schemas.openxmlformats.org/drawingml/2006/main">
              <a:ext uri="{FF2B5EF4-FFF2-40B4-BE49-F238E27FC236}">
                <a16:creationId xmlns:a16="http://schemas.microsoft.com/office/drawing/2014/main" id="{9731D212-9F6E-4DCD-BD82-4198628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742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model-issued</a:t>
            </a:r>
          </a:p>
        </p:txBody>
      </p:sp>
      <p:sp>
        <p:nvSpPr>
          <p:cNvPr id="172" name="c-r3-diff">
            <a:extLst xmlns:a="http://schemas.openxmlformats.org/drawingml/2006/main">
              <a:ext uri="{FF2B5EF4-FFF2-40B4-BE49-F238E27FC236}">
                <a16:creationId xmlns:a16="http://schemas.microsoft.com/office/drawing/2014/main" id="{5D003198-38D3-41C1-A288-7BBA3623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6848475"/>
            <a:ext cx="857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3335">
            <a:solidFill>
              <a:srgbClr val="56A778"/>
            </a:solidFill>
            <a:prstDash val="solid"/>
          </a:ln>
        </p:spPr>
      </p:sp>
      <p:sp>
        <p:nvSpPr>
          <p:cNvPr id="173" name="c-r3-diff-text">
            <a:extLst xmlns:a="http://schemas.openxmlformats.org/drawingml/2006/main">
              <a:ext uri="{FF2B5EF4-FFF2-40B4-BE49-F238E27FC236}">
                <a16:creationId xmlns:a16="http://schemas.microsoft.com/office/drawing/2014/main" id="{1AAF5329-35BF-43F1-9985-5A096F64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77050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6A778"/>
                </a:solidFill>
              </a:defRPr>
            </a:pPr>
            <a:r>
              <a:rPr sz="1200" b="1" i="0">
                <a:solidFill>
                  <a:srgbClr val="56A778"/>
                </a:solidFill>
              </a:rPr>
              <a:t>STATE</a:t>
            </a:r>
          </a:p>
          <a:p xmlns:a="http://schemas.openxmlformats.org/drawingml/2006/main">
            <a:pPr algn="ctr">
              <a:defRPr sz="1200" b="1" i="0">
                <a:solidFill>
                  <a:srgbClr val="56A778"/>
                </a:solidFill>
              </a:defRPr>
            </a:pPr>
            <a:r>
              <a:rPr sz="1200" b="1" i="0">
                <a:solidFill>
                  <a:srgbClr val="56A778"/>
                </a:solidFill>
              </a:rPr>
              <a:t>DIFF</a:t>
            </a:r>
          </a:p>
        </p:txBody>
      </p:sp>
      <p:sp>
        <p:nvSpPr>
          <p:cNvPr id="174" name="c-r3-diff-label">
            <a:extLst xmlns:a="http://schemas.openxmlformats.org/drawingml/2006/main">
              <a:ext uri="{FF2B5EF4-FFF2-40B4-BE49-F238E27FC236}">
                <a16:creationId xmlns:a16="http://schemas.microsoft.com/office/drawing/2014/main" id="{B0B69E66-96A4-431B-A454-5678425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429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02A2E"/>
                </a:solidFill>
              </a:defRPr>
            </a:pPr>
            <a:r>
              <a:rPr sz="1050" b="0" i="0">
                <a:solidFill>
                  <a:srgbClr val="202A2E"/>
                </a:solidFill>
              </a:rPr>
              <a:t>executed change</a:t>
            </a:r>
          </a:p>
        </p:txBody>
      </p:sp>
      <p:cxnSp>
        <p:nvCxnSpPr>
          <p:cNvPr id="352" name=""/>
          <p:cNvCxnSpPr>
            <a:stCxn xmlns:a="http://schemas.openxmlformats.org/drawingml/2006/main" id="165" idx="6"/>
            <a:endCxn xmlns:a="http://schemas.openxmlformats.org/drawingml/2006/main" id="169" idx="1"/>
          </p:cNvCxnSpPr>
          <p:nvPr/>
        </p:nvCxnSpPr>
        <p:spPr>
          <a:xfrm xmlns:a="http://schemas.openxmlformats.org/drawingml/2006/main">
            <a:off x="11525250" y="7086600"/>
            <a:ext cx="8572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3" name=""/>
          <p:cNvCxnSpPr>
            <a:stCxn xmlns:a="http://schemas.openxmlformats.org/drawingml/2006/main" id="169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13258800" y="7105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3F4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7" name="c-r3-denom">
            <a:extLst xmlns:a="http://schemas.openxmlformats.org/drawingml/2006/main">
              <a:ext uri="{FF2B5EF4-FFF2-40B4-BE49-F238E27FC236}">
                <a16:creationId xmlns:a16="http://schemas.microsoft.com/office/drawing/2014/main" id="{77C8653E-C112-4454-808F-FECA6EDB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058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Denominator: executed model-issued writes</a:t>
            </a:r>
          </a:p>
          <a:p xmlns:a="http://schemas.openxmlformats.org/drawingml/2006/main">
            <a:pPr algn="ctr">
              <a:defRPr sz="1125" b="0" i="0">
                <a:solidFill>
                  <a:srgbClr val="202A2E"/>
                </a:solidFill>
              </a:defRPr>
            </a:pPr>
            <a:r>
              <a:rPr sz="1125" b="0" i="0">
                <a:solidFill>
                  <a:srgbClr val="202A2E"/>
                </a:solidFill>
              </a:rPr>
              <a:t>(subset of all evaluation rows)</a:t>
            </a:r>
          </a:p>
        </p:txBody>
      </p:sp>
    </p:spTree>
    <p:extLst>
      <p:ext uri="{BB962C8B-B14F-4D97-AF65-F5344CB8AC3E}">
        <p14:creationId xmlns:p14="http://schemas.microsoft.com/office/powerpoint/2010/main" val="1618351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2026-07-28T14:45:28.1890000Z</dcterms:created>
  <dcterms:modified xsi:type="dcterms:W3CDTF">2026-07-28T14:45:28.1890000Z</dcterms:modified>
</coreProperties>
</file>
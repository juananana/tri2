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b1243b8804f9e" /><Relationship Type="http://schemas.openxmlformats.org/officeDocument/2006/relationships/extended-properties" Target="/docProps/app.xml" Id="R10320c5847cf4aca" /><Relationship Type="http://schemas.openxmlformats.org/officeDocument/2006/relationships/officeDocument" Target="/ppt/presentation.xml" Id="R8c9f5d1bcb7746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5825d77a7b44f6"/>
  </p:sldMasterIdLst>
  <p:notesMasterIdLst>
    <p:notesMasterId xmlns:r="http://schemas.openxmlformats.org/officeDocument/2006/relationships" r:id="Rc3a6fc6138a5411a"/>
  </p:notesMasterIdLst>
  <p:sldIdLst>
    <p:sldId xmlns:r="http://schemas.openxmlformats.org/officeDocument/2006/relationships" id="256" r:id="Rfa899b09d8894ffe"/>
  </p:sldIdLst>
  <p:sldSz cx="12192000" cy="3333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2dcae2acb54742" /><Relationship Type="http://schemas.openxmlformats.org/officeDocument/2006/relationships/slideMaster" Target="/ppt/slideMasters/slideMaster1.xml" Id="Rcc5825d77a7b44f6" /><Relationship Type="http://schemas.openxmlformats.org/officeDocument/2006/relationships/notesMaster" Target="/ppt/notesMasters/notesMaster1.xml" Id="Rc3a6fc6138a5411a" /><Relationship Type="http://schemas.openxmlformats.org/officeDocument/2006/relationships/presProps" Target="/ppt/presProps.xml" Id="Rb54f8ba033204fb1" /><Relationship Type="http://schemas.openxmlformats.org/officeDocument/2006/relationships/tableStyles" Target="/ppt/tableStyles.xml" Id="Rafd582ae98044543" /><Relationship Type="http://schemas.openxmlformats.org/officeDocument/2006/relationships/slide" Target="/ppt/slides/slide1.xml" Id="Rfa899b09d8894f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1f2e1fc26f43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3af1211f1346c7" /><Relationship Type="http://schemas.openxmlformats.org/officeDocument/2006/relationships/notesMaster" Target="/ppt/notesMasters/notesMaster1.xml" Id="Rfaa65f090f0d41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Anonymous TRI manuscript and project AGENTS.md: matched-pair semantics, readout definitions, denominator boundaries, and withheld fields.</a:t>
            </a:r>
          </a:p>
          <a:p xmlns:a="http://schemas.openxmlformats.org/drawingml/2006/main">
            <a:r>
              <a:t>- TRI Figure 1: palette, asymmetric composition, and semantic icon language.</a:t>
            </a:r>
          </a:p>
          <a:p xmlns:a="http://schemas.openxmlformats.org/drawingml/2006/main">
            <a:r>
              <a:t>- Lucide Icons (ISC License): Layers3, TimerReset, LockKeyhole, RefreshCcw, DatabaseBackup, EyeOff, ScanSearch, BadgeCheck, Route, Clock3, DatabaseZap, SquarePen, Database.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417110e3094c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851f27476842a5" /><Relationship Type="http://schemas.openxmlformats.org/officeDocument/2006/relationships/slideLayout" Target="/ppt/slideLayouts/slideLayout1.xml" Id="Rdaf1d0f60ebc43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f1d0f60ebc43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a8a75699345c3" /><Relationship Type="http://schemas.openxmlformats.org/officeDocument/2006/relationships/image" Target="/ppt/media/image.png" Id="Rd86f78e52f954bb9" /><Relationship Type="http://schemas.openxmlformats.org/officeDocument/2006/relationships/image" Target="/ppt/media/image.svg" Id="Ra000f65e233a4b49" /><Relationship Type="http://schemas.openxmlformats.org/officeDocument/2006/relationships/image" Target="/ppt/media/image2.png" Id="R05b57b8e8aac47a8" /><Relationship Type="http://schemas.openxmlformats.org/officeDocument/2006/relationships/image" Target="/ppt/media/image2.svg" Id="Reacef669b1c74cfa" /><Relationship Type="http://schemas.openxmlformats.org/officeDocument/2006/relationships/image" Target="/ppt/media/image3.png" Id="R19bafbb607d14350" /><Relationship Type="http://schemas.openxmlformats.org/officeDocument/2006/relationships/image" Target="/ppt/media/image3.svg" Id="R1c9718e84c8c4769" /><Relationship Type="http://schemas.openxmlformats.org/officeDocument/2006/relationships/image" Target="/ppt/media/image4.png" Id="Reec1835e983b49ad" /><Relationship Type="http://schemas.openxmlformats.org/officeDocument/2006/relationships/image" Target="/ppt/media/image4.svg" Id="R9b86158e06484335" /><Relationship Type="http://schemas.openxmlformats.org/officeDocument/2006/relationships/image" Target="/ppt/media/image5.png" Id="R4fdcd3527a9c46d3" /><Relationship Type="http://schemas.openxmlformats.org/officeDocument/2006/relationships/image" Target="/ppt/media/image5.svg" Id="R1851edadd75d4f4f" /><Relationship Type="http://schemas.openxmlformats.org/officeDocument/2006/relationships/image" Target="/ppt/media/image6.png" Id="Ra499fa78bd594474" /><Relationship Type="http://schemas.openxmlformats.org/officeDocument/2006/relationships/image" Target="/ppt/media/image6.svg" Id="R6732902ddf5c412a" /><Relationship Type="http://schemas.openxmlformats.org/officeDocument/2006/relationships/image" Target="/ppt/media/image7.png" Id="Ra866803622dd47fe" /><Relationship Type="http://schemas.openxmlformats.org/officeDocument/2006/relationships/image" Target="/ppt/media/image7.svg" Id="Re152ca6656474e5f" /><Relationship Type="http://schemas.openxmlformats.org/officeDocument/2006/relationships/image" Target="/ppt/media/image8.png" Id="Rd4e9b40b6a074a4e" /><Relationship Type="http://schemas.openxmlformats.org/officeDocument/2006/relationships/image" Target="/ppt/media/image8.svg" Id="Re4e85e75310e4c1e" /><Relationship Type="http://schemas.openxmlformats.org/officeDocument/2006/relationships/image" Target="/ppt/media/image9.png" Id="R99d81c14737c4d03" /><Relationship Type="http://schemas.openxmlformats.org/officeDocument/2006/relationships/image" Target="/ppt/media/image9.svg" Id="Reba8adf7c33e4a26" /><Relationship Type="http://schemas.openxmlformats.org/officeDocument/2006/relationships/image" Target="/ppt/media/image10.png" Id="R8f13a82c0a37432d" /><Relationship Type="http://schemas.openxmlformats.org/officeDocument/2006/relationships/image" Target="/ppt/media/image10.svg" Id="R871c3e131a154cd7" /><Relationship Type="http://schemas.openxmlformats.org/officeDocument/2006/relationships/image" Target="/ppt/media/image11.png" Id="Rdd9af4ecabc542b3" /><Relationship Type="http://schemas.openxmlformats.org/officeDocument/2006/relationships/image" Target="/ppt/media/image11.svg" Id="R489e36728d5145f5" /><Relationship Type="http://schemas.openxmlformats.org/officeDocument/2006/relationships/image" Target="/ppt/media/image12.png" Id="R076406174e67423a" /><Relationship Type="http://schemas.openxmlformats.org/officeDocument/2006/relationships/image" Target="/ppt/media/image12.svg" Id="Rb2e392b581c54599" /><Relationship Type="http://schemas.openxmlformats.org/officeDocument/2006/relationships/image" Target="/ppt/media/image13.png" Id="Rbad1226474bb4c11" /><Relationship Type="http://schemas.openxmlformats.org/officeDocument/2006/relationships/image" Target="/ppt/media/image13.svg" Id="R3906a9b6c0bc43df" /><Relationship Type="http://schemas.openxmlformats.org/officeDocument/2006/relationships/notesSlide" Target="/ppt/notesSlides/notesSlide1.xml" Id="R411303f7fa8d4d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main-title">
            <a:extLst xmlns:a="http://schemas.openxmlformats.org/drawingml/2006/main">
              <a:ext uri="{FF2B5EF4-FFF2-40B4-BE49-F238E27FC236}">
                <a16:creationId xmlns:a16="http://schemas.microsoft.com/office/drawing/2014/main" id="{23A1D81A-A234-4DCA-8D9A-5F2AB812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6200"/>
            <a:ext cx="4476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D0D0E"/>
                </a:solidFill>
              </a:defRPr>
            </a:pPr>
            <a:r>
              <a:rPr sz="1650" b="1" i="0">
                <a:solidFill>
                  <a:srgbClr val="0D0D0E"/>
                </a:solidFill>
              </a:rPr>
              <a:t>One transition, two valid commitments</a:t>
            </a:r>
          </a:p>
        </p:txBody>
      </p:sp>
      <p:sp>
        <p:nvSpPr>
          <p:cNvPr id="2" name="main-kicker">
            <a:extLst xmlns:a="http://schemas.openxmlformats.org/drawingml/2006/main">
              <a:ext uri="{FF2B5EF4-FFF2-40B4-BE49-F238E27FC236}">
                <a16:creationId xmlns:a16="http://schemas.microsoft.com/office/drawing/2014/main" id="{DBE6B287-A47A-4D3A-BAAE-8396665F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143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1">
                <a:solidFill>
                  <a:srgbClr val="318383"/>
                </a:solidFill>
              </a:defRPr>
            </a:pPr>
            <a:r>
              <a:rPr sz="975" b="1" i="1">
                <a:solidFill>
                  <a:srgbClr val="318383"/>
                </a:solidFill>
              </a:rPr>
              <a:t>TRI matched diagnostic</a:t>
            </a:r>
          </a:p>
        </p:txBody>
      </p:sp>
      <p:sp>
        <p:nvSpPr>
          <p:cNvPr id="3" name="diagnostic-field">
            <a:extLst xmlns:a="http://schemas.openxmlformats.org/drawingml/2006/main">
              <a:ext uri="{FF2B5EF4-FFF2-40B4-BE49-F238E27FC236}">
                <a16:creationId xmlns:a16="http://schemas.microsoft.com/office/drawing/2014/main" id="{893F52C9-B729-430C-99D3-851D8D90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400050"/>
            <a:ext cx="9086850" cy="2800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AF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f78e52f954bb9">
            <a:extLst>
              <a:ext uri="{96DAC541-7B7A-43D3-8B79-37D633B846F1}">
                <asvg:svgBlip xmlns:asvg="http://schemas.microsoft.com/office/drawing/2016/SVG/main" r:embed="Ra000f65e233a4b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9125" y="5524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5" name="fixed-label">
            <a:extLst xmlns:a="http://schemas.openxmlformats.org/drawingml/2006/main">
              <a:ext uri="{FF2B5EF4-FFF2-40B4-BE49-F238E27FC236}">
                <a16:creationId xmlns:a16="http://schemas.microsoft.com/office/drawing/2014/main" id="{B7A21D56-8109-4E0E-9349-F8015DDA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34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6C9FA3"/>
                </a:solidFill>
              </a:defRPr>
            </a:pPr>
            <a:r>
              <a:rPr sz="675" b="1" i="0">
                <a:solidFill>
                  <a:srgbClr val="6C9FA3"/>
                </a:solidFill>
              </a:rPr>
              <a:t>FIXED</a:t>
            </a:r>
          </a:p>
        </p:txBody>
      </p:sp>
      <p:sp>
        <p:nvSpPr>
          <p:cNvPr id="6" name="fixed-items">
            <a:extLst xmlns:a="http://schemas.openxmlformats.org/drawingml/2006/main">
              <a:ext uri="{FF2B5EF4-FFF2-40B4-BE49-F238E27FC236}">
                <a16:creationId xmlns:a16="http://schemas.microsoft.com/office/drawing/2014/main" id="{3F39B2D4-3A4A-4821-A602-E89394D0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38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C535C"/>
                </a:solidFill>
              </a:defRPr>
            </a:pPr>
            <a:r>
              <a:rPr sz="825" b="1" i="0">
                <a:solidFill>
                  <a:srgbClr val="3C535C"/>
                </a:solidFill>
              </a:rPr>
              <a:t>S0, S1, q, action, schema, interface</a:t>
            </a:r>
          </a:p>
        </p:txBody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57b8e8aac47a8">
            <a:extLst>
              <a:ext uri="{96DAC541-7B7A-43D3-8B79-37D633B846F1}">
                <asvg:svgBlip xmlns:asvg="http://schemas.microsoft.com/office/drawing/2016/SVG/main" r:embed="Reacef669b1c74cf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10025" y="55245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8" name="timing-label">
            <a:extLst xmlns:a="http://schemas.openxmlformats.org/drawingml/2006/main">
              <a:ext uri="{FF2B5EF4-FFF2-40B4-BE49-F238E27FC236}">
                <a16:creationId xmlns:a16="http://schemas.microsoft.com/office/drawing/2014/main" id="{B837EEB4-FAD9-4F0E-AE95-D2F2A543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3340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1" i="0">
                <a:solidFill>
                  <a:srgbClr val="318383"/>
                </a:solidFill>
              </a:defRPr>
            </a:pPr>
            <a:r>
              <a:rPr sz="675" b="1" i="0">
                <a:solidFill>
                  <a:srgbClr val="318383"/>
                </a:solidFill>
              </a:rPr>
              <a:t>ONLY CHANGE</a:t>
            </a:r>
          </a:p>
        </p:txBody>
      </p:sp>
      <p:sp>
        <p:nvSpPr>
          <p:cNvPr id="9" name="timing-value">
            <a:extLst xmlns:a="http://schemas.openxmlformats.org/drawingml/2006/main">
              <a:ext uri="{FF2B5EF4-FFF2-40B4-BE49-F238E27FC236}">
                <a16:creationId xmlns:a16="http://schemas.microsoft.com/office/drawing/2014/main" id="{36E35457-1DF4-41CF-9141-712829EA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4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18383"/>
                </a:solidFill>
              </a:defRPr>
            </a:pPr>
            <a:r>
              <a:rPr sz="1050" b="1" i="0">
                <a:solidFill>
                  <a:srgbClr val="318383"/>
                </a:solidFill>
              </a:rPr>
              <a:t>commitment timing</a:t>
            </a:r>
          </a:p>
        </p:txBody>
      </p:sp>
      <p:sp>
        <p:nvSpPr>
          <p:cNvPr id="10" name="same-refresh">
            <a:extLst xmlns:a="http://schemas.openxmlformats.org/drawingml/2006/main">
              <a:ext uri="{FF2B5EF4-FFF2-40B4-BE49-F238E27FC236}">
                <a16:creationId xmlns:a16="http://schemas.microsoft.com/office/drawing/2014/main" id="{A801FA83-2632-4E52-A92B-219BD63E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3875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6C9FA3"/>
                </a:solidFill>
              </a:defRPr>
            </a:pPr>
            <a:r>
              <a:rPr sz="825" b="0" i="1">
                <a:solidFill>
                  <a:srgbClr val="6C9FA3"/>
                </a:solidFill>
              </a:rPr>
              <a:t>same refresh, replayed twice</a:t>
            </a:r>
          </a:p>
        </p:txBody>
      </p:sp>
      <p:sp>
        <p:nvSpPr>
          <p:cNvPr id="11" name="pair-stem">
            <a:extLst xmlns:a="http://schemas.openxmlformats.org/drawingml/2006/main">
              <a:ext uri="{FF2B5EF4-FFF2-40B4-BE49-F238E27FC236}">
                <a16:creationId xmlns:a16="http://schemas.microsoft.com/office/drawing/2014/main" id="{85FCA552-2014-4E3A-B325-57EE56FE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019175"/>
            <a:ext cx="190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35C"/>
          </a:solidFill>
          <a:ln xmlns:a="http://schemas.openxmlformats.org/drawingml/2006/main" w="0">
            <a:solidFill>
              <a:srgbClr val="3C535C"/>
            </a:solidFill>
            <a:prstDash val="solid"/>
          </a:ln>
        </p:spPr>
      </p:sp>
      <p:sp>
        <p:nvSpPr>
          <p:cNvPr id="12" name="preserve-token">
            <a:extLst xmlns:a="http://schemas.openxmlformats.org/drawingml/2006/main">
              <a:ext uri="{FF2B5EF4-FFF2-40B4-BE49-F238E27FC236}">
                <a16:creationId xmlns:a16="http://schemas.microsoft.com/office/drawing/2014/main" id="{BD302B65-4480-4644-8A16-03BD288F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11430">
            <a:solidFill>
              <a:srgbClr val="B224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13" name="reevaluate-token">
            <a:extLst xmlns:a="http://schemas.openxmlformats.org/drawingml/2006/main">
              <a:ext uri="{FF2B5EF4-FFF2-40B4-BE49-F238E27FC236}">
                <a16:creationId xmlns:a16="http://schemas.microsoft.com/office/drawing/2014/main" id="{BD44ED50-1D63-4D4C-89B7-DBF4563E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43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383"/>
          </a:solidFill>
          <a:ln xmlns:a="http://schemas.openxmlformats.org/drawingml/2006/main" w="11430">
            <a:solidFill>
              <a:srgbClr val="3183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4" name="pair-label">
            <a:extLst xmlns:a="http://schemas.openxmlformats.org/drawingml/2006/main">
              <a:ext uri="{FF2B5EF4-FFF2-40B4-BE49-F238E27FC236}">
                <a16:creationId xmlns:a16="http://schemas.microsoft.com/office/drawing/2014/main" id="{E4C53BC9-EB9E-4004-8956-11D6F4CA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495425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3C535C"/>
                </a:solidFill>
              </a:defRPr>
            </a:pPr>
            <a:r>
              <a:rPr sz="675" b="1" i="0">
                <a:solidFill>
                  <a:srgbClr val="3C535C"/>
                </a:solidFill>
              </a:rPr>
              <a:t>MATCHED</a:t>
            </a:r>
          </a:p>
          <a:p xmlns:a="http://schemas.openxmlformats.org/drawingml/2006/main">
            <a:pPr algn="ctr">
              <a:defRPr sz="675" b="1" i="0">
                <a:solidFill>
                  <a:srgbClr val="3C535C"/>
                </a:solidFill>
              </a:defRPr>
            </a:pPr>
            <a:r>
              <a:rPr sz="675" b="1" i="0">
                <a:solidFill>
                  <a:srgbClr val="3C535C"/>
                </a:solidFill>
              </a:rPr>
              <a:t>PAIR</a:t>
            </a:r>
          </a:p>
        </p:txBody>
      </p:sp>
      <p:sp>
        <p:nvSpPr>
          <p:cNvPr id="15" name="preserve-icon-ring">
            <a:extLst xmlns:a="http://schemas.openxmlformats.org/drawingml/2006/main">
              <a:ext uri="{FF2B5EF4-FFF2-40B4-BE49-F238E27FC236}">
                <a16:creationId xmlns:a16="http://schemas.microsoft.com/office/drawing/2014/main" id="{9D549A3B-3F23-464C-A7AF-CBDC6891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286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2242F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afbb607d14350">
            <a:extLst>
              <a:ext uri="{96DAC541-7B7A-43D3-8B79-37D633B846F1}">
                <asvg:svgBlip xmlns:asvg="http://schemas.microsoft.com/office/drawing/2016/SVG/main" r:embed="R1c9718e84c8c47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3000" y="9239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preserve-name">
            <a:extLst xmlns:a="http://schemas.openxmlformats.org/drawingml/2006/main">
              <a:ext uri="{FF2B5EF4-FFF2-40B4-BE49-F238E27FC236}">
                <a16:creationId xmlns:a16="http://schemas.microsoft.com/office/drawing/2014/main" id="{393C2C2E-7317-4592-8F40-E89BCF01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09625"/>
            <a:ext cx="95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2242F"/>
                </a:solidFill>
              </a:defRPr>
            </a:pPr>
            <a:r>
              <a:rPr sz="1200" b="1" i="0">
                <a:solidFill>
                  <a:srgbClr val="B2242F"/>
                </a:solidFill>
              </a:rPr>
              <a:t>Preserve</a:t>
            </a:r>
          </a:p>
        </p:txBody>
      </p:sp>
      <p:sp>
        <p:nvSpPr>
          <p:cNvPr id="18" name="preserve-action">
            <a:extLst xmlns:a="http://schemas.openxmlformats.org/drawingml/2006/main">
              <a:ext uri="{FF2B5EF4-FFF2-40B4-BE49-F238E27FC236}">
                <a16:creationId xmlns:a16="http://schemas.microsoft.com/office/drawing/2014/main" id="{ED376BBD-3845-4805-91B9-54764473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19175"/>
            <a:ext cx="1476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2242F"/>
                </a:solidFill>
              </a:defRPr>
            </a:pPr>
            <a:r>
              <a:rPr sz="825" b="1" i="0">
                <a:solidFill>
                  <a:srgbClr val="B2242F"/>
                </a:solidFill>
              </a:rPr>
              <a:t>bind A before refresh</a:t>
            </a:r>
          </a:p>
        </p:txBody>
      </p:sp>
      <p:sp>
        <p:nvSpPr>
          <p:cNvPr id="19" name="reevaluate-icon-ring">
            <a:extLst xmlns:a="http://schemas.openxmlformats.org/drawingml/2006/main">
              <a:ext uri="{FF2B5EF4-FFF2-40B4-BE49-F238E27FC236}">
                <a16:creationId xmlns:a16="http://schemas.microsoft.com/office/drawing/2014/main" id="{59207FC6-70B5-4405-9ED8-47E767C0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18383"/>
            </a:solidFill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1835e983b49ad">
            <a:extLst>
              <a:ext uri="{96DAC541-7B7A-43D3-8B79-37D633B846F1}">
                <asvg:svgBlip xmlns:asvg="http://schemas.microsoft.com/office/drawing/2016/SVG/main" r:embed="R9b86158e064843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3000" y="24003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1" name="reevaluate-name">
            <a:extLst xmlns:a="http://schemas.openxmlformats.org/drawingml/2006/main">
              <a:ext uri="{FF2B5EF4-FFF2-40B4-BE49-F238E27FC236}">
                <a16:creationId xmlns:a16="http://schemas.microsoft.com/office/drawing/2014/main" id="{9B5AA0B1-D878-4F7F-89A4-2C080537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1047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18383"/>
                </a:solidFill>
              </a:defRPr>
            </a:pPr>
            <a:r>
              <a:rPr sz="1200" b="1" i="0">
                <a:solidFill>
                  <a:srgbClr val="318383"/>
                </a:solidFill>
              </a:rPr>
              <a:t>Reevaluate</a:t>
            </a:r>
          </a:p>
        </p:txBody>
      </p:sp>
      <p:sp>
        <p:nvSpPr>
          <p:cNvPr id="22" name="reevaluate-action">
            <a:extLst xmlns:a="http://schemas.openxmlformats.org/drawingml/2006/main">
              <a:ext uri="{FF2B5EF4-FFF2-40B4-BE49-F238E27FC236}">
                <a16:creationId xmlns:a16="http://schemas.microsoft.com/office/drawing/2014/main" id="{AD212B83-FFF3-4879-9D0E-EB5384F4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9555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18383"/>
                </a:solidFill>
              </a:defRPr>
            </a:pPr>
            <a:r>
              <a:rPr sz="825" b="1" i="0">
                <a:solidFill>
                  <a:srgbClr val="318383"/>
                </a:solidFill>
              </a:rPr>
              <a:t>defer q until after refresh</a:t>
            </a:r>
          </a:p>
        </p:txBody>
      </p:sp>
      <p:sp>
        <p:nvSpPr>
          <p:cNvPr id="23" name="state-s0-outer">
            <a:extLst xmlns:a="http://schemas.openxmlformats.org/drawingml/2006/main">
              <a:ext uri="{FF2B5EF4-FFF2-40B4-BE49-F238E27FC236}">
                <a16:creationId xmlns:a16="http://schemas.microsoft.com/office/drawing/2014/main" id="{D44ECAAC-72CB-45E6-A2B5-081890F9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2668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C535C"/>
            </a:solidFill>
            <a:prstDash val="solid"/>
          </a:ln>
        </p:spPr>
      </p:sp>
      <p:sp>
        <p:nvSpPr>
          <p:cNvPr id="24" name="state-s0-candidate-0">
            <a:extLst xmlns:a="http://schemas.openxmlformats.org/drawingml/2006/main">
              <a:ext uri="{FF2B5EF4-FFF2-40B4-BE49-F238E27FC236}">
                <a16:creationId xmlns:a16="http://schemas.microsoft.com/office/drawing/2014/main" id="{981F9B6D-F614-4966-AE1C-E54BA5E5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428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25" name="state-s0-candidate-1">
            <a:extLst xmlns:a="http://schemas.openxmlformats.org/drawingml/2006/main">
              <a:ext uri="{FF2B5EF4-FFF2-40B4-BE49-F238E27FC236}">
                <a16:creationId xmlns:a16="http://schemas.microsoft.com/office/drawing/2014/main" id="{D6A848E4-AA47-48CE-8203-5FEBB034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743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26" name="state-s0-candidate-2">
            <a:extLst xmlns:a="http://schemas.openxmlformats.org/drawingml/2006/main">
              <a:ext uri="{FF2B5EF4-FFF2-40B4-BE49-F238E27FC236}">
                <a16:creationId xmlns:a16="http://schemas.microsoft.com/office/drawing/2014/main" id="{2B23B7E2-7EB8-4D0F-80F5-D058EDC3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400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27" name="state-s0-candidate-3">
            <a:extLst xmlns:a="http://schemas.openxmlformats.org/drawingml/2006/main">
              <a:ext uri="{FF2B5EF4-FFF2-40B4-BE49-F238E27FC236}">
                <a16:creationId xmlns:a16="http://schemas.microsoft.com/office/drawing/2014/main" id="{DE18ED68-41B6-4104-BB73-E5549D26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24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28" name="state-s0-A">
            <a:extLst xmlns:a="http://schemas.openxmlformats.org/drawingml/2006/main">
              <a:ext uri="{FF2B5EF4-FFF2-40B4-BE49-F238E27FC236}">
                <a16:creationId xmlns:a16="http://schemas.microsoft.com/office/drawing/2014/main" id="{8879C37A-8A14-44B2-96C0-D602F66F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14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11430">
            <a:solidFill>
              <a:srgbClr val="B224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9" name="shared-refresh">
            <a:extLst xmlns:a="http://schemas.openxmlformats.org/drawingml/2006/main">
              <a:ext uri="{FF2B5EF4-FFF2-40B4-BE49-F238E27FC236}">
                <a16:creationId xmlns:a16="http://schemas.microsoft.com/office/drawing/2014/main" id="{A5725C76-49C6-4C71-802F-423128FA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28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C9FA3"/>
            </a:solidFill>
            <a:prstDash val="solid"/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cd3527a9c46d3">
            <a:extLst>
              <a:ext uri="{96DAC541-7B7A-43D3-8B79-37D633B846F1}">
                <asvg:svgBlip xmlns:asvg="http://schemas.microsoft.com/office/drawing/2016/SVG/main" r:embed="R1851edadd75d4f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48175" y="15430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31" name="state-s1-outer">
            <a:extLst xmlns:a="http://schemas.openxmlformats.org/drawingml/2006/main">
              <a:ext uri="{FF2B5EF4-FFF2-40B4-BE49-F238E27FC236}">
                <a16:creationId xmlns:a16="http://schemas.microsoft.com/office/drawing/2014/main" id="{4B21DE93-E856-436C-84C6-29967D95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26682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C535C"/>
            </a:solidFill>
            <a:prstDash val="solid"/>
          </a:ln>
        </p:spPr>
      </p:sp>
      <p:sp>
        <p:nvSpPr>
          <p:cNvPr id="32" name="state-s1-candidate-0">
            <a:extLst xmlns:a="http://schemas.openxmlformats.org/drawingml/2006/main">
              <a:ext uri="{FF2B5EF4-FFF2-40B4-BE49-F238E27FC236}">
                <a16:creationId xmlns:a16="http://schemas.microsoft.com/office/drawing/2014/main" id="{98FAACC4-B892-4960-A5BD-D5E0E3DE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38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33" name="state-s1-candidate-1">
            <a:extLst xmlns:a="http://schemas.openxmlformats.org/drawingml/2006/main">
              <a:ext uri="{FF2B5EF4-FFF2-40B4-BE49-F238E27FC236}">
                <a16:creationId xmlns:a16="http://schemas.microsoft.com/office/drawing/2014/main" id="{81F81144-11F0-4792-B2E5-CF3858F4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33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34" name="state-s1-candidate-2">
            <a:extLst xmlns:a="http://schemas.openxmlformats.org/drawingml/2006/main">
              <a:ext uri="{FF2B5EF4-FFF2-40B4-BE49-F238E27FC236}">
                <a16:creationId xmlns:a16="http://schemas.microsoft.com/office/drawing/2014/main" id="{7042B776-228D-4FBC-A3E2-8AD62CBC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4001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2"/>
          </a:solidFill>
          <a:ln xmlns:a="http://schemas.openxmlformats.org/drawingml/2006/main" w="7620">
            <a:solidFill>
              <a:srgbClr val="7D8D91"/>
            </a:solidFill>
            <a:prstDash val="solid"/>
          </a:ln>
        </p:spPr>
      </p:sp>
      <p:sp>
        <p:nvSpPr>
          <p:cNvPr id="35" name="state-s1-A">
            <a:extLst xmlns:a="http://schemas.openxmlformats.org/drawingml/2006/main">
              <a:ext uri="{FF2B5EF4-FFF2-40B4-BE49-F238E27FC236}">
                <a16:creationId xmlns:a16="http://schemas.microsoft.com/office/drawing/2014/main" id="{2637DAD7-9E48-4B58-8202-5A269785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14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11430">
            <a:solidFill>
              <a:srgbClr val="B224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36" name="state-s1-B">
            <a:extLst xmlns:a="http://schemas.openxmlformats.org/drawingml/2006/main">
              <a:ext uri="{FF2B5EF4-FFF2-40B4-BE49-F238E27FC236}">
                <a16:creationId xmlns:a16="http://schemas.microsoft.com/office/drawing/2014/main" id="{F5E55206-E846-4AD5-AE26-F7AF0B64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383"/>
          </a:solidFill>
          <a:ln xmlns:a="http://schemas.openxmlformats.org/drawingml/2006/main" w="11430">
            <a:solidFill>
              <a:srgbClr val="3183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153" name=""/>
          <p:cNvCxnSpPr>
            <a:stCxn xmlns:a="http://schemas.openxmlformats.org/drawingml/2006/main" id="23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3895725" y="1666875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3C535C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54" name=""/>
          <p:cNvCxnSpPr>
            <a:stCxn xmlns:a="http://schemas.openxmlformats.org/drawingml/2006/main" id="29" idx="6"/>
            <a:endCxn xmlns:a="http://schemas.openxmlformats.org/drawingml/2006/main" id="31" idx="2"/>
          </p:cNvCxnSpPr>
          <p:nvPr/>
        </p:nvCxnSpPr>
        <p:spPr>
          <a:xfrm xmlns:a="http://schemas.openxmlformats.org/drawingml/2006/main">
            <a:off x="4810125" y="16668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 cap="rnd">
            <a:solidFill>
              <a:srgbClr val="3C535C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9" name="s0-label">
            <a:extLst xmlns:a="http://schemas.openxmlformats.org/drawingml/2006/main">
              <a:ext uri="{FF2B5EF4-FFF2-40B4-BE49-F238E27FC236}">
                <a16:creationId xmlns:a16="http://schemas.microsoft.com/office/drawing/2014/main" id="{896398A8-5573-4713-9C8D-228D9996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1">
                <a:solidFill>
                  <a:srgbClr val="58585A"/>
                </a:solidFill>
              </a:defRPr>
            </a:pPr>
            <a:r>
              <a:rPr sz="900" b="1" i="1">
                <a:solidFill>
                  <a:srgbClr val="58585A"/>
                </a:solidFill>
              </a:rPr>
              <a:t>S0</a:t>
            </a:r>
          </a:p>
        </p:txBody>
      </p:sp>
      <p:sp>
        <p:nvSpPr>
          <p:cNvPr id="40" name="s0-winner">
            <a:extLst xmlns:a="http://schemas.openxmlformats.org/drawingml/2006/main">
              <a:ext uri="{FF2B5EF4-FFF2-40B4-BE49-F238E27FC236}">
                <a16:creationId xmlns:a16="http://schemas.microsoft.com/office/drawing/2014/main" id="{2EB834EA-4BD4-41E8-B6DF-98BC53DE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0955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58585A"/>
                </a:solidFill>
              </a:defRPr>
            </a:pPr>
            <a:r>
              <a:rPr sz="825" b="0" i="1">
                <a:solidFill>
                  <a:srgbClr val="58585A"/>
                </a:solidFill>
              </a:rPr>
              <a:t>q(S0)=A</a:t>
            </a:r>
          </a:p>
        </p:txBody>
      </p:sp>
      <p:sp>
        <p:nvSpPr>
          <p:cNvPr id="41" name="refresh-label">
            <a:extLst xmlns:a="http://schemas.openxmlformats.org/drawingml/2006/main">
              <a:ext uri="{FF2B5EF4-FFF2-40B4-BE49-F238E27FC236}">
                <a16:creationId xmlns:a16="http://schemas.microsoft.com/office/drawing/2014/main" id="{FCBACBE1-8E64-4952-B661-122B73B6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C9FA3"/>
                </a:solidFill>
              </a:defRPr>
            </a:pPr>
            <a:r>
              <a:rPr sz="750" b="1" i="0">
                <a:solidFill>
                  <a:srgbClr val="6C9FA3"/>
                </a:solidFill>
              </a:rPr>
              <a:t>refresh</a:t>
            </a:r>
          </a:p>
        </p:txBody>
      </p:sp>
      <p:sp>
        <p:nvSpPr>
          <p:cNvPr id="42" name="s1-label">
            <a:extLst xmlns:a="http://schemas.openxmlformats.org/drawingml/2006/main">
              <a:ext uri="{FF2B5EF4-FFF2-40B4-BE49-F238E27FC236}">
                <a16:creationId xmlns:a16="http://schemas.microsoft.com/office/drawing/2014/main" id="{828168D2-C1D0-43CB-BD2C-F91D30D1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5262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1">
                <a:solidFill>
                  <a:srgbClr val="58585A"/>
                </a:solidFill>
              </a:defRPr>
            </a:pPr>
            <a:r>
              <a:rPr sz="900" b="1" i="1">
                <a:solidFill>
                  <a:srgbClr val="58585A"/>
                </a:solidFill>
              </a:rPr>
              <a:t>S1</a:t>
            </a:r>
          </a:p>
        </p:txBody>
      </p:sp>
      <p:sp>
        <p:nvSpPr>
          <p:cNvPr id="43" name="s1-winner">
            <a:extLst xmlns:a="http://schemas.openxmlformats.org/drawingml/2006/main">
              <a:ext uri="{FF2B5EF4-FFF2-40B4-BE49-F238E27FC236}">
                <a16:creationId xmlns:a16="http://schemas.microsoft.com/office/drawing/2014/main" id="{88904B38-4253-4EBC-99A0-32C7FE00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0955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1">
                <a:solidFill>
                  <a:srgbClr val="58585A"/>
                </a:solidFill>
              </a:defRPr>
            </a:pPr>
            <a:r>
              <a:rPr sz="825" b="0" i="1">
                <a:solidFill>
                  <a:srgbClr val="58585A"/>
                </a:solidFill>
              </a:rPr>
              <a:t>q(S1)=B</a:t>
            </a:r>
          </a:p>
        </p:txBody>
      </p:sp>
      <p:sp>
        <p:nvSpPr>
          <p:cNvPr id="44" name="gold-target-a-outer">
            <a:extLst xmlns:a="http://schemas.openxmlformats.org/drawingml/2006/main">
              <a:ext uri="{FF2B5EF4-FFF2-40B4-BE49-F238E27FC236}">
                <a16:creationId xmlns:a16="http://schemas.microsoft.com/office/drawing/2014/main" id="{58F1089E-32E7-4DBC-9005-66ED0FC6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667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224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B2242F"/>
                </a:solidFill>
              </a:defRPr>
            </a:pPr>
            <a:r>
              <a:rPr sz="1200" b="1" i="0">
                <a:solidFill>
                  <a:srgbClr val="B2242F"/>
                </a:solidFill>
              </a:rPr>
              <a:t>A</a:t>
            </a:r>
          </a:p>
        </p:txBody>
      </p:sp>
      <p:sp>
        <p:nvSpPr>
          <p:cNvPr id="45" name="gold-target-a-h">
            <a:extLst xmlns:a="http://schemas.openxmlformats.org/drawingml/2006/main">
              <a:ext uri="{FF2B5EF4-FFF2-40B4-BE49-F238E27FC236}">
                <a16:creationId xmlns:a16="http://schemas.microsoft.com/office/drawing/2014/main" id="{60812FCA-38EB-4026-9703-3B9645BA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0382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0">
            <a:solidFill>
              <a:srgbClr val="B2242F"/>
            </a:solidFill>
            <a:prstDash val="solid"/>
          </a:ln>
        </p:spPr>
      </p:sp>
      <p:sp>
        <p:nvSpPr>
          <p:cNvPr id="46" name="gold-target-a-v">
            <a:extLst xmlns:a="http://schemas.openxmlformats.org/drawingml/2006/main">
              <a:ext uri="{FF2B5EF4-FFF2-40B4-BE49-F238E27FC236}">
                <a16:creationId xmlns:a16="http://schemas.microsoft.com/office/drawing/2014/main" id="{9D8EE5BB-10EF-4767-BF11-D07850A0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828675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0">
            <a:solidFill>
              <a:srgbClr val="B2242F"/>
            </a:solidFill>
            <a:prstDash val="solid"/>
          </a:ln>
        </p:spPr>
      </p:sp>
      <p:sp>
        <p:nvSpPr>
          <p:cNvPr id="47" name="gold-target-b-outer">
            <a:extLst xmlns:a="http://schemas.openxmlformats.org/drawingml/2006/main">
              <a:ext uri="{FF2B5EF4-FFF2-40B4-BE49-F238E27FC236}">
                <a16:creationId xmlns:a16="http://schemas.microsoft.com/office/drawing/2014/main" id="{F1634782-8D27-4BF1-B53F-66BB430F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52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83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18383"/>
                </a:solidFill>
              </a:defRPr>
            </a:pPr>
            <a:r>
              <a:rPr sz="1200" b="1" i="0">
                <a:solidFill>
                  <a:srgbClr val="318383"/>
                </a:solidFill>
              </a:rPr>
              <a:t>B</a:t>
            </a:r>
          </a:p>
        </p:txBody>
      </p:sp>
      <p:sp>
        <p:nvSpPr>
          <p:cNvPr id="48" name="gold-target-b-h">
            <a:extLst xmlns:a="http://schemas.openxmlformats.org/drawingml/2006/main">
              <a:ext uri="{FF2B5EF4-FFF2-40B4-BE49-F238E27FC236}">
                <a16:creationId xmlns:a16="http://schemas.microsoft.com/office/drawing/2014/main" id="{FDA37328-2BFD-44D4-BB58-99C95553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2412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383"/>
          </a:solidFill>
          <a:ln xmlns:a="http://schemas.openxmlformats.org/drawingml/2006/main" w="0">
            <a:solidFill>
              <a:srgbClr val="318383"/>
            </a:solidFill>
            <a:prstDash val="solid"/>
          </a:ln>
        </p:spPr>
      </p:sp>
      <p:sp>
        <p:nvSpPr>
          <p:cNvPr id="49" name="gold-target-b-v">
            <a:extLst xmlns:a="http://schemas.openxmlformats.org/drawingml/2006/main">
              <a:ext uri="{FF2B5EF4-FFF2-40B4-BE49-F238E27FC236}">
                <a16:creationId xmlns:a16="http://schemas.microsoft.com/office/drawing/2014/main" id="{07EDE4D9-261B-4EEE-BB53-9C3F805A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14575"/>
            <a:ext cx="19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383"/>
          </a:solidFill>
          <a:ln xmlns:a="http://schemas.openxmlformats.org/drawingml/2006/main" w="0">
            <a:solidFill>
              <a:srgbClr val="318383"/>
            </a:solidFill>
            <a:prstDash val="solid"/>
          </a:ln>
        </p:spPr>
      </p:sp>
      <p:sp>
        <p:nvSpPr>
          <p:cNvPr id="50" name="bound-a">
            <a:extLst xmlns:a="http://schemas.openxmlformats.org/drawingml/2006/main">
              <a:ext uri="{FF2B5EF4-FFF2-40B4-BE49-F238E27FC236}">
                <a16:creationId xmlns:a16="http://schemas.microsoft.com/office/drawing/2014/main" id="{210C096D-40F4-4D48-B072-461C324B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8477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2242F"/>
                </a:solidFill>
              </a:defRPr>
            </a:pPr>
            <a:r>
              <a:rPr sz="750" b="1" i="0">
                <a:solidFill>
                  <a:srgbClr val="B2242F"/>
                </a:solidFill>
              </a:rPr>
              <a:t>BOUND A</a:t>
            </a:r>
          </a:p>
        </p:txBody>
      </p:sp>
      <p:sp>
        <p:nvSpPr>
          <p:cNvPr id="51" name="r-defer">
            <a:extLst xmlns:a="http://schemas.openxmlformats.org/drawingml/2006/main">
              <a:ext uri="{FF2B5EF4-FFF2-40B4-BE49-F238E27FC236}">
                <a16:creationId xmlns:a16="http://schemas.microsoft.com/office/drawing/2014/main" id="{74821DF7-7A1E-4D22-B67E-E8F19F68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288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318383"/>
                </a:solidFill>
              </a:defRPr>
            </a:pPr>
            <a:r>
              <a:rPr sz="750" b="1" i="0">
                <a:solidFill>
                  <a:srgbClr val="318383"/>
                </a:solidFill>
              </a:rPr>
              <a:t>DEFER q</a:t>
            </a:r>
          </a:p>
        </p:txBody>
      </p:sp>
      <p:cxnSp>
        <p:nvCxnSpPr>
          <p:cNvPr id="168" name=""/>
          <p:cNvCxnSpPr>
            <a:stCxn xmlns:a="http://schemas.openxmlformats.org/drawingml/2006/main" id="50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rot="5400000">
            <a:off x="3471863" y="1252538"/>
            <a:ext cx="676275" cy="2476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B2242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69" name=""/>
          <p:cNvCxnSpPr>
            <a:stCxn xmlns:a="http://schemas.openxmlformats.org/drawingml/2006/main" id="28" idx="0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3686175" y="1714500"/>
            <a:ext cx="2286000" cy="0"/>
          </a:xfrm>
          <a:prstGeom xmlns:a="http://schemas.openxmlformats.org/drawingml/2006/main" prst="curvedConnector2">
            <a:avLst/>
          </a:prstGeom>
          <a:ln xmlns:a="http://schemas.openxmlformats.org/drawingml/2006/main" w="28575" cap="rnd">
            <a:solidFill>
              <a:srgbClr val="B2242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70" name=""/>
          <p:cNvCxnSpPr>
            <a:stCxn xmlns:a="http://schemas.openxmlformats.org/drawingml/2006/main" id="35" idx="0"/>
            <a:endCxn xmlns:a="http://schemas.openxmlformats.org/drawingml/2006/main" id="44" idx="2"/>
          </p:cNvCxnSpPr>
          <p:nvPr/>
        </p:nvCxnSpPr>
        <p:spPr>
          <a:xfrm xmlns:a="http://schemas.openxmlformats.org/drawingml/2006/main" rot="5400000">
            <a:off x="5986463" y="1033463"/>
            <a:ext cx="666750" cy="6953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B2242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71" name=""/>
          <p:cNvCxnSpPr>
            <a:stCxn xmlns:a="http://schemas.openxmlformats.org/drawingml/2006/main" id="51" idx="0"/>
            <a:endCxn xmlns:a="http://schemas.openxmlformats.org/drawingml/2006/main" id="29" idx="4"/>
          </p:cNvCxnSpPr>
          <p:nvPr/>
        </p:nvCxnSpPr>
        <p:spPr>
          <a:xfrm xmlns:a="http://schemas.openxmlformats.org/drawingml/2006/main" rot="5400000">
            <a:off x="4133850" y="1990725"/>
            <a:ext cx="523875" cy="3524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318383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72" name=""/>
          <p:cNvCxnSpPr>
            <a:stCxn xmlns:a="http://schemas.openxmlformats.org/drawingml/2006/main" id="29" idx="4"/>
            <a:endCxn xmlns:a="http://schemas.openxmlformats.org/drawingml/2006/main" id="36" idx="4"/>
          </p:cNvCxnSpPr>
          <p:nvPr/>
        </p:nvCxnSpPr>
        <p:spPr>
          <a:xfrm xmlns:a="http://schemas.openxmlformats.org/drawingml/2006/main" rot="5400000">
            <a:off x="5148263" y="1081088"/>
            <a:ext cx="247650" cy="14001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318383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73" name=""/>
          <p:cNvCxnSpPr>
            <a:stCxn xmlns:a="http://schemas.openxmlformats.org/drawingml/2006/main" id="36" idx="4"/>
            <a:endCxn xmlns:a="http://schemas.openxmlformats.org/drawingml/2006/main" id="47" idx="2"/>
          </p:cNvCxnSpPr>
          <p:nvPr/>
        </p:nvCxnSpPr>
        <p:spPr>
          <a:xfrm xmlns:a="http://schemas.openxmlformats.org/drawingml/2006/main" rot="16200000" flipH="1">
            <a:off x="5881688" y="1747838"/>
            <a:ext cx="876300" cy="69532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 cap="rnd">
            <a:solidFill>
              <a:srgbClr val="318383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58" name="resolve-s1">
            <a:extLst xmlns:a="http://schemas.openxmlformats.org/drawingml/2006/main">
              <a:ext uri="{FF2B5EF4-FFF2-40B4-BE49-F238E27FC236}">
                <a16:creationId xmlns:a16="http://schemas.microsoft.com/office/drawing/2014/main" id="{CB5CE7CD-74D9-48FB-A54A-FC19CCA8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62200"/>
            <a:ext cx="990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318383"/>
                </a:solidFill>
              </a:defRPr>
            </a:pPr>
            <a:r>
              <a:rPr sz="675" b="1" i="0">
                <a:solidFill>
                  <a:srgbClr val="318383"/>
                </a:solidFill>
              </a:rPr>
              <a:t>resolve q on S1</a:t>
            </a:r>
          </a:p>
        </p:txBody>
      </p:sp>
      <p:sp>
        <p:nvSpPr>
          <p:cNvPr id="59" name="gold-a-label">
            <a:extLst xmlns:a="http://schemas.openxmlformats.org/drawingml/2006/main">
              <a:ext uri="{FF2B5EF4-FFF2-40B4-BE49-F238E27FC236}">
                <a16:creationId xmlns:a16="http://schemas.microsoft.com/office/drawing/2014/main" id="{233C14E1-87E9-4044-881A-B61E2C0D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7239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B2242F"/>
                </a:solidFill>
              </a:defRPr>
            </a:pPr>
            <a:r>
              <a:rPr sz="750" b="1" i="0">
                <a:solidFill>
                  <a:srgbClr val="B2242F"/>
                </a:solidFill>
              </a:rPr>
              <a:t>gold target A</a:t>
            </a:r>
          </a:p>
        </p:txBody>
      </p:sp>
      <p:sp>
        <p:nvSpPr>
          <p:cNvPr id="60" name="gold-b-label">
            <a:extLst xmlns:a="http://schemas.openxmlformats.org/drawingml/2006/main">
              <a:ext uri="{FF2B5EF4-FFF2-40B4-BE49-F238E27FC236}">
                <a16:creationId xmlns:a16="http://schemas.microsoft.com/office/drawing/2014/main" id="{5A0733F5-3491-4FE4-9064-D84D1AE5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3367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318383"/>
                </a:solidFill>
              </a:defRPr>
            </a:pPr>
            <a:r>
              <a:rPr sz="750" b="1" i="0">
                <a:solidFill>
                  <a:srgbClr val="318383"/>
                </a:solidFill>
              </a:rPr>
              <a:t>gold target B</a:t>
            </a:r>
          </a:p>
        </p:txBody>
      </p:sp>
      <p:sp>
        <p:nvSpPr>
          <p:cNvPr id="61" name="a-valid">
            <a:extLst xmlns:a="http://schemas.openxmlformats.org/drawingml/2006/main">
              <a:ext uri="{FF2B5EF4-FFF2-40B4-BE49-F238E27FC236}">
                <a16:creationId xmlns:a16="http://schemas.microsoft.com/office/drawing/2014/main" id="{0EB0A689-866E-4601-9E24-8260326D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9146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13" b="0" i="1">
                <a:solidFill>
                  <a:srgbClr val="B2242F"/>
                </a:solidFill>
              </a:defRPr>
            </a:pPr>
            <a:r>
              <a:rPr sz="713" b="0" i="1">
                <a:solidFill>
                  <a:srgbClr val="B2242F"/>
                </a:solidFill>
              </a:rPr>
              <a:t>A survives and remains action-valid in S1</a:t>
            </a:r>
          </a:p>
        </p:txBody>
      </p:sp>
      <p:sp>
        <p:nvSpPr>
          <p:cNvPr id="62" name="withheld-divider">
            <a:extLst xmlns:a="http://schemas.openxmlformats.org/drawingml/2006/main">
              <a:ext uri="{FF2B5EF4-FFF2-40B4-BE49-F238E27FC236}">
                <a16:creationId xmlns:a16="http://schemas.microsoft.com/office/drawing/2014/main" id="{692E29AE-5E5F-474D-845E-B637FA10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847725"/>
            <a:ext cx="1524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dash"/>
          </a:ln>
        </p:spPr>
      </p:sp>
      <p:sp>
        <p:nvSpPr>
          <p:cNvPr id="63" name="withheld-icon-bg">
            <a:extLst xmlns:a="http://schemas.openxmlformats.org/drawingml/2006/main">
              <a:ext uri="{FF2B5EF4-FFF2-40B4-BE49-F238E27FC236}">
                <a16:creationId xmlns:a16="http://schemas.microsoft.com/office/drawing/2014/main" id="{5F1AB06D-C850-4326-9ABF-8776D2CA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52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EBABD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9fa78bd594474">
            <a:extLst>
              <a:ext uri="{96DAC541-7B7A-43D3-8B79-37D633B846F1}">
                <asvg:svgBlip xmlns:asvg="http://schemas.microsoft.com/office/drawing/2016/SVG/main" r:embed="R6732902ddf5c412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96125" y="15906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65" name="withheld-label">
            <a:extLst xmlns:a="http://schemas.openxmlformats.org/drawingml/2006/main">
              <a:ext uri="{FF2B5EF4-FFF2-40B4-BE49-F238E27FC236}">
                <a16:creationId xmlns:a16="http://schemas.microsoft.com/office/drawing/2014/main" id="{A3405267-3A8F-43B9-8418-01E9CB42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81175"/>
            <a:ext cx="1095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1">
                <a:solidFill>
                  <a:srgbClr val="7D8D91"/>
                </a:solidFill>
              </a:defRPr>
            </a:pPr>
            <a:r>
              <a:rPr sz="600" b="0" i="1">
                <a:solidFill>
                  <a:srgbClr val="7D8D91"/>
                </a:solidFill>
              </a:rPr>
              <a:t>Withheld from probe:</a:t>
            </a:r>
          </a:p>
          <a:p xmlns:a="http://schemas.openxmlformats.org/drawingml/2006/main">
            <a:pPr algn="ctr">
              <a:defRPr sz="600" b="0" i="1">
                <a:solidFill>
                  <a:srgbClr val="7D8D91"/>
                </a:solidFill>
              </a:defRPr>
            </a:pPr>
            <a:r>
              <a:rPr sz="600" b="0" i="1">
                <a:solidFill>
                  <a:srgbClr val="7D8D91"/>
                </a:solidFill>
              </a:rPr>
              <a:t>gold mode/target;</a:t>
            </a:r>
          </a:p>
          <a:p xmlns:a="http://schemas.openxmlformats.org/drawingml/2006/main">
            <a:pPr algn="ctr">
              <a:defRPr sz="600" b="0" i="1">
                <a:solidFill>
                  <a:srgbClr val="7D8D91"/>
                </a:solidFill>
              </a:defRPr>
            </a:pPr>
            <a:r>
              <a:rPr sz="600" b="0" i="1">
                <a:solidFill>
                  <a:srgbClr val="7D8D91"/>
                </a:solidFill>
              </a:rPr>
              <a:t>normalized selector fields;</a:t>
            </a:r>
          </a:p>
          <a:p xmlns:a="http://schemas.openxmlformats.org/drawingml/2006/main">
            <a:pPr algn="ctr">
              <a:defRPr sz="600" b="0" i="1">
                <a:solidFill>
                  <a:srgbClr val="7D8D91"/>
                </a:solidFill>
              </a:defRPr>
            </a:pPr>
            <a:r>
              <a:rPr sz="600" b="0" i="1">
                <a:solidFill>
                  <a:srgbClr val="7D8D91"/>
                </a:solidFill>
              </a:rPr>
              <a:t>generator winner IDs</a:t>
            </a:r>
          </a:p>
        </p:txBody>
      </p:sp>
      <p:sp>
        <p:nvSpPr>
          <p:cNvPr id="66" name="probe-shared">
            <a:extLst xmlns:a="http://schemas.openxmlformats.org/drawingml/2006/main">
              <a:ext uri="{FF2B5EF4-FFF2-40B4-BE49-F238E27FC236}">
                <a16:creationId xmlns:a16="http://schemas.microsoft.com/office/drawing/2014/main" id="{91982DC1-23C5-47BC-A3C6-CA19DB95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9532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C535C"/>
                </a:solidFill>
              </a:defRPr>
            </a:pPr>
            <a:r>
              <a:rPr sz="825" b="1" i="0">
                <a:solidFill>
                  <a:srgbClr val="3C535C"/>
                </a:solidFill>
              </a:rPr>
              <a:t>same probe + interface</a:t>
            </a:r>
          </a:p>
        </p:txBody>
      </p:sp>
      <p:sp>
        <p:nvSpPr>
          <p:cNvPr id="67" name="probe-packet-p">
            <a:extLst xmlns:a="http://schemas.openxmlformats.org/drawingml/2006/main">
              <a:ext uri="{FF2B5EF4-FFF2-40B4-BE49-F238E27FC236}">
                <a16:creationId xmlns:a16="http://schemas.microsoft.com/office/drawing/2014/main" id="{F10FDB72-1566-4253-A4C0-460937CF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066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11430">
            <a:solidFill>
              <a:srgbClr val="B224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68" name="probe-packet-r">
            <a:extLst xmlns:a="http://schemas.openxmlformats.org/drawingml/2006/main">
              <a:ext uri="{FF2B5EF4-FFF2-40B4-BE49-F238E27FC236}">
                <a16:creationId xmlns:a16="http://schemas.microsoft.com/office/drawing/2014/main" id="{3F4CABCA-1A66-4757-9BF3-44110A86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47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383"/>
          </a:solidFill>
          <a:ln xmlns:a="http://schemas.openxmlformats.org/drawingml/2006/main" w="11430">
            <a:solidFill>
              <a:srgbClr val="3183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69" name="controller-probe">
            <a:extLst xmlns:a="http://schemas.openxmlformats.org/drawingml/2006/main">
              <a:ext uri="{FF2B5EF4-FFF2-40B4-BE49-F238E27FC236}">
                <a16:creationId xmlns:a16="http://schemas.microsoft.com/office/drawing/2014/main" id="{9F59323F-8291-434E-A84E-13475E8E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942975"/>
            <a:ext cx="971550" cy="1695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C535C"/>
            </a:solidFill>
            <a:prstDash val="solid"/>
          </a:ln>
        </p:spPr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6803622dd47fe">
            <a:extLst>
              <a:ext uri="{96DAC541-7B7A-43D3-8B79-37D633B846F1}">
                <asvg:svgBlip xmlns:asvg="http://schemas.microsoft.com/office/drawing/2016/SVG/main" r:embed="Re152ca6656474e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20075" y="1057275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71" name="probe-title">
            <a:extLst xmlns:a="http://schemas.openxmlformats.org/drawingml/2006/main">
              <a:ext uri="{FF2B5EF4-FFF2-40B4-BE49-F238E27FC236}">
                <a16:creationId xmlns:a16="http://schemas.microsoft.com/office/drawing/2014/main" id="{DB048C2C-96EA-4808-B598-EAB1393E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335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D0D0E"/>
                </a:solidFill>
              </a:defRPr>
            </a:pPr>
            <a:r>
              <a:rPr sz="975" b="1" i="0">
                <a:solidFill>
                  <a:srgbClr val="0D0D0E"/>
                </a:solidFill>
              </a:rPr>
              <a:t>Probe</a:t>
            </a:r>
          </a:p>
        </p:txBody>
      </p:sp>
      <p:sp>
        <p:nvSpPr>
          <p:cNvPr id="72" name="probe-type">
            <a:extLst xmlns:a="http://schemas.openxmlformats.org/drawingml/2006/main">
              <a:ext uri="{FF2B5EF4-FFF2-40B4-BE49-F238E27FC236}">
                <a16:creationId xmlns:a16="http://schemas.microsoft.com/office/drawing/2014/main" id="{678034B0-BE2C-4870-9222-915BE760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240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7D8D91"/>
                </a:solidFill>
              </a:defRPr>
            </a:pPr>
            <a:r>
              <a:rPr sz="600" b="1" i="0">
                <a:solidFill>
                  <a:srgbClr val="7D8D91"/>
                </a:solidFill>
              </a:rPr>
              <a:t>controller black box</a:t>
            </a:r>
          </a:p>
        </p:txBody>
      </p:sp>
      <p:sp>
        <p:nvSpPr>
          <p:cNvPr id="73" name="probe-io">
            <a:extLst xmlns:a="http://schemas.openxmlformats.org/drawingml/2006/main">
              <a:ext uri="{FF2B5EF4-FFF2-40B4-BE49-F238E27FC236}">
                <a16:creationId xmlns:a16="http://schemas.microsoft.com/office/drawing/2014/main" id="{74DA87D1-3F45-42D1-90ED-62B34B2A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704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3C535C"/>
                </a:solidFill>
              </a:defRPr>
            </a:pPr>
            <a:r>
              <a:rPr sz="675" b="1" i="0">
                <a:solidFill>
                  <a:srgbClr val="3C535C"/>
                </a:solidFill>
              </a:rPr>
              <a:t>instruction + history</a:t>
            </a:r>
          </a:p>
          <a:p xmlns:a="http://schemas.openxmlformats.org/drawingml/2006/main">
            <a:pPr algn="ctr">
              <a:defRPr sz="675" b="1" i="0">
                <a:solidFill>
                  <a:srgbClr val="3C535C"/>
                </a:solidFill>
              </a:defRPr>
            </a:pPr>
            <a:r>
              <a:rPr sz="675" b="1" i="0">
                <a:solidFill>
                  <a:srgbClr val="3C535C"/>
                </a:solidFill>
              </a:rPr>
              <a:t>+ observed state</a:t>
            </a:r>
          </a:p>
          <a:p xmlns:a="http://schemas.openxmlformats.org/drawingml/2006/main">
            <a:pPr algn="ctr">
              <a:defRPr sz="675" b="1" i="0">
                <a:solidFill>
                  <a:srgbClr val="3C535C"/>
                </a:solidFill>
              </a:defRPr>
            </a:pPr>
            <a:r>
              <a:rPr sz="675" b="1" i="0">
                <a:solidFill>
                  <a:srgbClr val="3C535C"/>
                </a:solidFill>
              </a:rPr>
              <a:t>-&gt; target ID</a:t>
            </a:r>
          </a:p>
        </p:txBody>
      </p:sp>
      <p:sp>
        <p:nvSpPr>
          <p:cNvPr id="74" name="tp-output">
            <a:extLst xmlns:a="http://schemas.openxmlformats.org/drawingml/2006/main">
              <a:ext uri="{FF2B5EF4-FFF2-40B4-BE49-F238E27FC236}">
                <a16:creationId xmlns:a16="http://schemas.microsoft.com/office/drawing/2014/main" id="{ADA93DC0-C6F8-47B1-AEEC-81A96551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33475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7E8E8"/>
          </a:solidFill>
          <a:ln xmlns:a="http://schemas.openxmlformats.org/drawingml/2006/main" w="13335">
            <a:solidFill>
              <a:srgbClr val="B2242F"/>
            </a:solidFill>
            <a:prstDash val="solid"/>
          </a:ln>
        </p:spPr>
      </p:sp>
      <p:sp>
        <p:nvSpPr>
          <p:cNvPr id="75" name="tp-label">
            <a:extLst xmlns:a="http://schemas.openxmlformats.org/drawingml/2006/main">
              <a:ext uri="{FF2B5EF4-FFF2-40B4-BE49-F238E27FC236}">
                <a16:creationId xmlns:a16="http://schemas.microsoft.com/office/drawing/2014/main" id="{BC1D3BB0-B62E-4ABC-8441-E8B0F03B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152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1">
                <a:solidFill>
                  <a:srgbClr val="B2242F"/>
                </a:solidFill>
              </a:defRPr>
            </a:pPr>
            <a:r>
              <a:rPr sz="675" b="1" i="1">
                <a:solidFill>
                  <a:srgbClr val="B2242F"/>
                </a:solidFill>
              </a:rPr>
              <a:t>T_P</a:t>
            </a:r>
          </a:p>
        </p:txBody>
      </p:sp>
      <p:sp>
        <p:nvSpPr>
          <p:cNvPr id="76" name="tr-output">
            <a:extLst xmlns:a="http://schemas.openxmlformats.org/drawingml/2006/main">
              <a:ext uri="{FF2B5EF4-FFF2-40B4-BE49-F238E27FC236}">
                <a16:creationId xmlns:a16="http://schemas.microsoft.com/office/drawing/2014/main" id="{6DDC2F8A-54B6-4827-B14B-813C6413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476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EEF0"/>
          </a:solidFill>
          <a:ln xmlns:a="http://schemas.openxmlformats.org/drawingml/2006/main" w="13335">
            <a:solidFill>
              <a:srgbClr val="318383"/>
            </a:solidFill>
            <a:prstDash val="dash"/>
          </a:ln>
        </p:spPr>
      </p:sp>
      <p:sp>
        <p:nvSpPr>
          <p:cNvPr id="77" name="tr-label">
            <a:extLst xmlns:a="http://schemas.openxmlformats.org/drawingml/2006/main">
              <a:ext uri="{FF2B5EF4-FFF2-40B4-BE49-F238E27FC236}">
                <a16:creationId xmlns:a16="http://schemas.microsoft.com/office/drawing/2014/main" id="{8630D921-0AEF-4A45-8892-F61BF9EA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95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1">
                <a:solidFill>
                  <a:srgbClr val="318383"/>
                </a:solidFill>
              </a:defRPr>
            </a:pPr>
            <a:r>
              <a:rPr sz="675" b="1" i="1">
                <a:solidFill>
                  <a:srgbClr val="318383"/>
                </a:solidFill>
              </a:rPr>
              <a:t>T_R</a:t>
            </a:r>
          </a:p>
        </p:txBody>
      </p:sp>
      <p:cxnSp>
        <p:nvCxnSpPr>
          <p:cNvPr id="194" name=""/>
          <p:cNvCxnSpPr>
            <a:stCxn xmlns:a="http://schemas.openxmlformats.org/drawingml/2006/main" id="67" idx="6"/>
            <a:endCxn xmlns:a="http://schemas.openxmlformats.org/drawingml/2006/main" id="69" idx="2"/>
          </p:cNvCxnSpPr>
          <p:nvPr/>
        </p:nvCxnSpPr>
        <p:spPr>
          <a:xfrm xmlns:a="http://schemas.openxmlformats.org/drawingml/2006/main" rot="16200000" flipH="1">
            <a:off x="7524750" y="1447800"/>
            <a:ext cx="581025" cy="1047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B2242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5" name=""/>
          <p:cNvCxnSpPr>
            <a:stCxn xmlns:a="http://schemas.openxmlformats.org/drawingml/2006/main" id="68" idx="6"/>
            <a:endCxn xmlns:a="http://schemas.openxmlformats.org/drawingml/2006/main" id="69" idx="2"/>
          </p:cNvCxnSpPr>
          <p:nvPr/>
        </p:nvCxnSpPr>
        <p:spPr>
          <a:xfrm xmlns:a="http://schemas.openxmlformats.org/drawingml/2006/main" rot="5400000">
            <a:off x="7515225" y="2038350"/>
            <a:ext cx="600075" cy="104775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318383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196" name=""/>
          <p:cNvCxnSpPr>
            <a:stCxn xmlns:a="http://schemas.openxmlformats.org/drawingml/2006/main" id="69" idx="6"/>
            <a:endCxn xmlns:a="http://schemas.openxmlformats.org/drawingml/2006/main" id="74" idx="1"/>
          </p:cNvCxnSpPr>
          <p:nvPr/>
        </p:nvCxnSpPr>
        <p:spPr>
          <a:xfrm xmlns:a="http://schemas.openxmlformats.org/drawingml/2006/main" rot="5400000">
            <a:off x="8586788" y="1519238"/>
            <a:ext cx="523875" cy="190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B2242F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97" name=""/>
          <p:cNvCxnSpPr>
            <a:stCxn xmlns:a="http://schemas.openxmlformats.org/drawingml/2006/main" id="69" idx="6"/>
            <a:endCxn xmlns:a="http://schemas.openxmlformats.org/drawingml/2006/main" id="76" idx="1"/>
          </p:cNvCxnSpPr>
          <p:nvPr/>
        </p:nvCxnSpPr>
        <p:spPr>
          <a:xfrm xmlns:a="http://schemas.openxmlformats.org/drawingml/2006/main" rot="16200000" flipH="1">
            <a:off x="8539163" y="2090738"/>
            <a:ext cx="619125" cy="190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4765" cap="rnd">
            <a:solidFill>
              <a:srgbClr val="318383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82" name="probe-repeat">
            <a:extLst xmlns:a="http://schemas.openxmlformats.org/drawingml/2006/main">
              <a:ext uri="{FF2B5EF4-FFF2-40B4-BE49-F238E27FC236}">
                <a16:creationId xmlns:a16="http://schemas.microsoft.com/office/drawing/2014/main" id="{618310BC-9839-41B9-A3A3-31BC6AA1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622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1">
                <a:solidFill>
                  <a:srgbClr val="7D8D91"/>
                </a:solidFill>
              </a:defRPr>
            </a:pPr>
            <a:r>
              <a:rPr sz="675" b="0" i="1">
                <a:solidFill>
                  <a:srgbClr val="7D8D91"/>
                </a:solidFill>
              </a:rPr>
              <a:t>two independent runs</a:t>
            </a:r>
          </a:p>
        </p:txBody>
      </p:sp>
      <p:sp>
        <p:nvSpPr>
          <p:cNvPr id="83" name="line-legend">
            <a:extLst xmlns:a="http://schemas.openxmlformats.org/drawingml/2006/main">
              <a:ext uri="{FF2B5EF4-FFF2-40B4-BE49-F238E27FC236}">
                <a16:creationId xmlns:a16="http://schemas.microsoft.com/office/drawing/2014/main" id="{01A43330-E0E2-42B1-8672-A4121006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7D8D91"/>
                </a:solidFill>
              </a:defRPr>
            </a:pPr>
            <a:r>
              <a:rPr sz="675" b="0" i="0">
                <a:solidFill>
                  <a:srgbClr val="7D8D91"/>
                </a:solidFill>
              </a:rPr>
              <a:t>solid Preserve  |  dashed Reevaluate</a:t>
            </a:r>
          </a:p>
        </p:txBody>
      </p:sp>
      <p:sp>
        <p:nvSpPr>
          <p:cNvPr id="84" name="evidence-spine">
            <a:extLst xmlns:a="http://schemas.openxmlformats.org/drawingml/2006/main">
              <a:ext uri="{FF2B5EF4-FFF2-40B4-BE49-F238E27FC236}">
                <a16:creationId xmlns:a16="http://schemas.microsoft.com/office/drawing/2014/main" id="{535F42E8-8718-4831-8CF9-A3A7637A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4825"/>
            <a:ext cx="190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85" name="metric-1-node">
            <a:extLst xmlns:a="http://schemas.openxmlformats.org/drawingml/2006/main">
              <a:ext uri="{FF2B5EF4-FFF2-40B4-BE49-F238E27FC236}">
                <a16:creationId xmlns:a16="http://schemas.microsoft.com/office/drawing/2014/main" id="{57735B0C-A6C8-435B-A663-E2D89E90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000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C9F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C9FA3"/>
                </a:solidFill>
              </a:defRPr>
            </a:pPr>
            <a:r>
              <a:rPr sz="975" b="1" i="0">
                <a:solidFill>
                  <a:srgbClr val="6C9FA3"/>
                </a:solidFill>
              </a:rPr>
              <a:t>1</a:t>
            </a:r>
          </a:p>
        </p:txBody>
      </p:sp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9b40b6a074a4e">
            <a:extLst>
              <a:ext uri="{96DAC541-7B7A-43D3-8B79-37D633B846F1}">
                <asvg:svgBlip xmlns:asvg="http://schemas.microsoft.com/office/drawing/2016/SVG/main" r:embed="Re4e85e75310e4c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0" y="590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87" name="pairacc-title">
            <a:extLst xmlns:a="http://schemas.openxmlformats.org/drawingml/2006/main">
              <a:ext uri="{FF2B5EF4-FFF2-40B4-BE49-F238E27FC236}">
                <a16:creationId xmlns:a16="http://schemas.microsoft.com/office/drawing/2014/main" id="{AE11EA17-5EE6-485B-B6E7-3DEEBF2A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5245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0D0E"/>
                </a:solidFill>
              </a:defRPr>
            </a:pPr>
            <a:r>
              <a:rPr sz="1050" b="1" i="0">
                <a:solidFill>
                  <a:srgbClr val="0D0D0E"/>
                </a:solidFill>
              </a:rPr>
              <a:t>PairAcc</a:t>
            </a:r>
          </a:p>
        </p:txBody>
      </p:sp>
      <p:sp>
        <p:nvSpPr>
          <p:cNvPr id="88" name="pairacc-formula">
            <a:extLst xmlns:a="http://schemas.openxmlformats.org/drawingml/2006/main">
              <a:ext uri="{FF2B5EF4-FFF2-40B4-BE49-F238E27FC236}">
                <a16:creationId xmlns:a16="http://schemas.microsoft.com/office/drawing/2014/main" id="{D90CDB7A-7DAB-4919-81CB-B9C64641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382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1">
                <a:solidFill>
                  <a:srgbClr val="3C535C"/>
                </a:solidFill>
              </a:defRPr>
            </a:pPr>
            <a:r>
              <a:rPr sz="900" b="1" i="1">
                <a:solidFill>
                  <a:srgbClr val="3C535C"/>
                </a:solidFill>
              </a:rPr>
              <a:t>T_P=A  AND  T_R=B</a:t>
            </a:r>
          </a:p>
        </p:txBody>
      </p:sp>
      <p:sp>
        <p:nvSpPr>
          <p:cNvPr id="89" name="pairacc-slice">
            <a:extLst xmlns:a="http://schemas.openxmlformats.org/drawingml/2006/main">
              <a:ext uri="{FF2B5EF4-FFF2-40B4-BE49-F238E27FC236}">
                <a16:creationId xmlns:a16="http://schemas.microsoft.com/office/drawing/2014/main" id="{738765C8-4E0A-442C-9863-673FE39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066800"/>
            <a:ext cx="2114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7D8D91"/>
                </a:solidFill>
              </a:defRPr>
            </a:pPr>
            <a:r>
              <a:rPr sz="675" b="0" i="0">
                <a:solidFill>
                  <a:srgbClr val="7D8D91"/>
                </a:solidFill>
              </a:rPr>
              <a:t>complete changed-winner pairs</a:t>
            </a:r>
          </a:p>
        </p:txBody>
      </p:sp>
      <p:sp>
        <p:nvSpPr>
          <p:cNvPr id="90" name="metric-separator-1">
            <a:extLst xmlns:a="http://schemas.openxmlformats.org/drawingml/2006/main">
              <a:ext uri="{FF2B5EF4-FFF2-40B4-BE49-F238E27FC236}">
                <a16:creationId xmlns:a16="http://schemas.microsoft.com/office/drawing/2014/main" id="{A8694509-FFFB-413C-B96D-2D45398E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304925"/>
            <a:ext cx="211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91" name="metric-2-node">
            <a:extLst xmlns:a="http://schemas.openxmlformats.org/drawingml/2006/main">
              <a:ext uri="{FF2B5EF4-FFF2-40B4-BE49-F238E27FC236}">
                <a16:creationId xmlns:a16="http://schemas.microsoft.com/office/drawing/2014/main" id="{D3745D0D-7DE5-4BCB-A7AA-33E97C99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192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B224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2242F"/>
                </a:solidFill>
              </a:defRPr>
            </a:pPr>
            <a:r>
              <a:rPr sz="975" b="1" i="0">
                <a:solidFill>
                  <a:srgbClr val="B2242F"/>
                </a:solidFill>
              </a:rPr>
              <a:t>2</a:t>
            </a:r>
          </a:p>
        </p:txBody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81c14737c4d03">
            <a:extLst>
              <a:ext uri="{96DAC541-7B7A-43D3-8B79-37D633B846F1}">
                <asvg:svgBlip xmlns:asvg="http://schemas.microsoft.com/office/drawing/2016/SVG/main" r:embed="Reba8adf7c33e4a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0" y="14097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93" name="substitution-title">
            <a:extLst xmlns:a="http://schemas.openxmlformats.org/drawingml/2006/main">
              <a:ext uri="{FF2B5EF4-FFF2-40B4-BE49-F238E27FC236}">
                <a16:creationId xmlns:a16="http://schemas.microsoft.com/office/drawing/2014/main" id="{87499708-5AB8-418A-B2C0-4BECC734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371600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D0D0E"/>
                </a:solidFill>
              </a:defRPr>
            </a:pPr>
            <a:r>
              <a:rPr sz="975" b="1" i="0">
                <a:solidFill>
                  <a:srgbClr val="0D0D0E"/>
                </a:solidFill>
              </a:rPr>
              <a:t>Conditional substitution</a:t>
            </a:r>
          </a:p>
        </p:txBody>
      </p:sp>
      <p:sp>
        <p:nvSpPr>
          <p:cNvPr id="94" name="sub-a">
            <a:extLst xmlns:a="http://schemas.openxmlformats.org/drawingml/2006/main">
              <a:ext uri="{FF2B5EF4-FFF2-40B4-BE49-F238E27FC236}">
                <a16:creationId xmlns:a16="http://schemas.microsoft.com/office/drawing/2014/main" id="{C3FB72C0-5790-410B-9237-F5C203F4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7240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242F"/>
          </a:solidFill>
          <a:ln xmlns:a="http://schemas.openxmlformats.org/drawingml/2006/main" w="11430">
            <a:solidFill>
              <a:srgbClr val="B224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5" name="sub-refresh">
            <a:extLst xmlns:a="http://schemas.openxmlformats.org/drawingml/2006/main">
              <a:ext uri="{FF2B5EF4-FFF2-40B4-BE49-F238E27FC236}">
                <a16:creationId xmlns:a16="http://schemas.microsoft.com/office/drawing/2014/main" id="{BA4E060E-60C3-4E5B-AE06-C53474D7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240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C535C"/>
            </a:solidFill>
            <a:prstDash val="solid"/>
          </a:ln>
        </p:spPr>
      </p:sp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3a82c0a37432d">
            <a:extLst>
              <a:ext uri="{96DAC541-7B7A-43D3-8B79-37D633B846F1}">
                <asvg:svgBlip xmlns:asvg="http://schemas.microsoft.com/office/drawing/2016/SVG/main" r:embed="R871c3e131a154c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01350" y="1781175"/>
            <a:ext cx="142875" cy="142875"/>
          </a:xfrm>
          <a:prstGeom xmlns:a="http://schemas.openxmlformats.org/drawingml/2006/main" prst="rect">
            <a:avLst/>
          </a:prstGeom>
        </p:spPr>
      </p:pic>
      <p:sp>
        <p:nvSpPr>
          <p:cNvPr id="97" name="sub-b">
            <a:extLst xmlns:a="http://schemas.openxmlformats.org/drawingml/2006/main">
              <a:ext uri="{FF2B5EF4-FFF2-40B4-BE49-F238E27FC236}">
                <a16:creationId xmlns:a16="http://schemas.microsoft.com/office/drawing/2014/main" id="{55DD0C88-D343-4A57-AFD4-AF3263DD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172402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8383"/>
          </a:solidFill>
          <a:ln xmlns:a="http://schemas.openxmlformats.org/drawingml/2006/main" w="11430">
            <a:solidFill>
              <a:srgbClr val="31838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214" name=""/>
          <p:cNvCxnSpPr>
            <a:stCxn xmlns:a="http://schemas.openxmlformats.org/drawingml/2006/main" id="94" idx="6"/>
            <a:endCxn xmlns:a="http://schemas.openxmlformats.org/drawingml/2006/main" id="95" idx="2"/>
          </p:cNvCxnSpPr>
          <p:nvPr/>
        </p:nvCxnSpPr>
        <p:spPr>
          <a:xfrm xmlns:a="http://schemas.openxmlformats.org/drawingml/2006/main">
            <a:off x="10106025" y="1852613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 cap="rnd">
            <a:solidFill>
              <a:srgbClr val="3C535C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15" name=""/>
          <p:cNvCxnSpPr>
            <a:stCxn xmlns:a="http://schemas.openxmlformats.org/drawingml/2006/main" id="95" idx="6"/>
            <a:endCxn xmlns:a="http://schemas.openxmlformats.org/drawingml/2006/main" id="97" idx="2"/>
          </p:cNvCxnSpPr>
          <p:nvPr/>
        </p:nvCxnSpPr>
        <p:spPr>
          <a:xfrm xmlns:a="http://schemas.openxmlformats.org/drawingml/2006/main">
            <a:off x="11001375" y="1852613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 cap="rnd">
            <a:solidFill>
              <a:srgbClr val="3C535C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0" name="substitution-flow-label">
            <a:extLst xmlns:a="http://schemas.openxmlformats.org/drawingml/2006/main">
              <a:ext uri="{FF2B5EF4-FFF2-40B4-BE49-F238E27FC236}">
                <a16:creationId xmlns:a16="http://schemas.microsoft.com/office/drawing/2014/main" id="{953638E0-983F-4EBB-AC22-8EFF3510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90725"/>
            <a:ext cx="2190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58585A"/>
                </a:solidFill>
              </a:defRPr>
            </a:pPr>
            <a:r>
              <a:rPr sz="675" b="0" i="0">
                <a:solidFill>
                  <a:srgbClr val="58585A"/>
                </a:solidFill>
              </a:rPr>
              <a:t>correct bind        refresh        final B</a:t>
            </a:r>
          </a:p>
        </p:txBody>
      </p:sp>
      <p:sp>
        <p:nvSpPr>
          <p:cNvPr id="101" name="substitution-slice">
            <a:extLst xmlns:a="http://schemas.openxmlformats.org/drawingml/2006/main">
              <a:ext uri="{FF2B5EF4-FFF2-40B4-BE49-F238E27FC236}">
                <a16:creationId xmlns:a16="http://schemas.microsoft.com/office/drawing/2014/main" id="{2566DCF4-FAF1-4C91-966B-4CBB0E6E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152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7D8D91"/>
                </a:solidFill>
              </a:defRPr>
            </a:pPr>
            <a:r>
              <a:rPr sz="638" b="0" i="0">
                <a:solidFill>
                  <a:srgbClr val="7D8D91"/>
                </a:solidFill>
              </a:rPr>
              <a:t>eligible Preserve: correct bind + completed refresh + changed winner</a:t>
            </a:r>
          </a:p>
          <a:p xmlns:a="http://schemas.openxmlformats.org/drawingml/2006/main">
            <a:pPr algn="ctr">
              <a:defRPr sz="638" b="0" i="0">
                <a:solidFill>
                  <a:srgbClr val="7D8D91"/>
                </a:solidFill>
              </a:defRPr>
            </a:pPr>
            <a:r>
              <a:rPr sz="638" b="0" i="0">
                <a:solidFill>
                  <a:srgbClr val="7D8D91"/>
                </a:solidFill>
              </a:rPr>
              <a:t>+ surviving, action-valid A</a:t>
            </a:r>
          </a:p>
        </p:txBody>
      </p:sp>
      <p:sp>
        <p:nvSpPr>
          <p:cNvPr id="102" name="metric-separator-2">
            <a:extLst xmlns:a="http://schemas.openxmlformats.org/drawingml/2006/main">
              <a:ext uri="{FF2B5EF4-FFF2-40B4-BE49-F238E27FC236}">
                <a16:creationId xmlns:a16="http://schemas.microsoft.com/office/drawing/2014/main" id="{CB8D7719-5B5B-4E9E-92D7-8BCCDE39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43175"/>
            <a:ext cx="211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ABD"/>
          </a:solidFill>
          <a:ln xmlns:a="http://schemas.openxmlformats.org/drawingml/2006/main" w="0">
            <a:solidFill>
              <a:srgbClr val="AEBABD"/>
            </a:solidFill>
            <a:prstDash val="solid"/>
          </a:ln>
        </p:spPr>
      </p:sp>
      <p:sp>
        <p:nvSpPr>
          <p:cNvPr id="103" name="metric-3-node">
            <a:extLst xmlns:a="http://schemas.openxmlformats.org/drawingml/2006/main">
              <a:ext uri="{FF2B5EF4-FFF2-40B4-BE49-F238E27FC236}">
                <a16:creationId xmlns:a16="http://schemas.microsoft.com/office/drawing/2014/main" id="{8E494DA7-7413-4FCF-BF20-7BC87053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479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6C9FA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C9FA3"/>
                </a:solidFill>
              </a:defRPr>
            </a:pPr>
            <a:r>
              <a:rPr sz="975" b="1" i="0">
                <a:solidFill>
                  <a:srgbClr val="6C9FA3"/>
                </a:solidFill>
              </a:rPr>
              <a:t>3</a:t>
            </a:r>
          </a:p>
        </p:txBody>
      </p:sp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af4ecabc542b3">
            <a:extLst>
              <a:ext uri="{96DAC541-7B7A-43D3-8B79-37D633B846F1}">
                <asvg:svgBlip xmlns:asvg="http://schemas.microsoft.com/office/drawing/2016/SVG/main" r:embed="R489e36728d5145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10750" y="26384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05" name="execution-title">
            <a:extLst xmlns:a="http://schemas.openxmlformats.org/drawingml/2006/main">
              <a:ext uri="{FF2B5EF4-FFF2-40B4-BE49-F238E27FC236}">
                <a16:creationId xmlns:a16="http://schemas.microsoft.com/office/drawing/2014/main" id="{F613EFED-BB84-4495-B866-0C1BA6D3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00325"/>
            <a:ext cx="1876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D0D0E"/>
                </a:solidFill>
              </a:defRPr>
            </a:pPr>
            <a:r>
              <a:rPr sz="975" b="1" i="0">
                <a:solidFill>
                  <a:srgbClr val="0D0D0E"/>
                </a:solidFill>
              </a:rPr>
              <a:t>Execution subset</a:t>
            </a:r>
          </a:p>
        </p:txBody>
      </p:sp>
      <p:sp>
        <p:nvSpPr>
          <p:cNvPr id="106" name="exec-id">
            <a:extLst xmlns:a="http://schemas.openxmlformats.org/drawingml/2006/main">
              <a:ext uri="{FF2B5EF4-FFF2-40B4-BE49-F238E27FC236}">
                <a16:creationId xmlns:a16="http://schemas.microsoft.com/office/drawing/2014/main" id="{3DA4CDDB-5FAF-43A3-9714-C3B65586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24175"/>
            <a:ext cx="457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C535C"/>
            </a:solidFill>
            <a:prstDash val="solid"/>
          </a:ln>
        </p:spPr>
      </p:sp>
      <p:sp>
        <p:nvSpPr>
          <p:cNvPr id="107" name="exec-id-label">
            <a:extLst xmlns:a="http://schemas.openxmlformats.org/drawingml/2006/main">
              <a:ext uri="{FF2B5EF4-FFF2-40B4-BE49-F238E27FC236}">
                <a16:creationId xmlns:a16="http://schemas.microsoft.com/office/drawing/2014/main" id="{57D3DAA1-676B-4A42-8A05-A9FE306B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432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58585A"/>
                </a:solidFill>
              </a:defRPr>
            </a:pPr>
            <a:r>
              <a:rPr sz="675" b="1" i="0">
                <a:solidFill>
                  <a:srgbClr val="58585A"/>
                </a:solidFill>
              </a:rPr>
              <a:t>ID</a:t>
            </a:r>
          </a:p>
        </p:txBody>
      </p:sp>
      <p:sp>
        <p:nvSpPr>
          <p:cNvPr id="108" name="exec-write">
            <a:extLst xmlns:a="http://schemas.openxmlformats.org/drawingml/2006/main">
              <a:ext uri="{FF2B5EF4-FFF2-40B4-BE49-F238E27FC236}">
                <a16:creationId xmlns:a16="http://schemas.microsoft.com/office/drawing/2014/main" id="{076A8DAA-ECD8-4CAA-A24A-00333B4E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24175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6C9FA3"/>
            </a:solidFill>
            <a:prstDash val="solid"/>
          </a:ln>
        </p:spPr>
      </p:sp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406174e67423a">
            <a:extLst>
              <a:ext uri="{96DAC541-7B7A-43D3-8B79-37D633B846F1}">
                <asvg:svgBlip xmlns:asvg="http://schemas.microsoft.com/office/drawing/2016/SVG/main" r:embed="Rb2e392b581c545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544175" y="2990850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110" name="exec-write-label">
            <a:extLst xmlns:a="http://schemas.openxmlformats.org/drawingml/2006/main">
              <a:ext uri="{FF2B5EF4-FFF2-40B4-BE49-F238E27FC236}">
                <a16:creationId xmlns:a16="http://schemas.microsoft.com/office/drawing/2014/main" id="{39E9249A-AD87-4681-921C-47A5450D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9432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58585A"/>
                </a:solidFill>
              </a:defRPr>
            </a:pPr>
            <a:r>
              <a:rPr sz="600" b="1" i="0">
                <a:solidFill>
                  <a:srgbClr val="58585A"/>
                </a:solidFill>
              </a:rPr>
              <a:t>tool</a:t>
            </a:r>
          </a:p>
        </p:txBody>
      </p:sp>
      <p:sp>
        <p:nvSpPr>
          <p:cNvPr id="111" name="exec-diff">
            <a:extLst xmlns:a="http://schemas.openxmlformats.org/drawingml/2006/main">
              <a:ext uri="{FF2B5EF4-FFF2-40B4-BE49-F238E27FC236}">
                <a16:creationId xmlns:a16="http://schemas.microsoft.com/office/drawing/2014/main" id="{F8B9EE99-C480-4F2B-B9C8-C32B9E71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924175"/>
            <a:ext cx="6286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EEF0"/>
          </a:solidFill>
          <a:ln xmlns:a="http://schemas.openxmlformats.org/drawingml/2006/main" w="11430">
            <a:solidFill>
              <a:srgbClr val="318383"/>
            </a:solidFill>
            <a:prstDash val="solid"/>
          </a:ln>
        </p:spPr>
      </p:sp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1226474bb4c11">
            <a:extLst>
              <a:ext uri="{96DAC541-7B7A-43D3-8B79-37D633B846F1}">
                <asvg:svgBlip xmlns:asvg="http://schemas.microsoft.com/office/drawing/2016/SVG/main" r:embed="R3906a9b6c0bc43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363325" y="2990850"/>
            <a:ext cx="133350" cy="133350"/>
          </a:xfrm>
          <a:prstGeom xmlns:a="http://schemas.openxmlformats.org/drawingml/2006/main" prst="rect">
            <a:avLst/>
          </a:prstGeom>
        </p:spPr>
      </p:pic>
      <p:sp>
        <p:nvSpPr>
          <p:cNvPr id="113" name="exec-diff-label">
            <a:extLst xmlns:a="http://schemas.openxmlformats.org/drawingml/2006/main">
              <a:ext uri="{FF2B5EF4-FFF2-40B4-BE49-F238E27FC236}">
                <a16:creationId xmlns:a16="http://schemas.microsoft.com/office/drawing/2014/main" id="{4B178AF2-554A-4A9F-AB5F-7F0916FA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9432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318383"/>
                </a:solidFill>
              </a:defRPr>
            </a:pPr>
            <a:r>
              <a:rPr sz="600" b="1" i="0">
                <a:solidFill>
                  <a:srgbClr val="318383"/>
                </a:solidFill>
              </a:rPr>
              <a:t>DIFF</a:t>
            </a:r>
          </a:p>
        </p:txBody>
      </p:sp>
      <p:cxnSp>
        <p:nvCxnSpPr>
          <p:cNvPr id="230" name=""/>
          <p:cNvCxnSpPr>
            <a:stCxn xmlns:a="http://schemas.openxmlformats.org/drawingml/2006/main" id="106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10287000" y="30575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 cap="rnd">
            <a:solidFill>
              <a:srgbClr val="6C9FA3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231" name=""/>
          <p:cNvCxnSpPr>
            <a:stCxn xmlns:a="http://schemas.openxmlformats.org/drawingml/2006/main" id="108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11106150" y="30575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 cap="rnd">
            <a:solidFill>
              <a:srgbClr val="6C9FA3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6" name="execution-slice">
            <a:extLst xmlns:a="http://schemas.openxmlformats.org/drawingml/2006/main">
              <a:ext uri="{FF2B5EF4-FFF2-40B4-BE49-F238E27FC236}">
                <a16:creationId xmlns:a16="http://schemas.microsoft.com/office/drawing/2014/main" id="{AD73BD9C-3B4C-4F0E-860D-A70560B1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81350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0" i="0">
                <a:solidFill>
                  <a:srgbClr val="7D8D91"/>
                </a:solidFill>
              </a:defRPr>
            </a:pPr>
            <a:r>
              <a:rPr sz="675" b="0" i="0">
                <a:solidFill>
                  <a:srgbClr val="7D8D91"/>
                </a:solidFill>
              </a:rPr>
              <a:t>executed model-issued writes only</a:t>
            </a:r>
          </a:p>
        </p:txBody>
      </p:sp>
    </p:spTree>
    <p:extLst>
      <p:ext uri="{BB962C8B-B14F-4D97-AF65-F5344CB8AC3E}">
        <p14:creationId xmlns:p14="http://schemas.microsoft.com/office/powerpoint/2010/main" val="815366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2026-07-28T18:33:50.1150000Z</dcterms:created>
  <dcterms:modified xsi:type="dcterms:W3CDTF">2026-07-28T18:33:50.1150000Z</dcterms:modified>
</coreProperties>
</file>
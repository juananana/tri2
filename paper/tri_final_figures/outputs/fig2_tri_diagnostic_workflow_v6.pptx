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70b8f52edb42a0" /><Relationship Type="http://schemas.openxmlformats.org/officeDocument/2006/relationships/extended-properties" Target="/docProps/app.xml" Id="R7fdf8f5b474848bf" /><Relationship Type="http://schemas.openxmlformats.org/officeDocument/2006/relationships/officeDocument" Target="/ppt/presentation.xml" Id="R390be96c8bc34f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0fa536bbe340d2"/>
  </p:sldMasterIdLst>
  <p:notesMasterIdLst>
    <p:notesMasterId xmlns:r="http://schemas.openxmlformats.org/officeDocument/2006/relationships" r:id="Rbd87ee50f4c34dd7"/>
  </p:notesMasterIdLst>
  <p:sldIdLst>
    <p:sldId xmlns:r="http://schemas.openxmlformats.org/officeDocument/2006/relationships" id="256" r:id="Rdfa41aeaeed94f0a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733ca3f95a46db" /><Relationship Type="http://schemas.openxmlformats.org/officeDocument/2006/relationships/slideMaster" Target="/ppt/slideMasters/slideMaster1.xml" Id="R520fa536bbe340d2" /><Relationship Type="http://schemas.openxmlformats.org/officeDocument/2006/relationships/notesMaster" Target="/ppt/notesMasters/notesMaster1.xml" Id="Rbd87ee50f4c34dd7" /><Relationship Type="http://schemas.openxmlformats.org/officeDocument/2006/relationships/presProps" Target="/ppt/presProps.xml" Id="R455708a6585c41ac" /><Relationship Type="http://schemas.openxmlformats.org/officeDocument/2006/relationships/tableStyles" Target="/ppt/tableStyles.xml" Id="Re4c5ef00d43940b5" /><Relationship Type="http://schemas.openxmlformats.org/officeDocument/2006/relationships/slide" Target="/ppt/slides/slide1.xml" Id="Rdfa41aeaeed94f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d0a4257dd0472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36196571b64d83" /><Relationship Type="http://schemas.openxmlformats.org/officeDocument/2006/relationships/notesMaster" Target="/ppt/notesMasters/notesMaster1.xml" Id="Rf9366b9ec1fa40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manuscript: paper/AnonymousSubmission2027.tex (Diagnostic Construction; Measurements and Denominators; Controller Probes).</a:t>
            </a:r>
          </a:p>
          <a:p xmlns:a="http://schemas.openxmlformats.org/drawingml/2006/main">
            <a:r>
              <a:t>- User-supplied visual references: GSD problem/method overview; SymPareto comparative framework; MetaEval multi-step framework. Used for hierarchy and scientific-illustration grammar only; no artwork copied.</a:t>
            </a:r>
          </a:p>
          <a:p xmlns:a="http://schemas.openxmlformats.org/drawingml/2006/main">
            <a:r>
              <a:t>- Palette: #264a56, #407a7f, #248d82, #60aa84, #b4b87f, #eabc6b, #f1a464, #e56d4e.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2eb8230b44b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341fbd18fa42d1" /><Relationship Type="http://schemas.openxmlformats.org/officeDocument/2006/relationships/slideLayout" Target="/ppt/slideLayouts/slideLayout1.xml" Id="Rd564a47648e541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64a47648e541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58bf4dd2641b4" /><Relationship Type="http://schemas.openxmlformats.org/officeDocument/2006/relationships/notesSlide" Target="/ppt/notesSlides/notesSlide1.xml" Id="Rfe2fab6a5cf244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2" name="panel-a">
            <a:extLst xmlns:a="http://schemas.openxmlformats.org/drawingml/2006/main">
              <a:ext uri="{FF2B5EF4-FFF2-40B4-BE49-F238E27FC236}">
                <a16:creationId xmlns:a16="http://schemas.microsoft.com/office/drawing/2014/main" id="{41158E2C-3E1E-457A-B28B-6B9A5C45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9639300" cy="6819900"/>
          </a:xfrm>
          <a:prstGeom xmlns:a="http://schemas.openxmlformats.org/drawingml/2006/main" prst="roundRect">
            <a:avLst>
              <a:gd name="adj" fmla="val 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A7F"/>
            </a:solidFill>
            <a:prstDash val="dash"/>
          </a:ln>
        </p:spPr>
      </p:sp>
      <p:sp>
        <p:nvSpPr>
          <p:cNvPr id="2" name="panel-b">
            <a:extLst xmlns:a="http://schemas.openxmlformats.org/drawingml/2006/main">
              <a:ext uri="{FF2B5EF4-FFF2-40B4-BE49-F238E27FC236}">
                <a16:creationId xmlns:a16="http://schemas.microsoft.com/office/drawing/2014/main" id="{80FC8033-67F5-42EA-90EE-7031E8C9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"/>
            <a:ext cx="4762500" cy="6819900"/>
          </a:xfrm>
          <a:prstGeom xmlns:a="http://schemas.openxmlformats.org/drawingml/2006/main" prst="roundRect">
            <a:avLst>
              <a:gd name="adj" fmla="val 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07A7F"/>
            </a:solidFill>
            <a:prstDash val="dash"/>
          </a:ln>
        </p:spPr>
      </p:sp>
      <p:sp>
        <p:nvSpPr>
          <p:cNvPr id="3" name="panel-a-head">
            <a:extLst xmlns:a="http://schemas.openxmlformats.org/drawingml/2006/main">
              <a:ext uri="{FF2B5EF4-FFF2-40B4-BE49-F238E27FC236}">
                <a16:creationId xmlns:a16="http://schemas.microsoft.com/office/drawing/2014/main" id="{A343547E-F055-4947-AD05-A359D9B2B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66700"/>
            <a:ext cx="9639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A56"/>
          </a:solidFill>
          <a:ln xmlns:a="http://schemas.openxmlformats.org/drawingml/2006/main" w="0">
            <a:solidFill>
              <a:srgbClr val="264A56"/>
            </a:solidFill>
            <a:prstDash val="solid"/>
          </a:ln>
        </p:spPr>
      </p:sp>
      <p:sp>
        <p:nvSpPr>
          <p:cNvPr id="4" name="panel-b-head">
            <a:extLst xmlns:a="http://schemas.openxmlformats.org/drawingml/2006/main">
              <a:ext uri="{FF2B5EF4-FFF2-40B4-BE49-F238E27FC236}">
                <a16:creationId xmlns:a16="http://schemas.microsoft.com/office/drawing/2014/main" id="{C67984D6-13CB-42F3-8D5B-A2360B7B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667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98681413-7447-4F3A-9653-1B61C881E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5275"/>
            <a:ext cx="9258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A.  MATCHED DIAGNOSTIC CONSTRUCTION</a:t>
            </a:r>
          </a:p>
        </p:txBody>
      </p:sp>
      <p:sp>
        <p:nvSpPr>
          <p:cNvPr id="6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F8FCB9E7-1BBC-46BF-B7F9-6AC54A569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95275"/>
            <a:ext cx="445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B.  EXECUTION AND SCORING</a:t>
            </a:r>
          </a:p>
        </p:txBody>
      </p:sp>
      <p:sp>
        <p:nvSpPr>
          <p:cNvPr id="7" name="step-1-frame">
            <a:extLst xmlns:a="http://schemas.openxmlformats.org/drawingml/2006/main">
              <a:ext uri="{FF2B5EF4-FFF2-40B4-BE49-F238E27FC236}">
                <a16:creationId xmlns:a16="http://schemas.microsoft.com/office/drawing/2014/main" id="{9052E6D0-043F-4162-B5D5-1D2091794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9150"/>
            <a:ext cx="2266950" cy="59626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B4B87F">
                <a:alpha val="70000"/>
              </a:srgbClr>
            </a:solidFill>
            <a:prstDash val="dash"/>
          </a:ln>
        </p:spPr>
      </p:sp>
      <p:sp>
        <p:nvSpPr>
          <p:cNvPr id="8" name="step-2-frame">
            <a:extLst xmlns:a="http://schemas.openxmlformats.org/drawingml/2006/main">
              <a:ext uri="{FF2B5EF4-FFF2-40B4-BE49-F238E27FC236}">
                <a16:creationId xmlns:a16="http://schemas.microsoft.com/office/drawing/2014/main" id="{2A74D852-873F-42AC-8CC5-CD3256F2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19150"/>
            <a:ext cx="2952750" cy="59626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B4B87F">
                <a:alpha val="70000"/>
              </a:srgbClr>
            </a:solidFill>
            <a:prstDash val="dash"/>
          </a:ln>
        </p:spPr>
      </p:sp>
      <p:sp>
        <p:nvSpPr>
          <p:cNvPr id="9" name="step-4-frame">
            <a:extLst xmlns:a="http://schemas.openxmlformats.org/drawingml/2006/main">
              <a:ext uri="{FF2B5EF4-FFF2-40B4-BE49-F238E27FC236}">
                <a16:creationId xmlns:a16="http://schemas.microsoft.com/office/drawing/2014/main" id="{DBA3C8B3-2891-4B8C-9424-65D5A0AC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19150"/>
            <a:ext cx="4419600" cy="43434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B4B87F">
                <a:alpha val="70000"/>
              </a:srgbClr>
            </a:solidFill>
            <a:prstDash val="dash"/>
          </a:ln>
        </p:spPr>
      </p:sp>
      <p:sp>
        <p:nvSpPr>
          <p:cNvPr id="10" name="step-5-frame">
            <a:extLst xmlns:a="http://schemas.openxmlformats.org/drawingml/2006/main">
              <a:ext uri="{FF2B5EF4-FFF2-40B4-BE49-F238E27FC236}">
                <a16:creationId xmlns:a16="http://schemas.microsoft.com/office/drawing/2014/main" id="{38CB16CE-1F29-4870-8103-97315CFD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257800"/>
            <a:ext cx="4419600" cy="17526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1430">
            <a:solidFill>
              <a:srgbClr val="B4B87F">
                <a:alpha val="70000"/>
              </a:srgbClr>
            </a:solidFill>
            <a:prstDash val="dash"/>
          </a:ln>
        </p:spPr>
      </p:sp>
      <p:sp>
        <p:nvSpPr>
          <p:cNvPr id="11" name="a-flow-1">
            <a:extLst xmlns:a="http://schemas.openxmlformats.org/drawingml/2006/main">
              <a:ext uri="{FF2B5EF4-FFF2-40B4-BE49-F238E27FC236}">
                <a16:creationId xmlns:a16="http://schemas.microsoft.com/office/drawing/2014/main" id="{1BF9EBD3-8CFC-4AD6-A919-85C6AC29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2385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12" name="a-flow-2">
            <a:extLst xmlns:a="http://schemas.openxmlformats.org/drawingml/2006/main">
              <a:ext uri="{FF2B5EF4-FFF2-40B4-BE49-F238E27FC236}">
                <a16:creationId xmlns:a16="http://schemas.microsoft.com/office/drawing/2014/main" id="{CECADB58-769A-44EE-9949-FC492536B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2385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13" name="state-refresh-arrow">
            <a:extLst xmlns:a="http://schemas.openxmlformats.org/drawingml/2006/main">
              <a:ext uri="{FF2B5EF4-FFF2-40B4-BE49-F238E27FC236}">
                <a16:creationId xmlns:a16="http://schemas.microsoft.com/office/drawing/2014/main" id="{26FA49CB-E411-4C11-B26B-54843A99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495550"/>
            <a:ext cx="6477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3810">
            <a:solidFill>
              <a:srgbClr val="EABC6B"/>
            </a:solidFill>
            <a:prstDash val="solid"/>
          </a:ln>
        </p:spPr>
      </p:sp>
      <p:sp>
        <p:nvSpPr>
          <p:cNvPr id="14" name="preserve-timeline-1">
            <a:extLst xmlns:a="http://schemas.openxmlformats.org/drawingml/2006/main">
              <a:ext uri="{FF2B5EF4-FFF2-40B4-BE49-F238E27FC236}">
                <a16:creationId xmlns:a16="http://schemas.microsoft.com/office/drawing/2014/main" id="{9999A5EC-48B5-43A5-8BEB-51178D8F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5" name="preserve-timeline-2">
            <a:extLst xmlns:a="http://schemas.openxmlformats.org/drawingml/2006/main">
              <a:ext uri="{FF2B5EF4-FFF2-40B4-BE49-F238E27FC236}">
                <a16:creationId xmlns:a16="http://schemas.microsoft.com/office/drawing/2014/main" id="{BD5B19AA-5C22-42E8-B4E6-BF791579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671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6" name="reeval-timeline-1">
            <a:extLst xmlns:a="http://schemas.openxmlformats.org/drawingml/2006/main">
              <a:ext uri="{FF2B5EF4-FFF2-40B4-BE49-F238E27FC236}">
                <a16:creationId xmlns:a16="http://schemas.microsoft.com/office/drawing/2014/main" id="{FC274265-0E07-4431-AA29-15E4EF667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7429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7" name="reeval-timeline-2">
            <a:extLst xmlns:a="http://schemas.openxmlformats.org/drawingml/2006/main">
              <a:ext uri="{FF2B5EF4-FFF2-40B4-BE49-F238E27FC236}">
                <a16:creationId xmlns:a16="http://schemas.microsoft.com/office/drawing/2014/main" id="{9A9533CE-EBBC-4884-B074-6F37D42B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391150"/>
            <a:ext cx="6096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18" name="pair-to-run-p">
            <a:extLst xmlns:a="http://schemas.openxmlformats.org/drawingml/2006/main">
              <a:ext uri="{FF2B5EF4-FFF2-40B4-BE49-F238E27FC236}">
                <a16:creationId xmlns:a16="http://schemas.microsoft.com/office/drawing/2014/main" id="{F0A04344-4B35-4239-B647-5B665112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194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9" name="pair-to-run-r">
            <a:extLst xmlns:a="http://schemas.openxmlformats.org/drawingml/2006/main">
              <a:ext uri="{FF2B5EF4-FFF2-40B4-BE49-F238E27FC236}">
                <a16:creationId xmlns:a16="http://schemas.microsoft.com/office/drawing/2014/main" id="{DF68FEAC-495C-40F6-B71D-1EEA89C8B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657600"/>
            <a:ext cx="6858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20" name="b-input-p">
            <a:extLst xmlns:a="http://schemas.openxmlformats.org/drawingml/2006/main">
              <a:ext uri="{FF2B5EF4-FFF2-40B4-BE49-F238E27FC236}">
                <a16:creationId xmlns:a16="http://schemas.microsoft.com/office/drawing/2014/main" id="{A36EC6AD-7062-4AB6-8887-30235AB1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5908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21" name="b-input-r">
            <a:extLst xmlns:a="http://schemas.openxmlformats.org/drawingml/2006/main">
              <a:ext uri="{FF2B5EF4-FFF2-40B4-BE49-F238E27FC236}">
                <a16:creationId xmlns:a16="http://schemas.microsoft.com/office/drawing/2014/main" id="{7231818D-141C-4E79-BB85-DC1A833D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3429000"/>
            <a:ext cx="7048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22" name="b-output-p">
            <a:extLst xmlns:a="http://schemas.openxmlformats.org/drawingml/2006/main">
              <a:ext uri="{FF2B5EF4-FFF2-40B4-BE49-F238E27FC236}">
                <a16:creationId xmlns:a16="http://schemas.microsoft.com/office/drawing/2014/main" id="{D67A36F1-BC23-42D8-B66A-BBBD8AF6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2590800"/>
            <a:ext cx="647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23" name="b-output-r">
            <a:extLst xmlns:a="http://schemas.openxmlformats.org/drawingml/2006/main">
              <a:ext uri="{FF2B5EF4-FFF2-40B4-BE49-F238E27FC236}">
                <a16:creationId xmlns:a16="http://schemas.microsoft.com/office/drawing/2014/main" id="{7882EF49-25B9-4C7A-9D17-D118F240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6400" y="3429000"/>
            <a:ext cx="647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3810">
            <a:solidFill>
              <a:srgbClr val="248D82"/>
            </a:solidFill>
            <a:prstDash val="solid"/>
          </a:ln>
        </p:spPr>
      </p:sp>
      <p:sp>
        <p:nvSpPr>
          <p:cNvPr id="24" name="tool-write-arrow">
            <a:extLst xmlns:a="http://schemas.openxmlformats.org/drawingml/2006/main">
              <a:ext uri="{FF2B5EF4-FFF2-40B4-BE49-F238E27FC236}">
                <a16:creationId xmlns:a16="http://schemas.microsoft.com/office/drawing/2014/main" id="{C410143A-DA7B-49F7-8A4E-A94F5C1B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63400" y="441960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4B87F"/>
          </a:solidFill>
          <a:ln xmlns:a="http://schemas.openxmlformats.org/drawingml/2006/main" w="3810">
            <a:solidFill>
              <a:srgbClr val="B4B87F"/>
            </a:solidFill>
            <a:prstDash val="solid"/>
          </a:ln>
        </p:spPr>
      </p:sp>
      <p:sp>
        <p:nvSpPr>
          <p:cNvPr id="25" name="state-diff-arrow">
            <a:extLst xmlns:a="http://schemas.openxmlformats.org/drawingml/2006/main">
              <a:ext uri="{FF2B5EF4-FFF2-40B4-BE49-F238E27FC236}">
                <a16:creationId xmlns:a16="http://schemas.microsoft.com/office/drawing/2014/main" id="{E11174EA-4CED-4230-9BC2-B6D59BFD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4419600"/>
            <a:ext cx="4572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3810">
            <a:solidFill>
              <a:srgbClr val="60AA84"/>
            </a:solidFill>
            <a:prstDash val="solid"/>
          </a:ln>
        </p:spPr>
      </p:sp>
      <p:sp>
        <p:nvSpPr>
          <p:cNvPr id="26" name="step-1-badge">
            <a:extLst xmlns:a="http://schemas.openxmlformats.org/drawingml/2006/main">
              <a:ext uri="{FF2B5EF4-FFF2-40B4-BE49-F238E27FC236}">
                <a16:creationId xmlns:a16="http://schemas.microsoft.com/office/drawing/2014/main" id="{96EF55B0-FA81-4FDB-BC76-7CC1F54A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27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A95B3678-2171-4007-9D32-4F88CE1A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8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061AE418-6926-459E-9D01-F42259B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885825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95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TASK BLUEPRINT</a:t>
            </a:r>
          </a:p>
        </p:txBody>
      </p:sp>
      <p:sp>
        <p:nvSpPr>
          <p:cNvPr id="29" name="blueprint-icon-paper">
            <a:extLst xmlns:a="http://schemas.openxmlformats.org/drawingml/2006/main">
              <a:ext uri="{FF2B5EF4-FFF2-40B4-BE49-F238E27FC236}">
                <a16:creationId xmlns:a16="http://schemas.microsoft.com/office/drawing/2014/main" id="{91FC5A34-DB83-436B-A7B6-EA26F1E60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590550" cy="7239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0" name="blueprint-icon-clip">
            <a:extLst xmlns:a="http://schemas.openxmlformats.org/drawingml/2006/main">
              <a:ext uri="{FF2B5EF4-FFF2-40B4-BE49-F238E27FC236}">
                <a16:creationId xmlns:a16="http://schemas.microsoft.com/office/drawing/2014/main" id="{4055A2A1-4E58-4DBF-A281-46CE11C9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314450"/>
            <a:ext cx="247650" cy="133350"/>
          </a:xfrm>
          <a:prstGeom xmlns:a="http://schemas.openxmlformats.org/drawingml/2006/main" prst="roundRect">
            <a:avLst>
              <a:gd name="adj" fmla="val 35714"/>
            </a:avLst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31" name="blueprint-icon-dot-0">
            <a:extLst xmlns:a="http://schemas.openxmlformats.org/drawingml/2006/main">
              <a:ext uri="{FF2B5EF4-FFF2-40B4-BE49-F238E27FC236}">
                <a16:creationId xmlns:a16="http://schemas.microsoft.com/office/drawing/2014/main" id="{E9D9D297-4D19-410D-AA38-33C2141F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5478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2" name="blueprint-icon-line-0">
            <a:extLst xmlns:a="http://schemas.openxmlformats.org/drawingml/2006/main">
              <a:ext uri="{FF2B5EF4-FFF2-40B4-BE49-F238E27FC236}">
                <a16:creationId xmlns:a16="http://schemas.microsoft.com/office/drawing/2014/main" id="{96ED6A2B-D740-4B24-88C4-B980152C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3" name="blueprint-icon-dot-1">
            <a:extLst xmlns:a="http://schemas.openxmlformats.org/drawingml/2006/main">
              <a:ext uri="{FF2B5EF4-FFF2-40B4-BE49-F238E27FC236}">
                <a16:creationId xmlns:a16="http://schemas.microsoft.com/office/drawing/2014/main" id="{1B1DBFD9-8B13-41B3-AD39-85778C5A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709738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blueprint-icon-line-1">
            <a:extLst xmlns:a="http://schemas.openxmlformats.org/drawingml/2006/main">
              <a:ext uri="{FF2B5EF4-FFF2-40B4-BE49-F238E27FC236}">
                <a16:creationId xmlns:a16="http://schemas.microsoft.com/office/drawing/2014/main" id="{5BF8F449-DA51-43DC-96EE-6FC60604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43075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5" name="blueprint-icon-dot-2">
            <a:extLst xmlns:a="http://schemas.openxmlformats.org/drawingml/2006/main">
              <a:ext uri="{FF2B5EF4-FFF2-40B4-BE49-F238E27FC236}">
                <a16:creationId xmlns:a16="http://schemas.microsoft.com/office/drawing/2014/main" id="{6164E8A8-57C5-4633-B1D6-B1F0C0D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3" y="18716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6" name="blueprint-icon-line-2">
            <a:extLst xmlns:a="http://schemas.openxmlformats.org/drawingml/2006/main">
              <a:ext uri="{FF2B5EF4-FFF2-40B4-BE49-F238E27FC236}">
                <a16:creationId xmlns:a16="http://schemas.microsoft.com/office/drawing/2014/main" id="{D75E8CDB-1CE7-494D-9FDD-C045E7E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05000"/>
            <a:ext cx="23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37" name="blueprint-selector">
            <a:extLst xmlns:a="http://schemas.openxmlformats.org/drawingml/2006/main">
              <a:ext uri="{FF2B5EF4-FFF2-40B4-BE49-F238E27FC236}">
                <a16:creationId xmlns:a16="http://schemas.microsoft.com/office/drawing/2014/main" id="{535776FE-E093-40F5-80ED-8B6A3D79B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390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selector q</a:t>
            </a:r>
          </a:p>
        </p:txBody>
      </p:sp>
      <p:sp>
        <p:nvSpPr>
          <p:cNvPr id="38" name="blueprint-selector-v">
            <a:extLst xmlns:a="http://schemas.openxmlformats.org/drawingml/2006/main">
              <a:ext uri="{FF2B5EF4-FFF2-40B4-BE49-F238E27FC236}">
                <a16:creationId xmlns:a16="http://schemas.microsoft.com/office/drawing/2014/main" id="{2C413599-9574-4B9C-B6A8-DD3EC6718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657350"/>
            <a:ext cx="1181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top-ranked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unread</a:t>
            </a:r>
          </a:p>
        </p:txBody>
      </p:sp>
      <p:sp>
        <p:nvSpPr>
          <p:cNvPr id="39" name="blueprint-action">
            <a:extLst xmlns:a="http://schemas.openxmlformats.org/drawingml/2006/main">
              <a:ext uri="{FF2B5EF4-FFF2-40B4-BE49-F238E27FC236}">
                <a16:creationId xmlns:a16="http://schemas.microsoft.com/office/drawing/2014/main" id="{0512BABA-74E8-49C8-92F8-327F848E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288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action a</a:t>
            </a:r>
          </a:p>
        </p:txBody>
      </p:sp>
      <p:sp>
        <p:nvSpPr>
          <p:cNvPr id="40" name="blueprint-action-v">
            <a:extLst xmlns:a="http://schemas.openxmlformats.org/drawingml/2006/main">
              <a:ext uri="{FF2B5EF4-FFF2-40B4-BE49-F238E27FC236}">
                <a16:creationId xmlns:a16="http://schemas.microsoft.com/office/drawing/2014/main" id="{311B7A8A-1B22-43D8-B7D3-12589470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4955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reply(id)</a:t>
            </a:r>
          </a:p>
        </p:txBody>
      </p:sp>
      <p:sp>
        <p:nvSpPr>
          <p:cNvPr id="41" name="mini-table">
            <a:extLst xmlns:a="http://schemas.openxmlformats.org/drawingml/2006/main">
              <a:ext uri="{FF2B5EF4-FFF2-40B4-BE49-F238E27FC236}">
                <a16:creationId xmlns:a16="http://schemas.microsoft.com/office/drawing/2014/main" id="{B4BC54A6-F889-47D5-8D3F-E02DB314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057400" cy="1466850"/>
          </a:xfrm>
          <a:prstGeom xmlns:a="http://schemas.openxmlformats.org/drawingml/2006/main" prst="roundRect">
            <a:avLst>
              <a:gd name="adj" fmla="val 6494"/>
            </a:avLst>
          </a:prstGeom>
          <a:solidFill xmlns:a="http://schemas.openxmlformats.org/drawingml/2006/main">
            <a:srgbClr val="407A7F">
              <a:alpha val="4000"/>
            </a:srgbClr>
          </a:solidFill>
          <a:ln xmlns:a="http://schemas.openxmlformats.org/drawingml/2006/main" w="15240">
            <a:solidFill>
              <a:srgbClr val="407A7F"/>
            </a:solidFill>
            <a:prstDash val="solid"/>
          </a:ln>
        </p:spPr>
      </p:sp>
      <p:sp>
        <p:nvSpPr>
          <p:cNvPr id="42" name="mini-table-head">
            <a:extLst xmlns:a="http://schemas.openxmlformats.org/drawingml/2006/main">
              <a:ext uri="{FF2B5EF4-FFF2-40B4-BE49-F238E27FC236}">
                <a16:creationId xmlns:a16="http://schemas.microsoft.com/office/drawing/2014/main" id="{3F98F7E6-07EE-4908-B58C-8112655D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05150"/>
            <a:ext cx="20574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43" name="mini-h-1">
            <a:extLst xmlns:a="http://schemas.openxmlformats.org/drawingml/2006/main">
              <a:ext uri="{FF2B5EF4-FFF2-40B4-BE49-F238E27FC236}">
                <a16:creationId xmlns:a16="http://schemas.microsoft.com/office/drawing/2014/main" id="{2673C248-00F4-4DFB-BE7C-DEBCDE78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337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44" name="mini-h-2">
            <a:extLst xmlns:a="http://schemas.openxmlformats.org/drawingml/2006/main">
              <a:ext uri="{FF2B5EF4-FFF2-40B4-BE49-F238E27FC236}">
                <a16:creationId xmlns:a16="http://schemas.microsoft.com/office/drawing/2014/main" id="{766E8B9F-16E4-4E01-AA06-3AABE759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33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45" name="mini-h-3">
            <a:extLst xmlns:a="http://schemas.openxmlformats.org/drawingml/2006/main">
              <a:ext uri="{FF2B5EF4-FFF2-40B4-BE49-F238E27FC236}">
                <a16:creationId xmlns:a16="http://schemas.microsoft.com/office/drawing/2014/main" id="{6877E8A4-4469-487F-8BA8-5BF146C5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337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46" name="mini-h-4">
            <a:extLst xmlns:a="http://schemas.openxmlformats.org/drawingml/2006/main">
              <a:ext uri="{FF2B5EF4-FFF2-40B4-BE49-F238E27FC236}">
                <a16:creationId xmlns:a16="http://schemas.microsoft.com/office/drawing/2014/main" id="{26D65B84-E86B-4912-857B-1938CB58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33725"/>
            <a:ext cx="590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valid</a:t>
            </a:r>
          </a:p>
        </p:txBody>
      </p:sp>
      <p:sp>
        <p:nvSpPr>
          <p:cNvPr id="47" name="mini-v-1">
            <a:extLst xmlns:a="http://schemas.openxmlformats.org/drawingml/2006/main">
              <a:ext uri="{FF2B5EF4-FFF2-40B4-BE49-F238E27FC236}">
                <a16:creationId xmlns:a16="http://schemas.microsoft.com/office/drawing/2014/main" id="{4838B5D2-02F9-45F9-99A2-FF8420BF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8" name="mini-v-2">
            <a:extLst xmlns:a="http://schemas.openxmlformats.org/drawingml/2006/main">
              <a:ext uri="{FF2B5EF4-FFF2-40B4-BE49-F238E27FC236}">
                <a16:creationId xmlns:a16="http://schemas.microsoft.com/office/drawing/2014/main" id="{70E8D41C-4870-4753-A851-A14050C0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49" name="mini-v-3">
            <a:extLst xmlns:a="http://schemas.openxmlformats.org/drawingml/2006/main">
              <a:ext uri="{FF2B5EF4-FFF2-40B4-BE49-F238E27FC236}">
                <a16:creationId xmlns:a16="http://schemas.microsoft.com/office/drawing/2014/main" id="{29FFF113-E78F-458B-A622-3EADE2CB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05150"/>
            <a:ext cx="0" cy="1466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50" name="mini-h-row">
            <a:extLst xmlns:a="http://schemas.openxmlformats.org/drawingml/2006/main">
              <a:ext uri="{FF2B5EF4-FFF2-40B4-BE49-F238E27FC236}">
                <a16:creationId xmlns:a16="http://schemas.microsoft.com/office/drawing/2014/main" id="{4B9AAC37-7CC3-41F2-9414-379F9D0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solid"/>
          </a:ln>
        </p:spPr>
      </p:sp>
      <p:sp>
        <p:nvSpPr>
          <p:cNvPr id="51" name="mini-a">
            <a:extLst xmlns:a="http://schemas.openxmlformats.org/drawingml/2006/main">
              <a:ext uri="{FF2B5EF4-FFF2-40B4-BE49-F238E27FC236}">
                <a16:creationId xmlns:a16="http://schemas.microsoft.com/office/drawing/2014/main" id="{A01E5DC5-85CF-4458-94D7-DE09C7801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2" name="mini-a0">
            <a:extLst xmlns:a="http://schemas.openxmlformats.org/drawingml/2006/main">
              <a:ext uri="{FF2B5EF4-FFF2-40B4-BE49-F238E27FC236}">
                <a16:creationId xmlns:a16="http://schemas.microsoft.com/office/drawing/2014/main" id="{715BA9C5-6204-4F87-91A1-6EC70A3D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3" name="mini-a1">
            <a:extLst xmlns:a="http://schemas.openxmlformats.org/drawingml/2006/main">
              <a:ext uri="{FF2B5EF4-FFF2-40B4-BE49-F238E27FC236}">
                <a16:creationId xmlns:a16="http://schemas.microsoft.com/office/drawing/2014/main" id="{E2CF5C7E-B01D-460A-8261-A2DF06396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514725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4" name="mini-av">
            <a:extLst xmlns:a="http://schemas.openxmlformats.org/drawingml/2006/main">
              <a:ext uri="{FF2B5EF4-FFF2-40B4-BE49-F238E27FC236}">
                <a16:creationId xmlns:a16="http://schemas.microsoft.com/office/drawing/2014/main" id="{71AF0B37-21D7-4F16-940B-47A0F3B9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351472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5" name="mini-b">
            <a:extLst xmlns:a="http://schemas.openxmlformats.org/drawingml/2006/main">
              <a:ext uri="{FF2B5EF4-FFF2-40B4-BE49-F238E27FC236}">
                <a16:creationId xmlns:a16="http://schemas.microsoft.com/office/drawing/2014/main" id="{0BEA3E90-2D28-4FBA-BC86-6295C89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56" name="mini-b0">
            <a:extLst xmlns:a="http://schemas.openxmlformats.org/drawingml/2006/main">
              <a:ext uri="{FF2B5EF4-FFF2-40B4-BE49-F238E27FC236}">
                <a16:creationId xmlns:a16="http://schemas.microsoft.com/office/drawing/2014/main" id="{8E0338E5-97DE-4A47-94CA-0673C2612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0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7" name="mini-b1">
            <a:extLst xmlns:a="http://schemas.openxmlformats.org/drawingml/2006/main">
              <a:ext uri="{FF2B5EF4-FFF2-40B4-BE49-F238E27FC236}">
                <a16:creationId xmlns:a16="http://schemas.microsoft.com/office/drawing/2014/main" id="{2628DF50-E729-4EE1-B17B-CB4724E2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05765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8" name="mini-bv">
            <a:extLst xmlns:a="http://schemas.openxmlformats.org/drawingml/2006/main">
              <a:ext uri="{FF2B5EF4-FFF2-40B4-BE49-F238E27FC236}">
                <a16:creationId xmlns:a16="http://schemas.microsoft.com/office/drawing/2014/main" id="{17B9E344-499D-4AC0-A2BF-060D0F8B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0576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yes</a:t>
            </a:r>
          </a:p>
        </p:txBody>
      </p:sp>
      <p:sp>
        <p:nvSpPr>
          <p:cNvPr id="59" name="generator-stack-back">
            <a:extLst xmlns:a="http://schemas.openxmlformats.org/drawingml/2006/main">
              <a:ext uri="{FF2B5EF4-FFF2-40B4-BE49-F238E27FC236}">
                <a16:creationId xmlns:a16="http://schemas.microsoft.com/office/drawing/2014/main" id="{8CAC4EE0-9FD3-430E-B83E-ECAB7F5B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B4B87F">
              <a:alpha val="10000"/>
            </a:srgbClr>
          </a:solidFill>
          <a:ln xmlns:a="http://schemas.openxmlformats.org/drawingml/2006/main" w="11430">
            <a:solidFill>
              <a:srgbClr val="B4B87F"/>
            </a:solidFill>
            <a:prstDash val="solid"/>
          </a:ln>
        </p:spPr>
      </p:sp>
      <p:sp>
        <p:nvSpPr>
          <p:cNvPr id="60" name="generator-stack-front">
            <a:extLst xmlns:a="http://schemas.openxmlformats.org/drawingml/2006/main">
              <a:ext uri="{FF2B5EF4-FFF2-40B4-BE49-F238E27FC236}">
                <a16:creationId xmlns:a16="http://schemas.microsoft.com/office/drawing/2014/main" id="{37839180-0351-40DC-9033-4B7782A1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5049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407A7F"/>
            </a:solidFill>
            <a:prstDash val="solid"/>
          </a:ln>
        </p:spPr>
      </p:sp>
      <p:sp>
        <p:nvSpPr>
          <p:cNvPr id="61" name="generator-label">
            <a:extLst xmlns:a="http://schemas.openxmlformats.org/drawingml/2006/main">
              <a:ext uri="{FF2B5EF4-FFF2-40B4-BE49-F238E27FC236}">
                <a16:creationId xmlns:a16="http://schemas.microsoft.com/office/drawing/2014/main" id="{E9A65D42-55F5-4F80-B4F1-769B1A0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017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domain + schema</a:t>
            </a:r>
          </a:p>
        </p:txBody>
      </p:sp>
      <p:sp>
        <p:nvSpPr>
          <p:cNvPr id="62" name="generator-sub">
            <a:extLst xmlns:a="http://schemas.openxmlformats.org/drawingml/2006/main">
              <a:ext uri="{FF2B5EF4-FFF2-40B4-BE49-F238E27FC236}">
                <a16:creationId xmlns:a16="http://schemas.microsoft.com/office/drawing/2014/main" id="{DB5E0B5A-3C15-4035-AD90-2CD892CE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10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frozen task spec</a:t>
            </a:r>
          </a:p>
        </p:txBody>
      </p:sp>
      <p:sp>
        <p:nvSpPr>
          <p:cNvPr id="63" name="blueprint-foot">
            <a:extLst xmlns:a="http://schemas.openxmlformats.org/drawingml/2006/main">
              <a:ext uri="{FF2B5EF4-FFF2-40B4-BE49-F238E27FC236}">
                <a16:creationId xmlns:a16="http://schemas.microsoft.com/office/drawing/2014/main" id="{EC6B4B51-1A08-4329-A5DF-C8EA156A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2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Defines the resolver, action, and validity slice</a:t>
            </a:r>
          </a:p>
        </p:txBody>
      </p:sp>
      <p:sp>
        <p:nvSpPr>
          <p:cNvPr id="64" name="step-2-badge">
            <a:extLst xmlns:a="http://schemas.openxmlformats.org/drawingml/2006/main">
              <a:ext uri="{FF2B5EF4-FFF2-40B4-BE49-F238E27FC236}">
                <a16:creationId xmlns:a16="http://schemas.microsoft.com/office/drawing/2014/main" id="{B6EFF7EE-02E1-46B8-BF60-002260AF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C6B"/>
          </a:solidFill>
          <a:ln xmlns:a="http://schemas.openxmlformats.org/drawingml/2006/main" w="0">
            <a:solidFill>
              <a:srgbClr val="EABC6B"/>
            </a:solidFill>
            <a:prstDash val="solid"/>
          </a:ln>
        </p:spPr>
      </p:sp>
      <p:sp>
        <p:nvSpPr>
          <p:cNvPr id="65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DC3C1E8F-FA7D-4A48-B901-12F0114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6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6EC8E150-43A6-4D0A-9ED5-2D8F075D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885825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EABC6B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EABC6B"/>
                </a:solidFill>
                <a:latin typeface="Arial"/>
                <a:ea typeface="Arial"/>
                <a:cs typeface="Arial"/>
              </a:rPr>
              <a:t>SHARED TRANSITION</a:t>
            </a:r>
          </a:p>
        </p:txBody>
      </p:sp>
      <p:sp>
        <p:nvSpPr>
          <p:cNvPr id="67" name="state-space-label">
            <a:extLst xmlns:a="http://schemas.openxmlformats.org/drawingml/2006/main">
              <a:ext uri="{FF2B5EF4-FFF2-40B4-BE49-F238E27FC236}">
                <a16:creationId xmlns:a16="http://schemas.microsoft.com/office/drawing/2014/main" id="{847B24A5-9B19-445A-B38A-50A32AD5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381125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selector score</a:t>
            </a:r>
          </a:p>
        </p:txBody>
      </p:sp>
      <p:sp>
        <p:nvSpPr>
          <p:cNvPr id="68" name="s0-space">
            <a:extLst xmlns:a="http://schemas.openxmlformats.org/drawingml/2006/main">
              <a:ext uri="{FF2B5EF4-FFF2-40B4-BE49-F238E27FC236}">
                <a16:creationId xmlns:a16="http://schemas.microsoft.com/office/drawing/2014/main" id="{832F203F-F031-4B5B-823E-2D8B868E2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714500"/>
            <a:ext cx="1123950" cy="2000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69" name="s1-space">
            <a:extLst xmlns:a="http://schemas.openxmlformats.org/drawingml/2006/main">
              <a:ext uri="{FF2B5EF4-FFF2-40B4-BE49-F238E27FC236}">
                <a16:creationId xmlns:a16="http://schemas.microsoft.com/office/drawing/2014/main" id="{D3B81FBA-A167-42B7-9BB8-566339E8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1123950" cy="20002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70" name="s0-space-title">
            <a:extLst xmlns:a="http://schemas.openxmlformats.org/drawingml/2006/main">
              <a:ext uri="{FF2B5EF4-FFF2-40B4-BE49-F238E27FC236}">
                <a16:creationId xmlns:a16="http://schemas.microsoft.com/office/drawing/2014/main" id="{2757B06A-4A1B-4CB7-9BF7-D9D27C61D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</a:t>
            </a:r>
          </a:p>
        </p:txBody>
      </p:sp>
      <p:sp>
        <p:nvSpPr>
          <p:cNvPr id="71" name="s1-space-title">
            <a:extLst xmlns:a="http://schemas.openxmlformats.org/drawingml/2006/main">
              <a:ext uri="{FF2B5EF4-FFF2-40B4-BE49-F238E27FC236}">
                <a16:creationId xmlns:a16="http://schemas.microsoft.com/office/drawing/2014/main" id="{D617A17A-5084-4D58-896A-6EB13AF5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81175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0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S1</a:t>
            </a:r>
          </a:p>
        </p:txBody>
      </p:sp>
      <p:sp>
        <p:nvSpPr>
          <p:cNvPr id="72" name="s0-axis">
            <a:extLst xmlns:a="http://schemas.openxmlformats.org/drawingml/2006/main">
              <a:ext uri="{FF2B5EF4-FFF2-40B4-BE49-F238E27FC236}">
                <a16:creationId xmlns:a16="http://schemas.microsoft.com/office/drawing/2014/main" id="{02BC4ECB-B77A-48C3-97D6-77661606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286000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7A7F"/>
            </a:solidFill>
            <a:prstDash val="solid"/>
          </a:ln>
        </p:spPr>
      </p:sp>
      <p:sp>
        <p:nvSpPr>
          <p:cNvPr id="73" name="s1-axis">
            <a:extLst xmlns:a="http://schemas.openxmlformats.org/drawingml/2006/main">
              <a:ext uri="{FF2B5EF4-FFF2-40B4-BE49-F238E27FC236}">
                <a16:creationId xmlns:a16="http://schemas.microsoft.com/office/drawing/2014/main" id="{DF78651D-839B-4806-A3A0-DFC5FD26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286000"/>
            <a:ext cx="0" cy="1095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407A7F"/>
            </a:solidFill>
            <a:prstDash val="solid"/>
          </a:ln>
        </p:spPr>
      </p:sp>
      <p:sp>
        <p:nvSpPr>
          <p:cNvPr id="74" name="s0-high">
            <a:extLst xmlns:a="http://schemas.openxmlformats.org/drawingml/2006/main">
              <a:ext uri="{FF2B5EF4-FFF2-40B4-BE49-F238E27FC236}">
                <a16:creationId xmlns:a16="http://schemas.microsoft.com/office/drawing/2014/main" id="{7C7A56FA-90E7-4AE4-8C1B-694433F6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5" name="s0-low">
            <a:extLst xmlns:a="http://schemas.openxmlformats.org/drawingml/2006/main">
              <a:ext uri="{FF2B5EF4-FFF2-40B4-BE49-F238E27FC236}">
                <a16:creationId xmlns:a16="http://schemas.microsoft.com/office/drawing/2014/main" id="{7208C12E-13AD-4A08-81D9-11C70EE2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337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6" name="s1-high">
            <a:extLst xmlns:a="http://schemas.openxmlformats.org/drawingml/2006/main">
              <a:ext uri="{FF2B5EF4-FFF2-40B4-BE49-F238E27FC236}">
                <a16:creationId xmlns:a16="http://schemas.microsoft.com/office/drawing/2014/main" id="{85FAF795-317C-46AF-8BA6-2220294B3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622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7" name="s1-low">
            <a:extLst xmlns:a="http://schemas.openxmlformats.org/drawingml/2006/main">
              <a:ext uri="{FF2B5EF4-FFF2-40B4-BE49-F238E27FC236}">
                <a16:creationId xmlns:a16="http://schemas.microsoft.com/office/drawing/2014/main" id="{40BDC405-94AE-4520-9ABE-935961D2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3372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4B87F"/>
            </a:solidFill>
            <a:prstDash val="dash"/>
          </a:ln>
        </p:spPr>
      </p:sp>
      <p:sp>
        <p:nvSpPr>
          <p:cNvPr id="78" name="s0-a">
            <a:extLst xmlns:a="http://schemas.openxmlformats.org/drawingml/2006/main">
              <a:ext uri="{FF2B5EF4-FFF2-40B4-BE49-F238E27FC236}">
                <a16:creationId xmlns:a16="http://schemas.microsoft.com/office/drawing/2014/main" id="{106B4604-FC3F-4604-9F43-C107BC8E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12000"/>
            </a:srgbClr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9" name="s0-b">
            <a:extLst xmlns:a="http://schemas.openxmlformats.org/drawingml/2006/main">
              <a:ext uri="{FF2B5EF4-FFF2-40B4-BE49-F238E27FC236}">
                <a16:creationId xmlns:a16="http://schemas.microsoft.com/office/drawing/2014/main" id="{133C2FEC-00F5-4C49-A39F-3FEC86F9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0" name="s1-b">
            <a:extLst xmlns:a="http://schemas.openxmlformats.org/drawingml/2006/main">
              <a:ext uri="{FF2B5EF4-FFF2-40B4-BE49-F238E27FC236}">
                <a16:creationId xmlns:a16="http://schemas.microsoft.com/office/drawing/2014/main" id="{F720EC35-3519-4A94-86C7-4A9F9871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212407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>
              <a:alpha val="12000"/>
            </a:srgbClr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81" name="s1-a">
            <a:extLst xmlns:a="http://schemas.openxmlformats.org/drawingml/2006/main">
              <a:ext uri="{FF2B5EF4-FFF2-40B4-BE49-F238E27FC236}">
                <a16:creationId xmlns:a16="http://schemas.microsoft.com/office/drawing/2014/main" id="{E7FE58A7-BC40-4771-AD81-DA333E96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24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82" name="transition-facts">
            <a:extLst xmlns:a="http://schemas.openxmlformats.org/drawingml/2006/main">
              <a:ext uri="{FF2B5EF4-FFF2-40B4-BE49-F238E27FC236}">
                <a16:creationId xmlns:a16="http://schemas.microsoft.com/office/drawing/2014/main" id="{937EFB92-9333-456F-8CFD-99DCD8AF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038600"/>
            <a:ext cx="2781300" cy="1695450"/>
          </a:xfrm>
          <a:prstGeom xmlns:a="http://schemas.openxmlformats.org/drawingml/2006/main" prst="roundRect">
            <a:avLst>
              <a:gd name="adj" fmla="val 6742"/>
            </a:avLst>
          </a:prstGeom>
          <a:solidFill xmlns:a="http://schemas.openxmlformats.org/drawingml/2006/main">
            <a:srgbClr val="60AA84">
              <a:alpha val="6000"/>
            </a:srgbClr>
          </a:solidFill>
          <a:ln xmlns:a="http://schemas.openxmlformats.org/drawingml/2006/main" w="17145">
            <a:solidFill>
              <a:srgbClr val="60AA84"/>
            </a:solidFill>
            <a:prstDash val="solid"/>
          </a:ln>
        </p:spPr>
      </p:sp>
      <p:sp>
        <p:nvSpPr>
          <p:cNvPr id="83" name="facts-head">
            <a:extLst xmlns:a="http://schemas.openxmlformats.org/drawingml/2006/main">
              <a:ext uri="{FF2B5EF4-FFF2-40B4-BE49-F238E27FC236}">
                <a16:creationId xmlns:a16="http://schemas.microsoft.com/office/drawing/2014/main" id="{3FF895EC-FE2E-4D4F-9249-DBFFC65D5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13385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711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CONTROLLED CONTRAST</a:t>
            </a:r>
          </a:p>
        </p:txBody>
      </p:sp>
      <p:sp>
        <p:nvSpPr>
          <p:cNvPr id="84" name="fact-check-1">
            <a:extLst xmlns:a="http://schemas.openxmlformats.org/drawingml/2006/main">
              <a:ext uri="{FF2B5EF4-FFF2-40B4-BE49-F238E27FC236}">
                <a16:creationId xmlns:a16="http://schemas.microsoft.com/office/drawing/2014/main" id="{E4900C6B-D3EE-4BF5-A78D-FD2C42C7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552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5" name="fact-inner-1">
            <a:extLst xmlns:a="http://schemas.openxmlformats.org/drawingml/2006/main">
              <a:ext uri="{FF2B5EF4-FFF2-40B4-BE49-F238E27FC236}">
                <a16:creationId xmlns:a16="http://schemas.microsoft.com/office/drawing/2014/main" id="{907A5D11-4E54-4333-84B9-6454C2EC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005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fact-1">
            <a:extLst xmlns:a="http://schemas.openxmlformats.org/drawingml/2006/main">
              <a:ext uri="{FF2B5EF4-FFF2-40B4-BE49-F238E27FC236}">
                <a16:creationId xmlns:a16="http://schemas.microsoft.com/office/drawing/2014/main" id="{224F523B-2763-4F54-9A96-C65F4B49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4767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S0, S1, q, a fixed</a:t>
            </a:r>
          </a:p>
        </p:txBody>
      </p:sp>
      <p:sp>
        <p:nvSpPr>
          <p:cNvPr id="87" name="fact-check-2">
            <a:extLst xmlns:a="http://schemas.openxmlformats.org/drawingml/2006/main">
              <a:ext uri="{FF2B5EF4-FFF2-40B4-BE49-F238E27FC236}">
                <a16:creationId xmlns:a16="http://schemas.microsoft.com/office/drawing/2014/main" id="{AEF62D93-43CC-497C-8540-5BCDA1A6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72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8" name="fact-inner-2">
            <a:extLst xmlns:a="http://schemas.openxmlformats.org/drawingml/2006/main">
              <a:ext uri="{FF2B5EF4-FFF2-40B4-BE49-F238E27FC236}">
                <a16:creationId xmlns:a16="http://schemas.microsoft.com/office/drawing/2014/main" id="{F36E53BD-796B-478C-B3A3-C1AAA858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196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9" name="fact-2">
            <a:extLst xmlns:a="http://schemas.openxmlformats.org/drawingml/2006/main">
              <a:ext uri="{FF2B5EF4-FFF2-40B4-BE49-F238E27FC236}">
                <a16:creationId xmlns:a16="http://schemas.microsoft.com/office/drawing/2014/main" id="{DC406899-DD45-4F9B-A6FF-EB219C3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8958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A remains actionable</a:t>
            </a:r>
          </a:p>
        </p:txBody>
      </p:sp>
      <p:sp>
        <p:nvSpPr>
          <p:cNvPr id="90" name="fact-check-3">
            <a:extLst xmlns:a="http://schemas.openxmlformats.org/drawingml/2006/main">
              <a:ext uri="{FF2B5EF4-FFF2-40B4-BE49-F238E27FC236}">
                <a16:creationId xmlns:a16="http://schemas.microsoft.com/office/drawing/2014/main" id="{A34705AC-E3A9-4A3A-9566-DFCC5693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391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0AA84"/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1" name="fact-inner-3">
            <a:extLst xmlns:a="http://schemas.openxmlformats.org/drawingml/2006/main">
              <a:ext uri="{FF2B5EF4-FFF2-40B4-BE49-F238E27FC236}">
                <a16:creationId xmlns:a16="http://schemas.microsoft.com/office/drawing/2014/main" id="{6DDD5C1E-4478-4CB3-9B53-6BC9A7F6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438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2" name="fact-3">
            <a:extLst xmlns:a="http://schemas.openxmlformats.org/drawingml/2006/main">
              <a:ext uri="{FF2B5EF4-FFF2-40B4-BE49-F238E27FC236}">
                <a16:creationId xmlns:a16="http://schemas.microsoft.com/office/drawing/2014/main" id="{8FED183F-9900-4920-9024-863F867CE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314950"/>
            <a:ext cx="2152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59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winner changes A -&gt; B</a:t>
            </a:r>
          </a:p>
        </p:txBody>
      </p:sp>
      <p:sp>
        <p:nvSpPr>
          <p:cNvPr id="93" name="transition-foot">
            <a:extLst xmlns:a="http://schemas.openxmlformats.org/drawingml/2006/main">
              <a:ext uri="{FF2B5EF4-FFF2-40B4-BE49-F238E27FC236}">
                <a16:creationId xmlns:a16="http://schemas.microsoft.com/office/drawing/2014/main" id="{77B721D0-7335-4F30-A0A4-82B345D9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596265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World state changes;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725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authorization may not.</a:t>
            </a:r>
          </a:p>
        </p:txBody>
      </p:sp>
      <p:sp>
        <p:nvSpPr>
          <p:cNvPr id="94" name="core-panel">
            <a:extLst xmlns:a="http://schemas.openxmlformats.org/drawingml/2006/main">
              <a:ext uri="{FF2B5EF4-FFF2-40B4-BE49-F238E27FC236}">
                <a16:creationId xmlns:a16="http://schemas.microsoft.com/office/drawing/2014/main" id="{BDFFCA1B-8003-40A7-827C-D819075C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38200"/>
            <a:ext cx="3829050" cy="601980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248D82">
              <a:alpha val="6000"/>
            </a:srgbClr>
          </a:solidFill>
          <a:ln xmlns:a="http://schemas.openxmlformats.org/drawingml/2006/main" w="24765">
            <a:solidFill>
              <a:srgbClr val="248D82"/>
            </a:solidFill>
            <a:prstDash val="solid"/>
          </a:ln>
        </p:spPr>
      </p:sp>
      <p:sp>
        <p:nvSpPr>
          <p:cNvPr id="95" name="core-head">
            <a:extLst xmlns:a="http://schemas.openxmlformats.org/drawingml/2006/main">
              <a:ext uri="{FF2B5EF4-FFF2-40B4-BE49-F238E27FC236}">
                <a16:creationId xmlns:a16="http://schemas.microsoft.com/office/drawing/2014/main" id="{63D30577-11D0-4AE8-9ED9-3C07C445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838200"/>
            <a:ext cx="3829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0">
            <a:solidFill>
              <a:srgbClr val="248D82"/>
            </a:solidFill>
            <a:prstDash val="solid"/>
          </a:ln>
        </p:spPr>
      </p:sp>
      <p:sp>
        <p:nvSpPr>
          <p:cNvPr id="96" name="core-title">
            <a:extLst xmlns:a="http://schemas.openxmlformats.org/drawingml/2006/main">
              <a:ext uri="{FF2B5EF4-FFF2-40B4-BE49-F238E27FC236}">
                <a16:creationId xmlns:a16="http://schemas.microsoft.com/office/drawing/2014/main" id="{8C082440-7D0A-41F0-9038-665DAB40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866775"/>
            <a:ext cx="3486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   MATCHED PAIR GENERATION</a:t>
            </a:r>
          </a:p>
        </p:txBody>
      </p:sp>
      <p:sp>
        <p:nvSpPr>
          <p:cNvPr id="97" name="core-question">
            <a:extLst xmlns:a="http://schemas.openxmlformats.org/drawingml/2006/main">
              <a:ext uri="{FF2B5EF4-FFF2-40B4-BE49-F238E27FC236}">
                <a16:creationId xmlns:a16="http://schemas.microsoft.com/office/drawing/2014/main" id="{CEB826BB-87A9-46B7-9758-8C44F5B1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3371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78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WHEN DOES THE TARGET RESOLVE?</a:t>
            </a:r>
          </a:p>
        </p:txBody>
      </p:sp>
      <p:sp>
        <p:nvSpPr>
          <p:cNvPr id="98" name="timing-switch">
            <a:extLst xmlns:a="http://schemas.openxmlformats.org/drawingml/2006/main">
              <a:ext uri="{FF2B5EF4-FFF2-40B4-BE49-F238E27FC236}">
                <a16:creationId xmlns:a16="http://schemas.microsoft.com/office/drawing/2014/main" id="{68FCF7D2-1ECA-4FDF-9B84-13B74CD4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1724025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64A56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4A56"/>
                </a:solidFill>
                <a:latin typeface="Arial"/>
                <a:ea typeface="Arial"/>
                <a:cs typeface="Arial"/>
              </a:rPr>
              <a:t>BIND</a:t>
            </a:r>
          </a:p>
          <a:p xmlns:a="http://schemas.openxmlformats.org/drawingml/2006/main">
            <a:pPr algn="ctr">
              <a:defRPr sz="1650" b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4A56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99" name="timing-stem">
            <a:extLst xmlns:a="http://schemas.openxmlformats.org/drawingml/2006/main">
              <a:ext uri="{FF2B5EF4-FFF2-40B4-BE49-F238E27FC236}">
                <a16:creationId xmlns:a16="http://schemas.microsoft.com/office/drawing/2014/main" id="{B0F0B6D8-DAB8-4871-A996-06B6F4A9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2657475"/>
            <a:ext cx="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100" name="timing-branch">
            <a:extLst xmlns:a="http://schemas.openxmlformats.org/drawingml/2006/main">
              <a:ext uri="{FF2B5EF4-FFF2-40B4-BE49-F238E27FC236}">
                <a16:creationId xmlns:a16="http://schemas.microsoft.com/office/drawing/2014/main" id="{4E41E993-CC58-4FB8-ADE4-DFFD1D76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1962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64A56"/>
            </a:solidFill>
            <a:prstDash val="solid"/>
          </a:ln>
        </p:spPr>
      </p:sp>
      <p:sp>
        <p:nvSpPr>
          <p:cNvPr id="101" name="timing-down-p">
            <a:extLst xmlns:a="http://schemas.openxmlformats.org/drawingml/2006/main">
              <a:ext uri="{FF2B5EF4-FFF2-40B4-BE49-F238E27FC236}">
                <a16:creationId xmlns:a16="http://schemas.microsoft.com/office/drawing/2014/main" id="{7B7FA4D3-46DD-4E4B-B788-4A664B9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90850"/>
            <a:ext cx="0" cy="24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E56D4E"/>
            </a:solidFill>
            <a:prstDash val="solid"/>
          </a:ln>
        </p:spPr>
      </p:sp>
      <p:sp>
        <p:nvSpPr>
          <p:cNvPr id="102" name="timing-down-r">
            <a:extLst xmlns:a="http://schemas.openxmlformats.org/drawingml/2006/main">
              <a:ext uri="{FF2B5EF4-FFF2-40B4-BE49-F238E27FC236}">
                <a16:creationId xmlns:a16="http://schemas.microsoft.com/office/drawing/2014/main" id="{4691780D-0847-4A6D-A09D-BF571735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90850"/>
            <a:ext cx="0" cy="1771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48D82"/>
            </a:solidFill>
            <a:prstDash val="solid"/>
          </a:ln>
        </p:spPr>
      </p:sp>
      <p:sp>
        <p:nvSpPr>
          <p:cNvPr id="103" name="preserve-track">
            <a:extLst xmlns:a="http://schemas.openxmlformats.org/drawingml/2006/main">
              <a:ext uri="{FF2B5EF4-FFF2-40B4-BE49-F238E27FC236}">
                <a16:creationId xmlns:a16="http://schemas.microsoft.com/office/drawing/2014/main" id="{62A444A9-660D-4654-8489-68B323C7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81350"/>
            <a:ext cx="33909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20955">
            <a:solidFill>
              <a:srgbClr val="E56D4E"/>
            </a:solidFill>
            <a:prstDash val="solid"/>
          </a:ln>
        </p:spPr>
      </p:sp>
      <p:sp>
        <p:nvSpPr>
          <p:cNvPr id="104" name="preserve-lock-shackle">
            <a:extLst xmlns:a="http://schemas.openxmlformats.org/drawingml/2006/main">
              <a:ext uri="{FF2B5EF4-FFF2-40B4-BE49-F238E27FC236}">
                <a16:creationId xmlns:a16="http://schemas.microsoft.com/office/drawing/2014/main" id="{E01DE229-EA2D-46CB-9EC1-3AB7CBAF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361950" cy="3429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38100">
            <a:solidFill>
              <a:srgbClr val="E56D4E"/>
            </a:solidFill>
            <a:prstDash val="solid"/>
          </a:ln>
        </p:spPr>
      </p:sp>
      <p:sp>
        <p:nvSpPr>
          <p:cNvPr id="105" name="preserve-lock-mask">
            <a:extLst xmlns:a="http://schemas.openxmlformats.org/drawingml/2006/main">
              <a:ext uri="{FF2B5EF4-FFF2-40B4-BE49-F238E27FC236}">
                <a16:creationId xmlns:a16="http://schemas.microsoft.com/office/drawing/2014/main" id="{92B6D4E2-F4E7-4C03-A4DD-68C75E22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48075"/>
            <a:ext cx="457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6" name="preserve-lock-body">
            <a:extLst xmlns:a="http://schemas.openxmlformats.org/drawingml/2006/main">
              <a:ext uri="{FF2B5EF4-FFF2-40B4-BE49-F238E27FC236}">
                <a16:creationId xmlns:a16="http://schemas.microsoft.com/office/drawing/2014/main" id="{AA6A2AA2-883F-4364-978F-1133BCF0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5143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56D4E"/>
          </a:solidFill>
          <a:ln xmlns:a="http://schemas.openxmlformats.org/drawingml/2006/main" w="0">
            <a:solidFill>
              <a:srgbClr val="E56D4E"/>
            </a:solidFill>
            <a:prstDash val="solid"/>
          </a:ln>
        </p:spPr>
      </p:sp>
      <p:sp>
        <p:nvSpPr>
          <p:cNvPr id="107" name="preserve-lock-key">
            <a:extLst xmlns:a="http://schemas.openxmlformats.org/drawingml/2006/main">
              <a:ext uri="{FF2B5EF4-FFF2-40B4-BE49-F238E27FC236}">
                <a16:creationId xmlns:a16="http://schemas.microsoft.com/office/drawing/2014/main" id="{14F16AEC-9323-412B-84DC-520C16E0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8913" y="3795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8" name="preserve-lock-key-stem">
            <a:extLst xmlns:a="http://schemas.openxmlformats.org/drawingml/2006/main">
              <a:ext uri="{FF2B5EF4-FFF2-40B4-BE49-F238E27FC236}">
                <a16:creationId xmlns:a16="http://schemas.microsoft.com/office/drawing/2014/main" id="{6AF61906-5EA8-484F-BF34-30D81E18F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571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9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991E5A8B-200B-4BF3-BE70-87D357BF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57550"/>
            <a:ext cx="131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110" name="preserve-event-1">
            <a:extLst xmlns:a="http://schemas.openxmlformats.org/drawingml/2006/main">
              <a:ext uri="{FF2B5EF4-FFF2-40B4-BE49-F238E27FC236}">
                <a16:creationId xmlns:a16="http://schemas.microsoft.com/office/drawing/2014/main" id="{B47B0DC7-9889-4B6D-9388-602A9B4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81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43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111" name="preserve-event-2">
            <a:extLst xmlns:a="http://schemas.openxmlformats.org/drawingml/2006/main">
              <a:ext uri="{FF2B5EF4-FFF2-40B4-BE49-F238E27FC236}">
                <a16:creationId xmlns:a16="http://schemas.microsoft.com/office/drawing/2014/main" id="{22D5784D-E3BE-4733-B9D6-FD6DB1AA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814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ACT</a:t>
            </a:r>
          </a:p>
        </p:txBody>
      </p:sp>
      <p:sp>
        <p:nvSpPr>
          <p:cNvPr id="112" name="preserve-bound">
            <a:extLst xmlns:a="http://schemas.openxmlformats.org/drawingml/2006/main">
              <a:ext uri="{FF2B5EF4-FFF2-40B4-BE49-F238E27FC236}">
                <a16:creationId xmlns:a16="http://schemas.microsoft.com/office/drawing/2014/main" id="{0BC2997D-C5F4-4025-BC54-34C6DBBA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3705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3" name="preserve-gold">
            <a:extLst xmlns:a="http://schemas.openxmlformats.org/drawingml/2006/main">
              <a:ext uri="{FF2B5EF4-FFF2-40B4-BE49-F238E27FC236}">
                <a16:creationId xmlns:a16="http://schemas.microsoft.com/office/drawing/2014/main" id="{E0CA54C2-D35F-4377-A337-C2C11D83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76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14" name="preserve-bound-label">
            <a:extLst xmlns:a="http://schemas.openxmlformats.org/drawingml/2006/main">
              <a:ext uri="{FF2B5EF4-FFF2-40B4-BE49-F238E27FC236}">
                <a16:creationId xmlns:a16="http://schemas.microsoft.com/office/drawing/2014/main" id="{E80B79A7-A9EC-4474-99AC-2293B152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71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bound S0</a:t>
            </a:r>
          </a:p>
        </p:txBody>
      </p:sp>
      <p:sp>
        <p:nvSpPr>
          <p:cNvPr id="115" name="preserve-gold-label">
            <a:extLst xmlns:a="http://schemas.openxmlformats.org/drawingml/2006/main">
              <a:ext uri="{FF2B5EF4-FFF2-40B4-BE49-F238E27FC236}">
                <a16:creationId xmlns:a16="http://schemas.microsoft.com/office/drawing/2014/main" id="{E52AC1DC-69F1-4B61-A4D1-E10A00DE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10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16" name="reeval-track">
            <a:extLst xmlns:a="http://schemas.openxmlformats.org/drawingml/2006/main">
              <a:ext uri="{FF2B5EF4-FFF2-40B4-BE49-F238E27FC236}">
                <a16:creationId xmlns:a16="http://schemas.microsoft.com/office/drawing/2014/main" id="{27C51F00-20E0-400C-A7D0-0A8F15CA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3390900" cy="12192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20955">
            <a:solidFill>
              <a:srgbClr val="248D82"/>
            </a:solidFill>
            <a:prstDash val="solid"/>
          </a:ln>
        </p:spPr>
      </p:sp>
      <p:sp>
        <p:nvSpPr>
          <p:cNvPr id="117" name="reeval-clock-face">
            <a:extLst xmlns:a="http://schemas.openxmlformats.org/drawingml/2006/main">
              <a:ext uri="{FF2B5EF4-FFF2-40B4-BE49-F238E27FC236}">
                <a16:creationId xmlns:a16="http://schemas.microsoft.com/office/drawing/2014/main" id="{BD68B7A0-371D-414B-8E66-C6EBAB72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387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8" name="reeval-clock-hand-1">
            <a:extLst xmlns:a="http://schemas.openxmlformats.org/drawingml/2006/main">
              <a:ext uri="{FF2B5EF4-FFF2-40B4-BE49-F238E27FC236}">
                <a16:creationId xmlns:a16="http://schemas.microsoft.com/office/drawing/2014/main" id="{1D845C42-2898-455C-A58F-55B9C4FE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172075"/>
            <a:ext cx="0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119" name="reeval-clock-hand-2">
            <a:extLst xmlns:a="http://schemas.openxmlformats.org/drawingml/2006/main">
              <a:ext uri="{FF2B5EF4-FFF2-40B4-BE49-F238E27FC236}">
                <a16:creationId xmlns:a16="http://schemas.microsoft.com/office/drawing/2014/main" id="{DA857FF2-D09C-4585-AD9B-701D1B2A3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1775" y="5314950"/>
            <a:ext cx="133350" cy="66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48D82"/>
            </a:solidFill>
            <a:prstDash val="solid"/>
          </a:ln>
        </p:spPr>
      </p:sp>
      <p:sp>
        <p:nvSpPr>
          <p:cNvPr id="120" name="reeval-clock-hub">
            <a:extLst xmlns:a="http://schemas.openxmlformats.org/drawingml/2006/main">
              <a:ext uri="{FF2B5EF4-FFF2-40B4-BE49-F238E27FC236}">
                <a16:creationId xmlns:a16="http://schemas.microsoft.com/office/drawing/2014/main" id="{C638E341-B60C-41CC-85B8-EB19F621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8438" y="528161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8D82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1" name="reeval-mode">
            <a:extLst xmlns:a="http://schemas.openxmlformats.org/drawingml/2006/main">
              <a:ext uri="{FF2B5EF4-FFF2-40B4-BE49-F238E27FC236}">
                <a16:creationId xmlns:a16="http://schemas.microsoft.com/office/drawing/2014/main" id="{19F34F20-B32D-473C-AF88-CF81CAFC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815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8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122" name="reeval-event-1">
            <a:extLst xmlns:a="http://schemas.openxmlformats.org/drawingml/2006/main">
              <a:ext uri="{FF2B5EF4-FFF2-40B4-BE49-F238E27FC236}">
                <a16:creationId xmlns:a16="http://schemas.microsoft.com/office/drawing/2014/main" id="{DA827897-6C1F-421D-B2CC-3AE2FF691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0540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DEFER</a:t>
            </a:r>
          </a:p>
        </p:txBody>
      </p:sp>
      <p:sp>
        <p:nvSpPr>
          <p:cNvPr id="123" name="reeval-event-2">
            <a:extLst xmlns:a="http://schemas.openxmlformats.org/drawingml/2006/main">
              <a:ext uri="{FF2B5EF4-FFF2-40B4-BE49-F238E27FC236}">
                <a16:creationId xmlns:a16="http://schemas.microsoft.com/office/drawing/2014/main" id="{E9808D16-242A-4D41-94F2-2D9F6962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05400"/>
            <a:ext cx="70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55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124" name="reeval-deferred">
            <a:extLst xmlns:a="http://schemas.openxmlformats.org/drawingml/2006/main">
              <a:ext uri="{FF2B5EF4-FFF2-40B4-BE49-F238E27FC236}">
                <a16:creationId xmlns:a16="http://schemas.microsoft.com/office/drawing/2014/main" id="{1BD99123-E6F4-4B50-BB8F-4A3E52BA7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522922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  <p:sp>
        <p:nvSpPr>
          <p:cNvPr id="125" name="reeval-gold">
            <a:extLst xmlns:a="http://schemas.openxmlformats.org/drawingml/2006/main">
              <a:ext uri="{FF2B5EF4-FFF2-40B4-BE49-F238E27FC236}">
                <a16:creationId xmlns:a16="http://schemas.microsoft.com/office/drawing/2014/main" id="{7C1AFD11-E956-45B3-9A38-7C7ADFCF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00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6" name="reeval-deferred-label">
            <a:extLst xmlns:a="http://schemas.openxmlformats.org/drawingml/2006/main">
              <a:ext uri="{FF2B5EF4-FFF2-40B4-BE49-F238E27FC236}">
                <a16:creationId xmlns:a16="http://schemas.microsoft.com/office/drawing/2014/main" id="{37CB6C0D-79D5-4711-9AF9-B72580B2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695950"/>
            <a:ext cx="87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deferred</a:t>
            </a:r>
          </a:p>
        </p:txBody>
      </p:sp>
      <p:sp>
        <p:nvSpPr>
          <p:cNvPr id="127" name="reeval-gold-label">
            <a:extLst xmlns:a="http://schemas.openxmlformats.org/drawingml/2006/main">
              <a:ext uri="{FF2B5EF4-FFF2-40B4-BE49-F238E27FC236}">
                <a16:creationId xmlns:a16="http://schemas.microsoft.com/office/drawing/2014/main" id="{1D83F1B0-3D7C-4181-8023-94550351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734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05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</a:t>
            </a:r>
          </a:p>
        </p:txBody>
      </p:sp>
      <p:sp>
        <p:nvSpPr>
          <p:cNvPr id="128" name="core-conclusion">
            <a:extLst xmlns:a="http://schemas.openxmlformats.org/drawingml/2006/main">
              <a:ext uri="{FF2B5EF4-FFF2-40B4-BE49-F238E27FC236}">
                <a16:creationId xmlns:a16="http://schemas.microsoft.com/office/drawing/2014/main" id="{6F1D3837-E9C7-4D5D-9BE0-820013F1B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153150"/>
            <a:ext cx="31242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BC6B">
              <a:alpha val="42000"/>
            </a:srgbClr>
          </a:solidFill>
          <a:ln xmlns:a="http://schemas.openxmlformats.org/drawingml/2006/main" w="17145">
            <a:solidFill>
              <a:srgbClr val="EABC6B"/>
            </a:solidFill>
            <a:prstDash val="solid"/>
          </a:ln>
        </p:spPr>
      </p:sp>
      <p:sp>
        <p:nvSpPr>
          <p:cNvPr id="129" name="core-conclusion-text">
            <a:extLst xmlns:a="http://schemas.openxmlformats.org/drawingml/2006/main">
              <a:ext uri="{FF2B5EF4-FFF2-40B4-BE49-F238E27FC236}">
                <a16:creationId xmlns:a16="http://schemas.microsoft.com/office/drawing/2014/main" id="{6D401FA8-5410-479F-B4A1-2775022B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6229350"/>
            <a:ext cx="2895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14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Same transition + opposite golds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650" b="1" i="1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264A56"/>
                </a:solidFill>
                <a:latin typeface="Arial"/>
                <a:ea typeface="Arial"/>
                <a:cs typeface="Arial"/>
              </a:rPr>
              <a:t>make selective re-resolution measurable</a:t>
            </a:r>
          </a:p>
        </p:txBody>
      </p:sp>
      <p:sp>
        <p:nvSpPr>
          <p:cNvPr id="130" name="step-4-badge">
            <a:extLst xmlns:a="http://schemas.openxmlformats.org/drawingml/2006/main">
              <a:ext uri="{FF2B5EF4-FFF2-40B4-BE49-F238E27FC236}">
                <a16:creationId xmlns:a16="http://schemas.microsoft.com/office/drawing/2014/main" id="{357F31CD-057D-4AC0-9377-5236148C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9535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13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D65C4F8A-6F67-4897-982D-CC306CA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8953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2" name="step-4-label">
            <a:extLst xmlns:a="http://schemas.openxmlformats.org/drawingml/2006/main">
              <a:ext uri="{FF2B5EF4-FFF2-40B4-BE49-F238E27FC236}">
                <a16:creationId xmlns:a16="http://schemas.microsoft.com/office/drawing/2014/main" id="{291CA57F-8FDD-4EF3-8E44-B5B7DD17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885825"/>
            <a:ext cx="2457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RUN BOTH MEMBERS</a:t>
            </a:r>
          </a:p>
        </p:txBody>
      </p:sp>
      <p:sp>
        <p:nvSpPr>
          <p:cNvPr id="133" name="run-same-interface">
            <a:extLst xmlns:a="http://schemas.openxmlformats.org/drawingml/2006/main">
              <a:ext uri="{FF2B5EF4-FFF2-40B4-BE49-F238E27FC236}">
                <a16:creationId xmlns:a16="http://schemas.microsoft.com/office/drawing/2014/main" id="{DAB2DCAE-BD85-49A5-87A0-1AEE4401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1304925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0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same states, tools, and controller interface</a:t>
            </a:r>
          </a:p>
        </p:txBody>
      </p:sp>
      <p:sp>
        <p:nvSpPr>
          <p:cNvPr id="134" name="input-p">
            <a:extLst xmlns:a="http://schemas.openxmlformats.org/drawingml/2006/main">
              <a:ext uri="{FF2B5EF4-FFF2-40B4-BE49-F238E27FC236}">
                <a16:creationId xmlns:a16="http://schemas.microsoft.com/office/drawing/2014/main" id="{F2B7C61C-4859-474E-B436-36860A5E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286000"/>
            <a:ext cx="838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56D4E">
              <a:alpha val="8000"/>
            </a:srgbClr>
          </a:solidFill>
          <a:ln xmlns:a="http://schemas.openxmlformats.org/drawingml/2006/main" w="17145">
            <a:solidFill>
              <a:srgbClr val="E56D4E"/>
            </a:solidFill>
            <a:prstDash val="solid"/>
          </a:ln>
        </p:spPr>
      </p:sp>
      <p:sp>
        <p:nvSpPr>
          <p:cNvPr id="135" name="input-p-text">
            <a:extLst xmlns:a="http://schemas.openxmlformats.org/drawingml/2006/main">
              <a:ext uri="{FF2B5EF4-FFF2-40B4-BE49-F238E27FC236}">
                <a16:creationId xmlns:a16="http://schemas.microsoft.com/office/drawing/2014/main" id="{3BD1FD7B-8062-4C77-A5F7-CBB6522C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23336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36" name="input-r">
            <a:extLst xmlns:a="http://schemas.openxmlformats.org/drawingml/2006/main">
              <a:ext uri="{FF2B5EF4-FFF2-40B4-BE49-F238E27FC236}">
                <a16:creationId xmlns:a16="http://schemas.microsoft.com/office/drawing/2014/main" id="{FFFC8C98-56C2-4655-B89A-C64958B5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24200"/>
            <a:ext cx="8382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248D82">
              <a:alpha val="8000"/>
            </a:srgbClr>
          </a:solidFill>
          <a:ln xmlns:a="http://schemas.openxmlformats.org/drawingml/2006/main" w="17145">
            <a:solidFill>
              <a:srgbClr val="248D82"/>
            </a:solidFill>
            <a:prstDash val="solid"/>
          </a:ln>
        </p:spPr>
      </p:sp>
      <p:sp>
        <p:nvSpPr>
          <p:cNvPr id="137" name="input-r-text">
            <a:extLst xmlns:a="http://schemas.openxmlformats.org/drawingml/2006/main">
              <a:ext uri="{FF2B5EF4-FFF2-40B4-BE49-F238E27FC236}">
                <a16:creationId xmlns:a16="http://schemas.microsoft.com/office/drawing/2014/main" id="{09E989E0-90E7-4ECD-8D40-FE5C86F6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3171825"/>
            <a:ext cx="83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210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R</a:t>
            </a:r>
          </a:p>
        </p:txBody>
      </p:sp>
      <p:sp>
        <p:nvSpPr>
          <p:cNvPr id="138" name="controller-chip">
            <a:extLst xmlns:a="http://schemas.openxmlformats.org/drawingml/2006/main">
              <a:ext uri="{FF2B5EF4-FFF2-40B4-BE49-F238E27FC236}">
                <a16:creationId xmlns:a16="http://schemas.microsoft.com/office/drawing/2014/main" id="{465C988C-2489-4A8D-A6B3-5B176CF5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809750"/>
            <a:ext cx="1790700" cy="2419350"/>
          </a:xfrm>
          <a:prstGeom xmlns:a="http://schemas.openxmlformats.org/drawingml/2006/main" prst="roundRect">
            <a:avLst>
              <a:gd name="adj" fmla="val 9574"/>
            </a:avLst>
          </a:prstGeom>
          <a:solidFill xmlns:a="http://schemas.openxmlformats.org/drawingml/2006/main">
            <a:srgbClr val="407A7F">
              <a:alpha val="6000"/>
            </a:srgbClr>
          </a:solidFill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139" name="controller-robot-antenna">
            <a:extLst xmlns:a="http://schemas.openxmlformats.org/drawingml/2006/main">
              <a:ext uri="{FF2B5EF4-FFF2-40B4-BE49-F238E27FC236}">
                <a16:creationId xmlns:a16="http://schemas.microsoft.com/office/drawing/2014/main" id="{59F1E436-FD01-4CAE-A18D-89174871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1962150"/>
            <a:ext cx="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0" name="controller-robot-tip">
            <a:extLst xmlns:a="http://schemas.openxmlformats.org/drawingml/2006/main">
              <a:ext uri="{FF2B5EF4-FFF2-40B4-BE49-F238E27FC236}">
                <a16:creationId xmlns:a16="http://schemas.microsoft.com/office/drawing/2014/main" id="{DE65CF57-929B-44FA-B2C3-74B9BC66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9613" y="1909763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1" name="controller-robot-head">
            <a:extLst xmlns:a="http://schemas.openxmlformats.org/drawingml/2006/main">
              <a:ext uri="{FF2B5EF4-FFF2-40B4-BE49-F238E27FC236}">
                <a16:creationId xmlns:a16="http://schemas.microsoft.com/office/drawing/2014/main" id="{98A91E5D-5B21-48AF-B593-31A012F9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076450"/>
            <a:ext cx="914400" cy="647700"/>
          </a:xfrm>
          <a:prstGeom xmlns:a="http://schemas.openxmlformats.org/drawingml/2006/main" prst="roundRect">
            <a:avLst>
              <a:gd name="adj" fmla="val 205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4765">
            <a:solidFill>
              <a:srgbClr val="407A7F"/>
            </a:solidFill>
            <a:prstDash val="solid"/>
          </a:ln>
        </p:spPr>
      </p:sp>
      <p:sp>
        <p:nvSpPr>
          <p:cNvPr id="142" name="controller-robot-eye-1">
            <a:extLst xmlns:a="http://schemas.openxmlformats.org/drawingml/2006/main">
              <a:ext uri="{FF2B5EF4-FFF2-40B4-BE49-F238E27FC236}">
                <a16:creationId xmlns:a16="http://schemas.microsoft.com/office/drawing/2014/main" id="{9B7DB282-6F92-408D-9EDA-827A82C3E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3" name="controller-robot-eye-2">
            <a:extLst xmlns:a="http://schemas.openxmlformats.org/drawingml/2006/main">
              <a:ext uri="{FF2B5EF4-FFF2-40B4-BE49-F238E27FC236}">
                <a16:creationId xmlns:a16="http://schemas.microsoft.com/office/drawing/2014/main" id="{0016C5F4-85A1-4564-91C6-398A4038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96775" y="22955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19050">
            <a:solidFill>
              <a:srgbClr val="407A7F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4" name="controller-robot-mouth">
            <a:extLst xmlns:a="http://schemas.openxmlformats.org/drawingml/2006/main">
              <a:ext uri="{FF2B5EF4-FFF2-40B4-BE49-F238E27FC236}">
                <a16:creationId xmlns:a16="http://schemas.microsoft.com/office/drawing/2014/main" id="{BE12DF52-24CF-4503-BE49-FA28A39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1025" y="2533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407A7F"/>
            </a:solidFill>
            <a:prstDash val="solid"/>
          </a:ln>
        </p:spPr>
      </p:sp>
      <p:sp>
        <p:nvSpPr>
          <p:cNvPr id="145" name="controller-robot-pin-l-0">
            <a:extLst xmlns:a="http://schemas.openxmlformats.org/drawingml/2006/main">
              <a:ext uri="{FF2B5EF4-FFF2-40B4-BE49-F238E27FC236}">
                <a16:creationId xmlns:a16="http://schemas.microsoft.com/office/drawing/2014/main" id="{539AA47A-DF24-44E4-9343-9FA4AEBA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2288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6" name="controller-robot-pin-r-0">
            <a:extLst xmlns:a="http://schemas.openxmlformats.org/drawingml/2006/main">
              <a:ext uri="{FF2B5EF4-FFF2-40B4-BE49-F238E27FC236}">
                <a16:creationId xmlns:a16="http://schemas.microsoft.com/office/drawing/2014/main" id="{46E74AC1-F10B-4750-B80C-945411B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2288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7" name="controller-robot-pin-l-1">
            <a:extLst xmlns:a="http://schemas.openxmlformats.org/drawingml/2006/main">
              <a:ext uri="{FF2B5EF4-FFF2-40B4-BE49-F238E27FC236}">
                <a16:creationId xmlns:a16="http://schemas.microsoft.com/office/drawing/2014/main" id="{B92BB1AF-D5B9-4BF1-A340-5A5D846F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400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8" name="controller-robot-pin-r-1">
            <a:extLst xmlns:a="http://schemas.openxmlformats.org/drawingml/2006/main">
              <a:ext uri="{FF2B5EF4-FFF2-40B4-BE49-F238E27FC236}">
                <a16:creationId xmlns:a16="http://schemas.microsoft.com/office/drawing/2014/main" id="{66495F4B-4483-4C7D-B014-D3DBB909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40030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49" name="controller-robot-pin-l-2">
            <a:extLst xmlns:a="http://schemas.openxmlformats.org/drawingml/2006/main">
              <a:ext uri="{FF2B5EF4-FFF2-40B4-BE49-F238E27FC236}">
                <a16:creationId xmlns:a16="http://schemas.microsoft.com/office/drawing/2014/main" id="{40EE2FDA-F9D1-4AA2-B2BA-2EF876B2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50" name="controller-robot-pin-r-2">
            <a:extLst xmlns:a="http://schemas.openxmlformats.org/drawingml/2006/main">
              <a:ext uri="{FF2B5EF4-FFF2-40B4-BE49-F238E27FC236}">
                <a16:creationId xmlns:a16="http://schemas.microsoft.com/office/drawing/2014/main" id="{7B0D1499-3EA2-4FAA-A16A-1EF006D6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2571750"/>
            <a:ext cx="9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7A7F"/>
            </a:solidFill>
            <a:prstDash val="solid"/>
          </a:ln>
        </p:spPr>
      </p:sp>
      <p:sp>
        <p:nvSpPr>
          <p:cNvPr id="151" name="controller-label">
            <a:extLst xmlns:a="http://schemas.openxmlformats.org/drawingml/2006/main">
              <a:ext uri="{FF2B5EF4-FFF2-40B4-BE49-F238E27FC236}">
                <a16:creationId xmlns:a16="http://schemas.microsoft.com/office/drawing/2014/main" id="{5C90899C-6CED-4D29-A58C-36C49ADEA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8765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CONTROLLER</a:t>
            </a:r>
          </a:p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PROBE</a:t>
            </a:r>
          </a:p>
        </p:txBody>
      </p:sp>
      <p:sp>
        <p:nvSpPr>
          <p:cNvPr id="152" name="controller-rule">
            <a:extLst xmlns:a="http://schemas.openxmlformats.org/drawingml/2006/main">
              <a:ext uri="{FF2B5EF4-FFF2-40B4-BE49-F238E27FC236}">
                <a16:creationId xmlns:a16="http://schemas.microsoft.com/office/drawing/2014/main" id="{32E408EA-AEC5-4C47-874E-350F2F88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543300"/>
            <a:ext cx="1371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B4B87F"/>
            </a:solidFill>
            <a:prstDash val="solid"/>
          </a:ln>
        </p:spPr>
      </p:sp>
      <p:sp>
        <p:nvSpPr>
          <p:cNvPr id="153" name="controller-io">
            <a:extLst xmlns:a="http://schemas.openxmlformats.org/drawingml/2006/main">
              <a:ext uri="{FF2B5EF4-FFF2-40B4-BE49-F238E27FC236}">
                <a16:creationId xmlns:a16="http://schemas.microsoft.com/office/drawing/2014/main" id="{4BB4E3E2-9F2B-4AC3-8C51-D9A3D304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600450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74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instruction + history</a:t>
            </a:r>
          </a:p>
        </p:txBody>
      </p:sp>
      <p:sp>
        <p:nvSpPr>
          <p:cNvPr id="154" name="controller-target">
            <a:extLst xmlns:a="http://schemas.openxmlformats.org/drawingml/2006/main">
              <a:ext uri="{FF2B5EF4-FFF2-40B4-BE49-F238E27FC236}">
                <a16:creationId xmlns:a16="http://schemas.microsoft.com/office/drawing/2014/main" id="{63E3F6C6-0E6B-4F76-B8EF-7F825092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9050" y="3857625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67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selected ID</a:t>
            </a:r>
          </a:p>
        </p:txBody>
      </p:sp>
      <p:sp>
        <p:nvSpPr>
          <p:cNvPr id="155" name="output-p">
            <a:extLst xmlns:a="http://schemas.openxmlformats.org/drawingml/2006/main">
              <a:ext uri="{FF2B5EF4-FFF2-40B4-BE49-F238E27FC236}">
                <a16:creationId xmlns:a16="http://schemas.microsoft.com/office/drawing/2014/main" id="{56DA7453-0865-490A-95ED-0B7BEC8E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23526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T_P</a:t>
            </a:r>
          </a:p>
        </p:txBody>
      </p:sp>
      <p:sp>
        <p:nvSpPr>
          <p:cNvPr id="156" name="output-r">
            <a:extLst xmlns:a="http://schemas.openxmlformats.org/drawingml/2006/main">
              <a:ext uri="{FF2B5EF4-FFF2-40B4-BE49-F238E27FC236}">
                <a16:creationId xmlns:a16="http://schemas.microsoft.com/office/drawing/2014/main" id="{4F42EC76-9521-4EE5-8C2F-A7411AEC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20775" y="3190875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T_R</a:t>
            </a:r>
          </a:p>
        </p:txBody>
      </p:sp>
      <p:sp>
        <p:nvSpPr>
          <p:cNvPr id="157" name="output-p-gold">
            <a:extLst xmlns:a="http://schemas.openxmlformats.org/drawingml/2006/main">
              <a:ext uri="{FF2B5EF4-FFF2-40B4-BE49-F238E27FC236}">
                <a16:creationId xmlns:a16="http://schemas.microsoft.com/office/drawing/2014/main" id="{A5B08253-60C8-4E03-B95F-04DBBD17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9813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gold A</a:t>
            </a:r>
          </a:p>
        </p:txBody>
      </p:sp>
      <p:sp>
        <p:nvSpPr>
          <p:cNvPr id="158" name="output-r-gold">
            <a:extLst xmlns:a="http://schemas.openxmlformats.org/drawingml/2006/main">
              <a:ext uri="{FF2B5EF4-FFF2-40B4-BE49-F238E27FC236}">
                <a16:creationId xmlns:a16="http://schemas.microsoft.com/office/drawing/2014/main" id="{522BD740-DB6F-49F6-AD1D-4901D002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819525"/>
            <a:ext cx="723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65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8D82"/>
                </a:solidFill>
                <a:latin typeface="Arial"/>
                <a:ea typeface="Arial"/>
                <a:cs typeface="Arial"/>
              </a:rPr>
              <a:t>gold B</a:t>
            </a:r>
          </a:p>
        </p:txBody>
      </p:sp>
      <p:sp>
        <p:nvSpPr>
          <p:cNvPr id="159" name="selected-id-db">
            <a:extLst xmlns:a="http://schemas.openxmlformats.org/drawingml/2006/main">
              <a:ext uri="{FF2B5EF4-FFF2-40B4-BE49-F238E27FC236}">
                <a16:creationId xmlns:a16="http://schemas.microsoft.com/office/drawing/2014/main" id="{105FC9B2-C937-4469-BA0F-EE333B91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171950"/>
            <a:ext cx="62865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407A7F">
              <a:alpha val="10000"/>
            </a:srgbClr>
          </a:solidFill>
          <a:ln xmlns:a="http://schemas.openxmlformats.org/drawingml/2006/main" w="20955">
            <a:solidFill>
              <a:srgbClr val="407A7F"/>
            </a:solidFill>
            <a:prstDash val="solid"/>
          </a:ln>
        </p:spPr>
      </p:sp>
      <p:sp>
        <p:nvSpPr>
          <p:cNvPr id="160" name="selected-id-db-label">
            <a:extLst xmlns:a="http://schemas.openxmlformats.org/drawingml/2006/main">
              <a:ext uri="{FF2B5EF4-FFF2-40B4-BE49-F238E27FC236}">
                <a16:creationId xmlns:a16="http://schemas.microsoft.com/office/drawing/2014/main" id="{554ADB12-069C-4B78-AA94-12F3CDD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4362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ID</a:t>
            </a:r>
          </a:p>
        </p:txBody>
      </p:sp>
      <p:sp>
        <p:nvSpPr>
          <p:cNvPr id="161" name="action-tool">
            <a:extLst xmlns:a="http://schemas.openxmlformats.org/drawingml/2006/main">
              <a:ext uri="{FF2B5EF4-FFF2-40B4-BE49-F238E27FC236}">
                <a16:creationId xmlns:a16="http://schemas.microsoft.com/office/drawing/2014/main" id="{41926351-6CA7-4041-A36F-41468129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4200525"/>
            <a:ext cx="87630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BC6B">
              <a:alpha val="18000"/>
            </a:srgbClr>
          </a:solidFill>
          <a:ln xmlns:a="http://schemas.openxmlformats.org/drawingml/2006/main" w="19050">
            <a:solidFill>
              <a:srgbClr val="EABC6B"/>
            </a:solidFill>
            <a:prstDash val="solid"/>
          </a:ln>
        </p:spPr>
      </p:sp>
      <p:sp>
        <p:nvSpPr>
          <p:cNvPr id="162" name="action-tool-label">
            <a:extLst xmlns:a="http://schemas.openxmlformats.org/drawingml/2006/main">
              <a:ext uri="{FF2B5EF4-FFF2-40B4-BE49-F238E27FC236}">
                <a16:creationId xmlns:a16="http://schemas.microsoft.com/office/drawing/2014/main" id="{D87A5D09-7E9B-4ECE-9905-1354AA40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305300"/>
            <a:ext cx="72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163" name="final-state-db">
            <a:extLst xmlns:a="http://schemas.openxmlformats.org/drawingml/2006/main">
              <a:ext uri="{FF2B5EF4-FFF2-40B4-BE49-F238E27FC236}">
                <a16:creationId xmlns:a16="http://schemas.microsoft.com/office/drawing/2014/main" id="{0503ADE7-5F53-4A52-BC58-FEBE5942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171950"/>
            <a:ext cx="628650" cy="7239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20955">
            <a:solidFill>
              <a:srgbClr val="60AA84"/>
            </a:solidFill>
            <a:prstDash val="solid"/>
          </a:ln>
        </p:spPr>
      </p:sp>
      <p:sp>
        <p:nvSpPr>
          <p:cNvPr id="164" name="final-state-db-label">
            <a:extLst xmlns:a="http://schemas.openxmlformats.org/drawingml/2006/main">
              <a:ext uri="{FF2B5EF4-FFF2-40B4-BE49-F238E27FC236}">
                <a16:creationId xmlns:a16="http://schemas.microsoft.com/office/drawing/2014/main" id="{8C3789CD-65F7-4B1D-8393-F7C9127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3624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725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S1+</a:t>
            </a:r>
          </a:p>
        </p:txBody>
      </p:sp>
      <p:sp>
        <p:nvSpPr>
          <p:cNvPr id="165" name="consequence-label">
            <a:extLst xmlns:a="http://schemas.openxmlformats.org/drawingml/2006/main">
              <a:ext uri="{FF2B5EF4-FFF2-40B4-BE49-F238E27FC236}">
                <a16:creationId xmlns:a16="http://schemas.microsoft.com/office/drawing/2014/main" id="{66DEBA26-2566-45BA-9345-61E7D003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62525"/>
            <a:ext cx="3676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target-to-write consequence</a:t>
            </a:r>
          </a:p>
        </p:txBody>
      </p:sp>
      <p:sp>
        <p:nvSpPr>
          <p:cNvPr id="166" name="metric-divider">
            <a:extLst xmlns:a="http://schemas.openxmlformats.org/drawingml/2006/main">
              <a:ext uri="{FF2B5EF4-FFF2-40B4-BE49-F238E27FC236}">
                <a16:creationId xmlns:a16="http://schemas.microsoft.com/office/drawing/2014/main" id="{AFFE461A-0AFE-491F-BF97-A081A749B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1495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B4B87F"/>
            </a:solidFill>
            <a:prstDash val="dash"/>
          </a:ln>
        </p:spPr>
      </p:sp>
      <p:sp>
        <p:nvSpPr>
          <p:cNvPr id="167" name="step-5-badge">
            <a:extLst xmlns:a="http://schemas.openxmlformats.org/drawingml/2006/main">
              <a:ext uri="{FF2B5EF4-FFF2-40B4-BE49-F238E27FC236}">
                <a16:creationId xmlns:a16="http://schemas.microsoft.com/office/drawing/2014/main" id="{38249457-3524-4FAB-AEC7-FC3F158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334000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7A7F"/>
          </a:solidFill>
          <a:ln xmlns:a="http://schemas.openxmlformats.org/drawingml/2006/main" w="0">
            <a:solidFill>
              <a:srgbClr val="407A7F"/>
            </a:solidFill>
            <a:prstDash val="solid"/>
          </a:ln>
        </p:spPr>
      </p:sp>
      <p:sp>
        <p:nvSpPr>
          <p:cNvPr id="168" name="step-5-number">
            <a:extLst xmlns:a="http://schemas.openxmlformats.org/drawingml/2006/main">
              <a:ext uri="{FF2B5EF4-FFF2-40B4-BE49-F238E27FC236}">
                <a16:creationId xmlns:a16="http://schemas.microsoft.com/office/drawing/2014/main" id="{F2F7050F-ADC6-4463-ADD6-CE79BF1F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533400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69" name="step-5-label">
            <a:extLst xmlns:a="http://schemas.openxmlformats.org/drawingml/2006/main">
              <a:ext uri="{FF2B5EF4-FFF2-40B4-BE49-F238E27FC236}">
                <a16:creationId xmlns:a16="http://schemas.microsoft.com/office/drawing/2014/main" id="{5E9EEBA0-BFD7-4C98-BBC9-515BCD4A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9300" y="53340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4000"/>
              </a:lnSpc>
              <a:buNone/>
              <a:defRPr sz="1650" b="1" i="1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1">
                <a:solidFill>
                  <a:srgbClr val="407A7F"/>
                </a:solidFill>
                <a:latin typeface="Arial"/>
                <a:ea typeface="Arial"/>
                <a:cs typeface="Arial"/>
              </a:rPr>
              <a:t>READOUTS</a:t>
            </a:r>
          </a:p>
        </p:txBody>
      </p:sp>
      <p:sp>
        <p:nvSpPr>
          <p:cNvPr id="170" name="metric-pair-a">
            <a:extLst xmlns:a="http://schemas.openxmlformats.org/drawingml/2006/main">
              <a:ext uri="{FF2B5EF4-FFF2-40B4-BE49-F238E27FC236}">
                <a16:creationId xmlns:a16="http://schemas.microsoft.com/office/drawing/2014/main" id="{BF05F461-3AA9-497A-86D7-27496E77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419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1" name="metric-pair-b">
            <a:extLst xmlns:a="http://schemas.openxmlformats.org/drawingml/2006/main">
              <a:ext uri="{FF2B5EF4-FFF2-40B4-BE49-F238E27FC236}">
                <a16:creationId xmlns:a16="http://schemas.microsoft.com/office/drawing/2014/main" id="{38184CB0-7BCE-4F1C-B359-980782F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5419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48D82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8D8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48D82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2" name="metric-pair">
            <a:extLst xmlns:a="http://schemas.openxmlformats.org/drawingml/2006/main">
              <a:ext uri="{FF2B5EF4-FFF2-40B4-BE49-F238E27FC236}">
                <a16:creationId xmlns:a16="http://schemas.microsoft.com/office/drawing/2014/main" id="{42A6E2EA-6180-461D-8225-BD7CD9AD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3721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PairAcc</a:t>
            </a:r>
          </a:p>
        </p:txBody>
      </p:sp>
      <p:sp>
        <p:nvSpPr>
          <p:cNvPr id="173" name="metric-pair-desc">
            <a:extLst xmlns:a="http://schemas.openxmlformats.org/drawingml/2006/main">
              <a:ext uri="{FF2B5EF4-FFF2-40B4-BE49-F238E27FC236}">
                <a16:creationId xmlns:a16="http://schemas.microsoft.com/office/drawing/2014/main" id="{31DC0C9D-7FBF-44A6-8731-88EF85DD0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563880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407A7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407A7F"/>
                </a:solidFill>
                <a:latin typeface="Arial"/>
                <a:ea typeface="Arial"/>
                <a:cs typeface="Arial"/>
              </a:rPr>
              <a:t>both pair members correct</a:t>
            </a:r>
          </a:p>
        </p:txBody>
      </p:sp>
      <p:sp>
        <p:nvSpPr>
          <p:cNvPr id="174" name="metric-sub-a">
            <a:extLst xmlns:a="http://schemas.openxmlformats.org/drawingml/2006/main">
              <a:ext uri="{FF2B5EF4-FFF2-40B4-BE49-F238E27FC236}">
                <a16:creationId xmlns:a16="http://schemas.microsoft.com/office/drawing/2014/main" id="{D7FB2C7B-A6D8-4D26-99C4-D1947F0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593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75" name="metric-sub-arrow">
            <a:extLst xmlns:a="http://schemas.openxmlformats.org/drawingml/2006/main">
              <a:ext uri="{FF2B5EF4-FFF2-40B4-BE49-F238E27FC236}">
                <a16:creationId xmlns:a16="http://schemas.microsoft.com/office/drawing/2014/main" id="{E6CFD30D-DFD6-4B14-AE14-C09F2DC6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6038850"/>
            <a:ext cx="552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6D4E"/>
          </a:solidFill>
          <a:ln xmlns:a="http://schemas.openxmlformats.org/drawingml/2006/main" w="3810">
            <a:solidFill>
              <a:srgbClr val="E56D4E"/>
            </a:solidFill>
            <a:prstDash val="solid"/>
          </a:ln>
        </p:spPr>
      </p:sp>
      <p:sp>
        <p:nvSpPr>
          <p:cNvPr id="176" name="metric-sub-b">
            <a:extLst xmlns:a="http://schemas.openxmlformats.org/drawingml/2006/main">
              <a:ext uri="{FF2B5EF4-FFF2-40B4-BE49-F238E27FC236}">
                <a16:creationId xmlns:a16="http://schemas.microsoft.com/office/drawing/2014/main" id="{44E6501C-3F08-412D-A428-56556FBA9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5934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56D4E"/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E56D4E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77" name="metric-sub">
            <a:extLst xmlns:a="http://schemas.openxmlformats.org/drawingml/2006/main">
              <a:ext uri="{FF2B5EF4-FFF2-40B4-BE49-F238E27FC236}">
                <a16:creationId xmlns:a16="http://schemas.microsoft.com/office/drawing/2014/main" id="{43970F41-B653-422E-8658-0208291E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58959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Conditional substitution</a:t>
            </a:r>
          </a:p>
        </p:txBody>
      </p:sp>
      <p:sp>
        <p:nvSpPr>
          <p:cNvPr id="178" name="metric-sub-desc">
            <a:extLst xmlns:a="http://schemas.openxmlformats.org/drawingml/2006/main">
              <a:ext uri="{FF2B5EF4-FFF2-40B4-BE49-F238E27FC236}">
                <a16:creationId xmlns:a16="http://schemas.microsoft.com/office/drawing/2014/main" id="{64557C2B-3825-4873-B482-647F247D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626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E56D4E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56D4E"/>
                </a:solidFill>
                <a:latin typeface="Arial"/>
                <a:ea typeface="Arial"/>
                <a:cs typeface="Arial"/>
              </a:rPr>
              <a:t>B replaces valid bound A</a:t>
            </a:r>
          </a:p>
        </p:txBody>
      </p:sp>
      <p:sp>
        <p:nvSpPr>
          <p:cNvPr id="179" name="metric-write-db">
            <a:extLst xmlns:a="http://schemas.openxmlformats.org/drawingml/2006/main">
              <a:ext uri="{FF2B5EF4-FFF2-40B4-BE49-F238E27FC236}">
                <a16:creationId xmlns:a16="http://schemas.microsoft.com/office/drawing/2014/main" id="{74CA1DBA-5E63-463E-BBF1-4B170615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53200"/>
            <a:ext cx="514350" cy="4381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60AA84">
              <a:alpha val="10000"/>
            </a:srgbClr>
          </a:solidFill>
          <a:ln xmlns:a="http://schemas.openxmlformats.org/drawingml/2006/main" w="19050">
            <a:solidFill>
              <a:srgbClr val="60AA84"/>
            </a:solidFill>
            <a:prstDash val="solid"/>
          </a:ln>
        </p:spPr>
      </p:sp>
      <p:sp>
        <p:nvSpPr>
          <p:cNvPr id="180" name="metric-write">
            <a:extLst xmlns:a="http://schemas.openxmlformats.org/drawingml/2006/main">
              <a:ext uri="{FF2B5EF4-FFF2-40B4-BE49-F238E27FC236}">
                <a16:creationId xmlns:a16="http://schemas.microsoft.com/office/drawing/2014/main" id="{277082D8-D329-4B27-8849-73E24FA81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96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725" b="1" i="0">
                <a:solidFill>
                  <a:srgbClr val="264A5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64A56"/>
                </a:solidFill>
                <a:latin typeface="Arial"/>
                <a:ea typeface="Arial"/>
                <a:cs typeface="Arial"/>
              </a:rPr>
              <a:t>Executed state diff</a:t>
            </a:r>
          </a:p>
        </p:txBody>
      </p:sp>
      <p:sp>
        <p:nvSpPr>
          <p:cNvPr id="181" name="metric-write-desc">
            <a:extLst xmlns:a="http://schemas.openxmlformats.org/drawingml/2006/main">
              <a:ext uri="{FF2B5EF4-FFF2-40B4-BE49-F238E27FC236}">
                <a16:creationId xmlns:a16="http://schemas.microsoft.com/office/drawing/2014/main" id="{19E1BC28-0967-4370-A02A-C7964E5F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762750"/>
            <a:ext cx="3371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1650" b="1" i="0">
                <a:solidFill>
                  <a:srgbClr val="60AA8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0AA84"/>
                </a:solidFill>
                <a:latin typeface="Arial"/>
                <a:ea typeface="Arial"/>
                <a:cs typeface="Arial"/>
              </a:rPr>
              <a:t>which entity received the action</a:t>
            </a:r>
          </a:p>
        </p:txBody>
      </p:sp>
    </p:spTree>
    <p:extLst>
      <p:ext uri="{BB962C8B-B14F-4D97-AF65-F5344CB8AC3E}">
        <p14:creationId xmlns:p14="http://schemas.microsoft.com/office/powerpoint/2010/main" val="15934067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2026-07-28T09:30:16.3900000Z</dcterms:created>
  <dcterms:modified xsi:type="dcterms:W3CDTF">2026-07-28T09:30:16.3900000Z</dcterms:modified>
</coreProperties>
</file>
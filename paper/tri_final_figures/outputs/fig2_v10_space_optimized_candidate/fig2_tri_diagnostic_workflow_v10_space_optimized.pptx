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441d778c624e54" /><Relationship Type="http://schemas.openxmlformats.org/officeDocument/2006/relationships/extended-properties" Target="/docProps/app.xml" Id="R8b97e62f43f34c03" /><Relationship Type="http://schemas.openxmlformats.org/officeDocument/2006/relationships/officeDocument" Target="/ppt/presentation.xml" Id="Re97221ab988c44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b07cf4fa14442d"/>
  </p:sldMasterIdLst>
  <p:notesMasterIdLst>
    <p:notesMasterId xmlns:r="http://schemas.openxmlformats.org/officeDocument/2006/relationships" r:id="R8983e1ff576d4bab"/>
  </p:notesMasterIdLst>
  <p:sldIdLst>
    <p:sldId xmlns:r="http://schemas.openxmlformats.org/officeDocument/2006/relationships" id="256" r:id="R72c6d7f0bea54f07"/>
  </p:sldIdLst>
  <p:sldSz cx="15240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1dcbcf503a4640" /><Relationship Type="http://schemas.openxmlformats.org/officeDocument/2006/relationships/slideMaster" Target="/ppt/slideMasters/slideMaster1.xml" Id="R71b07cf4fa14442d" /><Relationship Type="http://schemas.openxmlformats.org/officeDocument/2006/relationships/notesMaster" Target="/ppt/notesMasters/notesMaster1.xml" Id="R8983e1ff576d4bab" /><Relationship Type="http://schemas.openxmlformats.org/officeDocument/2006/relationships/presProps" Target="/ppt/presProps.xml" Id="Rfe212b1220e243f0" /><Relationship Type="http://schemas.openxmlformats.org/officeDocument/2006/relationships/tableStyles" Target="/ppt/tableStyles.xml" Id="R9d818e5bf01b4fcb" /><Relationship Type="http://schemas.openxmlformats.org/officeDocument/2006/relationships/slide" Target="/ppt/slides/slide1.xml" Id="R72c6d7f0bea54f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f8f08f3cfc4b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ab4f1b2a294e0b" /><Relationship Type="http://schemas.openxmlformats.org/officeDocument/2006/relationships/notesMaster" Target="/ppt/notesMasters/notesMaster1.xml" Id="R3db1810284a947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Figure 2 reference: structure, density, and visual grammar.</a:t>
            </a:r>
          </a:p>
          <a:p xmlns:a="http://schemas.openxmlformats.org/drawingml/2006/main">
            <a:r>
              <a:t>- Anonymous TRI manuscript: matched-pair variables, strict substitution denominator, probe inputs, and execution readout.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96b71ad48240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e7e35f14c64c3f" /><Relationship Type="http://schemas.openxmlformats.org/officeDocument/2006/relationships/slideLayout" Target="/ppt/slideLayouts/slideLayout1.xml" Id="Ree61b2d6899841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61b2d6899841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9afb808244105" /><Relationship Type="http://schemas.openxmlformats.org/officeDocument/2006/relationships/notesSlide" Target="/ppt/notesSlides/notesSlide1.xml" Id="R7f999b67268846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0" name="panel-A">
            <a:extLst xmlns:a="http://schemas.openxmlformats.org/drawingml/2006/main">
              <a:ext uri="{FF2B5EF4-FFF2-40B4-BE49-F238E27FC236}">
                <a16:creationId xmlns:a16="http://schemas.microsoft.com/office/drawing/2014/main" id="{0054DA8F-CBE1-453B-948C-E0D01F93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6191250" cy="8877300"/>
          </a:xfrm>
          <a:prstGeom xmlns:a="http://schemas.openxmlformats.org/drawingml/2006/main" prst="roundRect">
            <a:avLst>
              <a:gd name="adj" fmla="val 92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303638"/>
            </a:solidFill>
            <a:prstDash val="solid"/>
          </a:ln>
        </p:spPr>
      </p:sp>
      <p:sp>
        <p:nvSpPr>
          <p:cNvPr id="2" name="panel-A-title">
            <a:extLst xmlns:a="http://schemas.openxmlformats.org/drawingml/2006/main">
              <a:ext uri="{FF2B5EF4-FFF2-40B4-BE49-F238E27FC236}">
                <a16:creationId xmlns:a16="http://schemas.microsoft.com/office/drawing/2014/main" id="{D22DFE31-6CBB-4064-B6E0-0D7824FB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9550"/>
            <a:ext cx="584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719"/>
                </a:solidFill>
              </a:defRPr>
            </a:pPr>
            <a:r>
              <a:rPr sz="1725" b="1" i="0">
                <a:solidFill>
                  <a:srgbClr val="111719"/>
                </a:solidFill>
              </a:rPr>
              <a:t>A. Construct the matched pair</a:t>
            </a:r>
          </a:p>
        </p:txBody>
      </p:sp>
      <p:sp>
        <p:nvSpPr>
          <p:cNvPr id="3" name="panel-B">
            <a:extLst xmlns:a="http://schemas.openxmlformats.org/drawingml/2006/main">
              <a:ext uri="{FF2B5EF4-FFF2-40B4-BE49-F238E27FC236}">
                <a16:creationId xmlns:a16="http://schemas.microsoft.com/office/drawing/2014/main" id="{0293A919-233C-4B36-85AE-8F8DD45B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3350"/>
            <a:ext cx="3848100" cy="8877300"/>
          </a:xfrm>
          <a:prstGeom xmlns:a="http://schemas.openxmlformats.org/drawingml/2006/main" prst="roundRect">
            <a:avLst>
              <a:gd name="adj" fmla="val 148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303638"/>
            </a:solidFill>
            <a:prstDash val="solid"/>
          </a:ln>
        </p:spPr>
      </p:sp>
      <p:sp>
        <p:nvSpPr>
          <p:cNvPr id="4" name="panel-B-title">
            <a:extLst xmlns:a="http://schemas.openxmlformats.org/drawingml/2006/main">
              <a:ext uri="{FF2B5EF4-FFF2-40B4-BE49-F238E27FC236}">
                <a16:creationId xmlns:a16="http://schemas.microsoft.com/office/drawing/2014/main" id="{2A64E5D1-376F-4F23-BCE5-2B45F713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9550"/>
            <a:ext cx="350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719"/>
                </a:solidFill>
              </a:defRPr>
            </a:pPr>
            <a:r>
              <a:rPr sz="1725" b="1" i="0">
                <a:solidFill>
                  <a:srgbClr val="111719"/>
                </a:solidFill>
              </a:rPr>
              <a:t>B. Run the pair</a:t>
            </a:r>
          </a:p>
        </p:txBody>
      </p:sp>
      <p:sp>
        <p:nvSpPr>
          <p:cNvPr id="5" name="panel-C">
            <a:extLst xmlns:a="http://schemas.openxmlformats.org/drawingml/2006/main">
              <a:ext uri="{FF2B5EF4-FFF2-40B4-BE49-F238E27FC236}">
                <a16:creationId xmlns:a16="http://schemas.microsoft.com/office/drawing/2014/main" id="{AF6EFD4B-87AB-47D4-B417-9F497F62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33350"/>
            <a:ext cx="4667250" cy="8877300"/>
          </a:xfrm>
          <a:prstGeom xmlns:a="http://schemas.openxmlformats.org/drawingml/2006/main" prst="roundRect">
            <a:avLst>
              <a:gd name="adj" fmla="val 1224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303638"/>
            </a:solidFill>
            <a:prstDash val="solid"/>
          </a:ln>
        </p:spPr>
      </p:sp>
      <p:sp>
        <p:nvSpPr>
          <p:cNvPr id="6" name="panel-C-title">
            <a:extLst xmlns:a="http://schemas.openxmlformats.org/drawingml/2006/main">
              <a:ext uri="{FF2B5EF4-FFF2-40B4-BE49-F238E27FC236}">
                <a16:creationId xmlns:a16="http://schemas.microsoft.com/office/drawing/2014/main" id="{C069CC8B-6E58-483A-805D-AC534537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09550"/>
            <a:ext cx="432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719"/>
                </a:solidFill>
              </a:defRPr>
            </a:pPr>
            <a:r>
              <a:rPr sz="1725" b="1" i="0">
                <a:solidFill>
                  <a:srgbClr val="111719"/>
                </a:solidFill>
              </a:rPr>
              <a:t>C. Observable readouts</a:t>
            </a:r>
          </a:p>
        </p:txBody>
      </p:sp>
      <p:sp>
        <p:nvSpPr>
          <p:cNvPr id="7" name="a-summary">
            <a:extLst xmlns:a="http://schemas.openxmlformats.org/drawingml/2006/main">
              <a:ext uri="{FF2B5EF4-FFF2-40B4-BE49-F238E27FC236}">
                <a16:creationId xmlns:a16="http://schemas.microsoft.com/office/drawing/2014/main" id="{2ECF36A9-D839-462F-9272-25BA5A60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6750"/>
            <a:ext cx="588645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AEBABD"/>
            </a:solidFill>
            <a:prstDash val="solid"/>
          </a:ln>
        </p:spPr>
      </p:sp>
      <p:sp>
        <p:nvSpPr>
          <p:cNvPr id="8" name="a-fixed">
            <a:extLst xmlns:a="http://schemas.openxmlformats.org/drawingml/2006/main">
              <a:ext uri="{FF2B5EF4-FFF2-40B4-BE49-F238E27FC236}">
                <a16:creationId xmlns:a16="http://schemas.microsoft.com/office/drawing/2014/main" id="{F035501D-4EFD-4D91-917C-773E46DE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5543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A2E"/>
                </a:solidFill>
              </a:defRPr>
            </a:pPr>
            <a:r>
              <a:rPr sz="1275" b="1" i="0">
                <a:solidFill>
                  <a:srgbClr val="202A2E"/>
                </a:solidFill>
              </a:rPr>
              <a:t>Fixed:  S0, S1, q, action, schema, controller interface</a:t>
            </a:r>
          </a:p>
        </p:txBody>
      </p:sp>
      <p:sp>
        <p:nvSpPr>
          <p:cNvPr id="9" name="a-change">
            <a:extLst xmlns:a="http://schemas.openxmlformats.org/drawingml/2006/main">
              <a:ext uri="{FF2B5EF4-FFF2-40B4-BE49-F238E27FC236}">
                <a16:creationId xmlns:a16="http://schemas.microsoft.com/office/drawing/2014/main" id="{AFDFA0C8-965C-4E15-B278-C21BDD13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6325"/>
            <a:ext cx="5543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43F48"/>
                </a:solidFill>
              </a:defRPr>
            </a:pPr>
            <a:r>
              <a:rPr sz="1275" b="1" i="0">
                <a:solidFill>
                  <a:srgbClr val="243F48"/>
                </a:solidFill>
              </a:rPr>
              <a:t>Unique change: instruction commitment timing</a:t>
            </a:r>
          </a:p>
        </p:txBody>
      </p:sp>
      <p:sp>
        <p:nvSpPr>
          <p:cNvPr id="10" name="a-transition">
            <a:extLst xmlns:a="http://schemas.openxmlformats.org/drawingml/2006/main">
              <a:ext uri="{FF2B5EF4-FFF2-40B4-BE49-F238E27FC236}">
                <a16:creationId xmlns:a16="http://schemas.microsoft.com/office/drawing/2014/main" id="{67BC841F-5BF4-4549-B080-B7D793A2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554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02A2E"/>
                </a:solidFill>
              </a:defRPr>
            </a:pPr>
            <a:r>
              <a:rPr sz="1425" b="1" i="0">
                <a:solidFill>
                  <a:srgbClr val="202A2E"/>
                </a:solidFill>
              </a:rPr>
              <a:t>Shared transition:   q(S0) = A   -&gt;   refresh   -&gt;   q(S1) = B</a:t>
            </a:r>
          </a:p>
        </p:txBody>
      </p:sp>
      <p:sp>
        <p:nvSpPr>
          <p:cNvPr id="11" name="a-valid">
            <a:extLst xmlns:a="http://schemas.openxmlformats.org/drawingml/2006/main">
              <a:ext uri="{FF2B5EF4-FFF2-40B4-BE49-F238E27FC236}">
                <a16:creationId xmlns:a16="http://schemas.microsoft.com/office/drawing/2014/main" id="{57B1D919-FC1A-40D3-94DE-4E504CD2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428625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11430">
            <a:solidFill>
              <a:srgbClr val="E6A646"/>
            </a:solidFill>
            <a:prstDash val="solid"/>
          </a:ln>
        </p:spPr>
      </p:sp>
      <p:sp>
        <p:nvSpPr>
          <p:cNvPr id="12" name="a-valid-text">
            <a:extLst xmlns:a="http://schemas.openxmlformats.org/drawingml/2006/main">
              <a:ext uri="{FF2B5EF4-FFF2-40B4-BE49-F238E27FC236}">
                <a16:creationId xmlns:a16="http://schemas.microsoft.com/office/drawing/2014/main" id="{66321280-B008-4AB0-BF6B-5F752E7E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811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202A2E"/>
                </a:solidFill>
              </a:defRPr>
            </a:pPr>
            <a:r>
              <a:rPr sz="1350" b="0" i="1">
                <a:solidFill>
                  <a:srgbClr val="202A2E"/>
                </a:solidFill>
              </a:rPr>
              <a:t>A remains present and action-valid in S1</a:t>
            </a:r>
          </a:p>
        </p:txBody>
      </p:sp>
      <p:sp>
        <p:nvSpPr>
          <p:cNvPr id="13" name="preserve-lane">
            <a:extLst xmlns:a="http://schemas.openxmlformats.org/drawingml/2006/main">
              <a:ext uri="{FF2B5EF4-FFF2-40B4-BE49-F238E27FC236}">
                <a16:creationId xmlns:a16="http://schemas.microsoft.com/office/drawing/2014/main" id="{75712472-4025-4116-A66C-F5B715A2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352675"/>
            <a:ext cx="5924550" cy="2009775"/>
          </a:xfrm>
          <a:prstGeom xmlns:a="http://schemas.openxmlformats.org/drawingml/2006/main" prst="roundRect">
            <a:avLst>
              <a:gd name="adj" fmla="val 2844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F05F45"/>
            </a:solidFill>
            <a:prstDash val="solid"/>
          </a:ln>
        </p:spPr>
      </p:sp>
      <p:sp>
        <p:nvSpPr>
          <p:cNvPr id="14" name="preserve-band">
            <a:extLst xmlns:a="http://schemas.openxmlformats.org/drawingml/2006/main">
              <a:ext uri="{FF2B5EF4-FFF2-40B4-BE49-F238E27FC236}">
                <a16:creationId xmlns:a16="http://schemas.microsoft.com/office/drawing/2014/main" id="{6D386244-8E60-4AEE-B3FE-67D5B2A5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352675"/>
            <a:ext cx="895350" cy="20097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05F45"/>
          </a:solidFill>
          <a:ln xmlns:a="http://schemas.openxmlformats.org/drawingml/2006/main" w="0">
            <a:solidFill>
              <a:srgbClr val="F05F45"/>
            </a:solidFill>
            <a:prstDash val="solid"/>
          </a:ln>
        </p:spPr>
      </p:sp>
      <p:sp>
        <p:nvSpPr>
          <p:cNvPr id="15" name="preserve-band-title">
            <a:extLst xmlns:a="http://schemas.openxmlformats.org/drawingml/2006/main">
              <a:ext uri="{FF2B5EF4-FFF2-40B4-BE49-F238E27FC236}">
                <a16:creationId xmlns:a16="http://schemas.microsoft.com/office/drawing/2014/main" id="{CE00CBCD-4D44-4F1B-A704-B00EF9C9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955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Preserve</a:t>
            </a:r>
          </a:p>
        </p:txBody>
      </p:sp>
      <p:sp>
        <p:nvSpPr>
          <p:cNvPr id="16" name="preserve-band-desc">
            <a:extLst xmlns:a="http://schemas.openxmlformats.org/drawingml/2006/main">
              <a:ext uri="{FF2B5EF4-FFF2-40B4-BE49-F238E27FC236}">
                <a16:creationId xmlns:a16="http://schemas.microsoft.com/office/drawing/2014/main" id="{71C5DBAF-BD90-46FF-B7E3-95495D7B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47975"/>
            <a:ext cx="742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commit</a:t>
            </a:r>
          </a:p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before</a:t>
            </a:r>
          </a:p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refresh</a:t>
            </a:r>
          </a:p>
        </p:txBody>
      </p:sp>
      <p:sp>
        <p:nvSpPr>
          <p:cNvPr id="17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AE19A3E0-44F1-451E-8EFC-19204C1F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62375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BB23FD72-07CF-4FCF-AF89-9662BDDE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3238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5F4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preserve-lock-key">
            <a:extLst xmlns:a="http://schemas.openxmlformats.org/drawingml/2006/main">
              <a:ext uri="{FF2B5EF4-FFF2-40B4-BE49-F238E27FC236}">
                <a16:creationId xmlns:a16="http://schemas.microsoft.com/office/drawing/2014/main" id="{A7A946E5-2FAD-4F3E-8C1E-7DD6D89E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p-s0">
            <a:extLst xmlns:a="http://schemas.openxmlformats.org/drawingml/2006/main">
              <a:ext uri="{FF2B5EF4-FFF2-40B4-BE49-F238E27FC236}">
                <a16:creationId xmlns:a16="http://schemas.microsoft.com/office/drawing/2014/main" id="{17F60FD0-CB34-455E-B9A7-F8CBC7F2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4792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02A2E"/>
                </a:solidFill>
              </a:defRPr>
            </a:pPr>
            <a:r>
              <a:rPr sz="1425" b="1" i="0">
                <a:solidFill>
                  <a:srgbClr val="202A2E"/>
                </a:solidFill>
              </a:rPr>
              <a:t>S0</a:t>
            </a:r>
          </a:p>
        </p:txBody>
      </p:sp>
      <p:sp>
        <p:nvSpPr>
          <p:cNvPr id="21" name="p-s0-state">
            <a:extLst xmlns:a="http://schemas.openxmlformats.org/drawingml/2006/main">
              <a:ext uri="{FF2B5EF4-FFF2-40B4-BE49-F238E27FC236}">
                <a16:creationId xmlns:a16="http://schemas.microsoft.com/office/drawing/2014/main" id="{B9AC52E3-1294-4E8F-9019-08A244E8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33675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0282B"/>
            </a:solidFill>
            <a:prstDash val="solid"/>
          </a:ln>
        </p:spPr>
      </p:sp>
      <p:sp>
        <p:nvSpPr>
          <p:cNvPr id="22" name="p-s0-other-0">
            <a:extLst xmlns:a="http://schemas.openxmlformats.org/drawingml/2006/main">
              <a:ext uri="{FF2B5EF4-FFF2-40B4-BE49-F238E27FC236}">
                <a16:creationId xmlns:a16="http://schemas.microsoft.com/office/drawing/2014/main" id="{7DF1A1D2-FE77-47B9-9079-45D208E6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718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23" name="p-s0-other-1">
            <a:extLst xmlns:a="http://schemas.openxmlformats.org/drawingml/2006/main">
              <a:ext uri="{FF2B5EF4-FFF2-40B4-BE49-F238E27FC236}">
                <a16:creationId xmlns:a16="http://schemas.microsoft.com/office/drawing/2014/main" id="{C1A6F50C-263B-4448-8573-A655941A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8956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24" name="p-s0-other-2">
            <a:extLst xmlns:a="http://schemas.openxmlformats.org/drawingml/2006/main">
              <a:ext uri="{FF2B5EF4-FFF2-40B4-BE49-F238E27FC236}">
                <a16:creationId xmlns:a16="http://schemas.microsoft.com/office/drawing/2014/main" id="{0EF0CF7B-91FB-4B26-82BF-09571662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861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25" name="p-s0-other-3">
            <a:extLst xmlns:a="http://schemas.openxmlformats.org/drawingml/2006/main">
              <a:ext uri="{FF2B5EF4-FFF2-40B4-BE49-F238E27FC236}">
                <a16:creationId xmlns:a16="http://schemas.microsoft.com/office/drawing/2014/main" id="{81936B60-70C4-4F64-AE9E-C69C7979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4194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26" name="p-s0-a">
            <a:extLst xmlns:a="http://schemas.openxmlformats.org/drawingml/2006/main">
              <a:ext uri="{FF2B5EF4-FFF2-40B4-BE49-F238E27FC236}">
                <a16:creationId xmlns:a16="http://schemas.microsoft.com/office/drawing/2014/main" id="{33B3E003-070A-421A-A3E2-603C811C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171825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F45"/>
          </a:solidFill>
          <a:ln xmlns:a="http://schemas.openxmlformats.org/drawingml/2006/main" w="16193">
            <a:solidFill>
              <a:srgbClr val="F0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7" name="p-q0">
            <a:extLst xmlns:a="http://schemas.openxmlformats.org/drawingml/2006/main">
              <a:ext uri="{FF2B5EF4-FFF2-40B4-BE49-F238E27FC236}">
                <a16:creationId xmlns:a16="http://schemas.microsoft.com/office/drawing/2014/main" id="{250CBC4B-8063-42AE-965D-5929CD1C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81425"/>
            <a:ext cx="1219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202A2E"/>
                </a:solidFill>
              </a:defRPr>
            </a:pPr>
            <a:r>
              <a:rPr sz="1350" b="0" i="1">
                <a:solidFill>
                  <a:srgbClr val="202A2E"/>
                </a:solidFill>
              </a:rPr>
              <a:t>q(S0) = A</a:t>
            </a:r>
          </a:p>
        </p:txBody>
      </p:sp>
      <p:sp>
        <p:nvSpPr>
          <p:cNvPr id="28" name="p-bind-label">
            <a:extLst xmlns:a="http://schemas.openxmlformats.org/drawingml/2006/main">
              <a:ext uri="{FF2B5EF4-FFF2-40B4-BE49-F238E27FC236}">
                <a16:creationId xmlns:a16="http://schemas.microsoft.com/office/drawing/2014/main" id="{23687F7E-FB6E-441A-89AB-FC407E07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47950"/>
            <a:ext cx="9810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05F45"/>
                </a:solidFill>
              </a:defRPr>
            </a:pPr>
            <a:r>
              <a:rPr sz="1200" b="1" i="0">
                <a:solidFill>
                  <a:srgbClr val="F05F45"/>
                </a:solidFill>
              </a:rPr>
              <a:t>bound(A)</a:t>
            </a:r>
          </a:p>
          <a:p xmlns:a="http://schemas.openxmlformats.org/drawingml/2006/main">
            <a:pPr algn="ctr">
              <a:defRPr sz="1200" b="1" i="0">
                <a:solidFill>
                  <a:srgbClr val="F05F45"/>
                </a:solidFill>
              </a:defRPr>
            </a:pPr>
            <a:r>
              <a:rPr sz="1200" b="1" i="0">
                <a:solidFill>
                  <a:srgbClr val="F05F45"/>
                </a:solidFill>
              </a:rPr>
              <a:t>before refresh</a:t>
            </a:r>
          </a:p>
        </p:txBody>
      </p:sp>
      <p:sp>
        <p:nvSpPr>
          <p:cNvPr id="29" name="p-clock-face">
            <a:extLst xmlns:a="http://schemas.openxmlformats.org/drawingml/2006/main">
              <a:ext uri="{FF2B5EF4-FFF2-40B4-BE49-F238E27FC236}">
                <a16:creationId xmlns:a16="http://schemas.microsoft.com/office/drawing/2014/main" id="{F7B9B55D-567C-4D65-9EC5-D2846209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95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F48"/>
            </a:solidFill>
            <a:prstDash val="solid"/>
          </a:ln>
        </p:spPr>
      </p:sp>
      <p:sp>
        <p:nvSpPr>
          <p:cNvPr id="30" name="p-clock-hand-v">
            <a:extLst xmlns:a="http://schemas.openxmlformats.org/drawingml/2006/main">
              <a:ext uri="{FF2B5EF4-FFF2-40B4-BE49-F238E27FC236}">
                <a16:creationId xmlns:a16="http://schemas.microsoft.com/office/drawing/2014/main" id="{CCA3DF2F-29B8-4D9E-A2F7-94F0489F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474" y="3371660"/>
            <a:ext cx="19050" cy="124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48"/>
          </a:solidFill>
          <a:ln xmlns:a="http://schemas.openxmlformats.org/drawingml/2006/main" w="0">
            <a:solidFill>
              <a:srgbClr val="243F48"/>
            </a:solidFill>
            <a:prstDash val="solid"/>
          </a:ln>
        </p:spPr>
      </p:sp>
      <p:sp>
        <p:nvSpPr>
          <p:cNvPr id="31" name="p-clock-hand-h">
            <a:extLst xmlns:a="http://schemas.openxmlformats.org/drawingml/2006/main">
              <a:ext uri="{FF2B5EF4-FFF2-40B4-BE49-F238E27FC236}">
                <a16:creationId xmlns:a16="http://schemas.microsoft.com/office/drawing/2014/main" id="{F3F66E57-99BA-48EB-A918-41766EB4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474" y="3487674"/>
            <a:ext cx="880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48"/>
          </a:solidFill>
          <a:ln xmlns:a="http://schemas.openxmlformats.org/drawingml/2006/main" w="0">
            <a:solidFill>
              <a:srgbClr val="243F48"/>
            </a:solidFill>
            <a:prstDash val="solid"/>
          </a:ln>
        </p:spPr>
      </p:sp>
      <p:sp>
        <p:nvSpPr>
          <p:cNvPr id="32" name="p-refresh">
            <a:extLst xmlns:a="http://schemas.openxmlformats.org/drawingml/2006/main">
              <a:ext uri="{FF2B5EF4-FFF2-40B4-BE49-F238E27FC236}">
                <a16:creationId xmlns:a16="http://schemas.microsoft.com/office/drawing/2014/main" id="{E1039290-20B9-4382-9BB8-5BEE4E3D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147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02A2E"/>
                </a:solidFill>
              </a:defRPr>
            </a:pPr>
            <a:r>
              <a:rPr sz="1125" b="0" i="0">
                <a:solidFill>
                  <a:srgbClr val="202A2E"/>
                </a:solidFill>
              </a:rPr>
              <a:t>refresh</a:t>
            </a:r>
          </a:p>
        </p:txBody>
      </p:sp>
      <p:cxnSp>
        <p:nvCxnSpPr>
          <p:cNvPr id="222" name=""/>
          <p:cNvCxnSpPr>
            <a:stCxn xmlns:a="http://schemas.openxmlformats.org/drawingml/2006/main" id="21" idx="6"/>
            <a:endCxn xmlns:a="http://schemas.openxmlformats.org/drawingml/2006/main" id="29" idx="2"/>
          </p:cNvCxnSpPr>
          <p:nvPr/>
        </p:nvCxnSpPr>
        <p:spPr>
          <a:xfrm xmlns:a="http://schemas.openxmlformats.org/drawingml/2006/main">
            <a:off x="2324100" y="3238500"/>
            <a:ext cx="51435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3F4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4" name="p-s1">
            <a:extLst xmlns:a="http://schemas.openxmlformats.org/drawingml/2006/main">
              <a:ext uri="{FF2B5EF4-FFF2-40B4-BE49-F238E27FC236}">
                <a16:creationId xmlns:a16="http://schemas.microsoft.com/office/drawing/2014/main" id="{397008DA-7DEC-4C17-A092-B6D44132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4792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02A2E"/>
                </a:solidFill>
              </a:defRPr>
            </a:pPr>
            <a:r>
              <a:rPr sz="1425" b="1" i="0">
                <a:solidFill>
                  <a:srgbClr val="202A2E"/>
                </a:solidFill>
              </a:rPr>
              <a:t>S1</a:t>
            </a:r>
          </a:p>
        </p:txBody>
      </p:sp>
      <p:sp>
        <p:nvSpPr>
          <p:cNvPr id="35" name="p-s1-state">
            <a:extLst xmlns:a="http://schemas.openxmlformats.org/drawingml/2006/main">
              <a:ext uri="{FF2B5EF4-FFF2-40B4-BE49-F238E27FC236}">
                <a16:creationId xmlns:a16="http://schemas.microsoft.com/office/drawing/2014/main" id="{3BFF16AD-D39B-4601-B1CF-42987B36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33675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0282B"/>
            </a:solidFill>
            <a:prstDash val="solid"/>
          </a:ln>
        </p:spPr>
      </p:sp>
      <p:sp>
        <p:nvSpPr>
          <p:cNvPr id="36" name="p-s1-other-0">
            <a:extLst xmlns:a="http://schemas.openxmlformats.org/drawingml/2006/main">
              <a:ext uri="{FF2B5EF4-FFF2-40B4-BE49-F238E27FC236}">
                <a16:creationId xmlns:a16="http://schemas.microsoft.com/office/drawing/2014/main" id="{53767575-02DE-4462-AD83-AE8CD7D9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718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37" name="p-s1-other-1">
            <a:extLst xmlns:a="http://schemas.openxmlformats.org/drawingml/2006/main">
              <a:ext uri="{FF2B5EF4-FFF2-40B4-BE49-F238E27FC236}">
                <a16:creationId xmlns:a16="http://schemas.microsoft.com/office/drawing/2014/main" id="{D3380AC2-C041-4130-A63E-EC6BF676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8956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38" name="p-s1-other-2">
            <a:extLst xmlns:a="http://schemas.openxmlformats.org/drawingml/2006/main">
              <a:ext uri="{FF2B5EF4-FFF2-40B4-BE49-F238E27FC236}">
                <a16:creationId xmlns:a16="http://schemas.microsoft.com/office/drawing/2014/main" id="{B5415997-FD39-4673-9F30-E983DF47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861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39" name="p-s1-other-3">
            <a:extLst xmlns:a="http://schemas.openxmlformats.org/drawingml/2006/main">
              <a:ext uri="{FF2B5EF4-FFF2-40B4-BE49-F238E27FC236}">
                <a16:creationId xmlns:a16="http://schemas.microsoft.com/office/drawing/2014/main" id="{1A1C7DC9-4992-4439-A9B2-5914FFD1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4194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40" name="p-s1-a">
            <a:extLst xmlns:a="http://schemas.openxmlformats.org/drawingml/2006/main">
              <a:ext uri="{FF2B5EF4-FFF2-40B4-BE49-F238E27FC236}">
                <a16:creationId xmlns:a16="http://schemas.microsoft.com/office/drawing/2014/main" id="{79653E3B-0430-4307-A7AB-8D79231F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71825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F45"/>
          </a:solidFill>
          <a:ln xmlns:a="http://schemas.openxmlformats.org/drawingml/2006/main" w="16193">
            <a:solidFill>
              <a:srgbClr val="F0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1" name="p-s1-b">
            <a:extLst xmlns:a="http://schemas.openxmlformats.org/drawingml/2006/main">
              <a:ext uri="{FF2B5EF4-FFF2-40B4-BE49-F238E27FC236}">
                <a16:creationId xmlns:a16="http://schemas.microsoft.com/office/drawing/2014/main" id="{F773B37E-7AD9-44A2-9FB7-53CBDA76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67025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B88"/>
          </a:solidFill>
          <a:ln xmlns:a="http://schemas.openxmlformats.org/drawingml/2006/main" w="16193">
            <a:solidFill>
              <a:srgbClr val="128B8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42" name="p-q1">
            <a:extLst xmlns:a="http://schemas.openxmlformats.org/drawingml/2006/main">
              <a:ext uri="{FF2B5EF4-FFF2-40B4-BE49-F238E27FC236}">
                <a16:creationId xmlns:a16="http://schemas.microsoft.com/office/drawing/2014/main" id="{A116060B-7E04-452B-8AC0-0814C0E8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81425"/>
            <a:ext cx="1219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202A2E"/>
                </a:solidFill>
              </a:defRPr>
            </a:pPr>
            <a:r>
              <a:rPr sz="1350" b="0" i="1">
                <a:solidFill>
                  <a:srgbClr val="202A2E"/>
                </a:solidFill>
              </a:rPr>
              <a:t>q(S1) = B</a:t>
            </a:r>
          </a:p>
        </p:txBody>
      </p:sp>
      <p:cxnSp>
        <p:nvCxnSpPr>
          <p:cNvPr id="232" name=""/>
          <p:cNvCxnSpPr>
            <a:stCxn xmlns:a="http://schemas.openxmlformats.org/drawingml/2006/main" id="29" idx="6"/>
            <a:endCxn xmlns:a="http://schemas.openxmlformats.org/drawingml/2006/main" id="35" idx="2"/>
          </p:cNvCxnSpPr>
          <p:nvPr/>
        </p:nvCxnSpPr>
        <p:spPr>
          <a:xfrm xmlns:a="http://schemas.openxmlformats.org/drawingml/2006/main" flipV="1">
            <a:off x="3238500" y="3238500"/>
            <a:ext cx="45720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3F4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4" name="p-target-circle">
            <a:extLst xmlns:a="http://schemas.openxmlformats.org/drawingml/2006/main">
              <a:ext uri="{FF2B5EF4-FFF2-40B4-BE49-F238E27FC236}">
                <a16:creationId xmlns:a16="http://schemas.microsoft.com/office/drawing/2014/main" id="{98E8E0E6-9CFB-4C5C-884C-94B1EB51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114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F0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05F45"/>
                </a:solidFill>
              </a:defRPr>
            </a:pPr>
            <a:r>
              <a:rPr sz="1500" b="1">
                <a:solidFill>
                  <a:srgbClr val="F05F45"/>
                </a:solidFill>
              </a:rPr>
              <a:t>A</a:t>
            </a:r>
          </a:p>
        </p:txBody>
      </p:sp>
      <p:sp>
        <p:nvSpPr>
          <p:cNvPr id="45" name="p-target-h">
            <a:extLst xmlns:a="http://schemas.openxmlformats.org/drawingml/2006/main">
              <a:ext uri="{FF2B5EF4-FFF2-40B4-BE49-F238E27FC236}">
                <a16:creationId xmlns:a16="http://schemas.microsoft.com/office/drawing/2014/main" id="{C53B62CA-8210-4B5B-BEB3-607780D5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337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F45"/>
          </a:solidFill>
          <a:ln xmlns:a="http://schemas.openxmlformats.org/drawingml/2006/main" w="0">
            <a:solidFill>
              <a:srgbClr val="F05F45"/>
            </a:solidFill>
            <a:prstDash val="solid"/>
          </a:ln>
        </p:spPr>
      </p:sp>
      <p:sp>
        <p:nvSpPr>
          <p:cNvPr id="46" name="p-target-v">
            <a:extLst xmlns:a="http://schemas.openxmlformats.org/drawingml/2006/main">
              <a:ext uri="{FF2B5EF4-FFF2-40B4-BE49-F238E27FC236}">
                <a16:creationId xmlns:a16="http://schemas.microsoft.com/office/drawing/2014/main" id="{8012D99F-2D44-4181-ABC7-847AE8E1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38475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F45"/>
          </a:solidFill>
          <a:ln xmlns:a="http://schemas.openxmlformats.org/drawingml/2006/main" w="0">
            <a:solidFill>
              <a:srgbClr val="F05F45"/>
            </a:solidFill>
            <a:prstDash val="solid"/>
          </a:ln>
        </p:spPr>
      </p:sp>
      <p:cxnSp>
        <p:nvCxnSpPr>
          <p:cNvPr id="236" name=""/>
          <p:cNvCxnSpPr>
            <a:stCxn xmlns:a="http://schemas.openxmlformats.org/drawingml/2006/main" id="35" idx="6"/>
            <a:endCxn xmlns:a="http://schemas.openxmlformats.org/drawingml/2006/main" id="44" idx="2"/>
          </p:cNvCxnSpPr>
          <p:nvPr/>
        </p:nvCxnSpPr>
        <p:spPr>
          <a:xfrm xmlns:a="http://schemas.openxmlformats.org/drawingml/2006/main">
            <a:off x="4705350" y="3238500"/>
            <a:ext cx="752475" cy="1047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F05F45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8" name="p-action">
            <a:extLst xmlns:a="http://schemas.openxmlformats.org/drawingml/2006/main">
              <a:ext uri="{FF2B5EF4-FFF2-40B4-BE49-F238E27FC236}">
                <a16:creationId xmlns:a16="http://schemas.microsoft.com/office/drawing/2014/main" id="{B201F4E7-37E5-4E37-8750-4E0D3FED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57500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A2E"/>
                </a:solidFill>
              </a:defRPr>
            </a:pPr>
            <a:r>
              <a:rPr sz="1125" b="1" i="0">
                <a:solidFill>
                  <a:srgbClr val="202A2E"/>
                </a:solidFill>
              </a:rPr>
              <a:t>action executes</a:t>
            </a:r>
          </a:p>
        </p:txBody>
      </p:sp>
      <p:sp>
        <p:nvSpPr>
          <p:cNvPr id="49" name="p-target-label">
            <a:extLst xmlns:a="http://schemas.openxmlformats.org/drawingml/2006/main">
              <a:ext uri="{FF2B5EF4-FFF2-40B4-BE49-F238E27FC236}">
                <a16:creationId xmlns:a16="http://schemas.microsoft.com/office/drawing/2014/main" id="{FD19A44E-57EF-4F5B-B91D-47D6B9B8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76650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05F45"/>
                </a:solidFill>
              </a:defRPr>
            </a:pPr>
            <a:r>
              <a:rPr sz="1275" b="1" i="0">
                <a:solidFill>
                  <a:srgbClr val="F05F45"/>
                </a:solidFill>
              </a:rPr>
              <a:t>target A</a:t>
            </a:r>
          </a:p>
        </p:txBody>
      </p:sp>
      <p:sp>
        <p:nvSpPr>
          <p:cNvPr id="50" name="reevaluate-lane">
            <a:extLst xmlns:a="http://schemas.openxmlformats.org/drawingml/2006/main">
              <a:ext uri="{FF2B5EF4-FFF2-40B4-BE49-F238E27FC236}">
                <a16:creationId xmlns:a16="http://schemas.microsoft.com/office/drawing/2014/main" id="{D908EB1A-79D6-455B-890B-BEEDDC5A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14850"/>
            <a:ext cx="5924550" cy="2009775"/>
          </a:xfrm>
          <a:prstGeom xmlns:a="http://schemas.openxmlformats.org/drawingml/2006/main" prst="roundRect">
            <a:avLst>
              <a:gd name="adj" fmla="val 2844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128B88"/>
            </a:solidFill>
            <a:prstDash val="dash"/>
          </a:ln>
        </p:spPr>
      </p:sp>
      <p:sp>
        <p:nvSpPr>
          <p:cNvPr id="51" name="reevaluate-band">
            <a:extLst xmlns:a="http://schemas.openxmlformats.org/drawingml/2006/main">
              <a:ext uri="{FF2B5EF4-FFF2-40B4-BE49-F238E27FC236}">
                <a16:creationId xmlns:a16="http://schemas.microsoft.com/office/drawing/2014/main" id="{09D751C4-35B9-4E73-A9C8-194B7951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14850"/>
            <a:ext cx="895350" cy="20097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28B88"/>
          </a:solidFill>
          <a:ln xmlns:a="http://schemas.openxmlformats.org/drawingml/2006/main" w="0">
            <a:solidFill>
              <a:srgbClr val="128B88"/>
            </a:solidFill>
            <a:prstDash val="solid"/>
          </a:ln>
        </p:spPr>
      </p:sp>
      <p:sp>
        <p:nvSpPr>
          <p:cNvPr id="52" name="reevaluate-band-title">
            <a:extLst xmlns:a="http://schemas.openxmlformats.org/drawingml/2006/main">
              <a:ext uri="{FF2B5EF4-FFF2-40B4-BE49-F238E27FC236}">
                <a16:creationId xmlns:a16="http://schemas.microsoft.com/office/drawing/2014/main" id="{1F08BDD0-2399-47E6-BA5E-4B3163A6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65772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Reevaluate</a:t>
            </a:r>
          </a:p>
        </p:txBody>
      </p:sp>
      <p:sp>
        <p:nvSpPr>
          <p:cNvPr id="53" name="reevaluate-band-desc">
            <a:extLst xmlns:a="http://schemas.openxmlformats.org/drawingml/2006/main">
              <a:ext uri="{FF2B5EF4-FFF2-40B4-BE49-F238E27FC236}">
                <a16:creationId xmlns:a16="http://schemas.microsoft.com/office/drawing/2014/main" id="{653FAC6E-371A-462B-9FFE-32D61C11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991100"/>
            <a:ext cx="742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defer</a:t>
            </a:r>
          </a:p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selection</a:t>
            </a:r>
          </a:p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until after</a:t>
            </a:r>
          </a:p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refresh</a:t>
            </a:r>
          </a:p>
        </p:txBody>
      </p:sp>
      <p:sp>
        <p:nvSpPr>
          <p:cNvPr id="54" name="reevaluate-clock-icon-face">
            <a:extLst xmlns:a="http://schemas.openxmlformats.org/drawingml/2006/main">
              <a:ext uri="{FF2B5EF4-FFF2-40B4-BE49-F238E27FC236}">
                <a16:creationId xmlns:a16="http://schemas.microsoft.com/office/drawing/2014/main" id="{B19651CB-7EA7-4463-8A42-1318F9CC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5" name="reevaluate-clock-icon-hand-v">
            <a:extLst xmlns:a="http://schemas.openxmlformats.org/drawingml/2006/main">
              <a:ext uri="{FF2B5EF4-FFF2-40B4-BE49-F238E27FC236}">
                <a16:creationId xmlns:a16="http://schemas.microsoft.com/office/drawing/2014/main" id="{FF3BBE1F-1908-4F71-90EF-4A0E267E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" y="6102668"/>
            <a:ext cx="19050" cy="885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6" name="reevaluate-clock-icon-hand-h">
            <a:extLst xmlns:a="http://schemas.openxmlformats.org/drawingml/2006/main">
              <a:ext uri="{FF2B5EF4-FFF2-40B4-BE49-F238E27FC236}">
                <a16:creationId xmlns:a16="http://schemas.microsoft.com/office/drawing/2014/main" id="{7EC21120-3C82-4069-B8D1-49B8A200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" y="6185535"/>
            <a:ext cx="6286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7" name="r-s0">
            <a:extLst xmlns:a="http://schemas.openxmlformats.org/drawingml/2006/main">
              <a:ext uri="{FF2B5EF4-FFF2-40B4-BE49-F238E27FC236}">
                <a16:creationId xmlns:a16="http://schemas.microsoft.com/office/drawing/2014/main" id="{29ED0D30-7FE2-4402-95C5-5EA631DE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01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02A2E"/>
                </a:solidFill>
              </a:defRPr>
            </a:pPr>
            <a:r>
              <a:rPr sz="1425" b="1" i="0">
                <a:solidFill>
                  <a:srgbClr val="202A2E"/>
                </a:solidFill>
              </a:rPr>
              <a:t>S0</a:t>
            </a:r>
          </a:p>
        </p:txBody>
      </p:sp>
      <p:sp>
        <p:nvSpPr>
          <p:cNvPr id="58" name="r-s0-state">
            <a:extLst xmlns:a="http://schemas.openxmlformats.org/drawingml/2006/main">
              <a:ext uri="{FF2B5EF4-FFF2-40B4-BE49-F238E27FC236}">
                <a16:creationId xmlns:a16="http://schemas.microsoft.com/office/drawing/2014/main" id="{A6DAC689-2300-4852-8E7B-A1A5258C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0282B"/>
            </a:solidFill>
            <a:prstDash val="solid"/>
          </a:ln>
        </p:spPr>
      </p:sp>
      <p:sp>
        <p:nvSpPr>
          <p:cNvPr id="59" name="r-s0-other-0">
            <a:extLst xmlns:a="http://schemas.openxmlformats.org/drawingml/2006/main">
              <a:ext uri="{FF2B5EF4-FFF2-40B4-BE49-F238E27FC236}">
                <a16:creationId xmlns:a16="http://schemas.microsoft.com/office/drawing/2014/main" id="{2A6FBE71-679B-4669-BA5C-E2DE1D86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339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60" name="r-s0-other-1">
            <a:extLst xmlns:a="http://schemas.openxmlformats.org/drawingml/2006/main">
              <a:ext uri="{FF2B5EF4-FFF2-40B4-BE49-F238E27FC236}">
                <a16:creationId xmlns:a16="http://schemas.microsoft.com/office/drawing/2014/main" id="{7A30C170-FCA8-4788-803C-C580FCF4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0577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61" name="r-s0-other-2">
            <a:extLst xmlns:a="http://schemas.openxmlformats.org/drawingml/2006/main">
              <a:ext uri="{FF2B5EF4-FFF2-40B4-BE49-F238E27FC236}">
                <a16:creationId xmlns:a16="http://schemas.microsoft.com/office/drawing/2014/main" id="{749A895B-099C-4617-8740-8EE4C8F7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483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62" name="r-s0-other-3">
            <a:extLst xmlns:a="http://schemas.openxmlformats.org/drawingml/2006/main">
              <a:ext uri="{FF2B5EF4-FFF2-40B4-BE49-F238E27FC236}">
                <a16:creationId xmlns:a16="http://schemas.microsoft.com/office/drawing/2014/main" id="{E5035741-BD7E-4DB7-AFEF-C878D2F5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581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63" name="r-s0-a">
            <a:extLst xmlns:a="http://schemas.openxmlformats.org/drawingml/2006/main">
              <a:ext uri="{FF2B5EF4-FFF2-40B4-BE49-F238E27FC236}">
                <a16:creationId xmlns:a16="http://schemas.microsoft.com/office/drawing/2014/main" id="{B4FB7D33-C8F2-447D-9CAA-D5425BAE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33400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F45"/>
          </a:solidFill>
          <a:ln xmlns:a="http://schemas.openxmlformats.org/drawingml/2006/main" w="16193">
            <a:solidFill>
              <a:srgbClr val="F0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4" name="r-q0">
            <a:extLst xmlns:a="http://schemas.openxmlformats.org/drawingml/2006/main">
              <a:ext uri="{FF2B5EF4-FFF2-40B4-BE49-F238E27FC236}">
                <a16:creationId xmlns:a16="http://schemas.microsoft.com/office/drawing/2014/main" id="{2DF062BC-B986-4CBB-8DCE-F6B38DF8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43600"/>
            <a:ext cx="1219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202A2E"/>
                </a:solidFill>
              </a:defRPr>
            </a:pPr>
            <a:r>
              <a:rPr sz="1350" b="0" i="1">
                <a:solidFill>
                  <a:srgbClr val="202A2E"/>
                </a:solidFill>
              </a:rPr>
              <a:t>q(S0) = A</a:t>
            </a:r>
          </a:p>
        </p:txBody>
      </p:sp>
      <p:sp>
        <p:nvSpPr>
          <p:cNvPr id="65" name="r-defer-label">
            <a:extLst xmlns:a="http://schemas.openxmlformats.org/drawingml/2006/main">
              <a:ext uri="{FF2B5EF4-FFF2-40B4-BE49-F238E27FC236}">
                <a16:creationId xmlns:a16="http://schemas.microsoft.com/office/drawing/2014/main" id="{B842E490-27AB-4510-9BBA-A1D0E52A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10125"/>
            <a:ext cx="1085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8B88"/>
                </a:solidFill>
              </a:defRPr>
            </a:pPr>
            <a:r>
              <a:rPr sz="1200" b="1" i="0">
                <a:solidFill>
                  <a:srgbClr val="128B88"/>
                </a:solidFill>
              </a:rPr>
              <a:t>deferred(q)</a:t>
            </a:r>
          </a:p>
          <a:p xmlns:a="http://schemas.openxmlformats.org/drawingml/2006/main">
            <a:pPr algn="ctr">
              <a:defRPr sz="1200" b="1" i="0">
                <a:solidFill>
                  <a:srgbClr val="128B88"/>
                </a:solidFill>
              </a:defRPr>
            </a:pPr>
            <a:r>
              <a:rPr sz="1200" b="1" i="0">
                <a:solidFill>
                  <a:srgbClr val="128B88"/>
                </a:solidFill>
              </a:rPr>
              <a:t>do not bind</a:t>
            </a:r>
          </a:p>
        </p:txBody>
      </p:sp>
      <p:sp>
        <p:nvSpPr>
          <p:cNvPr id="66" name="r-clock-face">
            <a:extLst xmlns:a="http://schemas.openxmlformats.org/drawingml/2006/main">
              <a:ext uri="{FF2B5EF4-FFF2-40B4-BE49-F238E27FC236}">
                <a16:creationId xmlns:a16="http://schemas.microsoft.com/office/drawing/2014/main" id="{BC5E750E-49D7-4A12-87E7-548C9684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457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F48"/>
            </a:solidFill>
            <a:prstDash val="solid"/>
          </a:ln>
        </p:spPr>
      </p:sp>
      <p:sp>
        <p:nvSpPr>
          <p:cNvPr id="67" name="r-clock-hand-v">
            <a:extLst xmlns:a="http://schemas.openxmlformats.org/drawingml/2006/main">
              <a:ext uri="{FF2B5EF4-FFF2-40B4-BE49-F238E27FC236}">
                <a16:creationId xmlns:a16="http://schemas.microsoft.com/office/drawing/2014/main" id="{DD31E2DC-6B29-4BED-AA13-111736E6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474" y="5533835"/>
            <a:ext cx="19050" cy="124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48"/>
          </a:solidFill>
          <a:ln xmlns:a="http://schemas.openxmlformats.org/drawingml/2006/main" w="0">
            <a:solidFill>
              <a:srgbClr val="243F48"/>
            </a:solidFill>
            <a:prstDash val="solid"/>
          </a:ln>
        </p:spPr>
      </p:sp>
      <p:sp>
        <p:nvSpPr>
          <p:cNvPr id="68" name="r-clock-hand-h">
            <a:extLst xmlns:a="http://schemas.openxmlformats.org/drawingml/2006/main">
              <a:ext uri="{FF2B5EF4-FFF2-40B4-BE49-F238E27FC236}">
                <a16:creationId xmlns:a16="http://schemas.microsoft.com/office/drawing/2014/main" id="{11F88B52-B147-4532-AD58-8BD7B880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474" y="5649849"/>
            <a:ext cx="880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48"/>
          </a:solidFill>
          <a:ln xmlns:a="http://schemas.openxmlformats.org/drawingml/2006/main" w="0">
            <a:solidFill>
              <a:srgbClr val="243F48"/>
            </a:solidFill>
            <a:prstDash val="solid"/>
          </a:ln>
        </p:spPr>
      </p:sp>
      <p:sp>
        <p:nvSpPr>
          <p:cNvPr id="69" name="r-refresh">
            <a:extLst xmlns:a="http://schemas.openxmlformats.org/drawingml/2006/main">
              <a:ext uri="{FF2B5EF4-FFF2-40B4-BE49-F238E27FC236}">
                <a16:creationId xmlns:a16="http://schemas.microsoft.com/office/drawing/2014/main" id="{C3C2B0A3-D924-4E4C-A35D-8E7DED2D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769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02A2E"/>
                </a:solidFill>
              </a:defRPr>
            </a:pPr>
            <a:r>
              <a:rPr sz="1125" b="0" i="0">
                <a:solidFill>
                  <a:srgbClr val="202A2E"/>
                </a:solidFill>
              </a:rPr>
              <a:t>refresh</a:t>
            </a:r>
          </a:p>
        </p:txBody>
      </p:sp>
      <p:cxnSp>
        <p:nvCxnSpPr>
          <p:cNvPr id="259" name=""/>
          <p:cNvCxnSpPr>
            <a:stCxn xmlns:a="http://schemas.openxmlformats.org/drawingml/2006/main" id="58" idx="6"/>
            <a:endCxn xmlns:a="http://schemas.openxmlformats.org/drawingml/2006/main" id="66" idx="2"/>
          </p:cNvCxnSpPr>
          <p:nvPr/>
        </p:nvCxnSpPr>
        <p:spPr>
          <a:xfrm xmlns:a="http://schemas.openxmlformats.org/drawingml/2006/main">
            <a:off x="2324100" y="5400675"/>
            <a:ext cx="51435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28B88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71" name="r-s1">
            <a:extLst xmlns:a="http://schemas.openxmlformats.org/drawingml/2006/main">
              <a:ext uri="{FF2B5EF4-FFF2-40B4-BE49-F238E27FC236}">
                <a16:creationId xmlns:a16="http://schemas.microsoft.com/office/drawing/2014/main" id="{2EDB14C1-A0DE-4B3D-A4EC-301C8DEA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101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02A2E"/>
                </a:solidFill>
              </a:defRPr>
            </a:pPr>
            <a:r>
              <a:rPr sz="1425" b="1" i="0">
                <a:solidFill>
                  <a:srgbClr val="202A2E"/>
                </a:solidFill>
              </a:rPr>
              <a:t>S1</a:t>
            </a:r>
          </a:p>
        </p:txBody>
      </p:sp>
      <p:sp>
        <p:nvSpPr>
          <p:cNvPr id="72" name="r-s1-state">
            <a:extLst xmlns:a="http://schemas.openxmlformats.org/drawingml/2006/main">
              <a:ext uri="{FF2B5EF4-FFF2-40B4-BE49-F238E27FC236}">
                <a16:creationId xmlns:a16="http://schemas.microsoft.com/office/drawing/2014/main" id="{B43BE851-A535-4F57-BD7E-EA4C4EF2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9585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0282B"/>
            </a:solidFill>
            <a:prstDash val="solid"/>
          </a:ln>
        </p:spPr>
      </p:sp>
      <p:sp>
        <p:nvSpPr>
          <p:cNvPr id="73" name="r-s1-other-0">
            <a:extLst xmlns:a="http://schemas.openxmlformats.org/drawingml/2006/main">
              <a:ext uri="{FF2B5EF4-FFF2-40B4-BE49-F238E27FC236}">
                <a16:creationId xmlns:a16="http://schemas.microsoft.com/office/drawing/2014/main" id="{FA44D41C-ABE3-4378-BB32-F4F8DB14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339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74" name="r-s1-other-1">
            <a:extLst xmlns:a="http://schemas.openxmlformats.org/drawingml/2006/main">
              <a:ext uri="{FF2B5EF4-FFF2-40B4-BE49-F238E27FC236}">
                <a16:creationId xmlns:a16="http://schemas.microsoft.com/office/drawing/2014/main" id="{3B8BACC1-D8EB-426D-9452-C427D62C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0577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75" name="r-s1-other-2">
            <a:extLst xmlns:a="http://schemas.openxmlformats.org/drawingml/2006/main">
              <a:ext uri="{FF2B5EF4-FFF2-40B4-BE49-F238E27FC236}">
                <a16:creationId xmlns:a16="http://schemas.microsoft.com/office/drawing/2014/main" id="{0A5186A5-499A-4A75-8356-6CEDA505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4483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76" name="r-s1-other-3">
            <a:extLst xmlns:a="http://schemas.openxmlformats.org/drawingml/2006/main">
              <a:ext uri="{FF2B5EF4-FFF2-40B4-BE49-F238E27FC236}">
                <a16:creationId xmlns:a16="http://schemas.microsoft.com/office/drawing/2014/main" id="{AC5A83F6-2145-4504-99ED-42B6CE4C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581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77" name="r-s1-a">
            <a:extLst xmlns:a="http://schemas.openxmlformats.org/drawingml/2006/main">
              <a:ext uri="{FF2B5EF4-FFF2-40B4-BE49-F238E27FC236}">
                <a16:creationId xmlns:a16="http://schemas.microsoft.com/office/drawing/2014/main" id="{4941A7DE-A57B-4D22-87D7-25BCF5AC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33400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F45"/>
          </a:solidFill>
          <a:ln xmlns:a="http://schemas.openxmlformats.org/drawingml/2006/main" w="16193">
            <a:solidFill>
              <a:srgbClr val="F0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8" name="r-s1-b">
            <a:extLst xmlns:a="http://schemas.openxmlformats.org/drawingml/2006/main">
              <a:ext uri="{FF2B5EF4-FFF2-40B4-BE49-F238E27FC236}">
                <a16:creationId xmlns:a16="http://schemas.microsoft.com/office/drawing/2014/main" id="{7FFEC51A-6F9B-4906-AEBA-CC33714A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2920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B88"/>
          </a:solidFill>
          <a:ln xmlns:a="http://schemas.openxmlformats.org/drawingml/2006/main" w="16193">
            <a:solidFill>
              <a:srgbClr val="128B8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79" name="r-q1">
            <a:extLst xmlns:a="http://schemas.openxmlformats.org/drawingml/2006/main">
              <a:ext uri="{FF2B5EF4-FFF2-40B4-BE49-F238E27FC236}">
                <a16:creationId xmlns:a16="http://schemas.microsoft.com/office/drawing/2014/main" id="{C3F0EF58-737C-40F6-82C1-BC1EFEEB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943600"/>
            <a:ext cx="1219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202A2E"/>
                </a:solidFill>
              </a:defRPr>
            </a:pPr>
            <a:r>
              <a:rPr sz="1350" b="0" i="1">
                <a:solidFill>
                  <a:srgbClr val="202A2E"/>
                </a:solidFill>
              </a:rPr>
              <a:t>q(S1) = B</a:t>
            </a:r>
          </a:p>
        </p:txBody>
      </p:sp>
      <p:cxnSp>
        <p:nvCxnSpPr>
          <p:cNvPr id="269" name=""/>
          <p:cNvCxnSpPr>
            <a:stCxn xmlns:a="http://schemas.openxmlformats.org/drawingml/2006/main" id="66" idx="6"/>
            <a:endCxn xmlns:a="http://schemas.openxmlformats.org/drawingml/2006/main" id="72" idx="2"/>
          </p:cNvCxnSpPr>
          <p:nvPr/>
        </p:nvCxnSpPr>
        <p:spPr>
          <a:xfrm xmlns:a="http://schemas.openxmlformats.org/drawingml/2006/main" flipV="1">
            <a:off x="3238500" y="5400675"/>
            <a:ext cx="45720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28B88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81" name="r-resolve">
            <a:extLst xmlns:a="http://schemas.openxmlformats.org/drawingml/2006/main">
              <a:ext uri="{FF2B5EF4-FFF2-40B4-BE49-F238E27FC236}">
                <a16:creationId xmlns:a16="http://schemas.microsoft.com/office/drawing/2014/main" id="{A48893AE-B7C1-451C-B87D-D422D036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810125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28B88"/>
                </a:solidFill>
              </a:defRPr>
            </a:pPr>
            <a:r>
              <a:rPr sz="1125" b="1" i="0">
                <a:solidFill>
                  <a:srgbClr val="128B88"/>
                </a:solidFill>
              </a:rPr>
              <a:t>resolve(q) on S1</a:t>
            </a:r>
          </a:p>
        </p:txBody>
      </p:sp>
      <p:sp>
        <p:nvSpPr>
          <p:cNvPr id="82" name="r-target-circle">
            <a:extLst xmlns:a="http://schemas.openxmlformats.org/drawingml/2006/main">
              <a:ext uri="{FF2B5EF4-FFF2-40B4-BE49-F238E27FC236}">
                <a16:creationId xmlns:a16="http://schemas.microsoft.com/office/drawing/2014/main" id="{89E77338-A52A-4017-82C5-B1288C9E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276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28B8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8B88"/>
                </a:solidFill>
              </a:defRPr>
            </a:pPr>
            <a:r>
              <a:rPr sz="1500" b="1">
                <a:solidFill>
                  <a:srgbClr val="128B88"/>
                </a:solidFill>
              </a:rPr>
              <a:t>B</a:t>
            </a:r>
          </a:p>
        </p:txBody>
      </p:sp>
      <p:sp>
        <p:nvSpPr>
          <p:cNvPr id="83" name="r-target-h">
            <a:extLst xmlns:a="http://schemas.openxmlformats.org/drawingml/2006/main">
              <a:ext uri="{FF2B5EF4-FFF2-40B4-BE49-F238E27FC236}">
                <a16:creationId xmlns:a16="http://schemas.microsoft.com/office/drawing/2014/main" id="{5FB50A66-8EEF-43EA-AA6E-4882FAE8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495925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B88"/>
          </a:solidFill>
          <a:ln xmlns:a="http://schemas.openxmlformats.org/drawingml/2006/main" w="0">
            <a:solidFill>
              <a:srgbClr val="128B88"/>
            </a:solidFill>
            <a:prstDash val="solid"/>
          </a:ln>
        </p:spPr>
      </p:sp>
      <p:sp>
        <p:nvSpPr>
          <p:cNvPr id="84" name="r-target-v">
            <a:extLst xmlns:a="http://schemas.openxmlformats.org/drawingml/2006/main">
              <a:ext uri="{FF2B5EF4-FFF2-40B4-BE49-F238E27FC236}">
                <a16:creationId xmlns:a16="http://schemas.microsoft.com/office/drawing/2014/main" id="{7B45D84C-47EE-4041-A34D-61666C5B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006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B88"/>
          </a:solidFill>
          <a:ln xmlns:a="http://schemas.openxmlformats.org/drawingml/2006/main" w="0">
            <a:solidFill>
              <a:srgbClr val="128B88"/>
            </a:solidFill>
            <a:prstDash val="solid"/>
          </a:ln>
        </p:spPr>
      </p:sp>
      <p:cxnSp>
        <p:nvCxnSpPr>
          <p:cNvPr id="274" name=""/>
          <p:cNvCxnSpPr>
            <a:stCxn xmlns:a="http://schemas.openxmlformats.org/drawingml/2006/main" id="72" idx="6"/>
            <a:endCxn xmlns:a="http://schemas.openxmlformats.org/drawingml/2006/main" id="82" idx="2"/>
          </p:cNvCxnSpPr>
          <p:nvPr/>
        </p:nvCxnSpPr>
        <p:spPr>
          <a:xfrm xmlns:a="http://schemas.openxmlformats.org/drawingml/2006/main">
            <a:off x="4705350" y="5400675"/>
            <a:ext cx="752475" cy="1047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28B88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86" name="r-target-label">
            <a:extLst xmlns:a="http://schemas.openxmlformats.org/drawingml/2006/main">
              <a:ext uri="{FF2B5EF4-FFF2-40B4-BE49-F238E27FC236}">
                <a16:creationId xmlns:a16="http://schemas.microsoft.com/office/drawing/2014/main" id="{B5131BA9-01A0-4DD4-873B-371186F7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38825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28B88"/>
                </a:solidFill>
              </a:defRPr>
            </a:pPr>
            <a:r>
              <a:rPr sz="1275" b="1" i="0">
                <a:solidFill>
                  <a:srgbClr val="128B88"/>
                </a:solidFill>
              </a:rPr>
              <a:t>target B</a:t>
            </a:r>
          </a:p>
        </p:txBody>
      </p:sp>
      <p:sp>
        <p:nvSpPr>
          <p:cNvPr id="87" name="a-legend">
            <a:extLst xmlns:a="http://schemas.openxmlformats.org/drawingml/2006/main">
              <a:ext uri="{FF2B5EF4-FFF2-40B4-BE49-F238E27FC236}">
                <a16:creationId xmlns:a16="http://schemas.microsoft.com/office/drawing/2014/main" id="{8378EFD9-E1C9-4EEE-90DD-FD18D518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77025"/>
            <a:ext cx="59245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AEBABD"/>
            </a:solidFill>
            <a:prstDash val="solid"/>
          </a:ln>
        </p:spPr>
      </p:sp>
      <p:sp>
        <p:nvSpPr>
          <p:cNvPr id="88" name="legend-other">
            <a:extLst xmlns:a="http://schemas.openxmlformats.org/drawingml/2006/main">
              <a:ext uri="{FF2B5EF4-FFF2-40B4-BE49-F238E27FC236}">
                <a16:creationId xmlns:a16="http://schemas.microsoft.com/office/drawing/2014/main" id="{D716C3C8-72AD-4F52-BCAC-4D2D7D62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838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7620">
            <a:solidFill>
              <a:srgbClr val="AEBABD"/>
            </a:solidFill>
            <a:prstDash val="solid"/>
          </a:ln>
        </p:spPr>
      </p:sp>
      <p:sp>
        <p:nvSpPr>
          <p:cNvPr id="89" name="legend-other-text">
            <a:extLst xmlns:a="http://schemas.openxmlformats.org/drawingml/2006/main">
              <a:ext uri="{FF2B5EF4-FFF2-40B4-BE49-F238E27FC236}">
                <a16:creationId xmlns:a16="http://schemas.microsoft.com/office/drawing/2014/main" id="{F957ED2B-CA6A-44B4-BA15-CC57A396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753225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202A2E"/>
                </a:solidFill>
              </a:defRPr>
            </a:pPr>
            <a:r>
              <a:rPr sz="900" b="0" i="0">
                <a:solidFill>
                  <a:srgbClr val="202A2E"/>
                </a:solidFill>
              </a:rPr>
              <a:t>other entities</a:t>
            </a:r>
          </a:p>
        </p:txBody>
      </p:sp>
      <p:sp>
        <p:nvSpPr>
          <p:cNvPr id="90" name="legend-a">
            <a:extLst xmlns:a="http://schemas.openxmlformats.org/drawingml/2006/main">
              <a:ext uri="{FF2B5EF4-FFF2-40B4-BE49-F238E27FC236}">
                <a16:creationId xmlns:a16="http://schemas.microsoft.com/office/drawing/2014/main" id="{F22BD5A6-52B4-4D1C-8448-0B345A9A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008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F45"/>
          </a:solidFill>
          <a:ln xmlns:a="http://schemas.openxmlformats.org/drawingml/2006/main" w="16193">
            <a:solidFill>
              <a:srgbClr val="F0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1" name="legend-a-text">
            <a:extLst xmlns:a="http://schemas.openxmlformats.org/drawingml/2006/main">
              <a:ext uri="{FF2B5EF4-FFF2-40B4-BE49-F238E27FC236}">
                <a16:creationId xmlns:a16="http://schemas.microsoft.com/office/drawing/2014/main" id="{EE918ED5-2F34-4F43-A28D-DB2104E4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6734175"/>
            <a:ext cx="876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202A2E"/>
                </a:solidFill>
              </a:defRPr>
            </a:pPr>
            <a:r>
              <a:rPr sz="825" b="0" i="0">
                <a:solidFill>
                  <a:srgbClr val="202A2E"/>
                </a:solidFill>
              </a:rPr>
              <a:t>entity A</a:t>
            </a:r>
          </a:p>
          <a:p xmlns:a="http://schemas.openxmlformats.org/drawingml/2006/main">
            <a:pPr algn="ctr">
              <a:defRPr sz="825" b="0" i="0">
                <a:solidFill>
                  <a:srgbClr val="202A2E"/>
                </a:solidFill>
              </a:defRPr>
            </a:pPr>
            <a:r>
              <a:rPr sz="825" b="0" i="0">
                <a:solidFill>
                  <a:srgbClr val="202A2E"/>
                </a:solidFill>
              </a:rPr>
              <a:t>initial winner</a:t>
            </a:r>
          </a:p>
        </p:txBody>
      </p:sp>
      <p:sp>
        <p:nvSpPr>
          <p:cNvPr id="92" name="legend-b">
            <a:extLst xmlns:a="http://schemas.openxmlformats.org/drawingml/2006/main">
              <a:ext uri="{FF2B5EF4-FFF2-40B4-BE49-F238E27FC236}">
                <a16:creationId xmlns:a16="http://schemas.microsoft.com/office/drawing/2014/main" id="{6412BA77-62F1-427A-83DB-789E00B4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8008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B88"/>
          </a:solidFill>
          <a:ln xmlns:a="http://schemas.openxmlformats.org/drawingml/2006/main" w="16193">
            <a:solidFill>
              <a:srgbClr val="128B8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93" name="legend-b-text">
            <a:extLst xmlns:a="http://schemas.openxmlformats.org/drawingml/2006/main">
              <a:ext uri="{FF2B5EF4-FFF2-40B4-BE49-F238E27FC236}">
                <a16:creationId xmlns:a16="http://schemas.microsoft.com/office/drawing/2014/main" id="{3B8047F4-FD59-41A8-B4D4-83D227B5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734175"/>
            <a:ext cx="100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202A2E"/>
                </a:solidFill>
              </a:defRPr>
            </a:pPr>
            <a:r>
              <a:rPr sz="825" b="0" i="0">
                <a:solidFill>
                  <a:srgbClr val="202A2E"/>
                </a:solidFill>
              </a:rPr>
              <a:t>entity B</a:t>
            </a:r>
          </a:p>
          <a:p xmlns:a="http://schemas.openxmlformats.org/drawingml/2006/main">
            <a:pPr algn="ctr">
              <a:defRPr sz="825" b="0" i="0">
                <a:solidFill>
                  <a:srgbClr val="202A2E"/>
                </a:solidFill>
              </a:defRPr>
            </a:pPr>
            <a:r>
              <a:rPr sz="825" b="0" i="0">
                <a:solidFill>
                  <a:srgbClr val="202A2E"/>
                </a:solidFill>
              </a:rPr>
              <a:t>post-refresh winner</a:t>
            </a:r>
          </a:p>
        </p:txBody>
      </p:sp>
      <p:sp>
        <p:nvSpPr>
          <p:cNvPr id="94" name="legend-bound">
            <a:extLst xmlns:a="http://schemas.openxmlformats.org/drawingml/2006/main">
              <a:ext uri="{FF2B5EF4-FFF2-40B4-BE49-F238E27FC236}">
                <a16:creationId xmlns:a16="http://schemas.microsoft.com/office/drawing/2014/main" id="{177E8BFC-1D4F-4039-BBCF-316D74F8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6800850"/>
            <a:ext cx="600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05F45"/>
                </a:solidFill>
              </a:defRPr>
            </a:pPr>
            <a:r>
              <a:rPr sz="675" b="1" i="0">
                <a:solidFill>
                  <a:srgbClr val="F05F45"/>
                </a:solidFill>
              </a:rPr>
              <a:t>BOUND</a:t>
            </a:r>
          </a:p>
        </p:txBody>
      </p:sp>
      <p:sp>
        <p:nvSpPr>
          <p:cNvPr id="95" name="legend-deferred">
            <a:extLst xmlns:a="http://schemas.openxmlformats.org/drawingml/2006/main">
              <a:ext uri="{FF2B5EF4-FFF2-40B4-BE49-F238E27FC236}">
                <a16:creationId xmlns:a16="http://schemas.microsoft.com/office/drawing/2014/main" id="{3E122586-4820-4EEE-8D35-68B2E19E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00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8B8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128B88"/>
                </a:solidFill>
              </a:defRPr>
            </a:pPr>
            <a:r>
              <a:rPr sz="600" b="1" i="0">
                <a:solidFill>
                  <a:srgbClr val="128B88"/>
                </a:solidFill>
              </a:rPr>
              <a:t>DEFERRED</a:t>
            </a:r>
          </a:p>
        </p:txBody>
      </p:sp>
      <p:sp>
        <p:nvSpPr>
          <p:cNvPr id="96" name="legend-action">
            <a:extLst xmlns:a="http://schemas.openxmlformats.org/drawingml/2006/main">
              <a:ext uri="{FF2B5EF4-FFF2-40B4-BE49-F238E27FC236}">
                <a16:creationId xmlns:a16="http://schemas.microsoft.com/office/drawing/2014/main" id="{1EAC5E40-F9BE-4EF6-A351-F9F8D120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7341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02A2E"/>
                </a:solidFill>
              </a:defRPr>
            </a:pPr>
            <a:r>
              <a:rPr sz="825" b="1" i="0">
                <a:solidFill>
                  <a:srgbClr val="202A2E"/>
                </a:solidFill>
              </a:rPr>
              <a:t>same action</a:t>
            </a:r>
          </a:p>
        </p:txBody>
      </p:sp>
      <p:sp>
        <p:nvSpPr>
          <p:cNvPr id="97" name="a-checklist">
            <a:extLst xmlns:a="http://schemas.openxmlformats.org/drawingml/2006/main">
              <a:ext uri="{FF2B5EF4-FFF2-40B4-BE49-F238E27FC236}">
                <a16:creationId xmlns:a16="http://schemas.microsoft.com/office/drawing/2014/main" id="{39160D30-8885-48A5-B60A-ADE26792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343775"/>
            <a:ext cx="5924550" cy="1457325"/>
          </a:xfrm>
          <a:prstGeom xmlns:a="http://schemas.openxmlformats.org/drawingml/2006/main" prst="roundRect">
            <a:avLst>
              <a:gd name="adj" fmla="val 3922"/>
            </a:avLst>
          </a:prstGeom>
          <a:noFill xmlns:a="http://schemas.openxmlformats.org/drawingml/2006/main"/>
          <a:ln xmlns:a="http://schemas.openxmlformats.org/drawingml/2006/main" w="10478">
            <a:solidFill>
              <a:srgbClr val="AEBABD"/>
            </a:solidFill>
            <a:prstDash val="dash"/>
          </a:ln>
        </p:spPr>
      </p:sp>
      <p:sp>
        <p:nvSpPr>
          <p:cNvPr id="98" name="a-check-divider">
            <a:extLst xmlns:a="http://schemas.openxmlformats.org/drawingml/2006/main">
              <a:ext uri="{FF2B5EF4-FFF2-40B4-BE49-F238E27FC236}">
                <a16:creationId xmlns:a16="http://schemas.microsoft.com/office/drawing/2014/main" id="{40022E36-0F83-444D-B0AD-6398D9D5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496175"/>
            <a:ext cx="95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ABD"/>
          </a:solidFill>
          <a:ln xmlns:a="http://schemas.openxmlformats.org/drawingml/2006/main" w="0">
            <a:solidFill>
              <a:srgbClr val="AEBABD"/>
            </a:solidFill>
            <a:prstDash val="solid"/>
          </a:ln>
        </p:spPr>
      </p:sp>
      <p:sp>
        <p:nvSpPr>
          <p:cNvPr id="99" name="a-fixed-head">
            <a:extLst xmlns:a="http://schemas.openxmlformats.org/drawingml/2006/main">
              <a:ext uri="{FF2B5EF4-FFF2-40B4-BE49-F238E27FC236}">
                <a16:creationId xmlns:a16="http://schemas.microsoft.com/office/drawing/2014/main" id="{C6B0CC19-2C35-4767-8806-1E5CE2B1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48550"/>
            <a:ext cx="2590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A2E"/>
                </a:solidFill>
              </a:defRPr>
            </a:pPr>
            <a:r>
              <a:rPr sz="1125" b="1" i="0">
                <a:solidFill>
                  <a:srgbClr val="202A2E"/>
                </a:solidFill>
              </a:rPr>
              <a:t>What is fixed across the pair</a:t>
            </a:r>
          </a:p>
        </p:txBody>
      </p:sp>
      <p:sp>
        <p:nvSpPr>
          <p:cNvPr id="100" name="a-fixed-list">
            <a:extLst xmlns:a="http://schemas.openxmlformats.org/drawingml/2006/main">
              <a:ext uri="{FF2B5EF4-FFF2-40B4-BE49-F238E27FC236}">
                <a16:creationId xmlns:a16="http://schemas.microsoft.com/office/drawing/2014/main" id="{D45A5C96-18E6-4733-8FB5-CD5E6697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24775"/>
            <a:ext cx="2571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✓  States: S0, S1, and all entities</a:t>
            </a:r>
          </a:p>
          <a:p xmlns:a="http://schemas.openxmlformats.org/drawingml/2006/main">
            <a:pPr algn="l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✓  Selector: q</a:t>
            </a:r>
          </a:p>
          <a:p xmlns:a="http://schemas.openxmlformats.org/drawingml/2006/main">
            <a:pPr algn="l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✓  Action and schema</a:t>
            </a:r>
          </a:p>
          <a:p xmlns:a="http://schemas.openxmlformats.org/drawingml/2006/main">
            <a:pPr algn="l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✓  Controller interface</a:t>
            </a:r>
          </a:p>
        </p:txBody>
      </p:sp>
      <p:sp>
        <p:nvSpPr>
          <p:cNvPr id="101" name="a-changed-head">
            <a:extLst xmlns:a="http://schemas.openxmlformats.org/drawingml/2006/main">
              <a:ext uri="{FF2B5EF4-FFF2-40B4-BE49-F238E27FC236}">
                <a16:creationId xmlns:a16="http://schemas.microsoft.com/office/drawing/2014/main" id="{65F783F8-51B1-4D4F-9EAE-95180EFC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75914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28B88"/>
                </a:solidFill>
              </a:defRPr>
            </a:pPr>
            <a:r>
              <a:rPr sz="1125" b="1" i="0">
                <a:solidFill>
                  <a:srgbClr val="128B88"/>
                </a:solidFill>
              </a:rPr>
              <a:t>What is uniquely changed</a:t>
            </a:r>
          </a:p>
        </p:txBody>
      </p:sp>
      <p:sp>
        <p:nvSpPr>
          <p:cNvPr id="102" name="a-changed-list">
            <a:extLst xmlns:a="http://schemas.openxmlformats.org/drawingml/2006/main">
              <a:ext uri="{FF2B5EF4-FFF2-40B4-BE49-F238E27FC236}">
                <a16:creationId xmlns:a16="http://schemas.microsoft.com/office/drawing/2014/main" id="{0413FBA3-F536-4AE8-8F8F-9A09E2DC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962900"/>
            <a:ext cx="2543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28B88"/>
                </a:solidFill>
              </a:defRPr>
            </a:pPr>
            <a:r>
              <a:rPr sz="1050" b="0" i="0">
                <a:solidFill>
                  <a:srgbClr val="128B88"/>
                </a:solidFill>
              </a:rPr>
              <a:t>Instruction commitment timing</a:t>
            </a:r>
          </a:p>
          <a:p xmlns:a="http://schemas.openxmlformats.org/drawingml/2006/main">
            <a:pPr algn="ctr">
              <a:defRPr sz="1050" b="0" i="0">
                <a:solidFill>
                  <a:srgbClr val="128B88"/>
                </a:solidFill>
              </a:defRPr>
            </a:pPr>
            <a:r>
              <a:rPr sz="1050" b="0" i="0">
                <a:solidFill>
                  <a:srgbClr val="128B88"/>
                </a:solidFill>
              </a:rPr>
              <a:t>(bind before refresh vs. defer until after refresh)</a:t>
            </a:r>
          </a:p>
        </p:txBody>
      </p:sp>
      <p:sp>
        <p:nvSpPr>
          <p:cNvPr id="103" name="b-same">
            <a:extLst xmlns:a="http://schemas.openxmlformats.org/drawingml/2006/main">
              <a:ext uri="{FF2B5EF4-FFF2-40B4-BE49-F238E27FC236}">
                <a16:creationId xmlns:a16="http://schemas.microsoft.com/office/drawing/2014/main" id="{BCC13356-DE66-4EAE-B5AD-C3374E83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66750"/>
            <a:ext cx="3505200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11430">
            <a:solidFill>
              <a:srgbClr val="E6A646"/>
            </a:solidFill>
            <a:prstDash val="solid"/>
          </a:ln>
        </p:spPr>
      </p:sp>
      <p:sp>
        <p:nvSpPr>
          <p:cNvPr id="104" name="b-same-text">
            <a:extLst xmlns:a="http://schemas.openxmlformats.org/drawingml/2006/main">
              <a:ext uri="{FF2B5EF4-FFF2-40B4-BE49-F238E27FC236}">
                <a16:creationId xmlns:a16="http://schemas.microsoft.com/office/drawing/2014/main" id="{2BB45001-B9B7-4F7C-970A-379BCABB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723900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02A2E"/>
                </a:solidFill>
              </a:defRPr>
            </a:pPr>
            <a:r>
              <a:rPr sz="1350" b="1" i="0">
                <a:solidFill>
                  <a:srgbClr val="202A2E"/>
                </a:solidFill>
              </a:rPr>
              <a:t>same controller + same interface</a:t>
            </a:r>
          </a:p>
        </p:txBody>
      </p:sp>
      <p:sp>
        <p:nvSpPr>
          <p:cNvPr id="105" name="b-independent">
            <a:extLst xmlns:a="http://schemas.openxmlformats.org/drawingml/2006/main">
              <a:ext uri="{FF2B5EF4-FFF2-40B4-BE49-F238E27FC236}">
                <a16:creationId xmlns:a16="http://schemas.microsoft.com/office/drawing/2014/main" id="{013B28F2-3180-4E36-B9F2-741817B7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954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02A2E"/>
                </a:solidFill>
              </a:defRPr>
            </a:pPr>
            <a:r>
              <a:rPr sz="1275" b="0" i="0">
                <a:solidFill>
                  <a:srgbClr val="202A2E"/>
                </a:solidFill>
              </a:rPr>
              <a:t>two independent runs</a:t>
            </a:r>
          </a:p>
          <a:p xmlns:a="http://schemas.openxmlformats.org/drawingml/2006/main">
            <a:pPr algn="ctr">
              <a:defRPr sz="1275" b="0" i="0">
                <a:solidFill>
                  <a:srgbClr val="202A2E"/>
                </a:solidFill>
              </a:defRPr>
            </a:pPr>
            <a:r>
              <a:rPr sz="1275" b="0" i="0">
                <a:solidFill>
                  <a:srgbClr val="202A2E"/>
                </a:solidFill>
              </a:rPr>
              <a:t>within the comparison</a:t>
            </a:r>
          </a:p>
        </p:txBody>
      </p:sp>
      <p:sp>
        <p:nvSpPr>
          <p:cNvPr id="106" name="b-bracket-left">
            <a:extLst xmlns:a="http://schemas.openxmlformats.org/drawingml/2006/main">
              <a:ext uri="{FF2B5EF4-FFF2-40B4-BE49-F238E27FC236}">
                <a16:creationId xmlns:a16="http://schemas.microsoft.com/office/drawing/2014/main" id="{2577DC62-F325-4947-BE7D-5C59DEC4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19275"/>
            <a:ext cx="95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ABD"/>
          </a:solidFill>
          <a:ln xmlns:a="http://schemas.openxmlformats.org/drawingml/2006/main" w="0">
            <a:solidFill>
              <a:srgbClr val="AEBABD"/>
            </a:solidFill>
            <a:prstDash val="solid"/>
          </a:ln>
        </p:spPr>
      </p:sp>
      <p:sp>
        <p:nvSpPr>
          <p:cNvPr id="107" name="b-bracket-top-left">
            <a:extLst xmlns:a="http://schemas.openxmlformats.org/drawingml/2006/main">
              <a:ext uri="{FF2B5EF4-FFF2-40B4-BE49-F238E27FC236}">
                <a16:creationId xmlns:a16="http://schemas.microsoft.com/office/drawing/2014/main" id="{A58B6041-6C8F-4C88-8575-D994B784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19275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ABD"/>
          </a:solidFill>
          <a:ln xmlns:a="http://schemas.openxmlformats.org/drawingml/2006/main" w="0">
            <a:solidFill>
              <a:srgbClr val="AEBABD"/>
            </a:solidFill>
            <a:prstDash val="solid"/>
          </a:ln>
        </p:spPr>
      </p:sp>
      <p:sp>
        <p:nvSpPr>
          <p:cNvPr id="108" name="b-bracket-right">
            <a:extLst xmlns:a="http://schemas.openxmlformats.org/drawingml/2006/main">
              <a:ext uri="{FF2B5EF4-FFF2-40B4-BE49-F238E27FC236}">
                <a16:creationId xmlns:a16="http://schemas.microsoft.com/office/drawing/2014/main" id="{9F920A23-1ADE-418E-87A0-AFEAEF3C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19275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ABD"/>
          </a:solidFill>
          <a:ln xmlns:a="http://schemas.openxmlformats.org/drawingml/2006/main" w="0">
            <a:solidFill>
              <a:srgbClr val="AEBABD"/>
            </a:solidFill>
            <a:prstDash val="solid"/>
          </a:ln>
        </p:spPr>
      </p:sp>
      <p:sp>
        <p:nvSpPr>
          <p:cNvPr id="109" name="b-bracket-top-right">
            <a:extLst xmlns:a="http://schemas.openxmlformats.org/drawingml/2006/main">
              <a:ext uri="{FF2B5EF4-FFF2-40B4-BE49-F238E27FC236}">
                <a16:creationId xmlns:a16="http://schemas.microsoft.com/office/drawing/2014/main" id="{4218B0C6-ACAF-4520-B5E9-8B59760B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19275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ABD"/>
          </a:solidFill>
          <a:ln xmlns:a="http://schemas.openxmlformats.org/drawingml/2006/main" w="0">
            <a:solidFill>
              <a:srgbClr val="AEBABD"/>
            </a:solidFill>
            <a:prstDash val="solid"/>
          </a:ln>
        </p:spPr>
      </p:sp>
      <p:sp>
        <p:nvSpPr>
          <p:cNvPr id="110" name="b-p-input">
            <a:extLst xmlns:a="http://schemas.openxmlformats.org/drawingml/2006/main">
              <a:ext uri="{FF2B5EF4-FFF2-40B4-BE49-F238E27FC236}">
                <a16:creationId xmlns:a16="http://schemas.microsoft.com/office/drawing/2014/main" id="{564049DE-335E-4ED9-B8A5-F0EEDD03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10287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4288">
            <a:solidFill>
              <a:srgbClr val="F05F45"/>
            </a:solidFill>
            <a:prstDash val="solid"/>
          </a:ln>
        </p:spPr>
      </p:sp>
      <p:sp>
        <p:nvSpPr>
          <p:cNvPr id="111" name="b-p-input-text">
            <a:extLst xmlns:a="http://schemas.openxmlformats.org/drawingml/2006/main">
              <a:ext uri="{FF2B5EF4-FFF2-40B4-BE49-F238E27FC236}">
                <a16:creationId xmlns:a16="http://schemas.microsoft.com/office/drawing/2014/main" id="{60CC7459-C430-4189-92C7-8730251A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62275"/>
            <a:ext cx="933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05F45"/>
                </a:solidFill>
              </a:defRPr>
            </a:pPr>
            <a:r>
              <a:rPr sz="975" b="1" i="0">
                <a:solidFill>
                  <a:srgbClr val="F05F45"/>
                </a:solidFill>
              </a:rPr>
              <a:t>Preserve</a:t>
            </a:r>
          </a:p>
          <a:p xmlns:a="http://schemas.openxmlformats.org/drawingml/2006/main">
            <a:pPr algn="ctr">
              <a:defRPr sz="975" b="1" i="0">
                <a:solidFill>
                  <a:srgbClr val="F05F45"/>
                </a:solidFill>
              </a:defRPr>
            </a:pPr>
            <a:r>
              <a:rPr sz="975" b="1" i="0">
                <a:solidFill>
                  <a:srgbClr val="F05F45"/>
                </a:solidFill>
              </a:rPr>
              <a:t>instruction</a:t>
            </a:r>
          </a:p>
        </p:txBody>
      </p:sp>
      <p:sp>
        <p:nvSpPr>
          <p:cNvPr id="112" name="b-r-input">
            <a:extLst xmlns:a="http://schemas.openxmlformats.org/drawingml/2006/main">
              <a:ext uri="{FF2B5EF4-FFF2-40B4-BE49-F238E27FC236}">
                <a16:creationId xmlns:a16="http://schemas.microsoft.com/office/drawing/2014/main" id="{6AC41616-B5D7-4C09-9380-C9241BCD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00600"/>
            <a:ext cx="10287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14288">
            <a:solidFill>
              <a:srgbClr val="128B88"/>
            </a:solidFill>
            <a:prstDash val="dash"/>
          </a:ln>
        </p:spPr>
      </p:sp>
      <p:sp>
        <p:nvSpPr>
          <p:cNvPr id="113" name="b-r-input-text">
            <a:extLst xmlns:a="http://schemas.openxmlformats.org/drawingml/2006/main">
              <a:ext uri="{FF2B5EF4-FFF2-40B4-BE49-F238E27FC236}">
                <a16:creationId xmlns:a16="http://schemas.microsoft.com/office/drawing/2014/main" id="{BEBA15F7-774D-455F-A5E0-AA0F042C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886325"/>
            <a:ext cx="933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28B88"/>
                </a:solidFill>
              </a:defRPr>
            </a:pPr>
            <a:r>
              <a:rPr sz="975" b="1" i="0">
                <a:solidFill>
                  <a:srgbClr val="128B88"/>
                </a:solidFill>
              </a:rPr>
              <a:t>Reevaluate</a:t>
            </a:r>
          </a:p>
          <a:p xmlns:a="http://schemas.openxmlformats.org/drawingml/2006/main">
            <a:pPr algn="ctr">
              <a:defRPr sz="975" b="1" i="0">
                <a:solidFill>
                  <a:srgbClr val="128B88"/>
                </a:solidFill>
              </a:defRPr>
            </a:pPr>
            <a:r>
              <a:rPr sz="975" b="1" i="0">
                <a:solidFill>
                  <a:srgbClr val="128B88"/>
                </a:solidFill>
              </a:rPr>
              <a:t>instruction</a:t>
            </a:r>
          </a:p>
        </p:txBody>
      </p:sp>
      <p:sp>
        <p:nvSpPr>
          <p:cNvPr id="114" name="b-probe">
            <a:extLst xmlns:a="http://schemas.openxmlformats.org/drawingml/2006/main">
              <a:ext uri="{FF2B5EF4-FFF2-40B4-BE49-F238E27FC236}">
                <a16:creationId xmlns:a16="http://schemas.microsoft.com/office/drawing/2014/main" id="{6799F489-D507-4F62-AC10-1AFB48C0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1466850" cy="38671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5240">
            <a:solidFill>
              <a:srgbClr val="242C2F"/>
            </a:solidFill>
            <a:prstDash val="solid"/>
          </a:ln>
        </p:spPr>
      </p:sp>
      <p:sp>
        <p:nvSpPr>
          <p:cNvPr id="115" name="b-probe-title">
            <a:extLst xmlns:a="http://schemas.openxmlformats.org/drawingml/2006/main">
              <a:ext uri="{FF2B5EF4-FFF2-40B4-BE49-F238E27FC236}">
                <a16:creationId xmlns:a16="http://schemas.microsoft.com/office/drawing/2014/main" id="{205332A4-8D50-435E-8CA5-3B818760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62250"/>
            <a:ext cx="1200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02A2E"/>
                </a:solidFill>
              </a:defRPr>
            </a:pPr>
            <a:r>
              <a:rPr sz="1425" b="1" i="0">
                <a:solidFill>
                  <a:srgbClr val="202A2E"/>
                </a:solidFill>
              </a:rPr>
              <a:t>Controller</a:t>
            </a:r>
          </a:p>
          <a:p xmlns:a="http://schemas.openxmlformats.org/drawingml/2006/main">
            <a:pPr algn="ctr">
              <a:defRPr sz="1425" b="1" i="0">
                <a:solidFill>
                  <a:srgbClr val="202A2E"/>
                </a:solidFill>
              </a:defRPr>
            </a:pPr>
            <a:r>
              <a:rPr sz="1425" b="1" i="0">
                <a:solidFill>
                  <a:srgbClr val="202A2E"/>
                </a:solidFill>
              </a:rPr>
              <a:t>probe</a:t>
            </a:r>
          </a:p>
        </p:txBody>
      </p:sp>
      <p:sp>
        <p:nvSpPr>
          <p:cNvPr id="116" name="b-probe-blackbox">
            <a:extLst xmlns:a="http://schemas.openxmlformats.org/drawingml/2006/main">
              <a:ext uri="{FF2B5EF4-FFF2-40B4-BE49-F238E27FC236}">
                <a16:creationId xmlns:a16="http://schemas.microsoft.com/office/drawing/2014/main" id="{2CE83688-6FC5-46DD-9221-14DC401B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8290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A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68767B"/>
                </a:solidFill>
              </a:defRPr>
            </a:pPr>
            <a:r>
              <a:rPr sz="750" b="1" i="0">
                <a:solidFill>
                  <a:srgbClr val="68767B"/>
                </a:solidFill>
              </a:rPr>
              <a:t>BLACK-BOX</a:t>
            </a:r>
          </a:p>
          <a:p xmlns:a="http://schemas.openxmlformats.org/drawingml/2006/main">
            <a:pPr algn="ctr">
              <a:defRPr sz="750" b="1" i="0">
                <a:solidFill>
                  <a:srgbClr val="68767B"/>
                </a:solidFill>
              </a:defRPr>
            </a:pPr>
            <a:r>
              <a:rPr sz="750" b="1" i="0">
                <a:solidFill>
                  <a:srgbClr val="68767B"/>
                </a:solidFill>
              </a:rPr>
              <a:t>internals unobserved</a:t>
            </a:r>
          </a:p>
        </p:txBody>
      </p:sp>
      <p:sp>
        <p:nvSpPr>
          <p:cNvPr id="117" name="b-probe-io">
            <a:extLst xmlns:a="http://schemas.openxmlformats.org/drawingml/2006/main">
              <a:ext uri="{FF2B5EF4-FFF2-40B4-BE49-F238E27FC236}">
                <a16:creationId xmlns:a16="http://schemas.microsoft.com/office/drawing/2014/main" id="{EEC521EC-B3EF-435A-AFBE-F30CEDA7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695825"/>
            <a:ext cx="1181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3F48"/>
                </a:solidFill>
              </a:defRPr>
            </a:pPr>
            <a:r>
              <a:rPr sz="1125" b="1" i="0">
                <a:solidFill>
                  <a:srgbClr val="243F48"/>
                </a:solidFill>
              </a:rPr>
              <a:t>instruction + history</a:t>
            </a:r>
          </a:p>
          <a:p xmlns:a="http://schemas.openxmlformats.org/drawingml/2006/main">
            <a:pPr algn="ctr">
              <a:defRPr sz="1125" b="1" i="0">
                <a:solidFill>
                  <a:srgbClr val="243F48"/>
                </a:solidFill>
              </a:defRPr>
            </a:pPr>
            <a:r>
              <a:rPr sz="1125" b="1" i="0">
                <a:solidFill>
                  <a:srgbClr val="243F48"/>
                </a:solidFill>
              </a:rPr>
              <a:t>+ observed state</a:t>
            </a:r>
          </a:p>
          <a:p xmlns:a="http://schemas.openxmlformats.org/drawingml/2006/main">
            <a:pPr algn="ctr">
              <a:defRPr sz="1125" b="1" i="0">
                <a:solidFill>
                  <a:srgbClr val="243F48"/>
                </a:solidFill>
              </a:defRPr>
            </a:pPr>
            <a:r>
              <a:rPr sz="1125" b="1" i="0">
                <a:solidFill>
                  <a:srgbClr val="243F48"/>
                </a:solidFill>
              </a:rPr>
              <a:t>-&gt; final target ID</a:t>
            </a:r>
          </a:p>
        </p:txBody>
      </p:sp>
      <p:sp>
        <p:nvSpPr>
          <p:cNvPr id="118" name="b-tp">
            <a:extLst xmlns:a="http://schemas.openxmlformats.org/drawingml/2006/main">
              <a:ext uri="{FF2B5EF4-FFF2-40B4-BE49-F238E27FC236}">
                <a16:creationId xmlns:a16="http://schemas.microsoft.com/office/drawing/2014/main" id="{1AC98A4E-5667-405A-A6A3-D078F4C6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43225"/>
            <a:ext cx="8191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05F45"/>
            </a:solidFill>
            <a:prstDash val="solid"/>
          </a:ln>
        </p:spPr>
      </p:sp>
      <p:sp>
        <p:nvSpPr>
          <p:cNvPr id="119" name="b-tp-text">
            <a:extLst xmlns:a="http://schemas.openxmlformats.org/drawingml/2006/main">
              <a:ext uri="{FF2B5EF4-FFF2-40B4-BE49-F238E27FC236}">
                <a16:creationId xmlns:a16="http://schemas.microsoft.com/office/drawing/2014/main" id="{0E202535-7954-440D-B2A9-0B10D4AE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90850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F05F45"/>
                </a:solidFill>
              </a:defRPr>
            </a:pPr>
            <a:r>
              <a:rPr sz="1725" b="0" i="1">
                <a:solidFill>
                  <a:srgbClr val="F05F45"/>
                </a:solidFill>
              </a:rPr>
              <a:t>T_P</a:t>
            </a:r>
          </a:p>
        </p:txBody>
      </p:sp>
      <p:sp>
        <p:nvSpPr>
          <p:cNvPr id="120" name="b-tp-label">
            <a:extLst xmlns:a="http://schemas.openxmlformats.org/drawingml/2006/main">
              <a:ext uri="{FF2B5EF4-FFF2-40B4-BE49-F238E27FC236}">
                <a16:creationId xmlns:a16="http://schemas.microsoft.com/office/drawing/2014/main" id="{B8722464-000A-448B-AF05-D2624830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385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202A2E"/>
                </a:solidFill>
              </a:defRPr>
            </a:pPr>
            <a:r>
              <a:rPr sz="975" b="0" i="0">
                <a:solidFill>
                  <a:srgbClr val="202A2E"/>
                </a:solidFill>
              </a:rPr>
              <a:t>final target</a:t>
            </a:r>
          </a:p>
        </p:txBody>
      </p:sp>
      <p:sp>
        <p:nvSpPr>
          <p:cNvPr id="121" name="b-tr">
            <a:extLst xmlns:a="http://schemas.openxmlformats.org/drawingml/2006/main">
              <a:ext uri="{FF2B5EF4-FFF2-40B4-BE49-F238E27FC236}">
                <a16:creationId xmlns:a16="http://schemas.microsoft.com/office/drawing/2014/main" id="{93FDA7CA-A24A-4D82-BAE8-AF8017E0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67275"/>
            <a:ext cx="8191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8B88"/>
            </a:solidFill>
            <a:prstDash val="dash"/>
          </a:ln>
        </p:spPr>
      </p:sp>
      <p:sp>
        <p:nvSpPr>
          <p:cNvPr id="122" name="b-tr-text">
            <a:extLst xmlns:a="http://schemas.openxmlformats.org/drawingml/2006/main">
              <a:ext uri="{FF2B5EF4-FFF2-40B4-BE49-F238E27FC236}">
                <a16:creationId xmlns:a16="http://schemas.microsoft.com/office/drawing/2014/main" id="{89C06BC2-58E1-4ACE-8C0E-FFAEF104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14900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128B88"/>
                </a:solidFill>
              </a:defRPr>
            </a:pPr>
            <a:r>
              <a:rPr sz="1725" b="0" i="1">
                <a:solidFill>
                  <a:srgbClr val="128B88"/>
                </a:solidFill>
              </a:rPr>
              <a:t>T_R</a:t>
            </a:r>
          </a:p>
        </p:txBody>
      </p:sp>
      <p:sp>
        <p:nvSpPr>
          <p:cNvPr id="123" name="b-tr-label">
            <a:extLst xmlns:a="http://schemas.openxmlformats.org/drawingml/2006/main">
              <a:ext uri="{FF2B5EF4-FFF2-40B4-BE49-F238E27FC236}">
                <a16:creationId xmlns:a16="http://schemas.microsoft.com/office/drawing/2014/main" id="{A0DC58DC-9671-4C41-83C5-0498C3F0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56260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202A2E"/>
                </a:solidFill>
              </a:defRPr>
            </a:pPr>
            <a:r>
              <a:rPr sz="975" b="0" i="0">
                <a:solidFill>
                  <a:srgbClr val="202A2E"/>
                </a:solidFill>
              </a:rPr>
              <a:t>final target</a:t>
            </a:r>
          </a:p>
        </p:txBody>
      </p:sp>
      <p:sp>
        <p:nvSpPr>
          <p:cNvPr id="124" name="b-p-in-anchor">
            <a:extLst xmlns:a="http://schemas.openxmlformats.org/drawingml/2006/main">
              <a:ext uri="{FF2B5EF4-FFF2-40B4-BE49-F238E27FC236}">
                <a16:creationId xmlns:a16="http://schemas.microsoft.com/office/drawing/2014/main" id="{AC151B91-02CF-4483-AF25-0B2C275F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2766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5" name="b-p-out-anchor">
            <a:extLst xmlns:a="http://schemas.openxmlformats.org/drawingml/2006/main">
              <a:ext uri="{FF2B5EF4-FFF2-40B4-BE49-F238E27FC236}">
                <a16:creationId xmlns:a16="http://schemas.microsoft.com/office/drawing/2014/main" id="{57D7F60B-24DD-4222-92CA-EFCEA4E6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766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6" name="b-r-in-anchor">
            <a:extLst xmlns:a="http://schemas.openxmlformats.org/drawingml/2006/main">
              <a:ext uri="{FF2B5EF4-FFF2-40B4-BE49-F238E27FC236}">
                <a16:creationId xmlns:a16="http://schemas.microsoft.com/office/drawing/2014/main" id="{93C34D5B-02CF-4F22-ABCD-F2EF5A1A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2006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7" name="b-r-out-anchor">
            <a:extLst xmlns:a="http://schemas.openxmlformats.org/drawingml/2006/main">
              <a:ext uri="{FF2B5EF4-FFF2-40B4-BE49-F238E27FC236}">
                <a16:creationId xmlns:a16="http://schemas.microsoft.com/office/drawing/2014/main" id="{9DAAB9B1-4338-4115-8445-26D1AB8C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2006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7" name=""/>
          <p:cNvCxnSpPr>
            <a:stCxn xmlns:a="http://schemas.openxmlformats.org/drawingml/2006/main" id="110" idx="3"/>
            <a:endCxn xmlns:a="http://schemas.openxmlformats.org/drawingml/2006/main" id="124" idx="2"/>
          </p:cNvCxnSpPr>
          <p:nvPr/>
        </p:nvCxnSpPr>
        <p:spPr>
          <a:xfrm xmlns:a="http://schemas.openxmlformats.org/drawingml/2006/main">
            <a:off x="7600950" y="328612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05F4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8" name=""/>
          <p:cNvCxnSpPr>
            <a:stCxn xmlns:a="http://schemas.openxmlformats.org/drawingml/2006/main" id="125" idx="6"/>
            <a:endCxn xmlns:a="http://schemas.openxmlformats.org/drawingml/2006/main" id="118" idx="1"/>
          </p:cNvCxnSpPr>
          <p:nvPr/>
        </p:nvCxnSpPr>
        <p:spPr>
          <a:xfrm xmlns:a="http://schemas.openxmlformats.org/drawingml/2006/main" flipV="1">
            <a:off x="9210675" y="3276600"/>
            <a:ext cx="1047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05F4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9" name=""/>
          <p:cNvCxnSpPr>
            <a:stCxn xmlns:a="http://schemas.openxmlformats.org/drawingml/2006/main" id="112" idx="3"/>
            <a:endCxn xmlns:a="http://schemas.openxmlformats.org/drawingml/2006/main" id="126" idx="2"/>
          </p:cNvCxnSpPr>
          <p:nvPr/>
        </p:nvCxnSpPr>
        <p:spPr>
          <a:xfrm xmlns:a="http://schemas.openxmlformats.org/drawingml/2006/main">
            <a:off x="7600950" y="52101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8B88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20" name=""/>
          <p:cNvCxnSpPr>
            <a:stCxn xmlns:a="http://schemas.openxmlformats.org/drawingml/2006/main" id="127" idx="6"/>
            <a:endCxn xmlns:a="http://schemas.openxmlformats.org/drawingml/2006/main" id="121" idx="1"/>
          </p:cNvCxnSpPr>
          <p:nvPr/>
        </p:nvCxnSpPr>
        <p:spPr>
          <a:xfrm xmlns:a="http://schemas.openxmlformats.org/drawingml/2006/main" flipV="1">
            <a:off x="9210675" y="5200650"/>
            <a:ext cx="1047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8B88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132" name="b-withheld">
            <a:extLst xmlns:a="http://schemas.openxmlformats.org/drawingml/2006/main">
              <a:ext uri="{FF2B5EF4-FFF2-40B4-BE49-F238E27FC236}">
                <a16:creationId xmlns:a16="http://schemas.microsoft.com/office/drawing/2014/main" id="{2AAC90E9-194B-4D69-BDAB-2BBF8608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457950"/>
            <a:ext cx="3505200" cy="2286000"/>
          </a:xfrm>
          <a:prstGeom xmlns:a="http://schemas.openxmlformats.org/drawingml/2006/main" prst="roundRect">
            <a:avLst>
              <a:gd name="adj" fmla="val 250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AEBABD"/>
            </a:solidFill>
            <a:prstDash val="dash"/>
          </a:ln>
        </p:spPr>
      </p:sp>
      <p:sp>
        <p:nvSpPr>
          <p:cNvPr id="133" name="b-withheld-title">
            <a:extLst xmlns:a="http://schemas.openxmlformats.org/drawingml/2006/main">
              <a:ext uri="{FF2B5EF4-FFF2-40B4-BE49-F238E27FC236}">
                <a16:creationId xmlns:a16="http://schemas.microsoft.com/office/drawing/2014/main" id="{30845E99-EBFE-4683-A5CF-99FAE410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722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02A2E"/>
                </a:solidFill>
              </a:defRPr>
            </a:pPr>
            <a:r>
              <a:rPr sz="1350" b="1" i="0">
                <a:solidFill>
                  <a:srgbClr val="202A2E"/>
                </a:solidFill>
              </a:rPr>
              <a:t>Withheld from the probe</a:t>
            </a:r>
          </a:p>
        </p:txBody>
      </p:sp>
      <p:sp>
        <p:nvSpPr>
          <p:cNvPr id="134" name="b-withheld-items">
            <a:extLst xmlns:a="http://schemas.openxmlformats.org/drawingml/2006/main">
              <a:ext uri="{FF2B5EF4-FFF2-40B4-BE49-F238E27FC236}">
                <a16:creationId xmlns:a16="http://schemas.microsoft.com/office/drawing/2014/main" id="{7952C75F-4BB5-4846-BB96-10256B21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69532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5" name="b-withheld-card-0">
            <a:extLst xmlns:a="http://schemas.openxmlformats.org/drawingml/2006/main">
              <a:ext uri="{FF2B5EF4-FFF2-40B4-BE49-F238E27FC236}">
                <a16:creationId xmlns:a16="http://schemas.microsoft.com/office/drawing/2014/main" id="{A6902E62-DF0B-44EB-B9C0-CF78E01D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029450"/>
            <a:ext cx="742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AEBABD"/>
            </a:solidFill>
            <a:prstDash val="solid"/>
          </a:ln>
        </p:spPr>
      </p:sp>
      <p:sp>
        <p:nvSpPr>
          <p:cNvPr id="136" name="b-withheld-no-0">
            <a:extLst xmlns:a="http://schemas.openxmlformats.org/drawingml/2006/main">
              <a:ext uri="{FF2B5EF4-FFF2-40B4-BE49-F238E27FC236}">
                <a16:creationId xmlns:a16="http://schemas.microsoft.com/office/drawing/2014/main" id="{2CD358FA-324B-4A44-BD07-EADB88CF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70866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05F45"/>
                </a:solidFill>
              </a:defRPr>
            </a:pPr>
            <a:r>
              <a:rPr sz="825" b="1" i="0">
                <a:solidFill>
                  <a:srgbClr val="F05F45"/>
                </a:solidFill>
              </a:rPr>
              <a:t>NO</a:t>
            </a:r>
          </a:p>
        </p:txBody>
      </p:sp>
      <p:sp>
        <p:nvSpPr>
          <p:cNvPr id="137" name="b-withheld-label-0">
            <a:extLst xmlns:a="http://schemas.openxmlformats.org/drawingml/2006/main">
              <a:ext uri="{FF2B5EF4-FFF2-40B4-BE49-F238E27FC236}">
                <a16:creationId xmlns:a16="http://schemas.microsoft.com/office/drawing/2014/main" id="{A705D368-46F2-4D9A-BD35-3A73F6E3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7286625"/>
            <a:ext cx="628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67B"/>
                </a:solidFill>
              </a:defRPr>
            </a:pPr>
            <a:r>
              <a:rPr sz="825" b="1" i="0">
                <a:solidFill>
                  <a:srgbClr val="68767B"/>
                </a:solidFill>
              </a:rPr>
              <a:t>gold</a:t>
            </a:r>
          </a:p>
          <a:p xmlns:a="http://schemas.openxmlformats.org/drawingml/2006/main">
            <a:pPr algn="ctr">
              <a:defRPr sz="825" b="1" i="0">
                <a:solidFill>
                  <a:srgbClr val="68767B"/>
                </a:solidFill>
              </a:defRPr>
            </a:pPr>
            <a:r>
              <a:rPr sz="825" b="1" i="0">
                <a:solidFill>
                  <a:srgbClr val="68767B"/>
                </a:solidFill>
              </a:rPr>
              <a:t>mode</a:t>
            </a:r>
          </a:p>
        </p:txBody>
      </p:sp>
      <p:sp>
        <p:nvSpPr>
          <p:cNvPr id="138" name="b-withheld-card-1">
            <a:extLst xmlns:a="http://schemas.openxmlformats.org/drawingml/2006/main">
              <a:ext uri="{FF2B5EF4-FFF2-40B4-BE49-F238E27FC236}">
                <a16:creationId xmlns:a16="http://schemas.microsoft.com/office/drawing/2014/main" id="{5F09B337-E028-4D17-95B7-AB2B3731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7029450"/>
            <a:ext cx="742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AEBABD"/>
            </a:solidFill>
            <a:prstDash val="solid"/>
          </a:ln>
        </p:spPr>
      </p:sp>
      <p:sp>
        <p:nvSpPr>
          <p:cNvPr id="139" name="b-withheld-no-1">
            <a:extLst xmlns:a="http://schemas.openxmlformats.org/drawingml/2006/main">
              <a:ext uri="{FF2B5EF4-FFF2-40B4-BE49-F238E27FC236}">
                <a16:creationId xmlns:a16="http://schemas.microsoft.com/office/drawing/2014/main" id="{D3147CC0-10F8-4775-B9B4-0AE6037E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0866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05F45"/>
                </a:solidFill>
              </a:defRPr>
            </a:pPr>
            <a:r>
              <a:rPr sz="825" b="1" i="0">
                <a:solidFill>
                  <a:srgbClr val="F05F45"/>
                </a:solidFill>
              </a:rPr>
              <a:t>NO</a:t>
            </a:r>
          </a:p>
        </p:txBody>
      </p:sp>
      <p:sp>
        <p:nvSpPr>
          <p:cNvPr id="140" name="b-withheld-label-1">
            <a:extLst xmlns:a="http://schemas.openxmlformats.org/drawingml/2006/main">
              <a:ext uri="{FF2B5EF4-FFF2-40B4-BE49-F238E27FC236}">
                <a16:creationId xmlns:a16="http://schemas.microsoft.com/office/drawing/2014/main" id="{3C2D30EE-483E-4EFD-9F95-4210250C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286625"/>
            <a:ext cx="628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67B"/>
                </a:solidFill>
              </a:defRPr>
            </a:pPr>
            <a:r>
              <a:rPr sz="825" b="1" i="0">
                <a:solidFill>
                  <a:srgbClr val="68767B"/>
                </a:solidFill>
              </a:rPr>
              <a:t>gold</a:t>
            </a:r>
          </a:p>
          <a:p xmlns:a="http://schemas.openxmlformats.org/drawingml/2006/main">
            <a:pPr algn="ctr">
              <a:defRPr sz="825" b="1" i="0">
                <a:solidFill>
                  <a:srgbClr val="68767B"/>
                </a:solidFill>
              </a:defRPr>
            </a:pPr>
            <a:r>
              <a:rPr sz="825" b="1" i="0">
                <a:solidFill>
                  <a:srgbClr val="68767B"/>
                </a:solidFill>
              </a:rPr>
              <a:t>target</a:t>
            </a:r>
          </a:p>
        </p:txBody>
      </p:sp>
      <p:sp>
        <p:nvSpPr>
          <p:cNvPr id="141" name="b-withheld-card-2">
            <a:extLst xmlns:a="http://schemas.openxmlformats.org/drawingml/2006/main">
              <a:ext uri="{FF2B5EF4-FFF2-40B4-BE49-F238E27FC236}">
                <a16:creationId xmlns:a16="http://schemas.microsoft.com/office/drawing/2014/main" id="{FCBABEEA-64FB-4623-BF65-1071E5D1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7029450"/>
            <a:ext cx="742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AEBABD"/>
            </a:solidFill>
            <a:prstDash val="solid"/>
          </a:ln>
        </p:spPr>
      </p:sp>
      <p:sp>
        <p:nvSpPr>
          <p:cNvPr id="142" name="b-withheld-no-2">
            <a:extLst xmlns:a="http://schemas.openxmlformats.org/drawingml/2006/main">
              <a:ext uri="{FF2B5EF4-FFF2-40B4-BE49-F238E27FC236}">
                <a16:creationId xmlns:a16="http://schemas.microsoft.com/office/drawing/2014/main" id="{2ED90C86-9764-4AA3-A46F-9A31F954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70866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05F45"/>
                </a:solidFill>
              </a:defRPr>
            </a:pPr>
            <a:r>
              <a:rPr sz="825" b="1" i="0">
                <a:solidFill>
                  <a:srgbClr val="F05F45"/>
                </a:solidFill>
              </a:rPr>
              <a:t>NO</a:t>
            </a:r>
          </a:p>
        </p:txBody>
      </p:sp>
      <p:sp>
        <p:nvSpPr>
          <p:cNvPr id="143" name="b-withheld-label-2">
            <a:extLst xmlns:a="http://schemas.openxmlformats.org/drawingml/2006/main">
              <a:ext uri="{FF2B5EF4-FFF2-40B4-BE49-F238E27FC236}">
                <a16:creationId xmlns:a16="http://schemas.microsoft.com/office/drawing/2014/main" id="{D67246F4-4461-4CC5-8959-5517F44C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7286625"/>
            <a:ext cx="628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67B"/>
                </a:solidFill>
              </a:defRPr>
            </a:pPr>
            <a:r>
              <a:rPr sz="825" b="1" i="0">
                <a:solidFill>
                  <a:srgbClr val="68767B"/>
                </a:solidFill>
              </a:rPr>
              <a:t>norm.</a:t>
            </a:r>
          </a:p>
          <a:p xmlns:a="http://schemas.openxmlformats.org/drawingml/2006/main">
            <a:pPr algn="ctr">
              <a:defRPr sz="825" b="1" i="0">
                <a:solidFill>
                  <a:srgbClr val="68767B"/>
                </a:solidFill>
              </a:defRPr>
            </a:pPr>
            <a:r>
              <a:rPr sz="825" b="1" i="0">
                <a:solidFill>
                  <a:srgbClr val="68767B"/>
                </a:solidFill>
              </a:rPr>
              <a:t>selector</a:t>
            </a:r>
          </a:p>
        </p:txBody>
      </p:sp>
      <p:sp>
        <p:nvSpPr>
          <p:cNvPr id="144" name="b-withheld-card-3">
            <a:extLst xmlns:a="http://schemas.openxmlformats.org/drawingml/2006/main">
              <a:ext uri="{FF2B5EF4-FFF2-40B4-BE49-F238E27FC236}">
                <a16:creationId xmlns:a16="http://schemas.microsoft.com/office/drawing/2014/main" id="{E4EF30A8-F57F-4727-80F7-FB6FC038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7029450"/>
            <a:ext cx="8572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AEBABD"/>
            </a:solidFill>
            <a:prstDash val="solid"/>
          </a:ln>
        </p:spPr>
      </p:sp>
      <p:sp>
        <p:nvSpPr>
          <p:cNvPr id="145" name="b-withheld-no-3">
            <a:extLst xmlns:a="http://schemas.openxmlformats.org/drawingml/2006/main">
              <a:ext uri="{FF2B5EF4-FFF2-40B4-BE49-F238E27FC236}">
                <a16:creationId xmlns:a16="http://schemas.microsoft.com/office/drawing/2014/main" id="{24E20FE9-8153-4DCA-800E-59EBFDBA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70866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05F45"/>
                </a:solidFill>
              </a:defRPr>
            </a:pPr>
            <a:r>
              <a:rPr sz="825" b="1" i="0">
                <a:solidFill>
                  <a:srgbClr val="F05F45"/>
                </a:solidFill>
              </a:rPr>
              <a:t>NO</a:t>
            </a:r>
          </a:p>
        </p:txBody>
      </p:sp>
      <p:sp>
        <p:nvSpPr>
          <p:cNvPr id="146" name="b-withheld-label-3">
            <a:extLst xmlns:a="http://schemas.openxmlformats.org/drawingml/2006/main">
              <a:ext uri="{FF2B5EF4-FFF2-40B4-BE49-F238E27FC236}">
                <a16:creationId xmlns:a16="http://schemas.microsoft.com/office/drawing/2014/main" id="{319A0524-5ED8-4CD1-B6E2-300CEB87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286625"/>
            <a:ext cx="742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67B"/>
                </a:solidFill>
              </a:defRPr>
            </a:pPr>
            <a:r>
              <a:rPr sz="825" b="1" i="0">
                <a:solidFill>
                  <a:srgbClr val="68767B"/>
                </a:solidFill>
              </a:rPr>
              <a:t>winner</a:t>
            </a:r>
          </a:p>
          <a:p xmlns:a="http://schemas.openxmlformats.org/drawingml/2006/main">
            <a:pPr algn="ctr">
              <a:defRPr sz="825" b="1" i="0">
                <a:solidFill>
                  <a:srgbClr val="68767B"/>
                </a:solidFill>
              </a:defRPr>
            </a:pPr>
            <a:r>
              <a:rPr sz="825" b="1" i="0">
                <a:solidFill>
                  <a:srgbClr val="68767B"/>
                </a:solidFill>
              </a:rPr>
              <a:t>IDs</a:t>
            </a:r>
          </a:p>
        </p:txBody>
      </p:sp>
      <p:sp>
        <p:nvSpPr>
          <p:cNvPr id="147" name="b-withheld-note">
            <a:extLst xmlns:a="http://schemas.openxmlformats.org/drawingml/2006/main">
              <a:ext uri="{FF2B5EF4-FFF2-40B4-BE49-F238E27FC236}">
                <a16:creationId xmlns:a16="http://schemas.microsoft.com/office/drawing/2014/main" id="{F51C1DB2-1000-4D52-87DB-19969FED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797242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243F48"/>
                </a:solidFill>
              </a:defRPr>
            </a:pPr>
            <a:r>
              <a:rPr sz="1050" b="0" i="1">
                <a:solidFill>
                  <a:srgbClr val="243F48"/>
                </a:solidFill>
              </a:rPr>
              <a:t>Observed instruction, history, and state follow</a:t>
            </a:r>
          </a:p>
          <a:p xmlns:a="http://schemas.openxmlformats.org/drawingml/2006/main">
            <a:pPr algn="ctr">
              <a:defRPr sz="1050" b="0" i="1">
                <a:solidFill>
                  <a:srgbClr val="243F48"/>
                </a:solidFill>
              </a:defRPr>
            </a:pPr>
            <a:r>
              <a:rPr sz="1050" b="0" i="1">
                <a:solidFill>
                  <a:srgbClr val="243F48"/>
                </a:solidFill>
              </a:rPr>
              <a:t>the tested controller interface.</a:t>
            </a:r>
          </a:p>
        </p:txBody>
      </p:sp>
      <p:sp>
        <p:nvSpPr>
          <p:cNvPr id="148" name="c-readout-1">
            <a:extLst xmlns:a="http://schemas.openxmlformats.org/drawingml/2006/main">
              <a:ext uri="{FF2B5EF4-FFF2-40B4-BE49-F238E27FC236}">
                <a16:creationId xmlns:a16="http://schemas.microsoft.com/office/drawing/2014/main" id="{C5D21E22-195D-4394-9DF7-9F90738B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666750"/>
            <a:ext cx="4343400" cy="21717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AEBABD"/>
            </a:solidFill>
            <a:prstDash val="solid"/>
          </a:ln>
        </p:spPr>
      </p:sp>
      <p:sp>
        <p:nvSpPr>
          <p:cNvPr id="149" name="c-num-1">
            <a:extLst xmlns:a="http://schemas.openxmlformats.org/drawingml/2006/main">
              <a:ext uri="{FF2B5EF4-FFF2-40B4-BE49-F238E27FC236}">
                <a16:creationId xmlns:a16="http://schemas.microsoft.com/office/drawing/2014/main" id="{1DB62BC5-78A6-4E15-8D34-9A622651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838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3F4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F48"/>
                </a:solidFill>
              </a:defRPr>
            </a:pPr>
            <a:r>
              <a:rPr sz="1275" b="1">
                <a:solidFill>
                  <a:srgbClr val="243F48"/>
                </a:solidFill>
              </a:rPr>
              <a:t>1</a:t>
            </a:r>
          </a:p>
        </p:txBody>
      </p:sp>
      <p:sp>
        <p:nvSpPr>
          <p:cNvPr id="150" name="c-r1-title">
            <a:extLst xmlns:a="http://schemas.openxmlformats.org/drawingml/2006/main">
              <a:ext uri="{FF2B5EF4-FFF2-40B4-BE49-F238E27FC236}">
                <a16:creationId xmlns:a16="http://schemas.microsoft.com/office/drawing/2014/main" id="{2BF457E7-1772-4F80-9C6B-90701FB7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7810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2A2E"/>
                </a:solidFill>
              </a:defRPr>
            </a:pPr>
            <a:r>
              <a:rPr sz="1500" b="1" i="0">
                <a:solidFill>
                  <a:srgbClr val="202A2E"/>
                </a:solidFill>
              </a:rPr>
              <a:t>Pair accuracy (PairAcc)</a:t>
            </a:r>
          </a:p>
        </p:txBody>
      </p:sp>
      <p:sp>
        <p:nvSpPr>
          <p:cNvPr id="151" name="c-r1-unit">
            <a:extLst xmlns:a="http://schemas.openxmlformats.org/drawingml/2006/main">
              <a:ext uri="{FF2B5EF4-FFF2-40B4-BE49-F238E27FC236}">
                <a16:creationId xmlns:a16="http://schemas.microsoft.com/office/drawing/2014/main" id="{2D84CFB8-E3D3-4C57-B441-F951EDE9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1133475"/>
            <a:ext cx="342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43F48"/>
                </a:solidFill>
              </a:defRPr>
            </a:pPr>
            <a:r>
              <a:rPr sz="1125" b="0" i="0">
                <a:solidFill>
                  <a:srgbClr val="243F48"/>
                </a:solidFill>
              </a:rPr>
              <a:t>Unit = one complete changed-winner pair</a:t>
            </a:r>
          </a:p>
        </p:txBody>
      </p:sp>
      <p:sp>
        <p:nvSpPr>
          <p:cNvPr id="152" name="c-r1-p">
            <a:extLst xmlns:a="http://schemas.openxmlformats.org/drawingml/2006/main">
              <a:ext uri="{FF2B5EF4-FFF2-40B4-BE49-F238E27FC236}">
                <a16:creationId xmlns:a16="http://schemas.microsoft.com/office/drawing/2014/main" id="{E4708DAA-7ACA-47CC-A1A2-F4B4F831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552575"/>
            <a:ext cx="125730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05F45"/>
            </a:solidFill>
            <a:prstDash val="dash"/>
          </a:ln>
        </p:spPr>
      </p:sp>
      <p:sp>
        <p:nvSpPr>
          <p:cNvPr id="153" name="c-r1-p-text">
            <a:extLst xmlns:a="http://schemas.openxmlformats.org/drawingml/2006/main">
              <a:ext uri="{FF2B5EF4-FFF2-40B4-BE49-F238E27FC236}">
                <a16:creationId xmlns:a16="http://schemas.microsoft.com/office/drawing/2014/main" id="{6F57B7C3-AFF3-48A2-B353-C7D063A6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1600200"/>
            <a:ext cx="1162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202A2E"/>
                </a:solidFill>
              </a:defRPr>
            </a:pPr>
            <a:r>
              <a:rPr sz="1500" b="0" i="1">
                <a:solidFill>
                  <a:srgbClr val="202A2E"/>
                </a:solidFill>
              </a:rPr>
              <a:t>T_P = A</a:t>
            </a:r>
          </a:p>
        </p:txBody>
      </p:sp>
      <p:sp>
        <p:nvSpPr>
          <p:cNvPr id="154" name="c-r1-and">
            <a:extLst xmlns:a="http://schemas.openxmlformats.org/drawingml/2006/main">
              <a:ext uri="{FF2B5EF4-FFF2-40B4-BE49-F238E27FC236}">
                <a16:creationId xmlns:a16="http://schemas.microsoft.com/office/drawing/2014/main" id="{9F601F72-2891-4482-9BA1-80061803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16192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02A2E"/>
                </a:solidFill>
              </a:defRPr>
            </a:pPr>
            <a:r>
              <a:rPr sz="1350" b="1" i="0">
                <a:solidFill>
                  <a:srgbClr val="202A2E"/>
                </a:solidFill>
              </a:rPr>
              <a:t>AND</a:t>
            </a:r>
          </a:p>
        </p:txBody>
      </p:sp>
      <p:sp>
        <p:nvSpPr>
          <p:cNvPr id="155" name="c-r1-r">
            <a:extLst xmlns:a="http://schemas.openxmlformats.org/drawingml/2006/main">
              <a:ext uri="{FF2B5EF4-FFF2-40B4-BE49-F238E27FC236}">
                <a16:creationId xmlns:a16="http://schemas.microsoft.com/office/drawing/2014/main" id="{6D13BE58-8F27-4A31-8754-C3A7D8E6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1552575"/>
            <a:ext cx="125730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8B88"/>
            </a:solidFill>
            <a:prstDash val="dash"/>
          </a:ln>
        </p:spPr>
      </p:sp>
      <p:sp>
        <p:nvSpPr>
          <p:cNvPr id="156" name="c-r1-r-text">
            <a:extLst xmlns:a="http://schemas.openxmlformats.org/drawingml/2006/main">
              <a:ext uri="{FF2B5EF4-FFF2-40B4-BE49-F238E27FC236}">
                <a16:creationId xmlns:a16="http://schemas.microsoft.com/office/drawing/2014/main" id="{57D5A198-EB81-41F9-A5C8-10E1D31C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1600200"/>
            <a:ext cx="1162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202A2E"/>
                </a:solidFill>
              </a:defRPr>
            </a:pPr>
            <a:r>
              <a:rPr sz="1500" b="0" i="1">
                <a:solidFill>
                  <a:srgbClr val="202A2E"/>
                </a:solidFill>
              </a:rPr>
              <a:t>T_R = B</a:t>
            </a:r>
          </a:p>
        </p:txBody>
      </p:sp>
      <p:sp>
        <p:nvSpPr>
          <p:cNvPr id="157" name="c-r1-denom">
            <a:extLst xmlns:a="http://schemas.openxmlformats.org/drawingml/2006/main">
              <a:ext uri="{FF2B5EF4-FFF2-40B4-BE49-F238E27FC236}">
                <a16:creationId xmlns:a16="http://schemas.microsoft.com/office/drawing/2014/main" id="{02A94F8A-5D66-42FA-9C29-D4FD29B7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238375"/>
            <a:ext cx="3543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02A2E"/>
                </a:solidFill>
              </a:defRPr>
            </a:pPr>
            <a:r>
              <a:rPr sz="1200" b="0" i="0">
                <a:solidFill>
                  <a:srgbClr val="202A2E"/>
                </a:solidFill>
              </a:rPr>
              <a:t>Denominator: all complete changed-winner pairs</a:t>
            </a:r>
          </a:p>
        </p:txBody>
      </p:sp>
      <p:sp>
        <p:nvSpPr>
          <p:cNvPr id="158" name="c-readout-2">
            <a:extLst xmlns:a="http://schemas.openxmlformats.org/drawingml/2006/main">
              <a:ext uri="{FF2B5EF4-FFF2-40B4-BE49-F238E27FC236}">
                <a16:creationId xmlns:a16="http://schemas.microsoft.com/office/drawing/2014/main" id="{7CED8A70-59F6-4EA1-808A-83913AB0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000375"/>
            <a:ext cx="4343400" cy="2619375"/>
          </a:xfrm>
          <a:prstGeom xmlns:a="http://schemas.openxmlformats.org/drawingml/2006/main" prst="roundRect">
            <a:avLst>
              <a:gd name="adj" fmla="val 2182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AEBABD"/>
            </a:solidFill>
            <a:prstDash val="solid"/>
          </a:ln>
        </p:spPr>
      </p:sp>
      <p:sp>
        <p:nvSpPr>
          <p:cNvPr id="159" name="c-num-2">
            <a:extLst xmlns:a="http://schemas.openxmlformats.org/drawingml/2006/main">
              <a:ext uri="{FF2B5EF4-FFF2-40B4-BE49-F238E27FC236}">
                <a16:creationId xmlns:a16="http://schemas.microsoft.com/office/drawing/2014/main" id="{5F90B571-2FB9-454D-94E4-AE87C3B7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3F4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F48"/>
                </a:solidFill>
              </a:defRPr>
            </a:pPr>
            <a:r>
              <a:rPr sz="1275" b="1">
                <a:solidFill>
                  <a:srgbClr val="243F48"/>
                </a:solidFill>
              </a:rPr>
              <a:t>2</a:t>
            </a:r>
          </a:p>
        </p:txBody>
      </p:sp>
      <p:sp>
        <p:nvSpPr>
          <p:cNvPr id="160" name="c-r2-title">
            <a:extLst xmlns:a="http://schemas.openxmlformats.org/drawingml/2006/main">
              <a:ext uri="{FF2B5EF4-FFF2-40B4-BE49-F238E27FC236}">
                <a16:creationId xmlns:a16="http://schemas.microsoft.com/office/drawing/2014/main" id="{8C7FB119-C031-43EE-84AA-C08D9E3F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1146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2A2E"/>
                </a:solidFill>
              </a:defRPr>
            </a:pPr>
            <a:r>
              <a:rPr sz="1500" b="1" i="0">
                <a:solidFill>
                  <a:srgbClr val="202A2E"/>
                </a:solidFill>
              </a:rPr>
              <a:t>Conditional substitution</a:t>
            </a:r>
          </a:p>
        </p:txBody>
      </p:sp>
      <p:sp>
        <p:nvSpPr>
          <p:cNvPr id="161" name="c-r2-focus">
            <a:extLst xmlns:a="http://schemas.openxmlformats.org/drawingml/2006/main">
              <a:ext uri="{FF2B5EF4-FFF2-40B4-BE49-F238E27FC236}">
                <a16:creationId xmlns:a16="http://schemas.microsoft.com/office/drawing/2014/main" id="{90B072E4-7D99-4A1C-8495-E022ABC6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467100"/>
            <a:ext cx="342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02A2E"/>
                </a:solidFill>
              </a:defRPr>
            </a:pPr>
            <a:r>
              <a:rPr sz="1125" b="0" i="0">
                <a:solidFill>
                  <a:srgbClr val="202A2E"/>
                </a:solidFill>
              </a:rPr>
              <a:t>Focus = replacement after a correct observable binding</a:t>
            </a:r>
          </a:p>
        </p:txBody>
      </p:sp>
      <p:sp>
        <p:nvSpPr>
          <p:cNvPr id="162" name="c-r2-a">
            <a:extLst xmlns:a="http://schemas.openxmlformats.org/drawingml/2006/main">
              <a:ext uri="{FF2B5EF4-FFF2-40B4-BE49-F238E27FC236}">
                <a16:creationId xmlns:a16="http://schemas.microsoft.com/office/drawing/2014/main" id="{7024DD0F-D6B3-48FB-B579-63BE4988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F45"/>
          </a:solidFill>
          <a:ln xmlns:a="http://schemas.openxmlformats.org/drawingml/2006/main" w="16193">
            <a:solidFill>
              <a:srgbClr val="F0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63" name="c-r2-a-label">
            <a:extLst xmlns:a="http://schemas.openxmlformats.org/drawingml/2006/main">
              <a:ext uri="{FF2B5EF4-FFF2-40B4-BE49-F238E27FC236}">
                <a16:creationId xmlns:a16="http://schemas.microsoft.com/office/drawing/2014/main" id="{F8EF835D-54A4-4D7A-AF64-5AD96991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44196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correct binding</a:t>
            </a:r>
          </a:p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in S0</a:t>
            </a:r>
          </a:p>
        </p:txBody>
      </p:sp>
      <p:sp>
        <p:nvSpPr>
          <p:cNvPr id="164" name="c-r2-clock-face">
            <a:extLst xmlns:a="http://schemas.openxmlformats.org/drawingml/2006/main">
              <a:ext uri="{FF2B5EF4-FFF2-40B4-BE49-F238E27FC236}">
                <a16:creationId xmlns:a16="http://schemas.microsoft.com/office/drawing/2014/main" id="{03C1C620-9ACC-48A4-8D96-2C73E270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000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F48"/>
            </a:solidFill>
            <a:prstDash val="solid"/>
          </a:ln>
        </p:spPr>
      </p:sp>
      <p:sp>
        <p:nvSpPr>
          <p:cNvPr id="165" name="c-r2-clock-hand-v">
            <a:extLst xmlns:a="http://schemas.openxmlformats.org/drawingml/2006/main">
              <a:ext uri="{FF2B5EF4-FFF2-40B4-BE49-F238E27FC236}">
                <a16:creationId xmlns:a16="http://schemas.microsoft.com/office/drawing/2014/main" id="{EA38A163-1A34-4566-AD5B-9AFB0B6A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9774" y="4076510"/>
            <a:ext cx="19050" cy="124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48"/>
          </a:solidFill>
          <a:ln xmlns:a="http://schemas.openxmlformats.org/drawingml/2006/main" w="0">
            <a:solidFill>
              <a:srgbClr val="243F48"/>
            </a:solidFill>
            <a:prstDash val="solid"/>
          </a:ln>
        </p:spPr>
      </p:sp>
      <p:sp>
        <p:nvSpPr>
          <p:cNvPr id="166" name="c-r2-clock-hand-h">
            <a:extLst xmlns:a="http://schemas.openxmlformats.org/drawingml/2006/main">
              <a:ext uri="{FF2B5EF4-FFF2-40B4-BE49-F238E27FC236}">
                <a16:creationId xmlns:a16="http://schemas.microsoft.com/office/drawing/2014/main" id="{7162ABF4-D54F-4131-8225-B27F3AAE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9774" y="4192524"/>
            <a:ext cx="880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48"/>
          </a:solidFill>
          <a:ln xmlns:a="http://schemas.openxmlformats.org/drawingml/2006/main" w="0">
            <a:solidFill>
              <a:srgbClr val="243F48"/>
            </a:solidFill>
            <a:prstDash val="solid"/>
          </a:ln>
        </p:spPr>
      </p:sp>
      <p:sp>
        <p:nvSpPr>
          <p:cNvPr id="167" name="c-r2-clock-label">
            <a:extLst xmlns:a="http://schemas.openxmlformats.org/drawingml/2006/main">
              <a:ext uri="{FF2B5EF4-FFF2-40B4-BE49-F238E27FC236}">
                <a16:creationId xmlns:a16="http://schemas.microsoft.com/office/drawing/2014/main" id="{4E7F8DD5-81F7-43C3-96F9-5A1E7D3B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4419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refresh</a:t>
            </a:r>
          </a:p>
        </p:txBody>
      </p:sp>
      <p:sp>
        <p:nvSpPr>
          <p:cNvPr id="168" name="c-r2-b">
            <a:extLst xmlns:a="http://schemas.openxmlformats.org/drawingml/2006/main">
              <a:ext uri="{FF2B5EF4-FFF2-40B4-BE49-F238E27FC236}">
                <a16:creationId xmlns:a16="http://schemas.microsoft.com/office/drawing/2014/main" id="{A2D138F3-CA3D-4D69-91D4-CC25D6B6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4000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B88"/>
          </a:solidFill>
          <a:ln xmlns:a="http://schemas.openxmlformats.org/drawingml/2006/main" w="16193">
            <a:solidFill>
              <a:srgbClr val="128B8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9" name="c-r2-b-label">
            <a:extLst xmlns:a="http://schemas.openxmlformats.org/drawingml/2006/main">
              <a:ext uri="{FF2B5EF4-FFF2-40B4-BE49-F238E27FC236}">
                <a16:creationId xmlns:a16="http://schemas.microsoft.com/office/drawing/2014/main" id="{96A22CD3-C70B-4607-A992-26F03443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25" y="44196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final target</a:t>
            </a:r>
          </a:p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(substitution)</a:t>
            </a:r>
          </a:p>
        </p:txBody>
      </p:sp>
      <p:cxnSp>
        <p:nvCxnSpPr>
          <p:cNvPr id="359" name=""/>
          <p:cNvCxnSpPr>
            <a:stCxn xmlns:a="http://schemas.openxmlformats.org/drawingml/2006/main" id="162" idx="6"/>
            <a:endCxn xmlns:a="http://schemas.openxmlformats.org/drawingml/2006/main" id="164" idx="2"/>
          </p:cNvCxnSpPr>
          <p:nvPr/>
        </p:nvCxnSpPr>
        <p:spPr>
          <a:xfrm xmlns:a="http://schemas.openxmlformats.org/drawingml/2006/main">
            <a:off x="11582400" y="4200525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3F4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0" name=""/>
          <p:cNvCxnSpPr>
            <a:stCxn xmlns:a="http://schemas.openxmlformats.org/drawingml/2006/main" id="164" idx="6"/>
            <a:endCxn xmlns:a="http://schemas.openxmlformats.org/drawingml/2006/main" id="168" idx="2"/>
          </p:cNvCxnSpPr>
          <p:nvPr/>
        </p:nvCxnSpPr>
        <p:spPr>
          <a:xfrm xmlns:a="http://schemas.openxmlformats.org/drawingml/2006/main">
            <a:off x="12877800" y="42005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3F4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2" name="c-r2-denom">
            <a:extLst xmlns:a="http://schemas.openxmlformats.org/drawingml/2006/main">
              <a:ext uri="{FF2B5EF4-FFF2-40B4-BE49-F238E27FC236}">
                <a16:creationId xmlns:a16="http://schemas.microsoft.com/office/drawing/2014/main" id="{2BAE8993-AE5D-4607-A3F5-A29F1677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972050"/>
            <a:ext cx="381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Denominator: Preserve rows with correct initial binding, completed refresh,</a:t>
            </a:r>
          </a:p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changed winner, and old A surviving + action-valid</a:t>
            </a:r>
          </a:p>
        </p:txBody>
      </p:sp>
      <p:sp>
        <p:nvSpPr>
          <p:cNvPr id="173" name="c-readout-3">
            <a:extLst xmlns:a="http://schemas.openxmlformats.org/drawingml/2006/main">
              <a:ext uri="{FF2B5EF4-FFF2-40B4-BE49-F238E27FC236}">
                <a16:creationId xmlns:a16="http://schemas.microsoft.com/office/drawing/2014/main" id="{83C3F93E-B097-41A3-BEA7-E7750379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5781675"/>
            <a:ext cx="4343400" cy="2962275"/>
          </a:xfrm>
          <a:prstGeom xmlns:a="http://schemas.openxmlformats.org/drawingml/2006/main" prst="roundRect">
            <a:avLst>
              <a:gd name="adj" fmla="val 192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AEBABD"/>
            </a:solidFill>
            <a:prstDash val="solid"/>
          </a:ln>
        </p:spPr>
      </p:sp>
      <p:sp>
        <p:nvSpPr>
          <p:cNvPr id="174" name="c-num-3">
            <a:extLst xmlns:a="http://schemas.openxmlformats.org/drawingml/2006/main">
              <a:ext uri="{FF2B5EF4-FFF2-40B4-BE49-F238E27FC236}">
                <a16:creationId xmlns:a16="http://schemas.microsoft.com/office/drawing/2014/main" id="{915C1A66-98FE-4E0E-9E81-7D8B9DFF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953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3F4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F48"/>
                </a:solidFill>
              </a:defRPr>
            </a:pPr>
            <a:r>
              <a:rPr sz="1275" b="1">
                <a:solidFill>
                  <a:srgbClr val="243F48"/>
                </a:solidFill>
              </a:rPr>
              <a:t>3</a:t>
            </a:r>
          </a:p>
        </p:txBody>
      </p:sp>
      <p:sp>
        <p:nvSpPr>
          <p:cNvPr id="175" name="c-r3-title">
            <a:extLst xmlns:a="http://schemas.openxmlformats.org/drawingml/2006/main">
              <a:ext uri="{FF2B5EF4-FFF2-40B4-BE49-F238E27FC236}">
                <a16:creationId xmlns:a16="http://schemas.microsoft.com/office/drawing/2014/main" id="{58D1CA2E-A082-4925-94FE-8C69F691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8959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2A2E"/>
                </a:solidFill>
              </a:defRPr>
            </a:pPr>
            <a:r>
              <a:rPr sz="1500" b="1" i="0">
                <a:solidFill>
                  <a:srgbClr val="202A2E"/>
                </a:solidFill>
              </a:rPr>
              <a:t>Execution subset (tool writes)</a:t>
            </a:r>
          </a:p>
        </p:txBody>
      </p:sp>
      <p:sp>
        <p:nvSpPr>
          <p:cNvPr id="176" name="c-r3-focus">
            <a:extLst xmlns:a="http://schemas.openxmlformats.org/drawingml/2006/main">
              <a:ext uri="{FF2B5EF4-FFF2-40B4-BE49-F238E27FC236}">
                <a16:creationId xmlns:a16="http://schemas.microsoft.com/office/drawing/2014/main" id="{2870C7F6-6236-433A-A5D5-6E437F76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257925"/>
            <a:ext cx="342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02A2E"/>
                </a:solidFill>
              </a:defRPr>
            </a:pPr>
            <a:r>
              <a:rPr sz="1125" b="0" i="0">
                <a:solidFill>
                  <a:srgbClr val="202A2E"/>
                </a:solidFill>
              </a:rPr>
              <a:t>Trace = selected target ID -&gt; tool write -&gt; state diff</a:t>
            </a:r>
          </a:p>
        </p:txBody>
      </p:sp>
      <p:sp>
        <p:nvSpPr>
          <p:cNvPr id="177" name="c-r3-id-circle">
            <a:extLst xmlns:a="http://schemas.openxmlformats.org/drawingml/2006/main">
              <a:ext uri="{FF2B5EF4-FFF2-40B4-BE49-F238E27FC236}">
                <a16:creationId xmlns:a16="http://schemas.microsoft.com/office/drawing/2014/main" id="{0C77E643-E2A6-488B-A342-DFC79813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858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43F4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3F48"/>
                </a:solidFill>
              </a:defRPr>
            </a:pPr>
            <a:r>
              <a:rPr sz="1500" b="1">
                <a:solidFill>
                  <a:srgbClr val="243F48"/>
                </a:solidFill>
              </a:rPr>
              <a:t>ID</a:t>
            </a:r>
          </a:p>
        </p:txBody>
      </p:sp>
      <p:sp>
        <p:nvSpPr>
          <p:cNvPr id="178" name="c-r3-id-h">
            <a:extLst xmlns:a="http://schemas.openxmlformats.org/drawingml/2006/main">
              <a:ext uri="{FF2B5EF4-FFF2-40B4-BE49-F238E27FC236}">
                <a16:creationId xmlns:a16="http://schemas.microsoft.com/office/drawing/2014/main" id="{3DA992A0-2820-4D15-BE50-8A0535E7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7077075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48"/>
          </a:solidFill>
          <a:ln xmlns:a="http://schemas.openxmlformats.org/drawingml/2006/main" w="0">
            <a:solidFill>
              <a:srgbClr val="243F48"/>
            </a:solidFill>
            <a:prstDash val="solid"/>
          </a:ln>
        </p:spPr>
      </p:sp>
      <p:sp>
        <p:nvSpPr>
          <p:cNvPr id="179" name="c-r3-id-v">
            <a:extLst xmlns:a="http://schemas.openxmlformats.org/drawingml/2006/main">
              <a:ext uri="{FF2B5EF4-FFF2-40B4-BE49-F238E27FC236}">
                <a16:creationId xmlns:a16="http://schemas.microsoft.com/office/drawing/2014/main" id="{92910CAF-33FD-4CF5-AA9C-D1A744FE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78180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48"/>
          </a:solidFill>
          <a:ln xmlns:a="http://schemas.openxmlformats.org/drawingml/2006/main" w="0">
            <a:solidFill>
              <a:srgbClr val="243F48"/>
            </a:solidFill>
            <a:prstDash val="solid"/>
          </a:ln>
        </p:spPr>
      </p:sp>
      <p:sp>
        <p:nvSpPr>
          <p:cNvPr id="180" name="c-r3-id-label">
            <a:extLst xmlns:a="http://schemas.openxmlformats.org/drawingml/2006/main">
              <a:ext uri="{FF2B5EF4-FFF2-40B4-BE49-F238E27FC236}">
                <a16:creationId xmlns:a16="http://schemas.microsoft.com/office/drawing/2014/main" id="{249E10C0-5B95-4051-B719-E13A4FBD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74295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selected</a:t>
            </a:r>
          </a:p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target ID</a:t>
            </a:r>
          </a:p>
        </p:txBody>
      </p:sp>
      <p:sp>
        <p:nvSpPr>
          <p:cNvPr id="181" name="c-r3-write">
            <a:extLst xmlns:a="http://schemas.openxmlformats.org/drawingml/2006/main">
              <a:ext uri="{FF2B5EF4-FFF2-40B4-BE49-F238E27FC236}">
                <a16:creationId xmlns:a16="http://schemas.microsoft.com/office/drawing/2014/main" id="{538B6F39-3E65-4C30-AF92-9A94F790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848475"/>
            <a:ext cx="8763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13335">
            <a:solidFill>
              <a:srgbClr val="E6A646"/>
            </a:solidFill>
            <a:prstDash val="solid"/>
          </a:ln>
        </p:spPr>
      </p:sp>
      <p:sp>
        <p:nvSpPr>
          <p:cNvPr id="182" name="c-r3-write-text">
            <a:extLst xmlns:a="http://schemas.openxmlformats.org/drawingml/2006/main">
              <a:ext uri="{FF2B5EF4-FFF2-40B4-BE49-F238E27FC236}">
                <a16:creationId xmlns:a16="http://schemas.microsoft.com/office/drawing/2014/main" id="{519F15F2-D366-45CD-B68A-CDC51BB4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68770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02A2E"/>
                </a:solidFill>
              </a:defRPr>
            </a:pPr>
            <a:r>
              <a:rPr sz="1200" b="1" i="0">
                <a:solidFill>
                  <a:srgbClr val="202A2E"/>
                </a:solidFill>
              </a:rPr>
              <a:t>TOOL</a:t>
            </a:r>
          </a:p>
          <a:p xmlns:a="http://schemas.openxmlformats.org/drawingml/2006/main">
            <a:pPr algn="ctr">
              <a:defRPr sz="1200" b="1" i="0">
                <a:solidFill>
                  <a:srgbClr val="202A2E"/>
                </a:solidFill>
              </a:defRPr>
            </a:pPr>
            <a:r>
              <a:rPr sz="1200" b="1" i="0">
                <a:solidFill>
                  <a:srgbClr val="202A2E"/>
                </a:solidFill>
              </a:rPr>
              <a:t>WRITE</a:t>
            </a:r>
          </a:p>
        </p:txBody>
      </p:sp>
      <p:sp>
        <p:nvSpPr>
          <p:cNvPr id="183" name="c-r3-write-label">
            <a:extLst xmlns:a="http://schemas.openxmlformats.org/drawingml/2006/main">
              <a:ext uri="{FF2B5EF4-FFF2-40B4-BE49-F238E27FC236}">
                <a16:creationId xmlns:a16="http://schemas.microsoft.com/office/drawing/2014/main" id="{D74A4161-DBBB-4F81-88D3-8FF4DF34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7429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model-issued</a:t>
            </a:r>
          </a:p>
        </p:txBody>
      </p:sp>
      <p:sp>
        <p:nvSpPr>
          <p:cNvPr id="184" name="c-r3-diff">
            <a:extLst xmlns:a="http://schemas.openxmlformats.org/drawingml/2006/main">
              <a:ext uri="{FF2B5EF4-FFF2-40B4-BE49-F238E27FC236}">
                <a16:creationId xmlns:a16="http://schemas.microsoft.com/office/drawing/2014/main" id="{E9CA2F4C-5C25-4B1C-8A42-348BCB26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775" y="6848475"/>
            <a:ext cx="8572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3335">
            <a:solidFill>
              <a:srgbClr val="56A778"/>
            </a:solidFill>
            <a:prstDash val="solid"/>
          </a:ln>
        </p:spPr>
      </p:sp>
      <p:sp>
        <p:nvSpPr>
          <p:cNvPr id="185" name="c-r3-diff-text">
            <a:extLst xmlns:a="http://schemas.openxmlformats.org/drawingml/2006/main">
              <a:ext uri="{FF2B5EF4-FFF2-40B4-BE49-F238E27FC236}">
                <a16:creationId xmlns:a16="http://schemas.microsoft.com/office/drawing/2014/main" id="{AB7BF37C-9418-428D-B52D-415511C6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6877050"/>
            <a:ext cx="78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56A778"/>
                </a:solidFill>
              </a:defRPr>
            </a:pPr>
            <a:r>
              <a:rPr sz="1200" b="1" i="0">
                <a:solidFill>
                  <a:srgbClr val="56A778"/>
                </a:solidFill>
              </a:rPr>
              <a:t>STATE</a:t>
            </a:r>
          </a:p>
          <a:p xmlns:a="http://schemas.openxmlformats.org/drawingml/2006/main">
            <a:pPr algn="ctr">
              <a:defRPr sz="1200" b="1" i="0">
                <a:solidFill>
                  <a:srgbClr val="56A778"/>
                </a:solidFill>
              </a:defRPr>
            </a:pPr>
            <a:r>
              <a:rPr sz="1200" b="1" i="0">
                <a:solidFill>
                  <a:srgbClr val="56A778"/>
                </a:solidFill>
              </a:rPr>
              <a:t>DIFF</a:t>
            </a:r>
          </a:p>
        </p:txBody>
      </p:sp>
      <p:sp>
        <p:nvSpPr>
          <p:cNvPr id="186" name="c-r3-diff-label">
            <a:extLst xmlns:a="http://schemas.openxmlformats.org/drawingml/2006/main">
              <a:ext uri="{FF2B5EF4-FFF2-40B4-BE49-F238E27FC236}">
                <a16:creationId xmlns:a16="http://schemas.microsoft.com/office/drawing/2014/main" id="{E71D487A-D60B-42E6-8FDF-490759F4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429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executed change</a:t>
            </a:r>
          </a:p>
        </p:txBody>
      </p:sp>
      <p:cxnSp>
        <p:nvCxnSpPr>
          <p:cNvPr id="376" name=""/>
          <p:cNvCxnSpPr>
            <a:stCxn xmlns:a="http://schemas.openxmlformats.org/drawingml/2006/main" id="177" idx="6"/>
            <a:endCxn xmlns:a="http://schemas.openxmlformats.org/drawingml/2006/main" id="181" idx="1"/>
          </p:cNvCxnSpPr>
          <p:nvPr/>
        </p:nvCxnSpPr>
        <p:spPr>
          <a:xfrm xmlns:a="http://schemas.openxmlformats.org/drawingml/2006/main">
            <a:off x="11525250" y="7086600"/>
            <a:ext cx="8572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3F4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7" name=""/>
          <p:cNvCxnSpPr>
            <a:stCxn xmlns:a="http://schemas.openxmlformats.org/drawingml/2006/main" id="181" idx="3"/>
            <a:endCxn xmlns:a="http://schemas.openxmlformats.org/drawingml/2006/main" id="184" idx="1"/>
          </p:cNvCxnSpPr>
          <p:nvPr/>
        </p:nvCxnSpPr>
        <p:spPr>
          <a:xfrm xmlns:a="http://schemas.openxmlformats.org/drawingml/2006/main">
            <a:off x="13258800" y="71056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3F4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9" name="c-r3-denom">
            <a:extLst xmlns:a="http://schemas.openxmlformats.org/drawingml/2006/main">
              <a:ext uri="{FF2B5EF4-FFF2-40B4-BE49-F238E27FC236}">
                <a16:creationId xmlns:a16="http://schemas.microsoft.com/office/drawing/2014/main" id="{8553FCE0-7D3C-48DB-A28E-79D255EE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0581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02A2E"/>
                </a:solidFill>
              </a:defRPr>
            </a:pPr>
            <a:r>
              <a:rPr sz="1125" b="0" i="0">
                <a:solidFill>
                  <a:srgbClr val="202A2E"/>
                </a:solidFill>
              </a:rPr>
              <a:t>Denominator: executed model-issued writes</a:t>
            </a:r>
          </a:p>
          <a:p xmlns:a="http://schemas.openxmlformats.org/drawingml/2006/main">
            <a:pPr algn="ctr">
              <a:defRPr sz="1125" b="0" i="0">
                <a:solidFill>
                  <a:srgbClr val="202A2E"/>
                </a:solidFill>
              </a:defRPr>
            </a:pPr>
            <a:r>
              <a:rPr sz="1125" b="0" i="0">
                <a:solidFill>
                  <a:srgbClr val="202A2E"/>
                </a:solidFill>
              </a:rPr>
              <a:t>(subset of all evaluation rows)</a:t>
            </a:r>
          </a:p>
        </p:txBody>
      </p:sp>
    </p:spTree>
    <p:extLst>
      <p:ext uri="{BB962C8B-B14F-4D97-AF65-F5344CB8AC3E}">
        <p14:creationId xmlns:p14="http://schemas.microsoft.com/office/powerpoint/2010/main" val="14966914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2026-07-28T14:55:16.2720000Z</dcterms:created>
  <dcterms:modified xsi:type="dcterms:W3CDTF">2026-07-28T14:55:16.2720000Z</dcterms:modified>
</coreProperties>
</file>
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a93862f9864d0b" /><Relationship Type="http://schemas.openxmlformats.org/officeDocument/2006/relationships/extended-properties" Target="/docProps/app.xml" Id="Re68697b113fe4a29" /><Relationship Type="http://schemas.openxmlformats.org/officeDocument/2006/relationships/officeDocument" Target="/ppt/presentation.xml" Id="Reb1b3a16411748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ba67526f7d4a23"/>
  </p:sldMasterIdLst>
  <p:notesMasterIdLst>
    <p:notesMasterId xmlns:r="http://schemas.openxmlformats.org/officeDocument/2006/relationships" r:id="R64e2fbd4543940e8"/>
  </p:notesMasterIdLst>
  <p:sldIdLst>
    <p:sldId xmlns:r="http://schemas.openxmlformats.org/officeDocument/2006/relationships" id="256" r:id="R125cc4e690394d99"/>
  </p:sldIdLst>
  <p:sldSz cx="15240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f111e6df4be404f" /><Relationship Type="http://schemas.openxmlformats.org/officeDocument/2006/relationships/slideMaster" Target="/ppt/slideMasters/slideMaster1.xml" Id="R80ba67526f7d4a23" /><Relationship Type="http://schemas.openxmlformats.org/officeDocument/2006/relationships/notesMaster" Target="/ppt/notesMasters/notesMaster1.xml" Id="R64e2fbd4543940e8" /><Relationship Type="http://schemas.openxmlformats.org/officeDocument/2006/relationships/presProps" Target="/ppt/presProps.xml" Id="R902986d86b18458e" /><Relationship Type="http://schemas.openxmlformats.org/officeDocument/2006/relationships/tableStyles" Target="/ppt/tableStyles.xml" Id="Rd07d39de7ef247ab" /><Relationship Type="http://schemas.openxmlformats.org/officeDocument/2006/relationships/slide" Target="/ppt/slides/slide1.xml" Id="R125cc4e690394d9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c05c29a6054f0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1edf025340446d" /><Relationship Type="http://schemas.openxmlformats.org/officeDocument/2006/relationships/notesMaster" Target="/ppt/notesMasters/notesMaster1.xml" Id="R8782915e179f43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798272c6e64f7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69d8ac999948f8" /><Relationship Type="http://schemas.openxmlformats.org/officeDocument/2006/relationships/slideLayout" Target="/ppt/slideLayouts/slideLayout1.xml" Id="R53683c709cbc42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683c709cbc42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b358b8b99e4f11" /><Relationship Type="http://schemas.openxmlformats.org/officeDocument/2006/relationships/notesSlide" Target="/ppt/notesSlides/notesSlide1.xml" Id="R4987e2a90ebe4a2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transition-panel">
            <a:extLst xmlns:a="http://schemas.openxmlformats.org/drawingml/2006/main">
              <a:ext uri="{FF2B5EF4-FFF2-40B4-BE49-F238E27FC236}">
                <a16:creationId xmlns:a16="http://schemas.microsoft.com/office/drawing/2014/main" id="{1C0A1475-B8D0-4CD0-9129-C8A3991A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09550"/>
            <a:ext cx="7296150" cy="2905125"/>
          </a:xfrm>
          <a:prstGeom xmlns:a="http://schemas.openxmlformats.org/drawingml/2006/main" prst="roundRect">
            <a:avLst>
              <a:gd name="adj" fmla="val 3934"/>
            </a:avLst>
          </a:prstGeom>
          <a:solidFill xmlns:a="http://schemas.openxmlformats.org/drawingml/2006/main">
            <a:srgbClr val="F7F9F9"/>
          </a:solidFill>
          <a:ln xmlns:a="http://schemas.openxmlformats.org/drawingml/2006/main" w="23813">
            <a:solidFill>
              <a:srgbClr val="B9C3C5"/>
            </a:solidFill>
            <a:prstDash val="solid"/>
          </a:ln>
        </p:spPr>
      </p:sp>
      <p:sp>
        <p:nvSpPr>
          <p:cNvPr id="2" name="control-panel">
            <a:extLst xmlns:a="http://schemas.openxmlformats.org/drawingml/2006/main">
              <a:ext uri="{FF2B5EF4-FFF2-40B4-BE49-F238E27FC236}">
                <a16:creationId xmlns:a16="http://schemas.microsoft.com/office/drawing/2014/main" id="{81673E5D-3B59-4C41-AACD-5DD7490F7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9550"/>
            <a:ext cx="7296150" cy="2905125"/>
          </a:xfrm>
          <a:prstGeom xmlns:a="http://schemas.openxmlformats.org/drawingml/2006/main" prst="roundRect">
            <a:avLst>
              <a:gd name="adj" fmla="val 3934"/>
            </a:avLst>
          </a:prstGeom>
          <a:solidFill xmlns:a="http://schemas.openxmlformats.org/drawingml/2006/main">
            <a:srgbClr val="F7F9F9"/>
          </a:solidFill>
          <a:ln xmlns:a="http://schemas.openxmlformats.org/drawingml/2006/main" w="23813">
            <a:solidFill>
              <a:srgbClr val="B9C3C5"/>
            </a:solidFill>
            <a:prstDash val="solid"/>
          </a:ln>
        </p:spPr>
      </p:sp>
      <p:sp>
        <p:nvSpPr>
          <p:cNvPr id="3" name="transition-header">
            <a:extLst xmlns:a="http://schemas.openxmlformats.org/drawingml/2006/main">
              <a:ext uri="{FF2B5EF4-FFF2-40B4-BE49-F238E27FC236}">
                <a16:creationId xmlns:a16="http://schemas.microsoft.com/office/drawing/2014/main" id="{4EC158FB-A645-4534-AED1-CC74CF40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209550"/>
            <a:ext cx="72961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ntrol-header">
            <a:extLst xmlns:a="http://schemas.openxmlformats.org/drawingml/2006/main">
              <a:ext uri="{FF2B5EF4-FFF2-40B4-BE49-F238E27FC236}">
                <a16:creationId xmlns:a16="http://schemas.microsoft.com/office/drawing/2014/main" id="{00D9F080-577A-456C-AF9C-E2A40316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9550"/>
            <a:ext cx="72961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ransition-header-text">
            <a:extLst xmlns:a="http://schemas.openxmlformats.org/drawingml/2006/main">
              <a:ext uri="{FF2B5EF4-FFF2-40B4-BE49-F238E27FC236}">
                <a16:creationId xmlns:a16="http://schemas.microsoft.com/office/drawing/2014/main" id="{EFCF5974-6B8C-44B5-B49F-92BC5A672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638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SHARED STATE TRANSITION</a:t>
            </a:r>
          </a:p>
        </p:txBody>
      </p:sp>
      <p:sp>
        <p:nvSpPr>
          <p:cNvPr id="6" name="control-header-text">
            <a:extLst xmlns:a="http://schemas.openxmlformats.org/drawingml/2006/main">
              <a:ext uri="{FF2B5EF4-FFF2-40B4-BE49-F238E27FC236}">
                <a16:creationId xmlns:a16="http://schemas.microsoft.com/office/drawing/2014/main" id="{849300E5-F6B2-49B1-9145-9BE2B910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85750"/>
            <a:ext cx="6438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REPRESENTED REFERENTIAL STATE</a:t>
            </a:r>
          </a:p>
        </p:txBody>
      </p:sp>
      <p:sp>
        <p:nvSpPr>
          <p:cNvPr id="7" name="email-a-back-2">
            <a:extLst xmlns:a="http://schemas.openxmlformats.org/drawingml/2006/main">
              <a:ext uri="{FF2B5EF4-FFF2-40B4-BE49-F238E27FC236}">
                <a16:creationId xmlns:a16="http://schemas.microsoft.com/office/drawing/2014/main" id="{606CE0E8-70F9-49FF-A45D-35972C368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876300"/>
            <a:ext cx="16764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C3C5"/>
            </a:solidFill>
            <a:prstDash val="solid"/>
          </a:ln>
        </p:spPr>
      </p:sp>
      <p:sp>
        <p:nvSpPr>
          <p:cNvPr id="8" name="email-a-back-1">
            <a:extLst xmlns:a="http://schemas.openxmlformats.org/drawingml/2006/main">
              <a:ext uri="{FF2B5EF4-FFF2-40B4-BE49-F238E27FC236}">
                <a16:creationId xmlns:a16="http://schemas.microsoft.com/office/drawing/2014/main" id="{2A1680FC-EA56-42DE-A0FE-64F13DBE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990600"/>
            <a:ext cx="16764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C3C5"/>
            </a:solidFill>
            <a:prstDash val="solid"/>
          </a:ln>
        </p:spPr>
      </p:sp>
      <p:sp>
        <p:nvSpPr>
          <p:cNvPr id="9" name="email-a-front">
            <a:extLst xmlns:a="http://schemas.openxmlformats.org/drawingml/2006/main">
              <a:ext uri="{FF2B5EF4-FFF2-40B4-BE49-F238E27FC236}">
                <a16:creationId xmlns:a16="http://schemas.microsoft.com/office/drawing/2014/main" id="{060208A4-8CDB-4ADA-A925-70A981BE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104900"/>
            <a:ext cx="16764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B94D49"/>
            </a:solidFill>
            <a:prstDash val="solid"/>
          </a:ln>
        </p:spPr>
      </p:sp>
      <p:sp>
        <p:nvSpPr>
          <p:cNvPr id="10" name="email-a-accent">
            <a:extLst xmlns:a="http://schemas.openxmlformats.org/drawingml/2006/main">
              <a:ext uri="{FF2B5EF4-FFF2-40B4-BE49-F238E27FC236}">
                <a16:creationId xmlns:a16="http://schemas.microsoft.com/office/drawing/2014/main" id="{819D2667-4E29-4327-89AC-92DCA4DA1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114425"/>
            <a:ext cx="16573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D4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email-a-fold-left">
            <a:extLst xmlns:a="http://schemas.openxmlformats.org/drawingml/2006/main">
              <a:ext uri="{FF2B5EF4-FFF2-40B4-BE49-F238E27FC236}">
                <a16:creationId xmlns:a16="http://schemas.microsoft.com/office/drawing/2014/main" id="{47F952BC-4712-45AF-B34C-44721C2B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90600" y="1295400"/>
            <a:ext cx="742950" cy="581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9C3C5"/>
            </a:solidFill>
            <a:prstDash val="solid"/>
          </a:ln>
        </p:spPr>
      </p:sp>
      <p:sp>
        <p:nvSpPr>
          <p:cNvPr id="12" name="email-a-fold-right">
            <a:extLst xmlns:a="http://schemas.openxmlformats.org/drawingml/2006/main">
              <a:ext uri="{FF2B5EF4-FFF2-40B4-BE49-F238E27FC236}">
                <a16:creationId xmlns:a16="http://schemas.microsoft.com/office/drawing/2014/main" id="{00AFBE0C-100D-462D-AC96-83FBFF13E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733550" y="1295400"/>
            <a:ext cx="742950" cy="581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9C3C5"/>
            </a:solidFill>
            <a:prstDash val="solid"/>
          </a:ln>
        </p:spPr>
      </p:sp>
      <p:sp>
        <p:nvSpPr>
          <p:cNvPr id="13" name="email-a-label">
            <a:extLst xmlns:a="http://schemas.openxmlformats.org/drawingml/2006/main">
              <a:ext uri="{FF2B5EF4-FFF2-40B4-BE49-F238E27FC236}">
                <a16:creationId xmlns:a16="http://schemas.microsoft.com/office/drawing/2014/main" id="{FB231827-33A0-4D01-B470-566880E8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428750"/>
            <a:ext cx="57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 i="0">
                <a:solidFill>
                  <a:srgbClr val="28343A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28343A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14" name="email-b-back-2">
            <a:extLst xmlns:a="http://schemas.openxmlformats.org/drawingml/2006/main">
              <a:ext uri="{FF2B5EF4-FFF2-40B4-BE49-F238E27FC236}">
                <a16:creationId xmlns:a16="http://schemas.microsoft.com/office/drawing/2014/main" id="{6EDC9811-F488-4329-AB6D-39701A674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876300"/>
            <a:ext cx="16764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C3C5"/>
            </a:solidFill>
            <a:prstDash val="solid"/>
          </a:ln>
        </p:spPr>
      </p:sp>
      <p:sp>
        <p:nvSpPr>
          <p:cNvPr id="15" name="email-b-back-1">
            <a:extLst xmlns:a="http://schemas.openxmlformats.org/drawingml/2006/main">
              <a:ext uri="{FF2B5EF4-FFF2-40B4-BE49-F238E27FC236}">
                <a16:creationId xmlns:a16="http://schemas.microsoft.com/office/drawing/2014/main" id="{4A1776BE-1605-45B1-BB63-D8420B29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990600"/>
            <a:ext cx="16764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9C3C5"/>
            </a:solidFill>
            <a:prstDash val="solid"/>
          </a:ln>
        </p:spPr>
      </p:sp>
      <p:sp>
        <p:nvSpPr>
          <p:cNvPr id="16" name="email-b-front">
            <a:extLst xmlns:a="http://schemas.openxmlformats.org/drawingml/2006/main">
              <a:ext uri="{FF2B5EF4-FFF2-40B4-BE49-F238E27FC236}">
                <a16:creationId xmlns:a16="http://schemas.microsoft.com/office/drawing/2014/main" id="{7F96EF18-88D3-4E3C-8DE8-014DC01FE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104900"/>
            <a:ext cx="16764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2D7F7B"/>
            </a:solidFill>
            <a:prstDash val="solid"/>
          </a:ln>
        </p:spPr>
      </p:sp>
      <p:sp>
        <p:nvSpPr>
          <p:cNvPr id="17" name="email-b-accent">
            <a:extLst xmlns:a="http://schemas.openxmlformats.org/drawingml/2006/main">
              <a:ext uri="{FF2B5EF4-FFF2-40B4-BE49-F238E27FC236}">
                <a16:creationId xmlns:a16="http://schemas.microsoft.com/office/drawing/2014/main" id="{2E1DB2CC-0EDF-47C5-9D36-ADB82083A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4425" y="1114425"/>
            <a:ext cx="165735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7F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email-b-fold-left">
            <a:extLst xmlns:a="http://schemas.openxmlformats.org/drawingml/2006/main">
              <a:ext uri="{FF2B5EF4-FFF2-40B4-BE49-F238E27FC236}">
                <a16:creationId xmlns:a16="http://schemas.microsoft.com/office/drawing/2014/main" id="{6F7922BD-A547-4891-BAF6-471ED724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010150" y="1295400"/>
            <a:ext cx="742950" cy="581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9C3C5"/>
            </a:solidFill>
            <a:prstDash val="solid"/>
          </a:ln>
        </p:spPr>
      </p:sp>
      <p:sp>
        <p:nvSpPr>
          <p:cNvPr id="19" name="email-b-fold-right">
            <a:extLst xmlns:a="http://schemas.openxmlformats.org/drawingml/2006/main">
              <a:ext uri="{FF2B5EF4-FFF2-40B4-BE49-F238E27FC236}">
                <a16:creationId xmlns:a16="http://schemas.microsoft.com/office/drawing/2014/main" id="{74B1181F-DB29-4337-BB76-97E7C920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753100" y="1295400"/>
            <a:ext cx="742950" cy="581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9C3C5"/>
            </a:solidFill>
            <a:prstDash val="solid"/>
          </a:ln>
        </p:spPr>
      </p:sp>
      <p:sp>
        <p:nvSpPr>
          <p:cNvPr id="20" name="email-b-label">
            <a:extLst xmlns:a="http://schemas.openxmlformats.org/drawingml/2006/main">
              <a:ext uri="{FF2B5EF4-FFF2-40B4-BE49-F238E27FC236}">
                <a16:creationId xmlns:a16="http://schemas.microsoft.com/office/drawing/2014/main" id="{788E2D38-8B93-4B1C-9047-97A27F7A2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428750"/>
            <a:ext cx="57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 i="0">
                <a:solidFill>
                  <a:srgbClr val="28343A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28343A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21" name="refresh-arrow">
            <a:extLst xmlns:a="http://schemas.openxmlformats.org/drawingml/2006/main">
              <a:ext uri="{FF2B5EF4-FFF2-40B4-BE49-F238E27FC236}">
                <a16:creationId xmlns:a16="http://schemas.microsoft.com/office/drawing/2014/main" id="{F95FD2D2-8FC8-4E83-B663-CB1C900A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1381125"/>
            <a:ext cx="1695450" cy="514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A4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efresh-label">
            <a:extLst xmlns:a="http://schemas.openxmlformats.org/drawingml/2006/main">
              <a:ext uri="{FF2B5EF4-FFF2-40B4-BE49-F238E27FC236}">
                <a16:creationId xmlns:a16="http://schemas.microsoft.com/office/drawing/2014/main" id="{33699848-1001-4ACE-B20C-52A6227A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104900"/>
            <a:ext cx="139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66899D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66899D"/>
                </a:solidFill>
                <a:latin typeface="Arial"/>
                <a:ea typeface="Arial"/>
                <a:cs typeface="Arial"/>
              </a:rPr>
              <a:t>REFRESH</a:t>
            </a:r>
          </a:p>
        </p:txBody>
      </p:sp>
      <p:sp>
        <p:nvSpPr>
          <p:cNvPr id="23" name="before-label">
            <a:extLst xmlns:a="http://schemas.openxmlformats.org/drawingml/2006/main">
              <a:ext uri="{FF2B5EF4-FFF2-40B4-BE49-F238E27FC236}">
                <a16:creationId xmlns:a16="http://schemas.microsoft.com/office/drawing/2014/main" id="{217AE575-E842-437D-9DD8-A2FE2DFF3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257425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 i="0">
                <a:solidFill>
                  <a:srgbClr val="28343A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28343A"/>
                </a:solidFill>
                <a:latin typeface="Arial"/>
                <a:ea typeface="Arial"/>
                <a:cs typeface="Arial"/>
              </a:rPr>
              <a:t>Before refresh</a:t>
            </a:r>
          </a:p>
          <a:p xmlns:a="http://schemas.openxmlformats.org/drawingml/2006/main">
            <a:pPr algn="ctr">
              <a:buNone/>
              <a:defRPr sz="1875" b="0" i="0">
                <a:solidFill>
                  <a:srgbClr val="28343A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28343A"/>
                </a:solidFill>
                <a:latin typeface="Arial"/>
                <a:ea typeface="Arial"/>
                <a:cs typeface="Arial"/>
              </a:rPr>
              <a:t>A is highest priority</a:t>
            </a:r>
          </a:p>
        </p:txBody>
      </p:sp>
      <p:sp>
        <p:nvSpPr>
          <p:cNvPr id="24" name="after-label">
            <a:extLst xmlns:a="http://schemas.openxmlformats.org/drawingml/2006/main">
              <a:ext uri="{FF2B5EF4-FFF2-40B4-BE49-F238E27FC236}">
                <a16:creationId xmlns:a16="http://schemas.microsoft.com/office/drawing/2014/main" id="{24C00C20-013B-4645-865B-C3F85614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257425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 i="0">
                <a:solidFill>
                  <a:srgbClr val="28343A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28343A"/>
                </a:solidFill>
                <a:latin typeface="Arial"/>
                <a:ea typeface="Arial"/>
                <a:cs typeface="Arial"/>
              </a:rPr>
              <a:t>After refresh</a:t>
            </a:r>
          </a:p>
          <a:p xmlns:a="http://schemas.openxmlformats.org/drawingml/2006/main">
            <a:pPr algn="ctr">
              <a:buNone/>
              <a:defRPr sz="1875" b="0" i="0">
                <a:solidFill>
                  <a:srgbClr val="28343A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28343A"/>
                </a:solidFill>
                <a:latin typeface="Arial"/>
                <a:ea typeface="Arial"/>
                <a:cs typeface="Arial"/>
              </a:rPr>
              <a:t>B is highest priority</a:t>
            </a:r>
          </a:p>
        </p:txBody>
      </p:sp>
      <p:sp>
        <p:nvSpPr>
          <p:cNvPr id="25" name="snapshot-strip">
            <a:extLst xmlns:a="http://schemas.openxmlformats.org/drawingml/2006/main">
              <a:ext uri="{FF2B5EF4-FFF2-40B4-BE49-F238E27FC236}">
                <a16:creationId xmlns:a16="http://schemas.microsoft.com/office/drawing/2014/main" id="{79A6DCEF-F75B-4A4E-820A-3754E773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19400"/>
            <a:ext cx="6343650" cy="238125"/>
          </a:xfrm>
          <a:prstGeom xmlns:a="http://schemas.openxmlformats.org/drawingml/2006/main" prst="roundRect">
            <a:avLst>
              <a:gd name="adj" fmla="val 48000"/>
            </a:avLst>
          </a:prstGeom>
          <a:solidFill xmlns:a="http://schemas.openxmlformats.org/drawingml/2006/main">
            <a:srgbClr val="E5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napshot-strip-label">
            <a:extLst xmlns:a="http://schemas.openxmlformats.org/drawingml/2006/main">
              <a:ext uri="{FF2B5EF4-FFF2-40B4-BE49-F238E27FC236}">
                <a16:creationId xmlns:a16="http://schemas.microsoft.com/office/drawing/2014/main" id="{C939E980-8186-4724-89DA-4878C7E25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19400"/>
            <a:ext cx="5753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2D7F7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D7F7B"/>
                </a:solidFill>
                <a:latin typeface="Arial"/>
                <a:ea typeface="Arial"/>
                <a:cs typeface="Arial"/>
              </a:rPr>
              <a:t>Both snapshots and stable IDs remain available</a:t>
            </a:r>
          </a:p>
        </p:txBody>
      </p:sp>
      <p:sp>
        <p:nvSpPr>
          <p:cNvPr id="27" name="bound-surface">
            <a:extLst xmlns:a="http://schemas.openxmlformats.org/drawingml/2006/main">
              <a:ext uri="{FF2B5EF4-FFF2-40B4-BE49-F238E27FC236}">
                <a16:creationId xmlns:a16="http://schemas.microsoft.com/office/drawing/2014/main" id="{99F6D4EA-3B4F-4481-B2B6-50C152C1A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942975"/>
            <a:ext cx="61912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B9C3C5"/>
            </a:solidFill>
            <a:prstDash val="solid"/>
          </a:ln>
        </p:spPr>
      </p:sp>
      <p:sp>
        <p:nvSpPr>
          <p:cNvPr id="28" name="bound-icon-bed">
            <a:extLst xmlns:a="http://schemas.openxmlformats.org/drawingml/2006/main">
              <a:ext uri="{FF2B5EF4-FFF2-40B4-BE49-F238E27FC236}">
                <a16:creationId xmlns:a16="http://schemas.microsoft.com/office/drawing/2014/main" id="{DAC827FB-A5C8-4531-948B-6D35F6418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085850"/>
            <a:ext cx="59055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E7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bound-icon-shackle">
            <a:extLst xmlns:a="http://schemas.openxmlformats.org/drawingml/2006/main">
              <a:ext uri="{FF2B5EF4-FFF2-40B4-BE49-F238E27FC236}">
                <a16:creationId xmlns:a16="http://schemas.microsoft.com/office/drawing/2014/main" id="{9EA46EB3-5B72-441C-B417-F8059657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104900"/>
            <a:ext cx="323850" cy="323850"/>
          </a:xfrm>
          <a:prstGeom xmlns:a="http://schemas.openxmlformats.org/drawingml/2006/main" prst="arc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B94D49"/>
            </a:solidFill>
            <a:prstDash val="solid"/>
          </a:ln>
        </p:spPr>
      </p:sp>
      <p:sp>
        <p:nvSpPr>
          <p:cNvPr id="30" name="bound-icon-body">
            <a:extLst xmlns:a="http://schemas.openxmlformats.org/drawingml/2006/main">
              <a:ext uri="{FF2B5EF4-FFF2-40B4-BE49-F238E27FC236}">
                <a16:creationId xmlns:a16="http://schemas.microsoft.com/office/drawing/2014/main" id="{0ED35C5D-3A71-43D9-93AD-23412E655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314450"/>
            <a:ext cx="41910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B94D49"/>
          </a:solidFill>
          <a:ln xmlns:a="http://schemas.openxmlformats.org/drawingml/2006/main" w="9525">
            <a:solidFill>
              <a:srgbClr val="B94D49"/>
            </a:solidFill>
            <a:prstDash val="solid"/>
          </a:ln>
        </p:spPr>
      </p:sp>
      <p:sp>
        <p:nvSpPr>
          <p:cNvPr id="31" name="bound-icon-keyhole-dot">
            <a:extLst xmlns:a="http://schemas.openxmlformats.org/drawingml/2006/main">
              <a:ext uri="{FF2B5EF4-FFF2-40B4-BE49-F238E27FC236}">
                <a16:creationId xmlns:a16="http://schemas.microsoft.com/office/drawing/2014/main" id="{EAFC91BC-4FEB-474D-9FD8-AFCC57F5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4001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bound-icon-keyhole-stem">
            <a:extLst xmlns:a="http://schemas.openxmlformats.org/drawingml/2006/main">
              <a:ext uri="{FF2B5EF4-FFF2-40B4-BE49-F238E27FC236}">
                <a16:creationId xmlns:a16="http://schemas.microsoft.com/office/drawing/2014/main" id="{D3792D1E-8024-4754-8AF6-53D05AA4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466850"/>
            <a:ext cx="38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bound-title">
            <a:extLst xmlns:a="http://schemas.openxmlformats.org/drawingml/2006/main">
              <a:ext uri="{FF2B5EF4-FFF2-40B4-BE49-F238E27FC236}">
                <a16:creationId xmlns:a16="http://schemas.microsoft.com/office/drawing/2014/main" id="{C4A4E79B-0ABA-4DD4-BBAC-23F201C7F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0477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B94D49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B94D49"/>
                </a:solidFill>
                <a:latin typeface="Arial"/>
                <a:ea typeface="Arial"/>
                <a:cs typeface="Arial"/>
              </a:rPr>
              <a:t>BOUND BEFORE REFRESH</a:t>
            </a:r>
          </a:p>
        </p:txBody>
      </p:sp>
      <p:sp>
        <p:nvSpPr>
          <p:cNvPr id="34" name="bound-subtitle">
            <a:extLst xmlns:a="http://schemas.openxmlformats.org/drawingml/2006/main">
              <a:ext uri="{FF2B5EF4-FFF2-40B4-BE49-F238E27FC236}">
                <a16:creationId xmlns:a16="http://schemas.microsoft.com/office/drawing/2014/main" id="{343C4961-269D-454D-ADD5-BD2BED86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3906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69787E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69787E"/>
                </a:solidFill>
                <a:latin typeface="Arial"/>
                <a:ea typeface="Arial"/>
                <a:cs typeface="Arial"/>
              </a:rPr>
              <a:t>“it” retains the committed entity</a:t>
            </a:r>
          </a:p>
        </p:txBody>
      </p:sp>
      <p:sp>
        <p:nvSpPr>
          <p:cNvPr id="35" name="bound-divider">
            <a:extLst xmlns:a="http://schemas.openxmlformats.org/drawingml/2006/main">
              <a:ext uri="{FF2B5EF4-FFF2-40B4-BE49-F238E27FC236}">
                <a16:creationId xmlns:a16="http://schemas.microsoft.com/office/drawing/2014/main" id="{3A4D3052-CDB3-4C91-83C9-B1A92AA8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125450" y="1066800"/>
            <a:ext cx="0" cy="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C3C5"/>
            </a:solidFill>
            <a:prstDash val="solid"/>
          </a:ln>
        </p:spPr>
      </p:sp>
      <p:sp>
        <p:nvSpPr>
          <p:cNvPr id="36" name="bound-correct">
            <a:extLst xmlns:a="http://schemas.openxmlformats.org/drawingml/2006/main">
              <a:ext uri="{FF2B5EF4-FFF2-40B4-BE49-F238E27FC236}">
                <a16:creationId xmlns:a16="http://schemas.microsoft.com/office/drawing/2014/main" id="{1CA30818-8A30-4D02-B5CB-634456290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375" y="106680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69787E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69787E"/>
                </a:solidFill>
                <a:latin typeface="Arial"/>
                <a:ea typeface="Arial"/>
                <a:cs typeface="Arial"/>
              </a:rPr>
              <a:t>correct</a:t>
            </a:r>
          </a:p>
        </p:txBody>
      </p:sp>
      <p:sp>
        <p:nvSpPr>
          <p:cNvPr id="37" name="bound-target">
            <a:extLst xmlns:a="http://schemas.openxmlformats.org/drawingml/2006/main">
              <a:ext uri="{FF2B5EF4-FFF2-40B4-BE49-F238E27FC236}">
                <a16:creationId xmlns:a16="http://schemas.microsoft.com/office/drawing/2014/main" id="{9D4B5AE3-75BF-4A8D-A296-6A3712E62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1304925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13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B94D49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B94D49"/>
                </a:solidFill>
                <a:latin typeface="Arial"/>
                <a:ea typeface="Arial"/>
                <a:cs typeface="Arial"/>
              </a:rPr>
              <a:t>Email A</a:t>
            </a:r>
          </a:p>
        </p:txBody>
      </p:sp>
      <p:sp>
        <p:nvSpPr>
          <p:cNvPr id="38" name="deferred-surface">
            <a:extLst xmlns:a="http://schemas.openxmlformats.org/drawingml/2006/main">
              <a:ext uri="{FF2B5EF4-FFF2-40B4-BE49-F238E27FC236}">
                <a16:creationId xmlns:a16="http://schemas.microsoft.com/office/drawing/2014/main" id="{D19E7B94-9C24-43A3-9CFF-CE199533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971675"/>
            <a:ext cx="61912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3813">
            <a:solidFill>
              <a:srgbClr val="B9C3C5"/>
            </a:solidFill>
            <a:prstDash val="solid"/>
          </a:ln>
        </p:spPr>
      </p:sp>
      <p:sp>
        <p:nvSpPr>
          <p:cNvPr id="39" name="deferred-icon-bed">
            <a:extLst xmlns:a="http://schemas.openxmlformats.org/drawingml/2006/main">
              <a:ext uri="{FF2B5EF4-FFF2-40B4-BE49-F238E27FC236}">
                <a16:creationId xmlns:a16="http://schemas.microsoft.com/office/drawing/2014/main" id="{A95DFF4C-9634-4C85-A330-705DA73C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14550"/>
            <a:ext cx="590550" cy="5715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deferred-icon-top">
            <a:extLst xmlns:a="http://schemas.openxmlformats.org/drawingml/2006/main">
              <a:ext uri="{FF2B5EF4-FFF2-40B4-BE49-F238E27FC236}">
                <a16:creationId xmlns:a16="http://schemas.microsoft.com/office/drawing/2014/main" id="{8B2858D5-64E6-4485-BBBF-D357B914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601075" y="2152650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D7F7B"/>
            </a:solidFill>
            <a:prstDash val="solid"/>
          </a:ln>
        </p:spPr>
      </p:sp>
      <p:sp>
        <p:nvSpPr>
          <p:cNvPr id="41" name="deferred-icon-bottom">
            <a:extLst xmlns:a="http://schemas.openxmlformats.org/drawingml/2006/main">
              <a:ext uri="{FF2B5EF4-FFF2-40B4-BE49-F238E27FC236}">
                <a16:creationId xmlns:a16="http://schemas.microsoft.com/office/drawing/2014/main" id="{4AD51732-A80A-48B9-8E49-3FAD58FD5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601075" y="2647950"/>
            <a:ext cx="438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D7F7B"/>
            </a:solidFill>
            <a:prstDash val="solid"/>
          </a:ln>
        </p:spPr>
      </p:sp>
      <p:sp>
        <p:nvSpPr>
          <p:cNvPr id="42" name="deferred-icon-cross-a">
            <a:extLst xmlns:a="http://schemas.openxmlformats.org/drawingml/2006/main">
              <a:ext uri="{FF2B5EF4-FFF2-40B4-BE49-F238E27FC236}">
                <a16:creationId xmlns:a16="http://schemas.microsoft.com/office/drawing/2014/main" id="{985FB680-BB26-47E8-9B2C-5E0EB71DA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658225" y="2209800"/>
            <a:ext cx="32385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D7F7B"/>
            </a:solidFill>
            <a:prstDash val="solid"/>
          </a:ln>
        </p:spPr>
      </p:sp>
      <p:sp>
        <p:nvSpPr>
          <p:cNvPr id="43" name="deferred-icon-cross-b">
            <a:extLst xmlns:a="http://schemas.openxmlformats.org/drawingml/2006/main">
              <a:ext uri="{FF2B5EF4-FFF2-40B4-BE49-F238E27FC236}">
                <a16:creationId xmlns:a16="http://schemas.microsoft.com/office/drawing/2014/main" id="{D1FD5A6F-C481-4CDE-8C82-2DEDB10EC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8658225" y="2209800"/>
            <a:ext cx="32385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D7F7B"/>
            </a:solidFill>
            <a:prstDash val="solid"/>
          </a:ln>
        </p:spPr>
      </p:sp>
      <p:sp>
        <p:nvSpPr>
          <p:cNvPr id="44" name="deferred-icon-sand-top">
            <a:extLst xmlns:a="http://schemas.openxmlformats.org/drawingml/2006/main">
              <a:ext uri="{FF2B5EF4-FFF2-40B4-BE49-F238E27FC236}">
                <a16:creationId xmlns:a16="http://schemas.microsoft.com/office/drawing/2014/main" id="{F3652A7A-6028-42D4-BE21-235578253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228850"/>
            <a:ext cx="2095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D7F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deferred-icon-sand-bottom">
            <a:extLst xmlns:a="http://schemas.openxmlformats.org/drawingml/2006/main">
              <a:ext uri="{FF2B5EF4-FFF2-40B4-BE49-F238E27FC236}">
                <a16:creationId xmlns:a16="http://schemas.microsoft.com/office/drawing/2014/main" id="{90E87E75-E56E-41D0-BB91-5651E6475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8715375" y="2428875"/>
            <a:ext cx="2095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2D7F7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deferred-title">
            <a:extLst xmlns:a="http://schemas.openxmlformats.org/drawingml/2006/main">
              <a:ext uri="{FF2B5EF4-FFF2-40B4-BE49-F238E27FC236}">
                <a16:creationId xmlns:a16="http://schemas.microsoft.com/office/drawing/2014/main" id="{C23709FE-992E-4362-800C-E05800CB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0764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325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0">
                <a:solidFill>
                  <a:srgbClr val="2D7F7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2D7F7B"/>
                </a:solidFill>
                <a:latin typeface="Arial"/>
                <a:ea typeface="Arial"/>
                <a:cs typeface="Arial"/>
              </a:rPr>
              <a:t>DEFERRED UNTIL AFTER REFRESH</a:t>
            </a:r>
          </a:p>
        </p:txBody>
      </p:sp>
      <p:sp>
        <p:nvSpPr>
          <p:cNvPr id="47" name="deferred-subtitle">
            <a:extLst xmlns:a="http://schemas.openxmlformats.org/drawingml/2006/main">
              <a:ext uri="{FF2B5EF4-FFF2-40B4-BE49-F238E27FC236}">
                <a16:creationId xmlns:a16="http://schemas.microsoft.com/office/drawing/2014/main" id="{A2512B96-E167-4B8A-891A-4FF8E3CF5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193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679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 i="0">
                <a:solidFill>
                  <a:srgbClr val="69787E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69787E"/>
                </a:solidFill>
                <a:latin typeface="Arial"/>
                <a:ea typeface="Arial"/>
                <a:cs typeface="Arial"/>
              </a:rPr>
              <a:t>resolve the selector only after the update</a:t>
            </a:r>
          </a:p>
        </p:txBody>
      </p:sp>
      <p:sp>
        <p:nvSpPr>
          <p:cNvPr id="48" name="deferred-divider">
            <a:extLst xmlns:a="http://schemas.openxmlformats.org/drawingml/2006/main">
              <a:ext uri="{FF2B5EF4-FFF2-40B4-BE49-F238E27FC236}">
                <a16:creationId xmlns:a16="http://schemas.microsoft.com/office/drawing/2014/main" id="{D4E1508F-8F18-47C4-9EE9-92707615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3125450" y="2095500"/>
            <a:ext cx="0" cy="609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C3C5"/>
            </a:solidFill>
            <a:prstDash val="solid"/>
          </a:ln>
        </p:spPr>
      </p:sp>
      <p:sp>
        <p:nvSpPr>
          <p:cNvPr id="49" name="deferred-correct">
            <a:extLst xmlns:a="http://schemas.openxmlformats.org/drawingml/2006/main">
              <a:ext uri="{FF2B5EF4-FFF2-40B4-BE49-F238E27FC236}">
                <a16:creationId xmlns:a16="http://schemas.microsoft.com/office/drawing/2014/main" id="{54B5D12C-FCBB-4E03-B86F-99D72D5D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375" y="2095500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69787E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69787E"/>
                </a:solidFill>
                <a:latin typeface="Arial"/>
                <a:ea typeface="Arial"/>
                <a:cs typeface="Arial"/>
              </a:rPr>
              <a:t>correct</a:t>
            </a:r>
          </a:p>
        </p:txBody>
      </p:sp>
      <p:sp>
        <p:nvSpPr>
          <p:cNvPr id="50" name="deferred-target">
            <a:extLst xmlns:a="http://schemas.openxmlformats.org/drawingml/2006/main">
              <a:ext uri="{FF2B5EF4-FFF2-40B4-BE49-F238E27FC236}">
                <a16:creationId xmlns:a16="http://schemas.microsoft.com/office/drawing/2014/main" id="{BD67027E-951E-4555-B724-0F6D4712F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0" y="2333625"/>
            <a:ext cx="114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13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2D7F7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2D7F7B"/>
                </a:solidFill>
                <a:latin typeface="Arial"/>
                <a:ea typeface="Arial"/>
                <a:cs typeface="Arial"/>
              </a:rPr>
              <a:t>Email B</a:t>
            </a:r>
          </a:p>
        </p:txBody>
      </p:sp>
      <p:sp>
        <p:nvSpPr>
          <p:cNvPr id="51" name="invariant-left">
            <a:extLst xmlns:a="http://schemas.openxmlformats.org/drawingml/2006/main">
              <a:ext uri="{FF2B5EF4-FFF2-40B4-BE49-F238E27FC236}">
                <a16:creationId xmlns:a16="http://schemas.microsoft.com/office/drawing/2014/main" id="{6D7F3128-50CA-405C-9696-F8205400A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8600" y="3362325"/>
            <a:ext cx="4295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C3C5"/>
            </a:solidFill>
            <a:prstDash val="solid"/>
          </a:ln>
        </p:spPr>
      </p:sp>
      <p:sp>
        <p:nvSpPr>
          <p:cNvPr id="52" name="invariant-right">
            <a:extLst xmlns:a="http://schemas.openxmlformats.org/drawingml/2006/main">
              <a:ext uri="{FF2B5EF4-FFF2-40B4-BE49-F238E27FC236}">
                <a16:creationId xmlns:a16="http://schemas.microsoft.com/office/drawing/2014/main" id="{B731BCC4-EC88-42DE-A8A6-49F3DBE68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715625" y="3362325"/>
            <a:ext cx="4295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C3C5"/>
            </a:solidFill>
            <a:prstDash val="solid"/>
          </a:ln>
        </p:spPr>
      </p:sp>
      <p:sp>
        <p:nvSpPr>
          <p:cNvPr id="53" name="invariant">
            <a:extLst xmlns:a="http://schemas.openxmlformats.org/drawingml/2006/main">
              <a:ext uri="{FF2B5EF4-FFF2-40B4-BE49-F238E27FC236}">
                <a16:creationId xmlns:a16="http://schemas.microsoft.com/office/drawing/2014/main" id="{3D9FFA22-13CC-4B3C-A406-BFF4301C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09925"/>
            <a:ext cx="5981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 i="1">
                <a:solidFill>
                  <a:srgbClr val="69787E"/>
                </a:solidFill>
                <a:latin typeface="Arial"/>
                <a:ea typeface="Arial"/>
                <a:cs typeface="Arial"/>
              </a:defRPr>
            </a:pPr>
            <a:r>
              <a:rPr sz="1650" b="0" i="1">
                <a:solidFill>
                  <a:srgbClr val="69787E"/>
                </a:solidFill>
                <a:latin typeface="Arial"/>
                <a:ea typeface="Arial"/>
                <a:cs typeface="Arial"/>
              </a:rPr>
              <a:t>Same transition; only commitment timing differs</a:t>
            </a:r>
          </a:p>
        </p:txBody>
      </p:sp>
      <p:sp>
        <p:nvSpPr>
          <p:cNvPr id="54" name="table-header">
            <a:extLst xmlns:a="http://schemas.openxmlformats.org/drawingml/2006/main">
              <a:ext uri="{FF2B5EF4-FFF2-40B4-BE49-F238E27FC236}">
                <a16:creationId xmlns:a16="http://schemas.microsoft.com/office/drawing/2014/main" id="{50B04E6C-5B64-43EE-B491-F3A8BDA5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638550"/>
            <a:ext cx="14782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D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col-1">
            <a:extLst xmlns:a="http://schemas.openxmlformats.org/drawingml/2006/main">
              <a:ext uri="{FF2B5EF4-FFF2-40B4-BE49-F238E27FC236}">
                <a16:creationId xmlns:a16="http://schemas.microsoft.com/office/drawing/2014/main" id="{2CEA8C16-D3F2-4A43-921F-01BCA6DA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171700" y="3638550"/>
            <a:ext cx="0" cy="2819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C3C5"/>
            </a:solidFill>
            <a:prstDash val="solid"/>
          </a:ln>
        </p:spPr>
      </p:sp>
      <p:sp>
        <p:nvSpPr>
          <p:cNvPr id="56" name="col-2">
            <a:extLst xmlns:a="http://schemas.openxmlformats.org/drawingml/2006/main">
              <a:ext uri="{FF2B5EF4-FFF2-40B4-BE49-F238E27FC236}">
                <a16:creationId xmlns:a16="http://schemas.microsoft.com/office/drawing/2014/main" id="{FAD5BD02-9085-4CA5-864B-70FDBF258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772650" y="3638550"/>
            <a:ext cx="0" cy="2819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C3C5"/>
            </a:solidFill>
            <a:prstDash val="solid"/>
          </a:ln>
        </p:spPr>
      </p:sp>
      <p:sp>
        <p:nvSpPr>
          <p:cNvPr id="57" name="col-3">
            <a:extLst xmlns:a="http://schemas.openxmlformats.org/drawingml/2006/main">
              <a:ext uri="{FF2B5EF4-FFF2-40B4-BE49-F238E27FC236}">
                <a16:creationId xmlns:a16="http://schemas.microsoft.com/office/drawing/2014/main" id="{1090FE10-8D1C-40F3-A4EA-9D6D29C4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020550" y="3638550"/>
            <a:ext cx="0" cy="2819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C3C5"/>
            </a:solidFill>
            <a:prstDash val="solid"/>
          </a:ln>
        </p:spPr>
      </p:sp>
      <p:sp>
        <p:nvSpPr>
          <p:cNvPr id="58" name="header-timing">
            <a:extLst xmlns:a="http://schemas.openxmlformats.org/drawingml/2006/main">
              <a:ext uri="{FF2B5EF4-FFF2-40B4-BE49-F238E27FC236}">
                <a16:creationId xmlns:a16="http://schemas.microsoft.com/office/drawing/2014/main" id="{7DC130F9-512E-41A7-B94F-7C7A7DB8D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724275"/>
            <a:ext cx="1476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TIMING</a:t>
            </a:r>
          </a:p>
        </p:txBody>
      </p:sp>
      <p:sp>
        <p:nvSpPr>
          <p:cNvPr id="59" name="header-instruction">
            <a:extLst xmlns:a="http://schemas.openxmlformats.org/drawingml/2006/main">
              <a:ext uri="{FF2B5EF4-FFF2-40B4-BE49-F238E27FC236}">
                <a16:creationId xmlns:a16="http://schemas.microsoft.com/office/drawing/2014/main" id="{2FE79E07-F3E1-41F2-A9DF-90CCBF13E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724275"/>
            <a:ext cx="704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INSTRUCTION</a:t>
            </a:r>
          </a:p>
        </p:txBody>
      </p:sp>
      <p:sp>
        <p:nvSpPr>
          <p:cNvPr id="60" name="header-target">
            <a:extLst xmlns:a="http://schemas.openxmlformats.org/drawingml/2006/main">
              <a:ext uri="{FF2B5EF4-FFF2-40B4-BE49-F238E27FC236}">
                <a16:creationId xmlns:a16="http://schemas.microsoft.com/office/drawing/2014/main" id="{8A5606E2-822B-4F69-ADBF-4E5A54E80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724275"/>
            <a:ext cx="1962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27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CORRECT TARGET</a:t>
            </a:r>
          </a:p>
        </p:txBody>
      </p:sp>
      <p:sp>
        <p:nvSpPr>
          <p:cNvPr id="61" name="header-failure">
            <a:extLst xmlns:a="http://schemas.openxmlformats.org/drawingml/2006/main">
              <a:ext uri="{FF2B5EF4-FFF2-40B4-BE49-F238E27FC236}">
                <a16:creationId xmlns:a16="http://schemas.microsoft.com/office/drawing/2014/main" id="{12ADE3AE-3A00-4E03-AF97-4CBB73B11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0100" y="3724275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FAILURE EXPOSED</a:t>
            </a:r>
          </a:p>
        </p:txBody>
      </p:sp>
      <p:sp>
        <p:nvSpPr>
          <p:cNvPr id="62" name="preserve-row">
            <a:extLst xmlns:a="http://schemas.openxmlformats.org/drawingml/2006/main">
              <a:ext uri="{FF2B5EF4-FFF2-40B4-BE49-F238E27FC236}">
                <a16:creationId xmlns:a16="http://schemas.microsoft.com/office/drawing/2014/main" id="{B0FD392F-B757-44B6-9635-22BDA987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4191000"/>
            <a:ext cx="14782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7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preserve-mode">
            <a:extLst xmlns:a="http://schemas.openxmlformats.org/drawingml/2006/main">
              <a:ext uri="{FF2B5EF4-FFF2-40B4-BE49-F238E27FC236}">
                <a16:creationId xmlns:a16="http://schemas.microsoft.com/office/drawing/2014/main" id="{5C7FD2BE-2752-4909-AF7A-1F5BA8B73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1771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 i="0">
                <a:solidFill>
                  <a:srgbClr val="B94D49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B94D49"/>
                </a:solidFill>
                <a:latin typeface="Arial"/>
                <a:ea typeface="Arial"/>
                <a:cs typeface="Arial"/>
              </a:rPr>
              <a:t>PRESERVE</a:t>
            </a:r>
          </a:p>
        </p:txBody>
      </p:sp>
      <p:sp>
        <p:nvSpPr>
          <p:cNvPr id="64" name="preserve-instruction">
            <a:extLst xmlns:a="http://schemas.openxmlformats.org/drawingml/2006/main">
              <a:ext uri="{FF2B5EF4-FFF2-40B4-BE49-F238E27FC236}">
                <a16:creationId xmlns:a16="http://schemas.microsoft.com/office/drawing/2014/main" id="{0A408210-43E6-4A4A-BFF5-1BDE877A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381500"/>
            <a:ext cx="676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 i="0">
                <a:solidFill>
                  <a:srgbClr val="28343A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28343A"/>
                </a:solidFill>
                <a:latin typeface="Arial"/>
                <a:ea typeface="Arial"/>
                <a:cs typeface="Arial"/>
              </a:rPr>
              <a:t>Choose the highest-priority unread email now.</a:t>
            </a:r>
          </a:p>
          <a:p xmlns:a="http://schemas.openxmlformats.org/drawingml/2006/main">
            <a:pPr algn="l">
              <a:buNone/>
              <a:defRPr sz="1875" b="0" i="0">
                <a:solidFill>
                  <a:srgbClr val="28343A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28343A"/>
                </a:solidFill>
                <a:latin typeface="Arial"/>
                <a:ea typeface="Arial"/>
                <a:cs typeface="Arial"/>
              </a:rPr>
              <a:t>Refresh, then reply to it.</a:t>
            </a:r>
          </a:p>
        </p:txBody>
      </p:sp>
      <p:sp>
        <p:nvSpPr>
          <p:cNvPr id="65" name="preserve-target">
            <a:extLst xmlns:a="http://schemas.openxmlformats.org/drawingml/2006/main">
              <a:ext uri="{FF2B5EF4-FFF2-40B4-BE49-F238E27FC236}">
                <a16:creationId xmlns:a16="http://schemas.microsoft.com/office/drawing/2014/main" id="{15F2554A-D91F-41E7-865F-69794A44E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495800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B94D49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B94D49"/>
                </a:solidFill>
                <a:latin typeface="Arial"/>
                <a:ea typeface="Arial"/>
                <a:cs typeface="Arial"/>
              </a:rPr>
              <a:t>Email A</a:t>
            </a:r>
          </a:p>
        </p:txBody>
      </p:sp>
      <p:sp>
        <p:nvSpPr>
          <p:cNvPr id="66" name="preserve-failure-box">
            <a:extLst xmlns:a="http://schemas.openxmlformats.org/drawingml/2006/main">
              <a:ext uri="{FF2B5EF4-FFF2-40B4-BE49-F238E27FC236}">
                <a16:creationId xmlns:a16="http://schemas.microsoft.com/office/drawing/2014/main" id="{FE49706A-004F-46FF-9B3E-32AE7D457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4352925"/>
            <a:ext cx="22669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B94D49"/>
            </a:solidFill>
            <a:prstDash val="solid"/>
          </a:ln>
        </p:spPr>
      </p:sp>
      <p:sp>
        <p:nvSpPr>
          <p:cNvPr id="67" name="preserve-failure-arrow">
            <a:extLst xmlns:a="http://schemas.openxmlformats.org/drawingml/2006/main">
              <a:ext uri="{FF2B5EF4-FFF2-40B4-BE49-F238E27FC236}">
                <a16:creationId xmlns:a16="http://schemas.microsoft.com/office/drawing/2014/main" id="{618C2849-4B0F-466D-968C-BCB2D52DA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4400550"/>
            <a:ext cx="18478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82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 i="0">
                <a:solidFill>
                  <a:srgbClr val="B94D49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B94D49"/>
                </a:solidFill>
                <a:latin typeface="Arial"/>
                <a:ea typeface="Arial"/>
                <a:cs typeface="Arial"/>
              </a:rPr>
              <a:t>A → B</a:t>
            </a:r>
          </a:p>
        </p:txBody>
      </p:sp>
      <p:sp>
        <p:nvSpPr>
          <p:cNvPr id="68" name="preserve-failure-kind">
            <a:extLst xmlns:a="http://schemas.openxmlformats.org/drawingml/2006/main">
              <a:ext uri="{FF2B5EF4-FFF2-40B4-BE49-F238E27FC236}">
                <a16:creationId xmlns:a16="http://schemas.microsoft.com/office/drawing/2014/main" id="{C7DA11F9-FEF4-42DB-A9DC-F501C7B8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4705350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B94D49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B94D49"/>
                </a:solidFill>
                <a:latin typeface="Arial"/>
                <a:ea typeface="Arial"/>
                <a:cs typeface="Arial"/>
              </a:rPr>
              <a:t>over-reevaluate</a:t>
            </a:r>
          </a:p>
        </p:txBody>
      </p:sp>
      <p:sp>
        <p:nvSpPr>
          <p:cNvPr id="69" name="reevaluate-row">
            <a:extLst xmlns:a="http://schemas.openxmlformats.org/drawingml/2006/main">
              <a:ext uri="{FF2B5EF4-FFF2-40B4-BE49-F238E27FC236}">
                <a16:creationId xmlns:a16="http://schemas.microsoft.com/office/drawing/2014/main" id="{56007011-EE6D-4BBC-BE7A-2A8C411B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5343525"/>
            <a:ext cx="14782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1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reevaluate-mode">
            <a:extLst xmlns:a="http://schemas.openxmlformats.org/drawingml/2006/main">
              <a:ext uri="{FF2B5EF4-FFF2-40B4-BE49-F238E27FC236}">
                <a16:creationId xmlns:a16="http://schemas.microsoft.com/office/drawing/2014/main" id="{C3F4C19E-5290-4B4C-B146-99BCAEC0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0225"/>
            <a:ext cx="1771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2D7F7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2D7F7B"/>
                </a:solidFill>
                <a:latin typeface="Arial"/>
                <a:ea typeface="Arial"/>
                <a:cs typeface="Arial"/>
              </a:rPr>
              <a:t>REEVALUATE</a:t>
            </a:r>
          </a:p>
        </p:txBody>
      </p:sp>
      <p:sp>
        <p:nvSpPr>
          <p:cNvPr id="71" name="reevaluate-instruction">
            <a:extLst xmlns:a="http://schemas.openxmlformats.org/drawingml/2006/main">
              <a:ext uri="{FF2B5EF4-FFF2-40B4-BE49-F238E27FC236}">
                <a16:creationId xmlns:a16="http://schemas.microsoft.com/office/drawing/2014/main" id="{51E0F99D-45D0-4843-8E59-9ADE08A13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5534025"/>
            <a:ext cx="676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 i="0">
                <a:solidFill>
                  <a:srgbClr val="28343A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28343A"/>
                </a:solidFill>
                <a:latin typeface="Arial"/>
                <a:ea typeface="Arial"/>
                <a:cs typeface="Arial"/>
              </a:rPr>
              <a:t>Refresh the mailbox first.</a:t>
            </a:r>
          </a:p>
          <a:p xmlns:a="http://schemas.openxmlformats.org/drawingml/2006/main">
            <a:pPr algn="l">
              <a:buNone/>
              <a:defRPr sz="1875" b="0" i="0">
                <a:solidFill>
                  <a:srgbClr val="28343A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28343A"/>
                </a:solidFill>
                <a:latin typeface="Arial"/>
                <a:ea typeface="Arial"/>
                <a:cs typeface="Arial"/>
              </a:rPr>
              <a:t>Then choose the highest-priority unread email and reply.</a:t>
            </a:r>
          </a:p>
        </p:txBody>
      </p:sp>
      <p:sp>
        <p:nvSpPr>
          <p:cNvPr id="72" name="reevaluate-target">
            <a:extLst xmlns:a="http://schemas.openxmlformats.org/drawingml/2006/main">
              <a:ext uri="{FF2B5EF4-FFF2-40B4-BE49-F238E27FC236}">
                <a16:creationId xmlns:a16="http://schemas.microsoft.com/office/drawing/2014/main" id="{3A65AAF0-4838-4917-9BE8-23035FED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5648325"/>
            <a:ext cx="175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 i="0">
                <a:solidFill>
                  <a:srgbClr val="2D7F7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2D7F7B"/>
                </a:solidFill>
                <a:latin typeface="Arial"/>
                <a:ea typeface="Arial"/>
                <a:cs typeface="Arial"/>
              </a:rPr>
              <a:t>Email B</a:t>
            </a:r>
          </a:p>
        </p:txBody>
      </p:sp>
      <p:sp>
        <p:nvSpPr>
          <p:cNvPr id="73" name="reevaluate-failure-box">
            <a:extLst xmlns:a="http://schemas.openxmlformats.org/drawingml/2006/main">
              <a:ext uri="{FF2B5EF4-FFF2-40B4-BE49-F238E27FC236}">
                <a16:creationId xmlns:a16="http://schemas.microsoft.com/office/drawing/2014/main" id="{300ED4A1-C915-4FFD-804B-5297571DC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5505450"/>
            <a:ext cx="22669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B94D49"/>
            </a:solidFill>
            <a:prstDash val="solid"/>
          </a:ln>
        </p:spPr>
      </p:sp>
      <p:sp>
        <p:nvSpPr>
          <p:cNvPr id="74" name="reevaluate-failure-arrow">
            <a:extLst xmlns:a="http://schemas.openxmlformats.org/drawingml/2006/main">
              <a:ext uri="{FF2B5EF4-FFF2-40B4-BE49-F238E27FC236}">
                <a16:creationId xmlns:a16="http://schemas.microsoft.com/office/drawing/2014/main" id="{7C889159-3491-421D-AC4F-1122C327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5553075"/>
            <a:ext cx="18478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482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 i="0">
                <a:solidFill>
                  <a:srgbClr val="B94D49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B94D49"/>
                </a:solidFill>
                <a:latin typeface="Arial"/>
                <a:ea typeface="Arial"/>
                <a:cs typeface="Arial"/>
              </a:rPr>
              <a:t>B → A</a:t>
            </a:r>
          </a:p>
        </p:txBody>
      </p:sp>
      <p:sp>
        <p:nvSpPr>
          <p:cNvPr id="75" name="reevaluate-failure-kind">
            <a:extLst xmlns:a="http://schemas.openxmlformats.org/drawingml/2006/main">
              <a:ext uri="{FF2B5EF4-FFF2-40B4-BE49-F238E27FC236}">
                <a16:creationId xmlns:a16="http://schemas.microsoft.com/office/drawing/2014/main" id="{6C7238A7-0338-4460-A915-FB5C94D73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5857875"/>
            <a:ext cx="1847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B94D49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B94D49"/>
                </a:solidFill>
                <a:latin typeface="Arial"/>
                <a:ea typeface="Arial"/>
                <a:cs typeface="Arial"/>
              </a:rPr>
              <a:t>over-lock</a:t>
            </a:r>
          </a:p>
        </p:txBody>
      </p:sp>
      <p:sp>
        <p:nvSpPr>
          <p:cNvPr id="76" name="row-top">
            <a:extLst xmlns:a="http://schemas.openxmlformats.org/drawingml/2006/main">
              <a:ext uri="{FF2B5EF4-FFF2-40B4-BE49-F238E27FC236}">
                <a16:creationId xmlns:a16="http://schemas.microsoft.com/office/drawing/2014/main" id="{12E8B7D8-C8C8-4D30-A349-1D2F52411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8600" y="4114800"/>
            <a:ext cx="1478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A4D4F"/>
            </a:solidFill>
            <a:prstDash val="solid"/>
          </a:ln>
        </p:spPr>
      </p:sp>
      <p:sp>
        <p:nvSpPr>
          <p:cNvPr id="77" name="row-mid">
            <a:extLst xmlns:a="http://schemas.openxmlformats.org/drawingml/2006/main">
              <a:ext uri="{FF2B5EF4-FFF2-40B4-BE49-F238E27FC236}">
                <a16:creationId xmlns:a16="http://schemas.microsoft.com/office/drawing/2014/main" id="{395F49AB-746F-4897-8A3A-F13F0BDC8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8600" y="5305425"/>
            <a:ext cx="1478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B9C3C5"/>
            </a:solidFill>
            <a:prstDash val="solid"/>
          </a:ln>
        </p:spPr>
      </p:sp>
      <p:sp>
        <p:nvSpPr>
          <p:cNvPr id="78" name="row-bottom">
            <a:extLst xmlns:a="http://schemas.openxmlformats.org/drawingml/2006/main">
              <a:ext uri="{FF2B5EF4-FFF2-40B4-BE49-F238E27FC236}">
                <a16:creationId xmlns:a16="http://schemas.microsoft.com/office/drawing/2014/main" id="{27D7D93D-216C-4F80-9832-1F2CAC71D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28600" y="6457950"/>
            <a:ext cx="1478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A4D4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721968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2026-07-28T13:21:20.9780000Z</dcterms:created>
  <dcterms:modified xsi:type="dcterms:W3CDTF">2026-07-28T13:21:20.9780000Z</dcterms:modified>
</coreProperties>
</file>